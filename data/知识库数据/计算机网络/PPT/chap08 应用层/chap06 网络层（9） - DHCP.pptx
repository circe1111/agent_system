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3" r:id="rId1"/>
    <p:sldMasterId id="2147483932" r:id="rId2"/>
    <p:sldMasterId id="2147483944" r:id="rId3"/>
  </p:sldMasterIdLst>
  <p:notesMasterIdLst>
    <p:notesMasterId r:id="rId18"/>
  </p:notesMasterIdLst>
  <p:handoutMasterIdLst>
    <p:handoutMasterId r:id="rId19"/>
  </p:handoutMasterIdLst>
  <p:sldIdLst>
    <p:sldId id="579" r:id="rId4"/>
    <p:sldId id="580" r:id="rId5"/>
    <p:sldId id="581" r:id="rId6"/>
    <p:sldId id="394" r:id="rId7"/>
    <p:sldId id="592" r:id="rId8"/>
    <p:sldId id="588" r:id="rId9"/>
    <p:sldId id="593" r:id="rId10"/>
    <p:sldId id="589" r:id="rId11"/>
    <p:sldId id="594" r:id="rId12"/>
    <p:sldId id="590" r:id="rId13"/>
    <p:sldId id="595" r:id="rId14"/>
    <p:sldId id="591" r:id="rId15"/>
    <p:sldId id="601" r:id="rId16"/>
    <p:sldId id="597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A8"/>
    <a:srgbClr val="2A10E8"/>
    <a:srgbClr val="CC0000"/>
    <a:srgbClr val="FF9933"/>
    <a:srgbClr val="FFCC00"/>
    <a:srgbClr val="516FA7"/>
    <a:srgbClr val="F7F7F7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2" autoAdjust="0"/>
    <p:restoredTop sz="89708" autoAdjust="0"/>
  </p:normalViewPr>
  <p:slideViewPr>
    <p:cSldViewPr>
      <p:cViewPr varScale="1">
        <p:scale>
          <a:sx n="96" d="100"/>
          <a:sy n="96" d="100"/>
        </p:scale>
        <p:origin x="264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0"/>
    </p:cViewPr>
  </p:sorterViewPr>
  <p:notesViewPr>
    <p:cSldViewPr>
      <p:cViewPr varScale="1">
        <p:scale>
          <a:sx n="72" d="100"/>
          <a:sy n="72" d="100"/>
        </p:scale>
        <p:origin x="2085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048611DD-EC30-4419-97F1-529255FA4D1E}" type="datetime1">
              <a:rPr lang="zh-CN" altLang="en-US"/>
              <a:pPr>
                <a:defRPr/>
              </a:pPr>
              <a:t>2025/4/18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C43A327-C882-4FEB-992D-D368F5F976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810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445D5758-2857-4DD5-8F5A-10D6C61BCD25}" type="datetime1">
              <a:rPr lang="zh-CN" altLang="en-US"/>
              <a:pPr>
                <a:defRPr/>
              </a:pPr>
              <a:t>2025/4/18</a:t>
            </a:fld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89395A9-D5E0-48AE-9E4B-81E79C5E9E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49148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5B657E-364A-462C-B9D8-6EABE8E7CF14}" type="datetime1">
              <a:rPr lang="zh-CN" altLang="en-US" smtClean="0"/>
              <a:pPr>
                <a:spcBef>
                  <a:spcPct val="0"/>
                </a:spcBef>
              </a:pPr>
              <a:t>2025/4/18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9A3ED1-1B8D-4837-A2B5-BFA06724529C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9075" y="611188"/>
            <a:ext cx="6096000" cy="3429000"/>
          </a:xfrm>
          <a:prstGeom prst="rect">
            <a:avLst/>
          </a:prstGeom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41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22BBDC-F60E-419F-96F3-55941B03F53C}" type="datetime1">
              <a:rPr lang="zh-CN" altLang="en-US" smtClean="0"/>
              <a:pPr>
                <a:spcBef>
                  <a:spcPct val="0"/>
                </a:spcBef>
              </a:pPr>
              <a:t>2025/4/18</a:t>
            </a:fld>
            <a:endParaRPr lang="en-US" altLang="zh-CN"/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7141C4-A599-4CF2-B2E6-B8220A6531DA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12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9075" y="611188"/>
            <a:ext cx="6096000" cy="3429000"/>
          </a:xfrm>
          <a:prstGeom prst="rect">
            <a:avLst/>
          </a:prstGeom>
          <a:ln/>
        </p:spPr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17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8B94D8-DC1D-42AB-9BF2-BEFCBC47DAB4}" type="datetime1">
              <a:rPr lang="zh-CN" altLang="en-US" smtClean="0"/>
              <a:pPr>
                <a:spcBef>
                  <a:spcPct val="0"/>
                </a:spcBef>
              </a:pPr>
              <a:t>2025/4/18</a:t>
            </a:fld>
            <a:endParaRPr lang="en-US" altLang="zh-CN"/>
          </a:p>
        </p:txBody>
      </p:sp>
      <p:sp>
        <p:nvSpPr>
          <p:cNvPr id="133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8434E22-3A52-4A8E-9328-D2DA8E2252D6}" type="slidenum">
              <a:rPr lang="zh-CN" altLang="en-US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33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9075" y="611188"/>
            <a:ext cx="6096000" cy="3429000"/>
          </a:xfrm>
          <a:prstGeom prst="rect">
            <a:avLst/>
          </a:prstGeom>
          <a:ln/>
        </p:spPr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2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8AD5E-9D27-402D-8329-BB39D8132A8E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B8D1B-5665-40CF-8380-9523034E64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527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D435E-F7CB-4AA5-B086-8ACCC8F21662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F118B5-D166-416D-8364-40BFF2AA76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805157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FFCAA-65B6-4C3F-BC1D-23EEA7107953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9B656-4BEB-4FF5-8715-471F78875B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519257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85A6D-936D-4B51-99FD-C64AC822E277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2E07F-74FB-4C0C-A53B-65F58C7F52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064366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54EE3-0408-4D4D-A224-0497E88F6DB0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8E07B-CBEB-4DB6-A15C-7495B16724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6976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61EBD-7766-4109-A155-3CD2E3CAA922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E04A9-61DC-4FFD-A374-74F27FC6B4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5785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CF75E-DA74-445E-8B00-C6469499A544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BB0F8-8854-41A1-B82A-072072BB91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0190413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F4A9E-7196-4263-B1EB-95A3B6A169D2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C86CC-8DB8-477D-A514-A79DFB7FB7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80084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9CD41-7E68-4180-B354-D31CFFDB6AAE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5D5C3-4F62-44D8-B69E-00F528B408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473031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246EA-524D-4F04-9460-03CCDF154C18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01836-0F7A-4921-AA1D-4857440040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31398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5A328-43AC-490F-BF34-F1EAC12D8AF0}" type="datetime11">
              <a:rPr lang="zh-CN" altLang="en-US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B0861-8D49-4642-A087-261CC4639C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49054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08AD5E-9D27-402D-8329-BB39D8132A8E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5B8D1B-5665-40CF-8380-9523034E649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586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DD435E-F7CB-4AA5-B086-8ACCC8F21662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F118B5-D166-416D-8364-40BFF2AA76F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432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9FFCAA-65B6-4C3F-BC1D-23EEA7107953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99B656-4BEB-4FF5-8715-471F78875BD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9552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685A6D-936D-4B51-99FD-C64AC822E277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42E07F-74FB-4C0C-A53B-65F58C7F524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284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E54EE3-0408-4D4D-A224-0497E88F6DB0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8E07B-CBEB-4DB6-A15C-7495B16724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36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C61EBD-7766-4109-A155-3CD2E3CAA922}" type="datetime11">
              <a:rPr lang="zh-CN" altLang="en-US" smtClean="0"/>
              <a:pPr>
                <a:defRPr/>
              </a:pPr>
              <a:t>16:37:40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FE04A9-61DC-4FFD-A374-74F27FC6B476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0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ECF75E-DA74-445E-8B00-C6469499A544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EBB0F8-8854-41A1-B82A-072072BB913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8057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AF4A9E-7196-4263-B1EB-95A3B6A169D2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7C86CC-8DB8-477D-A514-A79DFB7FB7F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7411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79CD41-7E68-4180-B354-D31CFFDB6AAE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5D5C3-4F62-44D8-B69E-00F528B408C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5780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1246EA-524D-4F04-9460-03CCDF154C18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201836-0F7A-4921-AA1D-4857440040C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163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93FBDA-BF13-4645-AB6A-692781CFBC05}" type="datetime11">
              <a:rPr lang="zh-CN" altLang="en-US" smtClean="0"/>
              <a:pPr>
                <a:defRPr/>
              </a:pPr>
              <a:t>16:37:41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FA28CC-DB88-4123-B8CA-8607E133E34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573980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914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061AF4-D857-4BCE-B927-7B4F28E8956B}"/>
              </a:ext>
            </a:extLst>
          </p:cNvPr>
          <p:cNvCxnSpPr>
            <a:cxnSpLocks/>
          </p:cNvCxnSpPr>
          <p:nvPr userDrawn="1"/>
        </p:nvCxnSpPr>
        <p:spPr>
          <a:xfrm>
            <a:off x="260350" y="737146"/>
            <a:ext cx="11668298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CD19818-D390-48DE-80A1-AD02FE755FB3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128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76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95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0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941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081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58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394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54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874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221837D-9CB8-4292-B278-FD89338B0BF5}"/>
              </a:ext>
            </a:extLst>
          </p:cNvPr>
          <p:cNvCxnSpPr>
            <a:cxnSpLocks/>
          </p:cNvCxnSpPr>
          <p:nvPr userDrawn="1"/>
        </p:nvCxnSpPr>
        <p:spPr>
          <a:xfrm>
            <a:off x="260350" y="737146"/>
            <a:ext cx="11668298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5B3F6C2-4775-4AAF-9E43-D52B070F2BD7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879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fld id="{F293FBDA-BF13-4645-AB6A-692781CFBC05}" type="datetime11">
              <a:rPr lang="zh-CN" altLang="en-US"/>
              <a:pPr>
                <a:defRPr/>
              </a:pPr>
              <a:t>16:37:40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CFA28CC-DB88-4123-B8CA-8607E133E3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4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8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BOOTP%20flag&amp;usm=2&amp;ie=utf-8&amp;rsv_pq=f7d136c9000bd2ac&amp;oq=dhcpoffer%E6%98%AF%E5%B9%BF%E6%92%AD%E8%BF%98%E6%98%AF%E5%8D%95%E6%92%AD&amp;rsv_t=8266A%2BaReZ9W9uYKxtjbydB%2F5NPEU5PvK%2FiiLf8pGxI5HHCt9VKZobQ1cZs&amp;rsv_dl=re_dqa_generate&amp;sa=re_dqa_generat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135560" y="2852936"/>
            <a:ext cx="8532812" cy="1082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DHCP: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Dynamic Host Configuration Protocol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b="1" dirty="0">
                <a:solidFill>
                  <a:srgbClr val="2A10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动态主机配置协议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35360" y="908720"/>
            <a:ext cx="45354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是一个局域网的网络协议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360935" y="1556792"/>
            <a:ext cx="6959202" cy="35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服务器管理一段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地址，计算机需要上网时，登录到服务器就可以自动获取一个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地址以及相应的网络设置，通常被用于大型局域网中。主要的作用是集中管理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地址，使网络环境中的主机动态获得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地址，掩码，</a:t>
            </a:r>
            <a:r>
              <a:rPr kumimoji="1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GateWay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网关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地址以及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DNS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服务器地址等， 避免自行设置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地址造成冲突，同时提升地址的使用效率。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UDP</a:t>
            </a: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协议。</a:t>
            </a:r>
          </a:p>
        </p:txBody>
      </p:sp>
      <p:pic>
        <p:nvPicPr>
          <p:cNvPr id="10244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83" y="1572518"/>
            <a:ext cx="4755342" cy="463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-96688" y="188640"/>
            <a:ext cx="4464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C/S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模式工作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227348" y="1124744"/>
            <a:ext cx="11737304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主机地址的动态分配任务由网络主机驱动，当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服务器收到来自网络主机申请地址的信息时，会向网络主机发送相关的地址配置等信息，以实现网络主机地址信息的动态配置。主机是客户机，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服务器是服务器。</a:t>
            </a:r>
          </a:p>
        </p:txBody>
      </p:sp>
      <p:pic>
        <p:nvPicPr>
          <p:cNvPr id="12292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2708920"/>
            <a:ext cx="4176464" cy="406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B2D249-0C57-42DF-82FB-53FFB3089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953" y="3333179"/>
            <a:ext cx="5092255" cy="2642303"/>
          </a:xfrm>
          <a:prstGeom prst="rect">
            <a:avLst/>
          </a:prstGeom>
        </p:spPr>
      </p:pic>
      <p:sp>
        <p:nvSpPr>
          <p:cNvPr id="14339" name="矩形 3"/>
          <p:cNvSpPr>
            <a:spLocks noChangeArrowheads="1"/>
          </p:cNvSpPr>
          <p:nvPr/>
        </p:nvSpPr>
        <p:spPr bwMode="auto">
          <a:xfrm>
            <a:off x="191344" y="188640"/>
            <a:ext cx="264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交互过程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4340" name="矩形 4"/>
          <p:cNvSpPr>
            <a:spLocks noChangeArrowheads="1"/>
          </p:cNvSpPr>
          <p:nvPr/>
        </p:nvSpPr>
        <p:spPr bwMode="auto">
          <a:xfrm>
            <a:off x="479376" y="1038449"/>
            <a:ext cx="8496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70C0"/>
                </a:solidFill>
              </a:rPr>
              <a:t>①客户机请求</a:t>
            </a:r>
            <a:r>
              <a:rPr lang="en-US" altLang="zh-CN" sz="2400" b="1" dirty="0">
                <a:solidFill>
                  <a:srgbClr val="0070C0"/>
                </a:solidFill>
              </a:rPr>
              <a:t>IP</a:t>
            </a:r>
            <a:r>
              <a:rPr lang="zh-CN" altLang="en-US" sz="2400" b="1" dirty="0">
                <a:solidFill>
                  <a:srgbClr val="0070C0"/>
                </a:solidFill>
              </a:rPr>
              <a:t>（客户机发</a:t>
            </a:r>
            <a:r>
              <a:rPr lang="en-US" altLang="zh-CN" sz="2400" b="1" dirty="0">
                <a:solidFill>
                  <a:srgbClr val="0070C0"/>
                </a:solidFill>
              </a:rPr>
              <a:t>DHCPDISCOVER</a:t>
            </a:r>
            <a:r>
              <a:rPr lang="zh-CN" altLang="en-US" sz="2400" b="1" dirty="0">
                <a:solidFill>
                  <a:srgbClr val="7030A0"/>
                </a:solidFill>
              </a:rPr>
              <a:t>广播包</a:t>
            </a:r>
            <a:r>
              <a:rPr lang="zh-CN" altLang="en-US" sz="2400" b="1" dirty="0">
                <a:solidFill>
                  <a:srgbClr val="0070C0"/>
                </a:solidFill>
              </a:rPr>
              <a:t>）；</a:t>
            </a:r>
          </a:p>
        </p:txBody>
      </p:sp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407368" y="1500411"/>
            <a:ext cx="11569840" cy="225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400" dirty="0"/>
              <a:t>当一个DHCP客户机启动时，会自动将自己的</a:t>
            </a:r>
            <a:r>
              <a:rPr lang="zh-CN" altLang="en-US" sz="2400" dirty="0">
                <a:solidFill>
                  <a:srgbClr val="0070C0"/>
                </a:solidFill>
              </a:rPr>
              <a:t>IP地址配置成0.0.0.0</a:t>
            </a:r>
            <a:r>
              <a:rPr lang="zh-CN" altLang="en-US" sz="2400" dirty="0"/>
              <a:t>，使用0.0.0.0的地址作为源地址，使用UDP 68端口作为源端口，使用255.255.255.255作为目标地址，使用UDP 67端口作为目的端口来广播请求IP地址信息。广播信息中包括</a:t>
            </a:r>
            <a:r>
              <a:rPr lang="en-US" altLang="zh-CN" sz="2400" dirty="0"/>
              <a:t>DHCP</a:t>
            </a:r>
            <a:r>
              <a:rPr lang="zh-CN" altLang="en-US" sz="2400" dirty="0"/>
              <a:t>客户机的</a:t>
            </a:r>
            <a:r>
              <a:rPr lang="en-US" altLang="zh-CN" sz="2400" dirty="0"/>
              <a:t>MAC</a:t>
            </a:r>
            <a:r>
              <a:rPr lang="zh-CN" altLang="en-US" sz="2400" dirty="0"/>
              <a:t>地址和计算机名，以便使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服务器能确定是哪个客户机发送的请求。</a:t>
            </a:r>
          </a:p>
        </p:txBody>
      </p:sp>
      <p:sp>
        <p:nvSpPr>
          <p:cNvPr id="14342" name="矩形 6"/>
          <p:cNvSpPr>
            <a:spLocks noChangeArrowheads="1"/>
          </p:cNvSpPr>
          <p:nvPr/>
        </p:nvSpPr>
        <p:spPr bwMode="auto">
          <a:xfrm>
            <a:off x="8528675" y="3212976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16A3FC-3FF7-45DB-9737-DBECFD3E99BB}"/>
              </a:ext>
            </a:extLst>
          </p:cNvPr>
          <p:cNvSpPr txBox="1"/>
          <p:nvPr/>
        </p:nvSpPr>
        <p:spPr>
          <a:xfrm>
            <a:off x="429037" y="4437112"/>
            <a:ext cx="6096000" cy="1538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</a:rPr>
              <a:t>DHCPDISCOVER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在链路层被封装在广播帧中，被局域网中每个计算机的网卡接收。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到网络层被每个计算机的</a:t>
            </a:r>
            <a:r>
              <a:rPr lang="en-US" altLang="zh-CN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模块接收，但是没有</a:t>
            </a:r>
            <a:r>
              <a:rPr lang="en-US" altLang="zh-CN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功能的主机不会开启</a:t>
            </a:r>
            <a:r>
              <a:rPr lang="en-US" altLang="zh-CN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67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端口，因此向上提交失败，也不会回复。</a:t>
            </a:r>
            <a:endParaRPr lang="en-US" altLang="zh-CN" b="0" i="0" dirty="0"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8FC9217-0445-424E-AE76-219EA640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8" y="764704"/>
            <a:ext cx="11834899" cy="60627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C483D44-6925-447D-97C7-36CE945BB65F}"/>
              </a:ext>
            </a:extLst>
          </p:cNvPr>
          <p:cNvSpPr txBox="1"/>
          <p:nvPr/>
        </p:nvSpPr>
        <p:spPr>
          <a:xfrm>
            <a:off x="6168008" y="2204864"/>
            <a:ext cx="5760640" cy="13843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客户端的</a:t>
            </a:r>
            <a:r>
              <a:rPr lang="en-US" altLang="zh-CN" sz="2400" b="0" i="0" u="none" strike="noStrike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BOOTP flag</a:t>
            </a:r>
            <a:r>
              <a:rPr lang="en-US" altLang="zh-CN" sz="2400" b="0" i="0" u="none" strike="noStrike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0x0000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，则服务器会发送单播响应</a:t>
            </a:r>
            <a:r>
              <a:rPr lang="zh-CN" altLang="en-US" sz="24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；如果</a:t>
            </a:r>
            <a:r>
              <a:rPr lang="en-US" altLang="zh-CN" sz="24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BOOTP flags</a:t>
            </a:r>
            <a:r>
              <a:rPr lang="zh-CN" altLang="en-US" sz="24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0x8000</a:t>
            </a:r>
            <a:r>
              <a:rPr lang="zh-CN" altLang="en-US" sz="24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，则服务器会发送广播响应</a:t>
            </a:r>
            <a:endParaRPr lang="zh-CN" altLang="en-US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BF0D1F-4DE3-4E90-A93A-00DDF7F3A7FC}"/>
              </a:ext>
            </a:extLst>
          </p:cNvPr>
          <p:cNvCxnSpPr/>
          <p:nvPr/>
        </p:nvCxnSpPr>
        <p:spPr>
          <a:xfrm flipH="1">
            <a:off x="3935760" y="2564904"/>
            <a:ext cx="2160240" cy="6480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6AA1D8D-65D0-439F-8E10-2E1275A57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88640"/>
            <a:ext cx="11737304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5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B4D7D7E-81E9-46D9-8331-56E666C8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3501008"/>
            <a:ext cx="5092255" cy="2642303"/>
          </a:xfrm>
          <a:prstGeom prst="rect">
            <a:avLst/>
          </a:prstGeom>
        </p:spPr>
      </p:pic>
      <p:sp>
        <p:nvSpPr>
          <p:cNvPr id="15363" name="矩形 3"/>
          <p:cNvSpPr>
            <a:spLocks noChangeArrowheads="1"/>
          </p:cNvSpPr>
          <p:nvPr/>
        </p:nvSpPr>
        <p:spPr bwMode="auto">
          <a:xfrm>
            <a:off x="202949" y="189044"/>
            <a:ext cx="2645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交互过程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5364" name="矩形 4"/>
          <p:cNvSpPr>
            <a:spLocks noChangeArrowheads="1"/>
          </p:cNvSpPr>
          <p:nvPr/>
        </p:nvSpPr>
        <p:spPr bwMode="auto">
          <a:xfrm>
            <a:off x="278582" y="880766"/>
            <a:ext cx="78336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70C0"/>
                </a:solidFill>
              </a:rPr>
              <a:t>②服务器响应（服务器发</a:t>
            </a:r>
            <a:r>
              <a:rPr lang="en-US" altLang="zh-CN" sz="2400" b="1" dirty="0">
                <a:solidFill>
                  <a:srgbClr val="0070C0"/>
                </a:solidFill>
              </a:rPr>
              <a:t>DHCPOFFER</a:t>
            </a:r>
            <a:r>
              <a:rPr lang="zh-CN" altLang="en-US" sz="2400" b="1" dirty="0">
                <a:solidFill>
                  <a:srgbClr val="0070C0"/>
                </a:solidFill>
              </a:rPr>
              <a:t>广播</a:t>
            </a:r>
            <a:r>
              <a:rPr lang="en-US" altLang="zh-CN" sz="2400" b="1" dirty="0">
                <a:solidFill>
                  <a:srgbClr val="0070C0"/>
                </a:solidFill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</a:rPr>
              <a:t>单播包）；</a:t>
            </a:r>
          </a:p>
        </p:txBody>
      </p:sp>
      <p:sp>
        <p:nvSpPr>
          <p:cNvPr id="15365" name="矩形 5"/>
          <p:cNvSpPr>
            <a:spLocks noChangeArrowheads="1"/>
          </p:cNvSpPr>
          <p:nvPr/>
        </p:nvSpPr>
        <p:spPr bwMode="auto">
          <a:xfrm>
            <a:off x="199426" y="1342431"/>
            <a:ext cx="11729221" cy="225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服务器接收到客户机请求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地址的信息时，就在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地址池中查找合法的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地址提供给客户机。如果有，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服务器就将此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地址做上标记，加入到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DHCPOFFER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的消息中，然后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服务器就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单播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一则包括下列信息的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DHCPOFFER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消息：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客户机的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地址；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服务器提供的合法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地址；子网掩码；默认网关（路由）；租约的期限；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6" name="矩形 1"/>
          <p:cNvSpPr>
            <a:spLocks noChangeArrowheads="1"/>
          </p:cNvSpPr>
          <p:nvPr/>
        </p:nvSpPr>
        <p:spPr bwMode="auto">
          <a:xfrm>
            <a:off x="8701205" y="414908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95EE86-B3A7-4B8D-AA11-2C24EAAF57C8}"/>
              </a:ext>
            </a:extLst>
          </p:cNvPr>
          <p:cNvSpPr txBox="1"/>
          <p:nvPr/>
        </p:nvSpPr>
        <p:spPr>
          <a:xfrm>
            <a:off x="278583" y="3717032"/>
            <a:ext cx="6102350" cy="2713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客户机还没有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地址，所以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服务器使用自己的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地址作为源地址，源端口为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 67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；广播时目标地址为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255.255.255.255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，单播时使用分配的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地址作为目标地址，目的端口为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 68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DHCPOFFER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FC1E596-6541-45FF-9AF1-C7FBA8AA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64704"/>
            <a:ext cx="11665296" cy="602936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5245150-45B4-4288-B0CA-C7D8E43C2509}"/>
              </a:ext>
            </a:extLst>
          </p:cNvPr>
          <p:cNvSpPr txBox="1"/>
          <p:nvPr/>
        </p:nvSpPr>
        <p:spPr>
          <a:xfrm>
            <a:off x="7464152" y="2564904"/>
            <a:ext cx="4392488" cy="1167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0.0.0.0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的主机在网络层接收所有的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报文，</a:t>
            </a:r>
            <a:r>
              <a:rPr lang="zh-CN" altLang="en-US" sz="20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这样保证</a:t>
            </a:r>
            <a:r>
              <a:rPr lang="en-US" altLang="zh-CN" sz="20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DHCP Offer</a:t>
            </a:r>
            <a:r>
              <a:rPr lang="zh-CN" altLang="en-US" sz="2000" b="0" i="0" dirty="0">
                <a:solidFill>
                  <a:srgbClr val="7030A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报文能够被该客户端接收并处理。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4E384B-BEC1-4B9F-9DDC-BF0E95EF9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60648"/>
            <a:ext cx="11665296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4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CC083E6-9682-4211-A24E-949ED7713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5" y="3866652"/>
            <a:ext cx="4879554" cy="2642303"/>
          </a:xfrm>
          <a:prstGeom prst="rect">
            <a:avLst/>
          </a:prstGeom>
        </p:spPr>
      </p:pic>
      <p:sp>
        <p:nvSpPr>
          <p:cNvPr id="16387" name="矩形 3"/>
          <p:cNvSpPr>
            <a:spLocks noChangeArrowheads="1"/>
          </p:cNvSpPr>
          <p:nvPr/>
        </p:nvSpPr>
        <p:spPr bwMode="auto">
          <a:xfrm>
            <a:off x="191344" y="184958"/>
            <a:ext cx="264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交互过程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6388" name="矩形 4"/>
          <p:cNvSpPr>
            <a:spLocks noChangeArrowheads="1"/>
          </p:cNvSpPr>
          <p:nvPr/>
        </p:nvSpPr>
        <p:spPr bwMode="auto">
          <a:xfrm>
            <a:off x="191344" y="983860"/>
            <a:ext cx="92170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</a:rPr>
              <a:t>③客户机选择</a:t>
            </a:r>
            <a:r>
              <a:rPr lang="en-US" altLang="zh-CN" sz="2400" dirty="0">
                <a:solidFill>
                  <a:srgbClr val="0070C0"/>
                </a:solidFill>
              </a:rPr>
              <a:t>IP</a:t>
            </a:r>
            <a:r>
              <a:rPr lang="zh-CN" altLang="en-US" sz="2400" dirty="0">
                <a:solidFill>
                  <a:srgbClr val="0070C0"/>
                </a:solidFill>
              </a:rPr>
              <a:t>（客户机发</a:t>
            </a:r>
            <a:r>
              <a:rPr lang="en-US" altLang="zh-CN" sz="2400" dirty="0">
                <a:solidFill>
                  <a:srgbClr val="0070C0"/>
                </a:solidFill>
              </a:rPr>
              <a:t>DHCPREQUEST</a:t>
            </a:r>
            <a:r>
              <a:rPr lang="zh-CN" altLang="en-US" sz="2400" dirty="0">
                <a:solidFill>
                  <a:srgbClr val="0070C0"/>
                </a:solidFill>
              </a:rPr>
              <a:t>广播包）；</a:t>
            </a:r>
          </a:p>
        </p:txBody>
      </p:sp>
      <p:sp>
        <p:nvSpPr>
          <p:cNvPr id="16389" name="矩形 5"/>
          <p:cNvSpPr>
            <a:spLocks noChangeArrowheads="1"/>
          </p:cNvSpPr>
          <p:nvPr/>
        </p:nvSpPr>
        <p:spPr bwMode="auto">
          <a:xfrm>
            <a:off x="299356" y="1468486"/>
            <a:ext cx="11593288" cy="2704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400" dirty="0"/>
              <a:t>    DHCP</a:t>
            </a:r>
            <a:r>
              <a:rPr lang="zh-CN" altLang="en-US" sz="2400" dirty="0"/>
              <a:t>客户机从接收到的第一个</a:t>
            </a:r>
            <a:r>
              <a:rPr lang="en-US" altLang="zh-CN" sz="2400" dirty="0"/>
              <a:t>DHCPOFFER</a:t>
            </a:r>
            <a:r>
              <a:rPr lang="zh-CN" altLang="en-US" sz="2400" dirty="0"/>
              <a:t>消息中选择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  <a:endParaRPr lang="en-US" altLang="zh-CN" sz="2400" dirty="0"/>
          </a:p>
          <a:p>
            <a:pPr algn="just">
              <a:lnSpc>
                <a:spcPct val="120000"/>
              </a:lnSpc>
            </a:pPr>
            <a:r>
              <a:rPr lang="zh-CN" altLang="en-US" sz="2400" dirty="0"/>
              <a:t>    客户机将</a:t>
            </a:r>
            <a:r>
              <a:rPr lang="en-US" altLang="zh-CN" sz="2400" dirty="0"/>
              <a:t>DHCPREQUEST</a:t>
            </a:r>
            <a:r>
              <a:rPr lang="zh-CN" altLang="en-US" sz="2400" dirty="0"/>
              <a:t>消息广播到所有的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服务器，表明它接受提供的内容。</a:t>
            </a:r>
            <a:r>
              <a:rPr lang="en-US" altLang="zh-CN" sz="2400" dirty="0"/>
              <a:t>DHCPREQUEST</a:t>
            </a:r>
            <a:r>
              <a:rPr lang="zh-CN" altLang="en-US" sz="2400" dirty="0"/>
              <a:t>消息包括为该客户机提供</a:t>
            </a:r>
            <a:r>
              <a:rPr lang="en-US" altLang="zh-CN" sz="2400" dirty="0"/>
              <a:t>IP</a:t>
            </a:r>
            <a:r>
              <a:rPr lang="zh-CN" altLang="en-US" sz="2400" dirty="0"/>
              <a:t>配置的服务器的服务标识符（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地址）。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服务器查看服务器标识符字段，以确定它是否被选择为客户机提供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地址，如果那些</a:t>
            </a:r>
            <a:r>
              <a:rPr lang="en-US" altLang="zh-CN" sz="2400" dirty="0"/>
              <a:t>DHCPOFFER</a:t>
            </a:r>
            <a:r>
              <a:rPr lang="zh-CN" altLang="en-US" sz="2400" dirty="0"/>
              <a:t>被拒绝，则</a:t>
            </a:r>
            <a:r>
              <a:rPr lang="en-US" altLang="zh-CN" sz="2400" dirty="0"/>
              <a:t>DHCP</a:t>
            </a:r>
            <a:r>
              <a:rPr lang="zh-CN" altLang="en-US" sz="2400" dirty="0"/>
              <a:t>服务器会取消对</a:t>
            </a:r>
            <a:r>
              <a:rPr lang="en-US" altLang="zh-CN" sz="2400" dirty="0"/>
              <a:t>IP</a:t>
            </a:r>
            <a:r>
              <a:rPr lang="zh-CN" altLang="en-US" sz="2400" dirty="0"/>
              <a:t>的保留。</a:t>
            </a:r>
            <a:endParaRPr lang="en-US" altLang="zh-CN" sz="2400" dirty="0"/>
          </a:p>
          <a:p>
            <a:pPr algn="just">
              <a:lnSpc>
                <a:spcPct val="120000"/>
              </a:lnSpc>
            </a:pPr>
            <a:r>
              <a:rPr lang="zh-CN" altLang="en-US" sz="2400" dirty="0"/>
              <a:t>    </a:t>
            </a:r>
          </a:p>
        </p:txBody>
      </p:sp>
      <p:sp>
        <p:nvSpPr>
          <p:cNvPr id="16390" name="矩形 1"/>
          <p:cNvSpPr>
            <a:spLocks noChangeArrowheads="1"/>
          </p:cNvSpPr>
          <p:nvPr/>
        </p:nvSpPr>
        <p:spPr bwMode="auto">
          <a:xfrm>
            <a:off x="10056440" y="5127575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F3C56B-9F2B-4301-A72B-3F47B5D29FD6}"/>
              </a:ext>
            </a:extLst>
          </p:cNvPr>
          <p:cNvSpPr txBox="1"/>
          <p:nvPr/>
        </p:nvSpPr>
        <p:spPr>
          <a:xfrm>
            <a:off x="307424" y="3806420"/>
            <a:ext cx="6919593" cy="270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在客户机选择</a:t>
            </a:r>
            <a:r>
              <a:rPr lang="en-US" altLang="zh-CN" sz="2400" dirty="0"/>
              <a:t>IP</a:t>
            </a:r>
            <a:r>
              <a:rPr lang="zh-CN" altLang="en-US" sz="2400" dirty="0"/>
              <a:t>的过程中，虽然客户机选择了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地址，但是还没有配置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地址，所以客户机仍使用</a:t>
            </a:r>
            <a:r>
              <a:rPr lang="en-US" altLang="zh-CN" sz="2400" dirty="0"/>
              <a:t>0.0.0.0</a:t>
            </a:r>
            <a:r>
              <a:rPr lang="zh-CN" altLang="en-US" sz="2400" dirty="0"/>
              <a:t>作为源地址，使用</a:t>
            </a:r>
            <a:r>
              <a:rPr lang="en-US" altLang="zh-CN" sz="2400" dirty="0"/>
              <a:t>UDP 68</a:t>
            </a:r>
            <a:r>
              <a:rPr lang="zh-CN" altLang="en-US" sz="2400" dirty="0"/>
              <a:t>端口作为源端口，使用</a:t>
            </a:r>
            <a:r>
              <a:rPr lang="en-US" altLang="zh-CN" sz="2400" dirty="0"/>
              <a:t>255.255.255.255</a:t>
            </a:r>
            <a:r>
              <a:rPr lang="zh-CN" altLang="en-US" sz="2400" dirty="0"/>
              <a:t>作为目标地址，使用</a:t>
            </a:r>
            <a:r>
              <a:rPr lang="en-US" altLang="zh-CN" sz="2400" dirty="0"/>
              <a:t>UDP67</a:t>
            </a:r>
            <a:r>
              <a:rPr lang="zh-CN" altLang="en-US" sz="2400" dirty="0"/>
              <a:t>端口作为目的端口来</a:t>
            </a:r>
            <a:r>
              <a:rPr lang="zh-CN" altLang="en-US" sz="2400" dirty="0">
                <a:solidFill>
                  <a:srgbClr val="0070C0"/>
                </a:solidFill>
              </a:rPr>
              <a:t>广播</a:t>
            </a:r>
            <a:r>
              <a:rPr lang="en-US" altLang="zh-CN" sz="2400" dirty="0">
                <a:solidFill>
                  <a:srgbClr val="0070C0"/>
                </a:solidFill>
              </a:rPr>
              <a:t>DHCPREQUEST</a:t>
            </a:r>
            <a:r>
              <a:rPr lang="zh-CN" altLang="en-US" sz="2400" dirty="0"/>
              <a:t>信息。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0818EC-0758-42BC-BD88-33C3027B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260648"/>
            <a:ext cx="11593288" cy="4320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D9ACC7-9272-48FD-90A6-226BA1BD7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764704"/>
            <a:ext cx="11593288" cy="630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2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DDD0FBE-31CA-494E-B596-0019CE5B6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167" y="3569809"/>
            <a:ext cx="5092255" cy="2642303"/>
          </a:xfrm>
          <a:prstGeom prst="rect">
            <a:avLst/>
          </a:prstGeom>
        </p:spPr>
      </p:pic>
      <p:sp>
        <p:nvSpPr>
          <p:cNvPr id="17411" name="矩形 3"/>
          <p:cNvSpPr>
            <a:spLocks noChangeArrowheads="1"/>
          </p:cNvSpPr>
          <p:nvPr/>
        </p:nvSpPr>
        <p:spPr bwMode="auto">
          <a:xfrm>
            <a:off x="119336" y="220184"/>
            <a:ext cx="2644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交互过程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7412" name="矩形 4"/>
          <p:cNvSpPr>
            <a:spLocks noChangeArrowheads="1"/>
          </p:cNvSpPr>
          <p:nvPr/>
        </p:nvSpPr>
        <p:spPr bwMode="auto">
          <a:xfrm>
            <a:off x="263352" y="893786"/>
            <a:ext cx="8352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70C0"/>
                </a:solidFill>
              </a:rPr>
              <a:t>④服务器确定租约（服务器发</a:t>
            </a:r>
            <a:r>
              <a:rPr lang="en-US" altLang="zh-CN" sz="2400" dirty="0">
                <a:solidFill>
                  <a:srgbClr val="0070C0"/>
                </a:solidFill>
              </a:rPr>
              <a:t>DHCPACK</a:t>
            </a:r>
            <a:r>
              <a:rPr lang="zh-CN" altLang="en-US" sz="2400" dirty="0">
                <a:solidFill>
                  <a:srgbClr val="0070C0"/>
                </a:solidFill>
              </a:rPr>
              <a:t>广播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zh-CN" altLang="en-US" sz="2400" dirty="0">
                <a:solidFill>
                  <a:srgbClr val="0070C0"/>
                </a:solidFill>
              </a:rPr>
              <a:t>单播包）。</a:t>
            </a:r>
          </a:p>
        </p:txBody>
      </p:sp>
      <p:sp>
        <p:nvSpPr>
          <p:cNvPr id="17413" name="矩形 5"/>
          <p:cNvSpPr>
            <a:spLocks noChangeArrowheads="1"/>
          </p:cNvSpPr>
          <p:nvPr/>
        </p:nvSpPr>
        <p:spPr bwMode="auto">
          <a:xfrm>
            <a:off x="191344" y="1495207"/>
            <a:ext cx="11809312" cy="18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服务器接收到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DHCPREQUEST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消息后，以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消息的形式向客户机广播成功的确认，该消息包含有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地址的有效租约和其他可能配置的信息。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虽然服务器确认了客户机的租约请求，但是客户机还没有收到服务器的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消息，所以服务器仍然使用自己的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地址作为源地址，使用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UDP67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端口作为源端口，</a:t>
            </a:r>
          </a:p>
        </p:txBody>
      </p:sp>
      <p:sp>
        <p:nvSpPr>
          <p:cNvPr id="17414" name="矩形 1"/>
          <p:cNvSpPr>
            <a:spLocks noChangeArrowheads="1"/>
          </p:cNvSpPr>
          <p:nvPr/>
        </p:nvSpPr>
        <p:spPr bwMode="auto">
          <a:xfrm>
            <a:off x="9597820" y="5301208"/>
            <a:ext cx="530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6AB0AA-BA49-4A0C-9EB5-8DC8FFB51ABE}"/>
              </a:ext>
            </a:extLst>
          </p:cNvPr>
          <p:cNvSpPr txBox="1"/>
          <p:nvPr/>
        </p:nvSpPr>
        <p:spPr>
          <a:xfrm>
            <a:off x="179934" y="3400773"/>
            <a:ext cx="6852170" cy="1816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255.255.255.255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作为目标地址，使用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UDP68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端口作为目的端口来广播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信息。当客户机收到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消息时，它就配置了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地址，完成了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的初始化。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15F8FF-4E0A-4CA6-8EF0-068995E35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88640"/>
            <a:ext cx="11665296" cy="5040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91A55A-F7A6-45BD-B9E0-A3EFA08B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2" y="836712"/>
            <a:ext cx="11665295" cy="61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25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3"/>
          <p:cNvSpPr>
            <a:spLocks noChangeArrowheads="1"/>
          </p:cNvSpPr>
          <p:nvPr/>
        </p:nvSpPr>
        <p:spPr bwMode="auto">
          <a:xfrm>
            <a:off x="191344" y="188640"/>
            <a:ext cx="75328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交互过程（</a:t>
            </a:r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192.168.0.1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b="1" dirty="0">
                <a:solidFill>
                  <a:srgbClr val="2A10E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服务器）</a:t>
            </a:r>
            <a:endParaRPr lang="zh-CN" altLang="en-US" sz="2800" dirty="0">
              <a:cs typeface="Times New Roman" panose="02020603050405020304" pitchFamily="18" charset="0"/>
            </a:endParaRPr>
          </a:p>
        </p:txBody>
      </p:sp>
      <p:pic>
        <p:nvPicPr>
          <p:cNvPr id="1945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196752"/>
            <a:ext cx="1135422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3"/>
          <p:cNvSpPr>
            <a:spLocks noChangeArrowheads="1"/>
          </p:cNvSpPr>
          <p:nvPr/>
        </p:nvSpPr>
        <p:spPr bwMode="auto">
          <a:xfrm>
            <a:off x="191344" y="188640"/>
            <a:ext cx="19143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DHCP</a:t>
            </a:r>
            <a:r>
              <a:rPr kumimoji="1"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706ED9-4FCD-40E7-884E-1CF48131A731}"/>
              </a:ext>
            </a:extLst>
          </p:cNvPr>
          <p:cNvSpPr txBox="1"/>
          <p:nvPr/>
        </p:nvSpPr>
        <p:spPr>
          <a:xfrm>
            <a:off x="161434" y="1124744"/>
            <a:ext cx="5934565" cy="1538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/release [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网络连接名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释放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/release 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wlan</a:t>
            </a:r>
            <a:endParaRPr lang="en-US" altLang="zh-CN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/renew  [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网络连接名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] 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重新申请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/renew 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wlan</a:t>
            </a:r>
            <a:endParaRPr lang="zh-CN" altLang="en-US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136F55-81CD-433E-AA8A-11DC1204D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2996952"/>
            <a:ext cx="7115290" cy="36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6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28401FF-1877-4AA6-8EB4-14D8DB7F24F1}"/>
              </a:ext>
            </a:extLst>
          </p:cNvPr>
          <p:cNvSpPr txBox="1"/>
          <p:nvPr/>
        </p:nvSpPr>
        <p:spPr>
          <a:xfrm>
            <a:off x="119336" y="260648"/>
            <a:ext cx="11809312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地址中，只能作为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分组的源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地址但不能作为目的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地址的是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 0.0.0.0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B.127.0.0.1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C.200.10.10.3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D.255.255.255.255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3404804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6377</TotalTime>
  <Words>955</Words>
  <Application>Microsoft Office PowerPoint</Application>
  <PresentationFormat>宽屏</PresentationFormat>
  <Paragraphs>49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Calibri Light</vt:lpstr>
      <vt:lpstr>Times New Roman</vt:lpstr>
      <vt:lpstr>Verdana</vt:lpstr>
      <vt:lpstr>Wingdings 2</vt:lpstr>
      <vt:lpstr>自定义设计方案</vt:lpstr>
      <vt:lpstr>HDOfficeLightV0</vt:lpstr>
      <vt:lpstr>1_HDOfficeLightV0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586</cp:revision>
  <dcterms:created xsi:type="dcterms:W3CDTF">1601-01-01T00:00:00Z</dcterms:created>
  <dcterms:modified xsi:type="dcterms:W3CDTF">2025-04-18T08:42:53Z</dcterms:modified>
</cp:coreProperties>
</file>