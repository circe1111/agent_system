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33" r:id="rId1"/>
    <p:sldMasterId id="2147483734" r:id="rId2"/>
  </p:sldMasterIdLst>
  <p:notesMasterIdLst>
    <p:notesMasterId r:id="rId26"/>
  </p:notesMasterIdLst>
  <p:handoutMasterIdLst>
    <p:handoutMasterId r:id="rId27"/>
  </p:handoutMasterIdLst>
  <p:sldIdLst>
    <p:sldId id="988" r:id="rId3"/>
    <p:sldId id="967" r:id="rId4"/>
    <p:sldId id="940" r:id="rId5"/>
    <p:sldId id="968" r:id="rId6"/>
    <p:sldId id="996" r:id="rId7"/>
    <p:sldId id="942" r:id="rId8"/>
    <p:sldId id="943" r:id="rId9"/>
    <p:sldId id="944" r:id="rId10"/>
    <p:sldId id="970" r:id="rId11"/>
    <p:sldId id="972" r:id="rId12"/>
    <p:sldId id="973" r:id="rId13"/>
    <p:sldId id="974" r:id="rId14"/>
    <p:sldId id="975" r:id="rId15"/>
    <p:sldId id="992" r:id="rId16"/>
    <p:sldId id="946" r:id="rId17"/>
    <p:sldId id="983" r:id="rId18"/>
    <p:sldId id="984" r:id="rId19"/>
    <p:sldId id="965" r:id="rId20"/>
    <p:sldId id="993" r:id="rId21"/>
    <p:sldId id="997" r:id="rId22"/>
    <p:sldId id="994" r:id="rId23"/>
    <p:sldId id="998" r:id="rId24"/>
    <p:sldId id="999" r:id="rId25"/>
  </p:sldIdLst>
  <p:sldSz cx="12192000" cy="6858000"/>
  <p:notesSz cx="6858000" cy="9144000"/>
  <p:defaultTextStyle>
    <a:defPPr>
      <a:defRPr lang="en-US"/>
    </a:defPPr>
    <a:lvl1pPr algn="l" rtl="0" eaLnBrk="0" fontAlgn="base" hangingPunct="0">
      <a:spcBef>
        <a:spcPct val="0"/>
      </a:spcBef>
      <a:spcAft>
        <a:spcPct val="0"/>
      </a:spcAft>
      <a:defRPr sz="2500" kern="1200">
        <a:solidFill>
          <a:schemeClr val="bg1"/>
        </a:solidFill>
        <a:latin typeface="黑体" panose="02010609060101010101" pitchFamily="49" charset="-122"/>
        <a:ea typeface="黑体" panose="02010609060101010101" pitchFamily="49" charset="-122"/>
        <a:cs typeface="+mn-cs"/>
      </a:defRPr>
    </a:lvl1pPr>
    <a:lvl2pPr marL="457200" algn="l" rtl="0" eaLnBrk="0" fontAlgn="base" hangingPunct="0">
      <a:spcBef>
        <a:spcPct val="0"/>
      </a:spcBef>
      <a:spcAft>
        <a:spcPct val="0"/>
      </a:spcAft>
      <a:defRPr sz="2500" kern="1200">
        <a:solidFill>
          <a:schemeClr val="bg1"/>
        </a:solidFill>
        <a:latin typeface="黑体" panose="02010609060101010101" pitchFamily="49" charset="-122"/>
        <a:ea typeface="黑体" panose="02010609060101010101" pitchFamily="49" charset="-122"/>
        <a:cs typeface="+mn-cs"/>
      </a:defRPr>
    </a:lvl2pPr>
    <a:lvl3pPr marL="914400" algn="l" rtl="0" eaLnBrk="0" fontAlgn="base" hangingPunct="0">
      <a:spcBef>
        <a:spcPct val="0"/>
      </a:spcBef>
      <a:spcAft>
        <a:spcPct val="0"/>
      </a:spcAft>
      <a:defRPr sz="2500" kern="1200">
        <a:solidFill>
          <a:schemeClr val="bg1"/>
        </a:solidFill>
        <a:latin typeface="黑体" panose="02010609060101010101" pitchFamily="49" charset="-122"/>
        <a:ea typeface="黑体" panose="02010609060101010101" pitchFamily="49" charset="-122"/>
        <a:cs typeface="+mn-cs"/>
      </a:defRPr>
    </a:lvl3pPr>
    <a:lvl4pPr marL="1371600" algn="l" rtl="0" eaLnBrk="0" fontAlgn="base" hangingPunct="0">
      <a:spcBef>
        <a:spcPct val="0"/>
      </a:spcBef>
      <a:spcAft>
        <a:spcPct val="0"/>
      </a:spcAft>
      <a:defRPr sz="2500" kern="1200">
        <a:solidFill>
          <a:schemeClr val="bg1"/>
        </a:solidFill>
        <a:latin typeface="黑体" panose="02010609060101010101" pitchFamily="49" charset="-122"/>
        <a:ea typeface="黑体" panose="02010609060101010101" pitchFamily="49" charset="-122"/>
        <a:cs typeface="+mn-cs"/>
      </a:defRPr>
    </a:lvl4pPr>
    <a:lvl5pPr marL="1828800" algn="l" rtl="0" eaLnBrk="0" fontAlgn="base" hangingPunct="0">
      <a:spcBef>
        <a:spcPct val="0"/>
      </a:spcBef>
      <a:spcAft>
        <a:spcPct val="0"/>
      </a:spcAft>
      <a:defRPr sz="2500" kern="1200">
        <a:solidFill>
          <a:schemeClr val="bg1"/>
        </a:solidFill>
        <a:latin typeface="黑体" panose="02010609060101010101" pitchFamily="49" charset="-122"/>
        <a:ea typeface="黑体" panose="02010609060101010101" pitchFamily="49" charset="-122"/>
        <a:cs typeface="+mn-cs"/>
      </a:defRPr>
    </a:lvl5pPr>
    <a:lvl6pPr marL="2286000" algn="l" defTabSz="914400" rtl="0" eaLnBrk="1" latinLnBrk="0" hangingPunct="1">
      <a:defRPr sz="2500" kern="1200">
        <a:solidFill>
          <a:schemeClr val="bg1"/>
        </a:solidFill>
        <a:latin typeface="黑体" panose="02010609060101010101" pitchFamily="49" charset="-122"/>
        <a:ea typeface="黑体" panose="02010609060101010101" pitchFamily="49" charset="-122"/>
        <a:cs typeface="+mn-cs"/>
      </a:defRPr>
    </a:lvl6pPr>
    <a:lvl7pPr marL="2743200" algn="l" defTabSz="914400" rtl="0" eaLnBrk="1" latinLnBrk="0" hangingPunct="1">
      <a:defRPr sz="2500" kern="1200">
        <a:solidFill>
          <a:schemeClr val="bg1"/>
        </a:solidFill>
        <a:latin typeface="黑体" panose="02010609060101010101" pitchFamily="49" charset="-122"/>
        <a:ea typeface="黑体" panose="02010609060101010101" pitchFamily="49" charset="-122"/>
        <a:cs typeface="+mn-cs"/>
      </a:defRPr>
    </a:lvl7pPr>
    <a:lvl8pPr marL="3200400" algn="l" defTabSz="914400" rtl="0" eaLnBrk="1" latinLnBrk="0" hangingPunct="1">
      <a:defRPr sz="2500" kern="1200">
        <a:solidFill>
          <a:schemeClr val="bg1"/>
        </a:solidFill>
        <a:latin typeface="黑体" panose="02010609060101010101" pitchFamily="49" charset="-122"/>
        <a:ea typeface="黑体" panose="02010609060101010101" pitchFamily="49" charset="-122"/>
        <a:cs typeface="+mn-cs"/>
      </a:defRPr>
    </a:lvl8pPr>
    <a:lvl9pPr marL="3657600" algn="l" defTabSz="914400" rtl="0" eaLnBrk="1" latinLnBrk="0" hangingPunct="1">
      <a:defRPr sz="2500" kern="1200">
        <a:solidFill>
          <a:schemeClr val="bg1"/>
        </a:solidFill>
        <a:latin typeface="黑体" panose="02010609060101010101" pitchFamily="49" charset="-122"/>
        <a:ea typeface="黑体" panose="02010609060101010101" pitchFamily="49" charset="-122"/>
        <a:cs typeface="+mn-cs"/>
      </a:defRPr>
    </a:lvl9pPr>
  </p:defaultTextStyle>
  <p:extLst>
    <p:ext uri="{EFAFB233-063F-42B5-8137-9DF3F51BA10A}">
      <p15:sldGuideLst xmlns:p15="http://schemas.microsoft.com/office/powerpoint/2012/main">
        <p15:guide id="1" orient="horz" pos="2205"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a:srgbClr val="516FA7"/>
    <a:srgbClr val="CCECFF"/>
    <a:srgbClr val="CC0000"/>
    <a:srgbClr val="FF9933"/>
    <a:srgbClr val="FFCC00"/>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39" autoAdjust="0"/>
    <p:restoredTop sz="99822" autoAdjust="0"/>
  </p:normalViewPr>
  <p:slideViewPr>
    <p:cSldViewPr>
      <p:cViewPr>
        <p:scale>
          <a:sx n="50" d="100"/>
          <a:sy n="50" d="100"/>
        </p:scale>
        <p:origin x="1863" y="1032"/>
      </p:cViewPr>
      <p:guideLst>
        <p:guide orient="horz" pos="2205"/>
        <p:guide pos="384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41" d="100"/>
          <a:sy n="41" d="100"/>
        </p:scale>
        <p:origin x="-2050"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859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kumimoji="1" sz="1200">
                <a:solidFill>
                  <a:schemeClr val="tx1"/>
                </a:solidFill>
                <a:latin typeface="Times New Roman" pitchFamily="18" charset="0"/>
                <a:ea typeface="宋体" pitchFamily="2" charset="-122"/>
              </a:defRPr>
            </a:lvl1pPr>
          </a:lstStyle>
          <a:p>
            <a:pPr>
              <a:defRPr/>
            </a:pPr>
            <a:endParaRPr lang="zh-CN" altLang="en-US"/>
          </a:p>
        </p:txBody>
      </p:sp>
      <p:sp>
        <p:nvSpPr>
          <p:cNvPr id="238595"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a:solidFill>
                  <a:schemeClr val="tx1"/>
                </a:solidFill>
                <a:latin typeface="Times New Roman" pitchFamily="18" charset="0"/>
                <a:ea typeface="宋体" pitchFamily="2" charset="-122"/>
              </a:defRPr>
            </a:lvl1pPr>
          </a:lstStyle>
          <a:p>
            <a:pPr>
              <a:defRPr/>
            </a:pPr>
            <a:fld id="{F59734A0-1031-4C19-8BB5-8E695A3A5B08}" type="datetime1">
              <a:rPr lang="zh-CN" altLang="en-US"/>
              <a:pPr>
                <a:defRPr/>
              </a:pPr>
              <a:t>2025/3/28</a:t>
            </a:fld>
            <a:endParaRPr lang="en-US" altLang="zh-CN"/>
          </a:p>
        </p:txBody>
      </p:sp>
      <p:sp>
        <p:nvSpPr>
          <p:cNvPr id="238596"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kumimoji="1" sz="1200">
                <a:solidFill>
                  <a:schemeClr val="tx1"/>
                </a:solidFill>
                <a:latin typeface="Times New Roman" pitchFamily="18" charset="0"/>
                <a:ea typeface="宋体" pitchFamily="2" charset="-122"/>
              </a:defRPr>
            </a:lvl1pPr>
          </a:lstStyle>
          <a:p>
            <a:pPr>
              <a:defRPr/>
            </a:pPr>
            <a:endParaRPr lang="en-US" altLang="zh-CN"/>
          </a:p>
        </p:txBody>
      </p:sp>
      <p:sp>
        <p:nvSpPr>
          <p:cNvPr id="238597"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a:defRPr/>
            </a:pPr>
            <a:fld id="{8818DA1F-3D81-44D2-BD4D-14D3A3AD4077}" type="slidenum">
              <a:rPr lang="zh-CN" altLang="en-US"/>
              <a:pPr>
                <a:defRPr/>
              </a:pPr>
              <a:t>‹#›</a:t>
            </a:fld>
            <a:endParaRPr lang="en-US" altLang="zh-CN"/>
          </a:p>
        </p:txBody>
      </p:sp>
    </p:spTree>
    <p:extLst>
      <p:ext uri="{BB962C8B-B14F-4D97-AF65-F5344CB8AC3E}">
        <p14:creationId xmlns:p14="http://schemas.microsoft.com/office/powerpoint/2010/main" val="38601359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kumimoji="1" sz="1200">
                <a:solidFill>
                  <a:schemeClr val="tx1"/>
                </a:solidFill>
                <a:latin typeface="Times New Roman" pitchFamily="18" charset="0"/>
                <a:ea typeface="宋体" pitchFamily="2" charset="-122"/>
              </a:defRPr>
            </a:lvl1pPr>
          </a:lstStyle>
          <a:p>
            <a:pPr>
              <a:defRPr/>
            </a:pPr>
            <a:endParaRPr lang="zh-CN" altLang="en-US"/>
          </a:p>
        </p:txBody>
      </p:sp>
      <p:sp>
        <p:nvSpPr>
          <p:cNvPr id="6147"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a:solidFill>
                  <a:schemeClr val="tx1"/>
                </a:solidFill>
                <a:latin typeface="Times New Roman" pitchFamily="18" charset="0"/>
                <a:ea typeface="宋体" pitchFamily="2" charset="-122"/>
              </a:defRPr>
            </a:lvl1pPr>
          </a:lstStyle>
          <a:p>
            <a:pPr>
              <a:defRPr/>
            </a:pPr>
            <a:fld id="{572BBA53-566C-4578-A9E2-7EE839AA4F3D}" type="datetime1">
              <a:rPr lang="zh-CN" altLang="en-US"/>
              <a:pPr>
                <a:defRPr/>
              </a:pPr>
              <a:t>2025/3/28</a:t>
            </a:fld>
            <a:endParaRPr lang="en-US" altLang="zh-CN"/>
          </a:p>
        </p:txBody>
      </p:sp>
      <p:sp>
        <p:nvSpPr>
          <p:cNvPr id="512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9"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kumimoji="1" sz="1200">
                <a:solidFill>
                  <a:schemeClr val="tx1"/>
                </a:solidFill>
                <a:latin typeface="Times New Roman" pitchFamily="18" charset="0"/>
                <a:ea typeface="宋体" pitchFamily="2" charset="-122"/>
              </a:defRPr>
            </a:lvl1pPr>
          </a:lstStyle>
          <a:p>
            <a:pPr>
              <a:defRPr/>
            </a:pPr>
            <a:endParaRPr lang="en-US" altLang="zh-CN"/>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a:defRPr/>
            </a:pPr>
            <a:fld id="{340E5039-9A88-4425-847F-C4A5B0315592}" type="slidenum">
              <a:rPr lang="zh-CN" altLang="en-US"/>
              <a:pPr>
                <a:defRPr/>
              </a:pPr>
              <a:t>‹#›</a:t>
            </a:fld>
            <a:endParaRPr lang="en-US" altLang="zh-CN"/>
          </a:p>
        </p:txBody>
      </p:sp>
    </p:spTree>
    <p:extLst>
      <p:ext uri="{BB962C8B-B14F-4D97-AF65-F5344CB8AC3E}">
        <p14:creationId xmlns:p14="http://schemas.microsoft.com/office/powerpoint/2010/main" val="511961805"/>
      </p:ext>
    </p:extLst>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97C5ADFF-A68A-46C3-8CBE-027B032B8985}" type="datetime1">
              <a:rPr lang="zh-CN" altLang="en-US" smtClean="0"/>
              <a:pPr>
                <a:spcBef>
                  <a:spcPct val="0"/>
                </a:spcBef>
              </a:pPr>
              <a:t>2025/3/28</a:t>
            </a:fld>
            <a:endParaRPr lang="en-US" altLang="zh-CN"/>
          </a:p>
        </p:txBody>
      </p:sp>
      <p:sp>
        <p:nvSpPr>
          <p:cNvPr id="10243"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612A0D2C-1712-41D5-9545-9C83AB58134A}" type="slidenum">
              <a:rPr lang="zh-CN" altLang="en-US" smtClean="0"/>
              <a:pPr>
                <a:spcBef>
                  <a:spcPct val="0"/>
                </a:spcBef>
              </a:pPr>
              <a:t>1</a:t>
            </a:fld>
            <a:endParaRPr lang="en-US" altLang="zh-CN"/>
          </a:p>
        </p:txBody>
      </p:sp>
      <p:sp>
        <p:nvSpPr>
          <p:cNvPr id="10244" name="Rectangle 2"/>
          <p:cNvSpPr>
            <a:spLocks noGrp="1" noRot="1" noChangeAspect="1" noChangeArrowheads="1" noTextEdit="1"/>
          </p:cNvSpPr>
          <p:nvPr>
            <p:ph type="sldImg"/>
          </p:nvPr>
        </p:nvSpPr>
        <p:spPr>
          <a:xfrm>
            <a:off x="381000" y="685800"/>
            <a:ext cx="6096000" cy="3429000"/>
          </a:xfrm>
          <a:ln/>
        </p:spPr>
      </p:sp>
      <p:sp>
        <p:nvSpPr>
          <p:cNvPr id="10245"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24672382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fld id="{E7C0BB55-66A7-4510-89F6-857C330F27F3}" type="datetime11">
              <a:rPr lang="zh-CN" altLang="en-US"/>
              <a:pPr>
                <a:defRPr/>
              </a:pPr>
              <a:t>08:44:28</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2F886B24-6045-4335-AB4A-6527D7FA11DF}" type="slidenum">
              <a:rPr lang="zh-CN" altLang="en-US"/>
              <a:pPr>
                <a:defRPr/>
              </a:pPr>
              <a:t>‹#›</a:t>
            </a:fld>
            <a:endParaRPr lang="en-US" altLang="zh-CN"/>
          </a:p>
        </p:txBody>
      </p:sp>
    </p:spTree>
    <p:extLst>
      <p:ext uri="{BB962C8B-B14F-4D97-AF65-F5344CB8AC3E}">
        <p14:creationId xmlns:p14="http://schemas.microsoft.com/office/powerpoint/2010/main" val="3530480526"/>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1076CD15-C474-46EE-8D08-1712EC506676}" type="datetime11">
              <a:rPr lang="zh-CN" altLang="en-US"/>
              <a:pPr>
                <a:defRPr/>
              </a:pPr>
              <a:t>08:44:29</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11A4BA65-F9CC-4965-AA03-CE8AD04A5FD7}" type="slidenum">
              <a:rPr lang="zh-CN" altLang="en-US"/>
              <a:pPr>
                <a:defRPr/>
              </a:pPr>
              <a:t>‹#›</a:t>
            </a:fld>
            <a:endParaRPr lang="en-US" altLang="zh-CN"/>
          </a:p>
        </p:txBody>
      </p:sp>
      <p:cxnSp>
        <p:nvCxnSpPr>
          <p:cNvPr id="7" name="直接连接符 6">
            <a:extLst>
              <a:ext uri="{FF2B5EF4-FFF2-40B4-BE49-F238E27FC236}">
                <a16:creationId xmlns:a16="http://schemas.microsoft.com/office/drawing/2014/main" id="{6386E453-6B59-4145-880B-704C51A28D0A}"/>
              </a:ext>
            </a:extLst>
          </p:cNvPr>
          <p:cNvCxnSpPr>
            <a:cxnSpLocks/>
          </p:cNvCxnSpPr>
          <p:nvPr userDrawn="1"/>
        </p:nvCxnSpPr>
        <p:spPr>
          <a:xfrm>
            <a:off x="260349" y="737146"/>
            <a:ext cx="11668299" cy="0"/>
          </a:xfrm>
          <a:prstGeom prst="line">
            <a:avLst/>
          </a:prstGeom>
          <a:ln w="38100">
            <a:solidFill>
              <a:srgbClr val="0060A8"/>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AE5D05C1-F957-4A4F-B4E5-D8BD2162D18C}"/>
              </a:ext>
            </a:extLst>
          </p:cNvPr>
          <p:cNvCxnSpPr>
            <a:cxnSpLocks/>
          </p:cNvCxnSpPr>
          <p:nvPr userDrawn="1"/>
        </p:nvCxnSpPr>
        <p:spPr>
          <a:xfrm>
            <a:off x="260350" y="768896"/>
            <a:ext cx="5700779" cy="0"/>
          </a:xfrm>
          <a:prstGeom prst="line">
            <a:avLst/>
          </a:prstGeom>
          <a:ln w="38100">
            <a:solidFill>
              <a:srgbClr val="0060A8"/>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840261"/>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018B383F-F3E3-428C-9513-AFC936B6E2C8}" type="datetime11">
              <a:rPr lang="zh-CN" altLang="en-US"/>
              <a:pPr>
                <a:defRPr/>
              </a:pPr>
              <a:t>08:57:04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90E1B581-47E2-4CCE-9A4C-96C740E7E8E0}" type="slidenum">
              <a:rPr lang="zh-CN" altLang="en-US"/>
              <a:pPr>
                <a:defRPr/>
              </a:pPr>
              <a:t>‹#›</a:t>
            </a:fld>
            <a:endParaRPr lang="en-US" altLang="zh-CN"/>
          </a:p>
        </p:txBody>
      </p:sp>
    </p:spTree>
    <p:extLst>
      <p:ext uri="{BB962C8B-B14F-4D97-AF65-F5344CB8AC3E}">
        <p14:creationId xmlns:p14="http://schemas.microsoft.com/office/powerpoint/2010/main" val="3460631631"/>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6E365269-E14D-4506-9AAE-337BE876BB2F}" type="datetime11">
              <a:rPr lang="zh-CN" altLang="en-US"/>
              <a:pPr>
                <a:defRPr/>
              </a:pPr>
              <a:t>08:57:04</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14687D98-72D9-4D4F-A3E3-BE79388AAFF8}" type="slidenum">
              <a:rPr lang="zh-CN" altLang="en-US"/>
              <a:pPr>
                <a:defRPr/>
              </a:pPr>
              <a:t>‹#›</a:t>
            </a:fld>
            <a:endParaRPr lang="en-US" altLang="zh-CN"/>
          </a:p>
        </p:txBody>
      </p:sp>
    </p:spTree>
    <p:extLst>
      <p:ext uri="{BB962C8B-B14F-4D97-AF65-F5344CB8AC3E}">
        <p14:creationId xmlns:p14="http://schemas.microsoft.com/office/powerpoint/2010/main" val="795821111"/>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fld id="{02B237E4-7DCD-42F3-B0AF-B836BDDDEB92}" type="datetime11">
              <a:rPr lang="zh-CN" altLang="en-US"/>
              <a:pPr>
                <a:defRPr/>
              </a:pPr>
              <a:t>08:57:04</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2EEAB624-33D4-410A-A4EC-C8514AAAF851}" type="slidenum">
              <a:rPr lang="zh-CN" altLang="en-US"/>
              <a:pPr>
                <a:defRPr/>
              </a:pPr>
              <a:t>‹#›</a:t>
            </a:fld>
            <a:endParaRPr lang="en-US" altLang="zh-CN"/>
          </a:p>
        </p:txBody>
      </p:sp>
    </p:spTree>
    <p:extLst>
      <p:ext uri="{BB962C8B-B14F-4D97-AF65-F5344CB8AC3E}">
        <p14:creationId xmlns:p14="http://schemas.microsoft.com/office/powerpoint/2010/main" val="323263513"/>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fld id="{3CDB35AC-E2EE-4CFD-832F-DFC8A99DE4B4}" type="datetime11">
              <a:rPr lang="zh-CN" altLang="en-US"/>
              <a:pPr>
                <a:defRPr/>
              </a:pPr>
              <a:t>08:57:04</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F64C705B-C67E-4232-A983-DB2CBE59620F}" type="slidenum">
              <a:rPr lang="zh-CN" altLang="en-US"/>
              <a:pPr>
                <a:defRPr/>
              </a:pPr>
              <a:t>‹#›</a:t>
            </a:fld>
            <a:endParaRPr lang="en-US" altLang="zh-CN"/>
          </a:p>
        </p:txBody>
      </p:sp>
    </p:spTree>
    <p:extLst>
      <p:ext uri="{BB962C8B-B14F-4D97-AF65-F5344CB8AC3E}">
        <p14:creationId xmlns:p14="http://schemas.microsoft.com/office/powerpoint/2010/main" val="1131940413"/>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0FB8FC5C-BFED-433E-9E76-A16CC88AFF74}" type="datetime11">
              <a:rPr lang="zh-CN" altLang="en-US"/>
              <a:pPr>
                <a:defRPr/>
              </a:pPr>
              <a:t>08:57:04</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A3518C3C-6056-4417-9A99-41BB6297FF1D}" type="slidenum">
              <a:rPr lang="zh-CN" altLang="en-US"/>
              <a:pPr>
                <a:defRPr/>
              </a:pPr>
              <a:t>‹#›</a:t>
            </a:fld>
            <a:endParaRPr lang="en-US" altLang="zh-CN"/>
          </a:p>
        </p:txBody>
      </p:sp>
    </p:spTree>
    <p:extLst>
      <p:ext uri="{BB962C8B-B14F-4D97-AF65-F5344CB8AC3E}">
        <p14:creationId xmlns:p14="http://schemas.microsoft.com/office/powerpoint/2010/main" val="4214820871"/>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E13AA2EB-00B5-4AD0-9FEE-37AD752D12B4}" type="datetime11">
              <a:rPr lang="zh-CN" altLang="en-US"/>
              <a:pPr>
                <a:defRPr/>
              </a:pPr>
              <a:t>08:57:04</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35A5714-86F8-44A1-8C14-EA9641C0DB29}" type="slidenum">
              <a:rPr lang="zh-CN" altLang="en-US"/>
              <a:pPr>
                <a:defRPr/>
              </a:pPr>
              <a:t>‹#›</a:t>
            </a:fld>
            <a:endParaRPr lang="en-US" altLang="zh-CN"/>
          </a:p>
        </p:txBody>
      </p:sp>
    </p:spTree>
    <p:extLst>
      <p:ext uri="{BB962C8B-B14F-4D97-AF65-F5344CB8AC3E}">
        <p14:creationId xmlns:p14="http://schemas.microsoft.com/office/powerpoint/2010/main" val="503690136"/>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69279844-6EBC-4024-A807-79BBA67B903F}" type="datetime11">
              <a:rPr lang="zh-CN" altLang="en-US"/>
              <a:pPr>
                <a:defRPr/>
              </a:pPr>
              <a:t>08:57:04</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D3DC560C-FA5C-4600-A1CD-24318F0840A8}" type="slidenum">
              <a:rPr lang="zh-CN" altLang="en-US"/>
              <a:pPr>
                <a:defRPr/>
              </a:pPr>
              <a:t>‹#›</a:t>
            </a:fld>
            <a:endParaRPr lang="en-US" altLang="zh-CN"/>
          </a:p>
        </p:txBody>
      </p:sp>
    </p:spTree>
    <p:extLst>
      <p:ext uri="{BB962C8B-B14F-4D97-AF65-F5344CB8AC3E}">
        <p14:creationId xmlns:p14="http://schemas.microsoft.com/office/powerpoint/2010/main" val="3832957593"/>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D437A47A-331E-46B7-8394-D654CB4BB720}" type="datetime11">
              <a:rPr lang="zh-CN" altLang="en-US"/>
              <a:pPr>
                <a:defRPr/>
              </a:pPr>
              <a:t>08:57:04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497B634-B261-49A0-BCF5-A686B95651C1}" type="slidenum">
              <a:rPr lang="zh-CN" altLang="en-US"/>
              <a:pPr>
                <a:defRPr/>
              </a:pPr>
              <a:t>‹#›</a:t>
            </a:fld>
            <a:endParaRPr lang="en-US" altLang="zh-CN"/>
          </a:p>
        </p:txBody>
      </p:sp>
    </p:spTree>
    <p:extLst>
      <p:ext uri="{BB962C8B-B14F-4D97-AF65-F5344CB8AC3E}">
        <p14:creationId xmlns:p14="http://schemas.microsoft.com/office/powerpoint/2010/main" val="896267144"/>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99D52D9B-6922-4F1D-93AF-1A31EF3942C3}" type="datetime11">
              <a:rPr lang="zh-CN" altLang="en-US"/>
              <a:pPr>
                <a:defRPr/>
              </a:pPr>
              <a:t>08:57:04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3490AF5A-B098-4CD5-A753-25AC31C28101}" type="slidenum">
              <a:rPr lang="zh-CN" altLang="en-US"/>
              <a:pPr>
                <a:defRPr/>
              </a:pPr>
              <a:t>‹#›</a:t>
            </a:fld>
            <a:endParaRPr lang="en-US" altLang="zh-CN"/>
          </a:p>
        </p:txBody>
      </p:sp>
    </p:spTree>
    <p:extLst>
      <p:ext uri="{BB962C8B-B14F-4D97-AF65-F5344CB8AC3E}">
        <p14:creationId xmlns:p14="http://schemas.microsoft.com/office/powerpoint/2010/main" val="1979875039"/>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fld id="{6C885990-348F-47D3-BD0C-1DCED47D10C7}" type="datetime11">
              <a:rPr lang="zh-CN" altLang="en-US"/>
              <a:pPr>
                <a:defRPr/>
              </a:pPr>
              <a:t>08:57:04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1A12E47-0EFB-4CDF-9FAB-B4A1F27F240C}" type="slidenum">
              <a:rPr lang="zh-CN" altLang="en-US"/>
              <a:pPr>
                <a:defRPr/>
              </a:pPr>
              <a:t>‹#›</a:t>
            </a:fld>
            <a:endParaRPr lang="en-US" altLang="zh-CN"/>
          </a:p>
        </p:txBody>
      </p:sp>
    </p:spTree>
    <p:extLst>
      <p:ext uri="{BB962C8B-B14F-4D97-AF65-F5344CB8AC3E}">
        <p14:creationId xmlns:p14="http://schemas.microsoft.com/office/powerpoint/2010/main" val="3195622266"/>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E77900B1-3B59-44D8-A779-3DAFAD2CD814}" type="datetime11">
              <a:rPr lang="zh-CN" altLang="en-US"/>
              <a:pPr>
                <a:defRPr/>
              </a:pPr>
              <a:t>08:57:04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75201D7-DC80-437C-8F22-683A1FEECB32}" type="slidenum">
              <a:rPr lang="zh-CN" altLang="en-US"/>
              <a:pPr>
                <a:defRPr/>
              </a:pPr>
              <a:t>‹#›</a:t>
            </a:fld>
            <a:endParaRPr lang="en-US" altLang="zh-CN"/>
          </a:p>
        </p:txBody>
      </p:sp>
    </p:spTree>
    <p:extLst>
      <p:ext uri="{BB962C8B-B14F-4D97-AF65-F5344CB8AC3E}">
        <p14:creationId xmlns:p14="http://schemas.microsoft.com/office/powerpoint/2010/main" val="1107041757"/>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ED3F5488-2524-4CDD-A89C-931D28990899}" type="datetime11">
              <a:rPr lang="zh-CN" altLang="en-US"/>
              <a:pPr>
                <a:defRPr/>
              </a:pPr>
              <a:t>08:57:04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9CD8FE8D-62FF-4266-BD34-A3F2ABC0BF9F}" type="slidenum">
              <a:rPr lang="zh-CN" altLang="en-US"/>
              <a:pPr>
                <a:defRPr/>
              </a:pPr>
              <a:t>‹#›</a:t>
            </a:fld>
            <a:endParaRPr lang="en-US" altLang="zh-CN"/>
          </a:p>
        </p:txBody>
      </p:sp>
    </p:spTree>
    <p:extLst>
      <p:ext uri="{BB962C8B-B14F-4D97-AF65-F5344CB8AC3E}">
        <p14:creationId xmlns:p14="http://schemas.microsoft.com/office/powerpoint/2010/main" val="406927300"/>
      </p:ext>
    </p:extLst>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146BD53C-3006-4DB9-A044-1690186FD3B9}" type="datetime11">
              <a:rPr lang="zh-CN" altLang="en-US"/>
              <a:pPr>
                <a:defRPr/>
              </a:pPr>
              <a:t>08:57:04</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4631F332-EE99-48B9-BE9D-71679D05340F}" type="slidenum">
              <a:rPr lang="zh-CN" altLang="en-US"/>
              <a:pPr>
                <a:defRPr/>
              </a:pPr>
              <a:t>‹#›</a:t>
            </a:fld>
            <a:endParaRPr lang="en-US" altLang="zh-CN"/>
          </a:p>
        </p:txBody>
      </p:sp>
    </p:spTree>
    <p:extLst>
      <p:ext uri="{BB962C8B-B14F-4D97-AF65-F5344CB8AC3E}">
        <p14:creationId xmlns:p14="http://schemas.microsoft.com/office/powerpoint/2010/main" val="3660074393"/>
      </p:ext>
    </p:extLst>
  </p:cSld>
  <p:clrMapOvr>
    <a:masterClrMapping/>
  </p:clrMapOvr>
  <p:transition spd="slow"/>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fld id="{57A6B31C-E246-46E3-A61F-EF8AA80BB3C4}" type="datetime11">
              <a:rPr lang="zh-CN" altLang="en-US"/>
              <a:pPr>
                <a:defRPr/>
              </a:pPr>
              <a:t>08:57:04</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7D412E9C-7EB8-4654-9FB1-094F4C38BB5F}" type="slidenum">
              <a:rPr lang="zh-CN" altLang="en-US"/>
              <a:pPr>
                <a:defRPr/>
              </a:pPr>
              <a:t>‹#›</a:t>
            </a:fld>
            <a:endParaRPr lang="en-US" altLang="zh-CN"/>
          </a:p>
        </p:txBody>
      </p:sp>
    </p:spTree>
    <p:extLst>
      <p:ext uri="{BB962C8B-B14F-4D97-AF65-F5344CB8AC3E}">
        <p14:creationId xmlns:p14="http://schemas.microsoft.com/office/powerpoint/2010/main" val="2341106629"/>
      </p:ext>
    </p:extLst>
  </p:cSld>
  <p:clrMapOvr>
    <a:masterClrMapping/>
  </p:clrMapOvr>
  <p:transition spd="slow"/>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fld id="{0A68C8FD-9284-43DF-8F35-395CEEA053B2}" type="datetime11">
              <a:rPr lang="zh-CN" altLang="en-US"/>
              <a:pPr>
                <a:defRPr/>
              </a:pPr>
              <a:t>08:57:04</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92D6D235-CE42-44C9-96B9-825A7873FFAD}" type="slidenum">
              <a:rPr lang="zh-CN" altLang="en-US"/>
              <a:pPr>
                <a:defRPr/>
              </a:pPr>
              <a:t>‹#›</a:t>
            </a:fld>
            <a:endParaRPr lang="en-US" altLang="zh-CN"/>
          </a:p>
        </p:txBody>
      </p:sp>
    </p:spTree>
    <p:extLst>
      <p:ext uri="{BB962C8B-B14F-4D97-AF65-F5344CB8AC3E}">
        <p14:creationId xmlns:p14="http://schemas.microsoft.com/office/powerpoint/2010/main" val="69116808"/>
      </p:ext>
    </p:extLst>
  </p:cSld>
  <p:clrMapOvr>
    <a:masterClrMapping/>
  </p:clrMapOvr>
  <p:transition spd="slow"/>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A162B1B9-72F6-422A-AE98-99E357966AC8}" type="datetime11">
              <a:rPr lang="zh-CN" altLang="en-US"/>
              <a:pPr>
                <a:defRPr/>
              </a:pPr>
              <a:t>08:57:04</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69DAA391-AFB4-443A-B94A-7BB752A2EE49}" type="slidenum">
              <a:rPr lang="zh-CN" altLang="en-US"/>
              <a:pPr>
                <a:defRPr/>
              </a:pPr>
              <a:t>‹#›</a:t>
            </a:fld>
            <a:endParaRPr lang="en-US" altLang="zh-CN"/>
          </a:p>
        </p:txBody>
      </p:sp>
    </p:spTree>
    <p:extLst>
      <p:ext uri="{BB962C8B-B14F-4D97-AF65-F5344CB8AC3E}">
        <p14:creationId xmlns:p14="http://schemas.microsoft.com/office/powerpoint/2010/main" val="3805733118"/>
      </p:ext>
    </p:extLst>
  </p:cSld>
  <p:clrMapOvr>
    <a:masterClrMapping/>
  </p:clrMapOvr>
  <p:transition spd="slow"/>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4EC52512-D870-4EF0-9528-88D43EF66115}" type="datetime11">
              <a:rPr lang="zh-CN" altLang="en-US"/>
              <a:pPr>
                <a:defRPr/>
              </a:pPr>
              <a:t>08:57:04</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40A55845-B6EC-4C67-87F2-67E6C87B89CB}" type="slidenum">
              <a:rPr lang="zh-CN" altLang="en-US"/>
              <a:pPr>
                <a:defRPr/>
              </a:pPr>
              <a:t>‹#›</a:t>
            </a:fld>
            <a:endParaRPr lang="en-US" altLang="zh-CN"/>
          </a:p>
        </p:txBody>
      </p:sp>
    </p:spTree>
    <p:extLst>
      <p:ext uri="{BB962C8B-B14F-4D97-AF65-F5344CB8AC3E}">
        <p14:creationId xmlns:p14="http://schemas.microsoft.com/office/powerpoint/2010/main" val="108900500"/>
      </p:ext>
    </p:extLst>
  </p:cSld>
  <p:clrMapOvr>
    <a:masterClrMapping/>
  </p:clrMapOvr>
  <p:transition spd="slow"/>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9037F6CD-A86E-48BB-86D8-2C5BF39F9610}" type="datetime11">
              <a:rPr lang="zh-CN" altLang="en-US"/>
              <a:pPr>
                <a:defRPr/>
              </a:pPr>
              <a:t>08:57:04</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76F3EF34-9166-4F01-BA05-D2B63678A590}" type="slidenum">
              <a:rPr lang="zh-CN" altLang="en-US"/>
              <a:pPr>
                <a:defRPr/>
              </a:pPr>
              <a:t>‹#›</a:t>
            </a:fld>
            <a:endParaRPr lang="en-US" altLang="zh-CN"/>
          </a:p>
        </p:txBody>
      </p:sp>
    </p:spTree>
    <p:extLst>
      <p:ext uri="{BB962C8B-B14F-4D97-AF65-F5344CB8AC3E}">
        <p14:creationId xmlns:p14="http://schemas.microsoft.com/office/powerpoint/2010/main" val="616986034"/>
      </p:ext>
    </p:extLst>
  </p:cSld>
  <p:clrMapOvr>
    <a:masterClrMapping/>
  </p:clrMapOvr>
  <p:transition spd="slow"/>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3AAB6512-77B7-4E77-9AFE-B50559B82EA3}" type="datetime11">
              <a:rPr lang="zh-CN" altLang="en-US"/>
              <a:pPr>
                <a:defRPr/>
              </a:pPr>
              <a:t>08:57:04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5E3BA1D-810D-4B9C-99D1-6BCDB0B15203}" type="slidenum">
              <a:rPr lang="zh-CN" altLang="en-US"/>
              <a:pPr>
                <a:defRPr/>
              </a:pPr>
              <a:t>‹#›</a:t>
            </a:fld>
            <a:endParaRPr lang="en-US" altLang="zh-CN"/>
          </a:p>
        </p:txBody>
      </p:sp>
    </p:spTree>
    <p:extLst>
      <p:ext uri="{BB962C8B-B14F-4D97-AF65-F5344CB8AC3E}">
        <p14:creationId xmlns:p14="http://schemas.microsoft.com/office/powerpoint/2010/main" val="774395731"/>
      </p:ext>
    </p:extLst>
  </p:cSld>
  <p:clrMapOvr>
    <a:masterClrMapping/>
  </p:clrMapOvr>
  <p:transition spd="slow"/>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EFBF3F13-74B4-487B-89BE-EEEBFE6A1BF7}" type="datetime11">
              <a:rPr lang="zh-CN" altLang="en-US"/>
              <a:pPr>
                <a:defRPr/>
              </a:pPr>
              <a:t>08:57:04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6B5CC46A-E44D-4995-A377-BCE5D75666AE}" type="slidenum">
              <a:rPr lang="zh-CN" altLang="en-US"/>
              <a:pPr>
                <a:defRPr/>
              </a:pPr>
              <a:t>‹#›</a:t>
            </a:fld>
            <a:endParaRPr lang="en-US" altLang="zh-CN"/>
          </a:p>
        </p:txBody>
      </p:sp>
    </p:spTree>
    <p:extLst>
      <p:ext uri="{BB962C8B-B14F-4D97-AF65-F5344CB8AC3E}">
        <p14:creationId xmlns:p14="http://schemas.microsoft.com/office/powerpoint/2010/main" val="656600332"/>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21188"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kumimoji="1" sz="1400">
                <a:solidFill>
                  <a:schemeClr val="tx1"/>
                </a:solidFill>
                <a:latin typeface="Times New Roman" pitchFamily="18" charset="0"/>
                <a:ea typeface="+mn-ea"/>
              </a:defRPr>
            </a:lvl1pPr>
          </a:lstStyle>
          <a:p>
            <a:pPr>
              <a:defRPr/>
            </a:pPr>
            <a:fld id="{5722B7D6-7F33-40E1-AF18-78DB147A94FD}" type="datetime11">
              <a:rPr lang="zh-CN" altLang="en-US"/>
              <a:pPr>
                <a:defRPr/>
              </a:pPr>
              <a:t>08:44:28</a:t>
            </a:fld>
            <a:endParaRPr lang="en-US" altLang="zh-CN"/>
          </a:p>
        </p:txBody>
      </p:sp>
      <p:sp>
        <p:nvSpPr>
          <p:cNvPr id="221189"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kumimoji="1" sz="1400">
                <a:solidFill>
                  <a:schemeClr val="tx1"/>
                </a:solidFill>
                <a:latin typeface="Times New Roman" pitchFamily="18" charset="0"/>
                <a:ea typeface="+mn-ea"/>
              </a:defRPr>
            </a:lvl1pPr>
          </a:lstStyle>
          <a:p>
            <a:pPr>
              <a:defRPr/>
            </a:pPr>
            <a:endParaRPr lang="en-US" altLang="zh-CN"/>
          </a:p>
        </p:txBody>
      </p:sp>
      <p:sp>
        <p:nvSpPr>
          <p:cNvPr id="221190"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400">
                <a:solidFill>
                  <a:schemeClr val="tx1"/>
                </a:solidFill>
                <a:latin typeface="Times New Roman" panose="02020603050405020304" pitchFamily="18" charset="0"/>
                <a:ea typeface="宋体" panose="02010600030101010101" pitchFamily="2" charset="-122"/>
              </a:defRPr>
            </a:lvl1pPr>
          </a:lstStyle>
          <a:p>
            <a:pPr>
              <a:defRPr/>
            </a:pPr>
            <a:fld id="{17F93D74-D6AE-4525-9B30-9D863F139EB3}"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587" r:id="rId1"/>
    <p:sldLayoutId id="2147484588" r:id="rId2"/>
    <p:sldLayoutId id="2147484589" r:id="rId3"/>
    <p:sldLayoutId id="2147484590" r:id="rId4"/>
    <p:sldLayoutId id="2147484591" r:id="rId5"/>
    <p:sldLayoutId id="2147484592" r:id="rId6"/>
    <p:sldLayoutId id="2147484593" r:id="rId7"/>
    <p:sldLayoutId id="2147484594" r:id="rId8"/>
    <p:sldLayoutId id="2147484595" r:id="rId9"/>
    <p:sldLayoutId id="2147484596" r:id="rId10"/>
    <p:sldLayoutId id="2147484597" r:id="rId11"/>
  </p:sldLayoutIdLst>
  <p:transition spd="slow"/>
  <p:hf hdr="0" ft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Rectangle 3"/>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17828"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kumimoji="1" sz="1400">
                <a:solidFill>
                  <a:schemeClr val="tx1"/>
                </a:solidFill>
                <a:latin typeface="Times New Roman" pitchFamily="18" charset="0"/>
                <a:ea typeface="+mn-ea"/>
              </a:defRPr>
            </a:lvl1pPr>
          </a:lstStyle>
          <a:p>
            <a:pPr>
              <a:defRPr/>
            </a:pPr>
            <a:fld id="{2CF2A19C-F077-4BAF-98B0-525B409FE36F}" type="datetime11">
              <a:rPr lang="zh-CN" altLang="en-US"/>
              <a:pPr>
                <a:defRPr/>
              </a:pPr>
              <a:t>08:44:28</a:t>
            </a:fld>
            <a:endParaRPr lang="en-US" altLang="zh-CN"/>
          </a:p>
        </p:txBody>
      </p:sp>
      <p:sp>
        <p:nvSpPr>
          <p:cNvPr id="717829"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kumimoji="1" sz="1400">
                <a:solidFill>
                  <a:schemeClr val="tx1"/>
                </a:solidFill>
                <a:latin typeface="Times New Roman" pitchFamily="18" charset="0"/>
                <a:ea typeface="+mn-ea"/>
              </a:defRPr>
            </a:lvl1pPr>
          </a:lstStyle>
          <a:p>
            <a:pPr>
              <a:defRPr/>
            </a:pPr>
            <a:endParaRPr lang="en-US" altLang="zh-CN"/>
          </a:p>
        </p:txBody>
      </p:sp>
      <p:sp>
        <p:nvSpPr>
          <p:cNvPr id="717830"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400">
                <a:solidFill>
                  <a:schemeClr val="tx1"/>
                </a:solidFill>
                <a:latin typeface="Times New Roman" panose="02020603050405020304" pitchFamily="18" charset="0"/>
                <a:ea typeface="宋体" panose="02010600030101010101" pitchFamily="2" charset="-122"/>
              </a:defRPr>
            </a:lvl1pPr>
          </a:lstStyle>
          <a:p>
            <a:pPr>
              <a:defRPr/>
            </a:pPr>
            <a:fld id="{D1E68339-8DF1-45E3-A9C9-5051C39C3524}"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598" r:id="rId1"/>
    <p:sldLayoutId id="2147484599" r:id="rId2"/>
    <p:sldLayoutId id="2147484600" r:id="rId3"/>
    <p:sldLayoutId id="2147484601" r:id="rId4"/>
    <p:sldLayoutId id="2147484602" r:id="rId5"/>
    <p:sldLayoutId id="2147484603" r:id="rId6"/>
    <p:sldLayoutId id="2147484604" r:id="rId7"/>
    <p:sldLayoutId id="2147484605" r:id="rId8"/>
    <p:sldLayoutId id="2147484606" r:id="rId9"/>
    <p:sldLayoutId id="2147484607" r:id="rId10"/>
    <p:sldLayoutId id="2147484608" r:id="rId11"/>
  </p:sldLayoutIdLst>
  <p:transition spd="slow"/>
  <p:hf hdr="0" ft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Text Box 15"/>
          <p:cNvSpPr txBox="1">
            <a:spLocks noChangeArrowheads="1"/>
          </p:cNvSpPr>
          <p:nvPr/>
        </p:nvSpPr>
        <p:spPr bwMode="auto">
          <a:xfrm>
            <a:off x="1811016" y="2780928"/>
            <a:ext cx="8856984" cy="1234120"/>
          </a:xfrm>
          <a:prstGeom prst="rect">
            <a:avLst/>
          </a:prstGeom>
        </p:spPr>
        <p:txBody>
          <a:bodyPr wrap="square">
            <a:spAutoFit/>
          </a:bodyPr>
          <a:lstStyle>
            <a:defPPr>
              <a:defRPr lang="en-US"/>
            </a:defPPr>
            <a:lvl1pPr>
              <a:lnSpc>
                <a:spcPct val="130000"/>
              </a:lnSpc>
              <a:defRPr sz="2400">
                <a:solidFill>
                  <a:srgbClr val="0070C0"/>
                </a:solidFill>
                <a:latin typeface="微软雅黑" panose="020B0503020204020204" pitchFamily="34" charset="-122"/>
                <a:ea typeface="微软雅黑" panose="020B0503020204020204" pitchFamily="34" charset="-122"/>
              </a:defRPr>
            </a:lvl1pPr>
          </a:lstStyle>
          <a:p>
            <a:pPr algn="ctr"/>
            <a:r>
              <a:rPr lang="en-US" altLang="zh-CN" sz="3000" b="1" dirty="0"/>
              <a:t>ICMP</a:t>
            </a:r>
            <a:r>
              <a:rPr lang="zh-CN" altLang="en-US" sz="3000" b="1" dirty="0"/>
              <a:t>（</a:t>
            </a:r>
            <a:r>
              <a:rPr lang="en-US" altLang="zh-CN" sz="3000" b="1" dirty="0"/>
              <a:t> Internet Control Message Protocol </a:t>
            </a:r>
            <a:r>
              <a:rPr lang="zh-CN" altLang="en-US" sz="3000" b="1" dirty="0"/>
              <a:t>）</a:t>
            </a:r>
            <a:endParaRPr lang="en-US" altLang="zh-CN" sz="3000" b="1" dirty="0"/>
          </a:p>
          <a:p>
            <a:pPr algn="ctr"/>
            <a:r>
              <a:rPr lang="zh-CN" altLang="en-US" sz="3000" b="1" dirty="0"/>
              <a:t>互联网控制消息协议</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263352" y="188640"/>
            <a:ext cx="2890664" cy="494928"/>
          </a:xfrm>
        </p:spPr>
        <p:txBody>
          <a:bodyPr/>
          <a:lstStyle/>
          <a:p>
            <a:pPr algn="l" eaLnBrk="1" hangingPunct="1"/>
            <a:r>
              <a:rPr lang="en-US" altLang="zh-CN" sz="2800">
                <a:latin typeface="微软雅黑" panose="020B0503020204020204" pitchFamily="34" charset="-122"/>
                <a:ea typeface="微软雅黑" panose="020B0503020204020204" pitchFamily="34" charset="-122"/>
              </a:rPr>
              <a:t>IP</a:t>
            </a:r>
            <a:r>
              <a:rPr lang="zh-CN" altLang="en-US" sz="2800">
                <a:latin typeface="微软雅黑" panose="020B0503020204020204" pitchFamily="34" charset="-122"/>
                <a:ea typeface="微软雅黑" panose="020B0503020204020204" pitchFamily="34" charset="-122"/>
              </a:rPr>
              <a:t>协议的缺点</a:t>
            </a:r>
            <a:endParaRPr lang="en-US" altLang="zh-CN" sz="3400">
              <a:latin typeface="微软雅黑" panose="020B0503020204020204" pitchFamily="34" charset="-122"/>
              <a:ea typeface="微软雅黑" panose="020B0503020204020204" pitchFamily="34" charset="-122"/>
            </a:endParaRPr>
          </a:p>
        </p:txBody>
      </p:sp>
      <p:sp>
        <p:nvSpPr>
          <p:cNvPr id="3" name="矩形 2"/>
          <p:cNvSpPr/>
          <p:nvPr/>
        </p:nvSpPr>
        <p:spPr>
          <a:xfrm>
            <a:off x="191344" y="1007881"/>
            <a:ext cx="11809312" cy="3452813"/>
          </a:xfrm>
          <a:prstGeom prst="rect">
            <a:avLst/>
          </a:prstGeom>
        </p:spPr>
        <p:txBody>
          <a:bodyPr wrap="square">
            <a:spAutoFit/>
          </a:bodyPr>
          <a:lstStyle/>
          <a:p>
            <a:pPr>
              <a:lnSpc>
                <a:spcPct val="130000"/>
              </a:lnSpc>
              <a:defRPr/>
            </a:pPr>
            <a:r>
              <a:rPr lang="zh-CN" altLang="en-US" sz="2400" dirty="0">
                <a:solidFill>
                  <a:srgbClr val="0070C0"/>
                </a:solidFill>
                <a:latin typeface="微软雅黑" panose="020B0503020204020204" pitchFamily="34" charset="-122"/>
                <a:ea typeface="微软雅黑" panose="020B0503020204020204" pitchFamily="34" charset="-122"/>
                <a:sym typeface="幼圆" panose="02010509060101010101" pitchFamily="49" charset="-122"/>
              </a:rPr>
              <a:t>（</a:t>
            </a:r>
            <a:r>
              <a:rPr lang="en-US" altLang="zh-CN" sz="2400" dirty="0">
                <a:solidFill>
                  <a:srgbClr val="0070C0"/>
                </a:solidFill>
                <a:latin typeface="微软雅黑" panose="020B0503020204020204" pitchFamily="34" charset="-122"/>
                <a:ea typeface="微软雅黑" panose="020B0503020204020204" pitchFamily="34" charset="-122"/>
                <a:sym typeface="幼圆" panose="02010509060101010101" pitchFamily="49" charset="-122"/>
              </a:rPr>
              <a:t>1</a:t>
            </a:r>
            <a:r>
              <a:rPr lang="zh-CN" altLang="en-US" sz="2400" dirty="0">
                <a:solidFill>
                  <a:srgbClr val="0070C0"/>
                </a:solidFill>
                <a:latin typeface="微软雅黑" panose="020B0503020204020204" pitchFamily="34" charset="-122"/>
                <a:ea typeface="微软雅黑" panose="020B0503020204020204" pitchFamily="34" charset="-122"/>
                <a:sym typeface="幼圆" panose="02010509060101010101" pitchFamily="49" charset="-122"/>
              </a:rPr>
              <a:t>）</a:t>
            </a:r>
            <a:r>
              <a:rPr lang="en-US" altLang="zh-CN" sz="2400" dirty="0">
                <a:solidFill>
                  <a:srgbClr val="0070C0"/>
                </a:solidFill>
                <a:latin typeface="微软雅黑" panose="020B0503020204020204" pitchFamily="34" charset="-122"/>
                <a:ea typeface="微软雅黑" panose="020B0503020204020204" pitchFamily="34" charset="-122"/>
                <a:sym typeface="幼圆" panose="02010509060101010101" pitchFamily="49" charset="-122"/>
              </a:rPr>
              <a:t>IP</a:t>
            </a:r>
            <a:r>
              <a:rPr lang="zh-CN" altLang="en-US" sz="2400" dirty="0">
                <a:solidFill>
                  <a:srgbClr val="0070C0"/>
                </a:solidFill>
                <a:latin typeface="微软雅黑" panose="020B0503020204020204" pitchFamily="34" charset="-122"/>
                <a:ea typeface="微软雅黑" panose="020B0503020204020204" pitchFamily="34" charset="-122"/>
                <a:sym typeface="幼圆" panose="02010509060101010101" pitchFamily="49" charset="-122"/>
              </a:rPr>
              <a:t>协议没有差错报告或者差错纠正机制。</a:t>
            </a:r>
          </a:p>
          <a:p>
            <a:pPr>
              <a:lnSpc>
                <a:spcPct val="130000"/>
              </a:lnSpc>
              <a:defRPr/>
            </a:pPr>
            <a:r>
              <a:rPr lang="zh-CN" altLang="en-US" sz="2400" dirty="0">
                <a:solidFill>
                  <a:schemeClr val="tx1"/>
                </a:solidFill>
                <a:latin typeface="微软雅黑" panose="020B0503020204020204" pitchFamily="34" charset="-122"/>
                <a:ea typeface="微软雅黑" panose="020B0503020204020204" pitchFamily="34" charset="-122"/>
                <a:sym typeface="幼圆" panose="02010509060101010101" pitchFamily="49" charset="-122"/>
              </a:rPr>
              <a:t>当遇到网络通不通、主机是否可达、路由是否可用等情况时，</a:t>
            </a:r>
            <a:r>
              <a:rPr lang="en-US" altLang="zh-CN" sz="2400" dirty="0">
                <a:solidFill>
                  <a:schemeClr val="tx1"/>
                </a:solidFill>
                <a:latin typeface="微软雅黑" panose="020B0503020204020204" pitchFamily="34" charset="-122"/>
                <a:ea typeface="微软雅黑" panose="020B0503020204020204" pitchFamily="34" charset="-122"/>
                <a:sym typeface="幼圆" panose="02010509060101010101" pitchFamily="49" charset="-122"/>
              </a:rPr>
              <a:t>IP</a:t>
            </a:r>
            <a:r>
              <a:rPr lang="zh-CN" altLang="en-US" sz="2400" dirty="0">
                <a:solidFill>
                  <a:schemeClr val="tx1"/>
                </a:solidFill>
                <a:latin typeface="微软雅黑" panose="020B0503020204020204" pitchFamily="34" charset="-122"/>
                <a:ea typeface="微软雅黑" panose="020B0503020204020204" pitchFamily="34" charset="-122"/>
                <a:sym typeface="幼圆" panose="02010509060101010101" pitchFamily="49" charset="-122"/>
              </a:rPr>
              <a:t>协议没有内建的机制可以通知发出该数据报的主机</a:t>
            </a:r>
            <a:r>
              <a:rPr lang="en-US" altLang="zh-CN" sz="2400" dirty="0">
                <a:solidFill>
                  <a:schemeClr val="tx1"/>
                </a:solidFill>
                <a:latin typeface="微软雅黑" panose="020B0503020204020204" pitchFamily="34" charset="-122"/>
                <a:ea typeface="微软雅黑" panose="020B0503020204020204" pitchFamily="34" charset="-122"/>
                <a:sym typeface="幼圆" panose="02010509060101010101" pitchFamily="49" charset="-122"/>
              </a:rPr>
              <a:t>.</a:t>
            </a:r>
            <a:endParaRPr lang="zh-CN" altLang="en-US" sz="2400" dirty="0">
              <a:solidFill>
                <a:schemeClr val="tx1"/>
              </a:solidFill>
              <a:latin typeface="微软雅黑" panose="020B0503020204020204" pitchFamily="34" charset="-122"/>
              <a:ea typeface="微软雅黑" panose="020B0503020204020204" pitchFamily="34" charset="-122"/>
              <a:sym typeface="幼圆" panose="02010509060101010101" pitchFamily="49" charset="-122"/>
            </a:endParaRPr>
          </a:p>
          <a:p>
            <a:pPr>
              <a:lnSpc>
                <a:spcPct val="130000"/>
              </a:lnSpc>
              <a:defRPr/>
            </a:pPr>
            <a:r>
              <a:rPr lang="zh-CN" altLang="en-US" sz="2400" dirty="0">
                <a:solidFill>
                  <a:srgbClr val="0070C0"/>
                </a:solidFill>
                <a:latin typeface="微软雅黑" panose="020B0503020204020204" pitchFamily="34" charset="-122"/>
                <a:ea typeface="微软雅黑" panose="020B0503020204020204" pitchFamily="34" charset="-122"/>
                <a:sym typeface="幼圆" panose="02010509060101010101" pitchFamily="49" charset="-122"/>
              </a:rPr>
              <a:t>（</a:t>
            </a:r>
            <a:r>
              <a:rPr lang="en-US" altLang="zh-CN" sz="2400" dirty="0">
                <a:solidFill>
                  <a:srgbClr val="0070C0"/>
                </a:solidFill>
                <a:latin typeface="微软雅黑" panose="020B0503020204020204" pitchFamily="34" charset="-122"/>
                <a:ea typeface="微软雅黑" panose="020B0503020204020204" pitchFamily="34" charset="-122"/>
                <a:sym typeface="幼圆" panose="02010509060101010101" pitchFamily="49" charset="-122"/>
              </a:rPr>
              <a:t>2</a:t>
            </a:r>
            <a:r>
              <a:rPr lang="zh-CN" altLang="en-US" sz="2400" dirty="0">
                <a:solidFill>
                  <a:srgbClr val="0070C0"/>
                </a:solidFill>
                <a:latin typeface="微软雅黑" panose="020B0503020204020204" pitchFamily="34" charset="-122"/>
                <a:ea typeface="微软雅黑" panose="020B0503020204020204" pitchFamily="34" charset="-122"/>
                <a:sym typeface="幼圆" panose="02010509060101010101" pitchFamily="49" charset="-122"/>
              </a:rPr>
              <a:t>）</a:t>
            </a:r>
            <a:r>
              <a:rPr lang="en-US" altLang="zh-CN" sz="2400" dirty="0">
                <a:solidFill>
                  <a:srgbClr val="0070C0"/>
                </a:solidFill>
                <a:latin typeface="微软雅黑" panose="020B0503020204020204" pitchFamily="34" charset="-122"/>
                <a:ea typeface="微软雅黑" panose="020B0503020204020204" pitchFamily="34" charset="-122"/>
                <a:sym typeface="幼圆" panose="02010509060101010101" pitchFamily="49" charset="-122"/>
              </a:rPr>
              <a:t>IP</a:t>
            </a:r>
            <a:r>
              <a:rPr lang="zh-CN" altLang="en-US" sz="2400" dirty="0">
                <a:solidFill>
                  <a:srgbClr val="0070C0"/>
                </a:solidFill>
                <a:latin typeface="微软雅黑" panose="020B0503020204020204" pitchFamily="34" charset="-122"/>
                <a:ea typeface="微软雅黑" panose="020B0503020204020204" pitchFamily="34" charset="-122"/>
                <a:sym typeface="幼圆" panose="02010509060101010101" pitchFamily="49" charset="-122"/>
              </a:rPr>
              <a:t>协议还缺少主机和管理查询所需要的机制。</a:t>
            </a:r>
            <a:endParaRPr lang="zh-CN" altLang="en-US" sz="2400" dirty="0">
              <a:solidFill>
                <a:srgbClr val="0070C0"/>
              </a:solidFill>
              <a:latin typeface="微软雅黑" panose="020B0503020204020204" pitchFamily="34" charset="-122"/>
              <a:ea typeface="微软雅黑" panose="020B0503020204020204" pitchFamily="34" charset="-122"/>
            </a:endParaRPr>
          </a:p>
          <a:p>
            <a:pPr>
              <a:lnSpc>
                <a:spcPct val="130000"/>
              </a:lnSpc>
              <a:defRPr/>
            </a:pPr>
            <a:r>
              <a:rPr lang="zh-CN" altLang="en-US" sz="2400" dirty="0">
                <a:solidFill>
                  <a:schemeClr val="tx1"/>
                </a:solidFill>
                <a:latin typeface="微软雅黑" panose="020B0503020204020204" pitchFamily="34" charset="-122"/>
                <a:ea typeface="微软雅黑" panose="020B0503020204020204" pitchFamily="34" charset="-122"/>
                <a:sym typeface="幼圆" panose="02010509060101010101" pitchFamily="49" charset="-122"/>
              </a:rPr>
              <a:t>主机有时候需要判断某个路由器或者对方主机是否活跃。有时网络管理员也需要来自其他主机或者路由器的信息。</a:t>
            </a:r>
            <a:endParaRPr lang="zh-CN" altLang="en-US" sz="2400" dirty="0">
              <a:solidFill>
                <a:schemeClr val="tx1"/>
              </a:solidFill>
              <a:latin typeface="微软雅黑" panose="020B0503020204020204" pitchFamily="34" charset="-122"/>
              <a:ea typeface="微软雅黑" panose="020B0503020204020204" pitchFamily="34" charset="-122"/>
            </a:endParaRPr>
          </a:p>
          <a:p>
            <a:pPr>
              <a:lnSpc>
                <a:spcPct val="130000"/>
              </a:lnSpc>
              <a:defRPr/>
            </a:pPr>
            <a:endParaRPr lang="en-US" altLang="zh-CN" sz="2400" dirty="0">
              <a:solidFill>
                <a:schemeClr val="tx1"/>
              </a:solidFill>
              <a:latin typeface="微软雅黑" panose="020B0503020204020204" pitchFamily="34" charset="-122"/>
              <a:ea typeface="微软雅黑" panose="020B0503020204020204" pitchFamily="34" charset="-122"/>
              <a:sym typeface="幼圆" panose="02010509060101010101" pitchFamily="49" charset="-122"/>
            </a:endParaRPr>
          </a:p>
        </p:txBody>
      </p:sp>
      <p:pic>
        <p:nvPicPr>
          <p:cNvPr id="11268" name="Picture 5" descr="https://gimg2.baidu.com/image_search/src=http%3A%2F%2Fimg-blog.csdnimg.cn%2F20200908184713606.png%3Fx-oss-process%3Dimage%2Fwatermark%2Ctype_ZmFuZ3poZW5naGVpdGk%2Cshadow_10%2Ctext_aHR0cHM6Ly9ibG9nLmNzZG4ubmV0L3dlaXhpbl80MzYzMzc4NA%3D%3D%2Csize_16%2Ccolor_FFFFFF%2Ct_70%23pic_center&amp;refer=http%3A%2F%2Fimg-blog.csdnimg.cn&amp;app=2002&amp;size=f9999,10000&amp;q=a80&amp;n=0&amp;g=0n&amp;fmt=auto?sec=1663372989&amp;t=d3aaf9ff43005d01f3541f89f4fe035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72064" y="3501008"/>
            <a:ext cx="5184576" cy="3224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idx="4294967295"/>
          </p:nvPr>
        </p:nvSpPr>
        <p:spPr>
          <a:xfrm>
            <a:off x="191344" y="188640"/>
            <a:ext cx="8229600" cy="566936"/>
          </a:xfrm>
        </p:spPr>
        <p:txBody>
          <a:bodyPr/>
          <a:lstStyle/>
          <a:p>
            <a:pPr algn="l" eaLnBrk="1" hangingPunct="1"/>
            <a:r>
              <a:rPr lang="zh-CN" altLang="en-US" sz="2800" dirty="0">
                <a:latin typeface="微软雅黑" panose="020B0503020204020204" pitchFamily="34" charset="-122"/>
                <a:ea typeface="微软雅黑" panose="020B0503020204020204" pitchFamily="34" charset="-122"/>
              </a:rPr>
              <a:t>因特网控制</a:t>
            </a:r>
            <a:r>
              <a:rPr lang="en-US" altLang="zh-CN" sz="2800" dirty="0" err="1">
                <a:latin typeface="微软雅黑" panose="020B0503020204020204" pitchFamily="34" charset="-122"/>
                <a:ea typeface="微软雅黑" panose="020B0503020204020204" pitchFamily="34" charset="-122"/>
                <a:sym typeface="Arial" panose="020B0604020202020204" pitchFamily="34" charset="0"/>
              </a:rPr>
              <a:t>消息</a:t>
            </a:r>
            <a:r>
              <a:rPr lang="zh-CN" altLang="en-US" sz="2800" dirty="0">
                <a:latin typeface="微软雅黑" panose="020B0503020204020204" pitchFamily="34" charset="-122"/>
                <a:ea typeface="微软雅黑" panose="020B0503020204020204" pitchFamily="34" charset="-122"/>
              </a:rPr>
              <a:t>协议 </a:t>
            </a:r>
            <a:r>
              <a:rPr lang="en-US" altLang="zh-CN" sz="2800" dirty="0">
                <a:latin typeface="微软雅黑" panose="020B0503020204020204" pitchFamily="34" charset="-122"/>
                <a:ea typeface="微软雅黑" panose="020B0503020204020204" pitchFamily="34" charset="-122"/>
              </a:rPr>
              <a:t>ICMP</a:t>
            </a:r>
          </a:p>
        </p:txBody>
      </p:sp>
      <p:sp>
        <p:nvSpPr>
          <p:cNvPr id="12291" name="Rectangle 3"/>
          <p:cNvSpPr>
            <a:spLocks noGrp="1" noChangeArrowheads="1"/>
          </p:cNvSpPr>
          <p:nvPr>
            <p:ph idx="1"/>
          </p:nvPr>
        </p:nvSpPr>
        <p:spPr>
          <a:xfrm>
            <a:off x="263352" y="980728"/>
            <a:ext cx="11737304" cy="2808288"/>
          </a:xfrm>
        </p:spPr>
        <p:txBody>
          <a:bodyPr/>
          <a:lstStyle/>
          <a:p>
            <a:pPr marL="0" indent="0" eaLnBrk="1" hangingPunct="1">
              <a:lnSpc>
                <a:spcPct val="120000"/>
              </a:lnSpc>
              <a:buNone/>
            </a:pPr>
            <a:r>
              <a:rPr lang="en-US" altLang="zh-CN" sz="2600" dirty="0">
                <a:latin typeface="微软雅黑" panose="020B0503020204020204" pitchFamily="34" charset="-122"/>
                <a:ea typeface="微软雅黑" panose="020B0503020204020204" pitchFamily="34" charset="-122"/>
                <a:sym typeface="Arial" panose="020B0604020202020204" pitchFamily="34" charset="0"/>
              </a:rPr>
              <a:t>ICMP: Internet Control Message Protocol。</a:t>
            </a:r>
          </a:p>
          <a:p>
            <a:pPr marL="0" indent="0" eaLnBrk="1" hangingPunct="1">
              <a:lnSpc>
                <a:spcPct val="120000"/>
              </a:lnSpc>
              <a:buNone/>
            </a:pPr>
            <a:r>
              <a:rPr lang="en-US" altLang="zh-CN" sz="26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用于在IP主机、路由器之间传递控制消息</a:t>
            </a:r>
            <a:r>
              <a:rPr lang="en-US" altLang="zh-CN" sz="2600"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。控制消息是指网络通不通、主机是否可达、路由是否可用等网络本身的消息</a:t>
            </a:r>
            <a:r>
              <a:rPr lang="en-US" altLang="zh-CN" sz="2600" dirty="0">
                <a:latin typeface="微软雅黑" panose="020B0503020204020204" pitchFamily="34" charset="-122"/>
                <a:ea typeface="微软雅黑" panose="020B0503020204020204" pitchFamily="34" charset="-122"/>
                <a:sym typeface="Arial" panose="020B0604020202020204" pitchFamily="34" charset="0"/>
              </a:rPr>
              <a:t>。这些控制消息虽然并不传输用户数据，但是对于用户数据的传递起着重要的作用。</a:t>
            </a:r>
          </a:p>
          <a:p>
            <a:pPr marL="0" indent="0" eaLnBrk="1" hangingPunct="1">
              <a:lnSpc>
                <a:spcPct val="120000"/>
              </a:lnSpc>
              <a:buNone/>
            </a:pPr>
            <a:endParaRPr lang="zh-CN" altLang="en-US" sz="2600"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19336" y="188640"/>
            <a:ext cx="3305713" cy="523220"/>
          </a:xfrm>
          <a:prstGeom prst="rect">
            <a:avLst/>
          </a:prstGeom>
        </p:spPr>
        <p:txBody>
          <a:bodyPr wrap="none">
            <a:spAutoFit/>
          </a:bodyPr>
          <a:lstStyle/>
          <a:p>
            <a:pPr>
              <a:defRPr/>
            </a:pPr>
            <a:r>
              <a:rPr lang="en-US" altLang="zh-CN" sz="2800" dirty="0">
                <a:solidFill>
                  <a:schemeClr val="tx1"/>
                </a:solidFill>
                <a:latin typeface="微软雅黑" panose="020B0503020204020204" pitchFamily="34" charset="-122"/>
                <a:ea typeface="微软雅黑" panose="020B0503020204020204" pitchFamily="34" charset="-122"/>
              </a:rPr>
              <a:t>ICMP</a:t>
            </a:r>
            <a:r>
              <a:rPr lang="zh-CN" altLang="en-US" sz="2800" dirty="0">
                <a:solidFill>
                  <a:schemeClr val="tx1"/>
                </a:solidFill>
                <a:latin typeface="微软雅黑" panose="020B0503020204020204" pitchFamily="34" charset="-122"/>
                <a:ea typeface="微软雅黑" panose="020B0503020204020204" pitchFamily="34" charset="-122"/>
              </a:rPr>
              <a:t>数据包的层次</a:t>
            </a:r>
          </a:p>
        </p:txBody>
      </p:sp>
      <p:sp>
        <p:nvSpPr>
          <p:cNvPr id="6" name="文本框 4"/>
          <p:cNvSpPr txBox="1">
            <a:spLocks noChangeArrowheads="1"/>
          </p:cNvSpPr>
          <p:nvPr/>
        </p:nvSpPr>
        <p:spPr bwMode="auto">
          <a:xfrm>
            <a:off x="191344" y="836712"/>
            <a:ext cx="11809312" cy="100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defRPr/>
            </a:pPr>
            <a:r>
              <a:rPr lang="en-US" altLang="zh-CN" sz="2400" dirty="0">
                <a:solidFill>
                  <a:srgbClr val="FF0000"/>
                </a:solidFill>
                <a:latin typeface="微软雅黑" panose="020B0503020204020204" pitchFamily="34" charset="-122"/>
                <a:ea typeface="微软雅黑" panose="020B0503020204020204" pitchFamily="34" charset="-122"/>
              </a:rPr>
              <a:t>ICMP</a:t>
            </a:r>
            <a:r>
              <a:rPr lang="zh-CN" altLang="en-US" sz="2400" dirty="0">
                <a:solidFill>
                  <a:srgbClr val="FF0000"/>
                </a:solidFill>
                <a:latin typeface="微软雅黑" panose="020B0503020204020204" pitchFamily="34" charset="-122"/>
                <a:ea typeface="微软雅黑" panose="020B0503020204020204" pitchFamily="34" charset="-122"/>
              </a:rPr>
              <a:t>本身是一个网络层协议</a:t>
            </a:r>
            <a:r>
              <a:rPr lang="zh-CN" altLang="en-US" sz="2400" dirty="0">
                <a:solidFill>
                  <a:schemeClr val="tx1"/>
                </a:solidFill>
                <a:latin typeface="微软雅黑" panose="020B0503020204020204" pitchFamily="34" charset="-122"/>
                <a:ea typeface="微软雅黑" panose="020B0503020204020204" pitchFamily="34" charset="-122"/>
              </a:rPr>
              <a:t>，但是并不是直接传递给数据链路层，而是将</a:t>
            </a:r>
            <a:r>
              <a:rPr lang="en-US" altLang="zh-CN" sz="2400" dirty="0">
                <a:solidFill>
                  <a:schemeClr val="tx1"/>
                </a:solidFill>
                <a:latin typeface="微软雅黑" panose="020B0503020204020204" pitchFamily="34" charset="-122"/>
                <a:ea typeface="微软雅黑" panose="020B0503020204020204" pitchFamily="34" charset="-122"/>
                <a:sym typeface="幼圆" panose="02010509060101010101" pitchFamily="49" charset="-122"/>
              </a:rPr>
              <a:t>ICMP</a:t>
            </a:r>
            <a:r>
              <a:rPr lang="zh-CN" altLang="en-US" sz="2400" dirty="0">
                <a:solidFill>
                  <a:schemeClr val="tx1"/>
                </a:solidFill>
                <a:latin typeface="微软雅黑" panose="020B0503020204020204" pitchFamily="34" charset="-122"/>
                <a:ea typeface="微软雅黑" panose="020B0503020204020204" pitchFamily="34" charset="-122"/>
                <a:sym typeface="幼圆" panose="02010509060101010101" pitchFamily="49" charset="-122"/>
              </a:rPr>
              <a:t>消息封装在</a:t>
            </a:r>
            <a:r>
              <a:rPr lang="en-US" altLang="zh-CN" sz="2400" dirty="0">
                <a:solidFill>
                  <a:schemeClr val="tx1"/>
                </a:solidFill>
                <a:latin typeface="微软雅黑" panose="020B0503020204020204" pitchFamily="34" charset="-122"/>
                <a:ea typeface="微软雅黑" panose="020B0503020204020204" pitchFamily="34" charset="-122"/>
                <a:sym typeface="幼圆" panose="02010509060101010101" pitchFamily="49" charset="-122"/>
              </a:rPr>
              <a:t>IP</a:t>
            </a:r>
            <a:r>
              <a:rPr lang="zh-CN" altLang="en-US" sz="2400" dirty="0">
                <a:solidFill>
                  <a:schemeClr val="tx1"/>
                </a:solidFill>
                <a:latin typeface="微软雅黑" panose="020B0503020204020204" pitchFamily="34" charset="-122"/>
                <a:ea typeface="微软雅黑" panose="020B0503020204020204" pitchFamily="34" charset="-122"/>
                <a:sym typeface="幼圆" panose="02010509060101010101" pitchFamily="49" charset="-122"/>
              </a:rPr>
              <a:t>数据报中。</a:t>
            </a:r>
          </a:p>
        </p:txBody>
      </p:sp>
      <p:pic>
        <p:nvPicPr>
          <p:cNvPr id="5" name="图片 4">
            <a:extLst>
              <a:ext uri="{FF2B5EF4-FFF2-40B4-BE49-F238E27FC236}">
                <a16:creationId xmlns:a16="http://schemas.microsoft.com/office/drawing/2014/main" id="{F1153DCD-2AB0-4190-A230-EAF10952AAE3}"/>
              </a:ext>
            </a:extLst>
          </p:cNvPr>
          <p:cNvPicPr>
            <a:picLocks noChangeAspect="1"/>
          </p:cNvPicPr>
          <p:nvPr/>
        </p:nvPicPr>
        <p:blipFill>
          <a:blip r:embed="rId2"/>
          <a:stretch>
            <a:fillRect/>
          </a:stretch>
        </p:blipFill>
        <p:spPr>
          <a:xfrm>
            <a:off x="2115680" y="1746898"/>
            <a:ext cx="6932648" cy="4995258"/>
          </a:xfrm>
          <a:prstGeom prst="rect">
            <a:avLst/>
          </a:prstGeom>
        </p:spPr>
      </p:pic>
      <p:sp>
        <p:nvSpPr>
          <p:cNvPr id="7" name="矩形 6">
            <a:extLst>
              <a:ext uri="{FF2B5EF4-FFF2-40B4-BE49-F238E27FC236}">
                <a16:creationId xmlns:a16="http://schemas.microsoft.com/office/drawing/2014/main" id="{257132C3-005E-4E7B-AEC2-039605F53AB1}"/>
              </a:ext>
            </a:extLst>
          </p:cNvPr>
          <p:cNvSpPr/>
          <p:nvPr/>
        </p:nvSpPr>
        <p:spPr bwMode="auto">
          <a:xfrm>
            <a:off x="7886224" y="6237312"/>
            <a:ext cx="936104" cy="287809"/>
          </a:xfrm>
          <a:prstGeom prst="rect">
            <a:avLst/>
          </a:prstGeom>
          <a:solidFill>
            <a:schemeClr val="bg1"/>
          </a:solidFill>
          <a:ln>
            <a:noFill/>
          </a:ln>
          <a:effectLst/>
        </p:spPr>
        <p:txBody>
          <a:bodyPr vert="horz" wrap="square" lIns="91440" tIns="45720" rIns="91440" bIns="45720" numCol="1" rtlCol="0" anchor="b"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500" b="0" i="0" u="none" strike="noStrike" cap="none" normalizeH="0" baseline="0">
              <a:ln>
                <a:noFill/>
              </a:ln>
              <a:solidFill>
                <a:schemeClr val="bg1"/>
              </a:solidFill>
              <a:effectLst/>
              <a:latin typeface="黑体" pitchFamily="49" charset="-122"/>
              <a:ea typeface="黑体" pitchFamily="49" charset="-122"/>
            </a:endParaRP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85D0AE45-0431-487F-8B01-C4C09D01172E}"/>
              </a:ext>
            </a:extLst>
          </p:cNvPr>
          <p:cNvSpPr txBox="1"/>
          <p:nvPr/>
        </p:nvSpPr>
        <p:spPr>
          <a:xfrm>
            <a:off x="191344" y="188640"/>
            <a:ext cx="3168352" cy="523220"/>
          </a:xfrm>
          <a:prstGeom prst="rect">
            <a:avLst/>
          </a:prstGeom>
          <a:noFill/>
        </p:spPr>
        <p:txBody>
          <a:bodyPr wrap="squar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ICMP </a:t>
            </a:r>
            <a:r>
              <a:rPr lang="zh-CN" altLang="en-US" sz="2800" b="1" dirty="0">
                <a:solidFill>
                  <a:srgbClr val="0070C0"/>
                </a:solidFill>
                <a:latin typeface="微软雅黑" panose="020B0503020204020204" pitchFamily="34" charset="-122"/>
                <a:ea typeface="微软雅黑" panose="020B0503020204020204" pitchFamily="34" charset="-122"/>
              </a:rPr>
              <a:t>报文的格式</a:t>
            </a:r>
            <a:endParaRPr lang="zh-CN" altLang="en-US" b="1" dirty="0">
              <a:solidFill>
                <a:srgbClr val="0070C0"/>
              </a:solidFill>
              <a:latin typeface="微软雅黑" panose="020B0503020204020204" pitchFamily="34" charset="-122"/>
              <a:ea typeface="微软雅黑" panose="020B0503020204020204" pitchFamily="34" charset="-122"/>
            </a:endParaRPr>
          </a:p>
        </p:txBody>
      </p:sp>
      <p:sp>
        <p:nvSpPr>
          <p:cNvPr id="7" name="Rectangle 2">
            <a:extLst>
              <a:ext uri="{FF2B5EF4-FFF2-40B4-BE49-F238E27FC236}">
                <a16:creationId xmlns:a16="http://schemas.microsoft.com/office/drawing/2014/main" id="{44F02BC0-1F75-46F4-814C-C93584753928}"/>
              </a:ext>
            </a:extLst>
          </p:cNvPr>
          <p:cNvSpPr>
            <a:spLocks noChangeArrowheads="1"/>
          </p:cNvSpPr>
          <p:nvPr/>
        </p:nvSpPr>
        <p:spPr bwMode="auto">
          <a:xfrm>
            <a:off x="3288158" y="5451377"/>
            <a:ext cx="4248150" cy="39052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8" name="Rectangle 4">
            <a:extLst>
              <a:ext uri="{FF2B5EF4-FFF2-40B4-BE49-F238E27FC236}">
                <a16:creationId xmlns:a16="http://schemas.microsoft.com/office/drawing/2014/main" id="{D657A7E8-5F60-4963-9CA9-2D5E9F7F9B39}"/>
              </a:ext>
            </a:extLst>
          </p:cNvPr>
          <p:cNvSpPr>
            <a:spLocks noChangeArrowheads="1"/>
          </p:cNvSpPr>
          <p:nvPr/>
        </p:nvSpPr>
        <p:spPr bwMode="auto">
          <a:xfrm>
            <a:off x="4447034" y="5457727"/>
            <a:ext cx="3089275" cy="384175"/>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9" name="Freeform 5">
            <a:extLst>
              <a:ext uri="{FF2B5EF4-FFF2-40B4-BE49-F238E27FC236}">
                <a16:creationId xmlns:a16="http://schemas.microsoft.com/office/drawing/2014/main" id="{E60090DC-9B4C-4D3A-B707-549986A80B34}"/>
              </a:ext>
            </a:extLst>
          </p:cNvPr>
          <p:cNvSpPr>
            <a:spLocks/>
          </p:cNvSpPr>
          <p:nvPr/>
        </p:nvSpPr>
        <p:spPr bwMode="auto">
          <a:xfrm>
            <a:off x="3311971" y="4230589"/>
            <a:ext cx="5613400" cy="468313"/>
          </a:xfrm>
          <a:custGeom>
            <a:avLst/>
            <a:gdLst>
              <a:gd name="T0" fmla="*/ 0 w 2790"/>
              <a:gd name="T1" fmla="*/ 2147483646 h 279"/>
              <a:gd name="T2" fmla="*/ 2147483646 w 2790"/>
              <a:gd name="T3" fmla="*/ 2147483646 h 279"/>
              <a:gd name="T4" fmla="*/ 2147483646 w 2790"/>
              <a:gd name="T5" fmla="*/ 2147483646 h 279"/>
              <a:gd name="T6" fmla="*/ 2147483646 w 2790"/>
              <a:gd name="T7" fmla="*/ 0 h 279"/>
              <a:gd name="T8" fmla="*/ 0 w 2790"/>
              <a:gd name="T9" fmla="*/ 2147483646 h 2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90" h="279">
                <a:moveTo>
                  <a:pt x="0" y="6"/>
                </a:moveTo>
                <a:lnTo>
                  <a:pt x="561" y="279"/>
                </a:lnTo>
                <a:lnTo>
                  <a:pt x="2100" y="276"/>
                </a:lnTo>
                <a:lnTo>
                  <a:pt x="2790" y="0"/>
                </a:lnTo>
                <a:lnTo>
                  <a:pt x="0" y="6"/>
                </a:lnTo>
                <a:close/>
              </a:path>
            </a:pathLst>
          </a:custGeom>
          <a:solidFill>
            <a:srgbClr val="FFFF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Line 6">
            <a:extLst>
              <a:ext uri="{FF2B5EF4-FFF2-40B4-BE49-F238E27FC236}">
                <a16:creationId xmlns:a16="http://schemas.microsoft.com/office/drawing/2014/main" id="{0964DCE8-FAA3-4C51-BDEE-57650676DBE4}"/>
              </a:ext>
            </a:extLst>
          </p:cNvPr>
          <p:cNvSpPr>
            <a:spLocks noChangeShapeType="1"/>
          </p:cNvSpPr>
          <p:nvPr/>
        </p:nvSpPr>
        <p:spPr bwMode="auto">
          <a:xfrm>
            <a:off x="3288158" y="6075263"/>
            <a:ext cx="4248150"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Text Box 7">
            <a:extLst>
              <a:ext uri="{FF2B5EF4-FFF2-40B4-BE49-F238E27FC236}">
                <a16:creationId xmlns:a16="http://schemas.microsoft.com/office/drawing/2014/main" id="{EF38B217-2F21-45FF-B322-1B189B773890}"/>
              </a:ext>
            </a:extLst>
          </p:cNvPr>
          <p:cNvSpPr txBox="1">
            <a:spLocks noChangeArrowheads="1"/>
          </p:cNvSpPr>
          <p:nvPr/>
        </p:nvSpPr>
        <p:spPr bwMode="auto">
          <a:xfrm>
            <a:off x="3386583" y="5448202"/>
            <a:ext cx="831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zh-CN" altLang="en-US" sz="2000">
                <a:solidFill>
                  <a:srgbClr val="333399"/>
                </a:solidFill>
                <a:latin typeface="Arial" panose="020B0604020202020204" pitchFamily="34" charset="0"/>
                <a:ea typeface="黑体" panose="02010609060101010101" pitchFamily="49" charset="-122"/>
              </a:rPr>
              <a:t>首  部</a:t>
            </a:r>
          </a:p>
        </p:txBody>
      </p:sp>
      <p:sp>
        <p:nvSpPr>
          <p:cNvPr id="12" name="Rectangle 8">
            <a:extLst>
              <a:ext uri="{FF2B5EF4-FFF2-40B4-BE49-F238E27FC236}">
                <a16:creationId xmlns:a16="http://schemas.microsoft.com/office/drawing/2014/main" id="{60979F5A-FE58-4B9A-ABC7-BD165A65793D}"/>
              </a:ext>
            </a:extLst>
          </p:cNvPr>
          <p:cNvSpPr>
            <a:spLocks noChangeArrowheads="1"/>
          </p:cNvSpPr>
          <p:nvPr/>
        </p:nvSpPr>
        <p:spPr bwMode="auto">
          <a:xfrm>
            <a:off x="4447034" y="4675089"/>
            <a:ext cx="3089275" cy="392113"/>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ICMP </a:t>
            </a:r>
            <a:r>
              <a:rPr kumimoji="1" lang="zh-CN" altLang="en-US" sz="2000">
                <a:solidFill>
                  <a:srgbClr val="333399"/>
                </a:solidFill>
                <a:latin typeface="Arial" panose="020B0604020202020204" pitchFamily="34" charset="0"/>
                <a:ea typeface="黑体" panose="02010609060101010101" pitchFamily="49" charset="-122"/>
              </a:rPr>
              <a:t>报文</a:t>
            </a:r>
          </a:p>
        </p:txBody>
      </p:sp>
      <p:sp>
        <p:nvSpPr>
          <p:cNvPr id="13" name="Text Box 9">
            <a:extLst>
              <a:ext uri="{FF2B5EF4-FFF2-40B4-BE49-F238E27FC236}">
                <a16:creationId xmlns:a16="http://schemas.microsoft.com/office/drawing/2014/main" id="{43A5B16B-8127-4FE4-BE51-E92313DA017D}"/>
              </a:ext>
            </a:extLst>
          </p:cNvPr>
          <p:cNvSpPr txBox="1">
            <a:spLocks noChangeArrowheads="1"/>
          </p:cNvSpPr>
          <p:nvPr/>
        </p:nvSpPr>
        <p:spPr bwMode="auto">
          <a:xfrm>
            <a:off x="3199258" y="2317651"/>
            <a:ext cx="325438"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0</a:t>
            </a:r>
          </a:p>
        </p:txBody>
      </p:sp>
      <p:sp>
        <p:nvSpPr>
          <p:cNvPr id="14" name="Line 10">
            <a:extLst>
              <a:ext uri="{FF2B5EF4-FFF2-40B4-BE49-F238E27FC236}">
                <a16:creationId xmlns:a16="http://schemas.microsoft.com/office/drawing/2014/main" id="{D9E6FA74-0BD5-40AE-A1BB-FFFF11587891}"/>
              </a:ext>
            </a:extLst>
          </p:cNvPr>
          <p:cNvSpPr>
            <a:spLocks noChangeShapeType="1"/>
          </p:cNvSpPr>
          <p:nvPr/>
        </p:nvSpPr>
        <p:spPr bwMode="auto">
          <a:xfrm>
            <a:off x="4447033" y="5451377"/>
            <a:ext cx="0" cy="3905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Text Box 11">
            <a:extLst>
              <a:ext uri="{FF2B5EF4-FFF2-40B4-BE49-F238E27FC236}">
                <a16:creationId xmlns:a16="http://schemas.microsoft.com/office/drawing/2014/main" id="{A242C50A-1392-4399-9AB0-B74F521D15C0}"/>
              </a:ext>
            </a:extLst>
          </p:cNvPr>
          <p:cNvSpPr txBox="1">
            <a:spLocks noChangeArrowheads="1"/>
          </p:cNvSpPr>
          <p:nvPr/>
        </p:nvSpPr>
        <p:spPr bwMode="auto">
          <a:xfrm>
            <a:off x="5077272" y="5448201"/>
            <a:ext cx="163378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zh-CN" altLang="en-US" sz="2000">
                <a:solidFill>
                  <a:srgbClr val="333399"/>
                </a:solidFill>
                <a:latin typeface="Arial" panose="020B0604020202020204" pitchFamily="34" charset="0"/>
                <a:ea typeface="黑体" panose="02010609060101010101" pitchFamily="49" charset="-122"/>
              </a:rPr>
              <a:t>数  据  部  分</a:t>
            </a:r>
          </a:p>
        </p:txBody>
      </p:sp>
      <p:sp>
        <p:nvSpPr>
          <p:cNvPr id="16" name="AutoShape 12">
            <a:extLst>
              <a:ext uri="{FF2B5EF4-FFF2-40B4-BE49-F238E27FC236}">
                <a16:creationId xmlns:a16="http://schemas.microsoft.com/office/drawing/2014/main" id="{77B9DB3D-B565-4EA2-A2A8-AC6FB7061ADA}"/>
              </a:ext>
            </a:extLst>
          </p:cNvPr>
          <p:cNvSpPr>
            <a:spLocks noChangeArrowheads="1"/>
          </p:cNvSpPr>
          <p:nvPr/>
        </p:nvSpPr>
        <p:spPr bwMode="auto">
          <a:xfrm>
            <a:off x="5797997" y="5067201"/>
            <a:ext cx="288925" cy="468312"/>
          </a:xfrm>
          <a:prstGeom prst="downArrow">
            <a:avLst>
              <a:gd name="adj1" fmla="val 47222"/>
              <a:gd name="adj2" fmla="val 8374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7" name="Rectangle 13">
            <a:extLst>
              <a:ext uri="{FF2B5EF4-FFF2-40B4-BE49-F238E27FC236}">
                <a16:creationId xmlns:a16="http://schemas.microsoft.com/office/drawing/2014/main" id="{0B69F92D-7E23-49F2-BC76-AA573619FE11}"/>
              </a:ext>
            </a:extLst>
          </p:cNvPr>
          <p:cNvSpPr>
            <a:spLocks noChangeArrowheads="1"/>
          </p:cNvSpPr>
          <p:nvPr/>
        </p:nvSpPr>
        <p:spPr bwMode="auto">
          <a:xfrm>
            <a:off x="3288158" y="2697063"/>
            <a:ext cx="5600700" cy="1563688"/>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8" name="Line 14">
            <a:extLst>
              <a:ext uri="{FF2B5EF4-FFF2-40B4-BE49-F238E27FC236}">
                <a16:creationId xmlns:a16="http://schemas.microsoft.com/office/drawing/2014/main" id="{63B31C67-01CD-4CF9-9E1B-11552ADE346D}"/>
              </a:ext>
            </a:extLst>
          </p:cNvPr>
          <p:cNvSpPr>
            <a:spLocks noChangeShapeType="1"/>
          </p:cNvSpPr>
          <p:nvPr/>
        </p:nvSpPr>
        <p:spPr bwMode="auto">
          <a:xfrm rot="5400000" flipV="1">
            <a:off x="6088508" y="257076"/>
            <a:ext cx="0" cy="56007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5">
            <a:extLst>
              <a:ext uri="{FF2B5EF4-FFF2-40B4-BE49-F238E27FC236}">
                <a16:creationId xmlns:a16="http://schemas.microsoft.com/office/drawing/2014/main" id="{B5917539-B842-47D1-8AF7-F373C6ECFC5A}"/>
              </a:ext>
            </a:extLst>
          </p:cNvPr>
          <p:cNvSpPr>
            <a:spLocks noChangeShapeType="1"/>
          </p:cNvSpPr>
          <p:nvPr/>
        </p:nvSpPr>
        <p:spPr bwMode="auto">
          <a:xfrm flipV="1">
            <a:off x="4686746" y="2666902"/>
            <a:ext cx="0" cy="3905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16">
            <a:extLst>
              <a:ext uri="{FF2B5EF4-FFF2-40B4-BE49-F238E27FC236}">
                <a16:creationId xmlns:a16="http://schemas.microsoft.com/office/drawing/2014/main" id="{390E1103-C599-4E06-9E89-F517233E47E8}"/>
              </a:ext>
            </a:extLst>
          </p:cNvPr>
          <p:cNvSpPr>
            <a:spLocks noChangeShapeType="1"/>
          </p:cNvSpPr>
          <p:nvPr/>
        </p:nvSpPr>
        <p:spPr bwMode="auto">
          <a:xfrm flipV="1">
            <a:off x="6086921" y="2666902"/>
            <a:ext cx="0" cy="3905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7">
            <a:extLst>
              <a:ext uri="{FF2B5EF4-FFF2-40B4-BE49-F238E27FC236}">
                <a16:creationId xmlns:a16="http://schemas.microsoft.com/office/drawing/2014/main" id="{A8566913-A187-4D5F-9AE7-5AE512575D53}"/>
              </a:ext>
            </a:extLst>
          </p:cNvPr>
          <p:cNvSpPr>
            <a:spLocks noChangeShapeType="1"/>
          </p:cNvSpPr>
          <p:nvPr/>
        </p:nvSpPr>
        <p:spPr bwMode="auto">
          <a:xfrm flipV="1">
            <a:off x="6086921" y="2666902"/>
            <a:ext cx="0" cy="3905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Text Box 18">
            <a:extLst>
              <a:ext uri="{FF2B5EF4-FFF2-40B4-BE49-F238E27FC236}">
                <a16:creationId xmlns:a16="http://schemas.microsoft.com/office/drawing/2014/main" id="{4299B009-0AD7-4BB1-B966-80112C39CC58}"/>
              </a:ext>
            </a:extLst>
          </p:cNvPr>
          <p:cNvSpPr txBox="1">
            <a:spLocks noChangeArrowheads="1"/>
          </p:cNvSpPr>
          <p:nvPr/>
        </p:nvSpPr>
        <p:spPr bwMode="auto">
          <a:xfrm>
            <a:off x="6966396" y="2684364"/>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zh-CN" altLang="en-US" sz="2000">
                <a:solidFill>
                  <a:srgbClr val="FF0000"/>
                </a:solidFill>
                <a:latin typeface="Arial" panose="020B0604020202020204" pitchFamily="34" charset="0"/>
                <a:ea typeface="黑体" panose="02010609060101010101" pitchFamily="49" charset="-122"/>
              </a:rPr>
              <a:t>检验和</a:t>
            </a:r>
          </a:p>
        </p:txBody>
      </p:sp>
      <p:sp>
        <p:nvSpPr>
          <p:cNvPr id="23" name="Text Box 19">
            <a:extLst>
              <a:ext uri="{FF2B5EF4-FFF2-40B4-BE49-F238E27FC236}">
                <a16:creationId xmlns:a16="http://schemas.microsoft.com/office/drawing/2014/main" id="{BCF24322-FE86-4C44-8E02-FB8A852062AA}"/>
              </a:ext>
            </a:extLst>
          </p:cNvPr>
          <p:cNvSpPr txBox="1">
            <a:spLocks noChangeArrowheads="1"/>
          </p:cNvSpPr>
          <p:nvPr/>
        </p:nvSpPr>
        <p:spPr bwMode="auto">
          <a:xfrm>
            <a:off x="3613596" y="2684364"/>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zh-CN" altLang="en-US" sz="2000">
                <a:solidFill>
                  <a:srgbClr val="FF0000"/>
                </a:solidFill>
                <a:latin typeface="Arial" panose="020B0604020202020204" pitchFamily="34" charset="0"/>
                <a:ea typeface="黑体" panose="02010609060101010101" pitchFamily="49" charset="-122"/>
              </a:rPr>
              <a:t>类型</a:t>
            </a:r>
          </a:p>
        </p:txBody>
      </p:sp>
      <p:sp>
        <p:nvSpPr>
          <p:cNvPr id="24" name="Text Box 20">
            <a:extLst>
              <a:ext uri="{FF2B5EF4-FFF2-40B4-BE49-F238E27FC236}">
                <a16:creationId xmlns:a16="http://schemas.microsoft.com/office/drawing/2014/main" id="{F06B8ACB-208E-4053-9D65-5E434C5EBF8F}"/>
              </a:ext>
            </a:extLst>
          </p:cNvPr>
          <p:cNvSpPr txBox="1">
            <a:spLocks noChangeArrowheads="1"/>
          </p:cNvSpPr>
          <p:nvPr/>
        </p:nvSpPr>
        <p:spPr bwMode="auto">
          <a:xfrm>
            <a:off x="5083621" y="2690714"/>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zh-CN" altLang="en-US" sz="2000">
                <a:solidFill>
                  <a:srgbClr val="FF0000"/>
                </a:solidFill>
                <a:latin typeface="Arial" panose="020B0604020202020204" pitchFamily="34" charset="0"/>
                <a:ea typeface="黑体" panose="02010609060101010101" pitchFamily="49" charset="-122"/>
              </a:rPr>
              <a:t>代码</a:t>
            </a:r>
          </a:p>
        </p:txBody>
      </p:sp>
      <p:sp>
        <p:nvSpPr>
          <p:cNvPr id="25" name="Text Box 21">
            <a:extLst>
              <a:ext uri="{FF2B5EF4-FFF2-40B4-BE49-F238E27FC236}">
                <a16:creationId xmlns:a16="http://schemas.microsoft.com/office/drawing/2014/main" id="{AEAA03A7-EA7E-4D29-ABB7-66195E1D8CD1}"/>
              </a:ext>
            </a:extLst>
          </p:cNvPr>
          <p:cNvSpPr txBox="1">
            <a:spLocks noChangeArrowheads="1"/>
          </p:cNvSpPr>
          <p:nvPr/>
        </p:nvSpPr>
        <p:spPr bwMode="auto">
          <a:xfrm>
            <a:off x="3521522" y="3036789"/>
            <a:ext cx="4797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zh-CN" altLang="en-US" sz="2000">
                <a:solidFill>
                  <a:srgbClr val="333399"/>
                </a:solidFill>
                <a:latin typeface="Arial" panose="020B0604020202020204" pitchFamily="34" charset="0"/>
                <a:ea typeface="黑体" panose="02010609060101010101" pitchFamily="49" charset="-122"/>
              </a:rPr>
              <a:t>（这 </a:t>
            </a:r>
            <a:r>
              <a:rPr kumimoji="1" lang="en-US" altLang="zh-CN" sz="2000">
                <a:solidFill>
                  <a:srgbClr val="333399"/>
                </a:solidFill>
                <a:latin typeface="Arial" panose="020B0604020202020204" pitchFamily="34" charset="0"/>
                <a:ea typeface="黑体" panose="02010609060101010101" pitchFamily="49" charset="-122"/>
              </a:rPr>
              <a:t>4 </a:t>
            </a:r>
            <a:r>
              <a:rPr kumimoji="1" lang="zh-CN" altLang="en-US" sz="2000">
                <a:solidFill>
                  <a:srgbClr val="333399"/>
                </a:solidFill>
                <a:latin typeface="Arial" panose="020B0604020202020204" pitchFamily="34" charset="0"/>
                <a:ea typeface="黑体" panose="02010609060101010101" pitchFamily="49" charset="-122"/>
              </a:rPr>
              <a:t>个字节取决于 </a:t>
            </a:r>
            <a:r>
              <a:rPr kumimoji="1" lang="en-US" altLang="zh-CN" sz="2000">
                <a:solidFill>
                  <a:srgbClr val="333399"/>
                </a:solidFill>
                <a:latin typeface="Arial" panose="020B0604020202020204" pitchFamily="34" charset="0"/>
                <a:ea typeface="黑体" panose="02010609060101010101" pitchFamily="49" charset="-122"/>
              </a:rPr>
              <a:t>ICMP </a:t>
            </a:r>
            <a:r>
              <a:rPr kumimoji="1" lang="zh-CN" altLang="en-US" sz="2000">
                <a:solidFill>
                  <a:srgbClr val="333399"/>
                </a:solidFill>
                <a:latin typeface="Arial" panose="020B0604020202020204" pitchFamily="34" charset="0"/>
                <a:ea typeface="黑体" panose="02010609060101010101" pitchFamily="49" charset="-122"/>
              </a:rPr>
              <a:t>报文的类型）</a:t>
            </a:r>
          </a:p>
        </p:txBody>
      </p:sp>
      <p:sp>
        <p:nvSpPr>
          <p:cNvPr id="26" name="Text Box 22">
            <a:extLst>
              <a:ext uri="{FF2B5EF4-FFF2-40B4-BE49-F238E27FC236}">
                <a16:creationId xmlns:a16="http://schemas.microsoft.com/office/drawing/2014/main" id="{0327B7C9-747D-4B1C-A280-32B3DA2AC84C}"/>
              </a:ext>
            </a:extLst>
          </p:cNvPr>
          <p:cNvSpPr txBox="1">
            <a:spLocks noChangeArrowheads="1"/>
          </p:cNvSpPr>
          <p:nvPr/>
        </p:nvSpPr>
        <p:spPr bwMode="auto">
          <a:xfrm>
            <a:off x="4580383" y="2317651"/>
            <a:ext cx="325438"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8</a:t>
            </a:r>
          </a:p>
        </p:txBody>
      </p:sp>
      <p:sp>
        <p:nvSpPr>
          <p:cNvPr id="27" name="Text Box 23">
            <a:extLst>
              <a:ext uri="{FF2B5EF4-FFF2-40B4-BE49-F238E27FC236}">
                <a16:creationId xmlns:a16="http://schemas.microsoft.com/office/drawing/2014/main" id="{FE6ACF9C-0EA7-4343-A7D5-34B69F59ABCF}"/>
              </a:ext>
            </a:extLst>
          </p:cNvPr>
          <p:cNvSpPr txBox="1">
            <a:spLocks noChangeArrowheads="1"/>
          </p:cNvSpPr>
          <p:nvPr/>
        </p:nvSpPr>
        <p:spPr bwMode="auto">
          <a:xfrm>
            <a:off x="5909122" y="2317651"/>
            <a:ext cx="466725"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16</a:t>
            </a:r>
          </a:p>
        </p:txBody>
      </p:sp>
      <p:sp>
        <p:nvSpPr>
          <p:cNvPr id="28" name="Rectangle 24">
            <a:extLst>
              <a:ext uri="{FF2B5EF4-FFF2-40B4-BE49-F238E27FC236}">
                <a16:creationId xmlns:a16="http://schemas.microsoft.com/office/drawing/2014/main" id="{5C60DF30-D0B4-4CF6-95F8-3475BB579752}"/>
              </a:ext>
            </a:extLst>
          </p:cNvPr>
          <p:cNvSpPr>
            <a:spLocks noChangeArrowheads="1"/>
          </p:cNvSpPr>
          <p:nvPr/>
        </p:nvSpPr>
        <p:spPr bwMode="auto">
          <a:xfrm>
            <a:off x="4718497" y="5919688"/>
            <a:ext cx="1273175" cy="2857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29" name="Text Box 25">
            <a:extLst>
              <a:ext uri="{FF2B5EF4-FFF2-40B4-BE49-F238E27FC236}">
                <a16:creationId xmlns:a16="http://schemas.microsoft.com/office/drawing/2014/main" id="{D347D084-2D65-44E5-9F24-50453C0B2436}"/>
              </a:ext>
            </a:extLst>
          </p:cNvPr>
          <p:cNvSpPr txBox="1">
            <a:spLocks noChangeArrowheads="1"/>
          </p:cNvSpPr>
          <p:nvPr/>
        </p:nvSpPr>
        <p:spPr bwMode="auto">
          <a:xfrm>
            <a:off x="8558659" y="2317651"/>
            <a:ext cx="466725"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31</a:t>
            </a:r>
          </a:p>
        </p:txBody>
      </p:sp>
      <p:sp>
        <p:nvSpPr>
          <p:cNvPr id="30" name="Text Box 26">
            <a:extLst>
              <a:ext uri="{FF2B5EF4-FFF2-40B4-BE49-F238E27FC236}">
                <a16:creationId xmlns:a16="http://schemas.microsoft.com/office/drawing/2014/main" id="{AF42B43C-41FA-40F7-A97A-AF7456E17BE3}"/>
              </a:ext>
            </a:extLst>
          </p:cNvPr>
          <p:cNvSpPr txBox="1">
            <a:spLocks noChangeArrowheads="1"/>
          </p:cNvSpPr>
          <p:nvPr/>
        </p:nvSpPr>
        <p:spPr bwMode="auto">
          <a:xfrm>
            <a:off x="4685158" y="5881589"/>
            <a:ext cx="1257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IP </a:t>
            </a:r>
            <a:r>
              <a:rPr kumimoji="1" lang="zh-CN" altLang="en-US" sz="2000">
                <a:solidFill>
                  <a:srgbClr val="333399"/>
                </a:solidFill>
                <a:latin typeface="Arial" panose="020B0604020202020204" pitchFamily="34" charset="0"/>
                <a:ea typeface="黑体" panose="02010609060101010101" pitchFamily="49" charset="-122"/>
              </a:rPr>
              <a:t>数据报</a:t>
            </a:r>
          </a:p>
        </p:txBody>
      </p:sp>
      <p:sp>
        <p:nvSpPr>
          <p:cNvPr id="31" name="Line 27">
            <a:extLst>
              <a:ext uri="{FF2B5EF4-FFF2-40B4-BE49-F238E27FC236}">
                <a16:creationId xmlns:a16="http://schemas.microsoft.com/office/drawing/2014/main" id="{17A057BE-42BA-47F3-9D98-1E281075348C}"/>
              </a:ext>
            </a:extLst>
          </p:cNvPr>
          <p:cNvSpPr>
            <a:spLocks noChangeShapeType="1"/>
          </p:cNvSpPr>
          <p:nvPr/>
        </p:nvSpPr>
        <p:spPr bwMode="auto">
          <a:xfrm rot="-5400000">
            <a:off x="6088508" y="649188"/>
            <a:ext cx="0" cy="56007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Text Box 28">
            <a:extLst>
              <a:ext uri="{FF2B5EF4-FFF2-40B4-BE49-F238E27FC236}">
                <a16:creationId xmlns:a16="http://schemas.microsoft.com/office/drawing/2014/main" id="{EB606FC3-46FB-45E7-A916-6A2061ED896A}"/>
              </a:ext>
            </a:extLst>
          </p:cNvPr>
          <p:cNvSpPr txBox="1">
            <a:spLocks noChangeArrowheads="1"/>
          </p:cNvSpPr>
          <p:nvPr/>
        </p:nvSpPr>
        <p:spPr bwMode="auto">
          <a:xfrm>
            <a:off x="1406972" y="2460526"/>
            <a:ext cx="148113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lnSpc>
                <a:spcPct val="90000"/>
              </a:lnSpc>
              <a:spcBef>
                <a:spcPct val="0"/>
              </a:spcBef>
              <a:buClrTx/>
              <a:buFontTx/>
              <a:buNone/>
            </a:pPr>
            <a:r>
              <a:rPr kumimoji="1" lang="zh-CN" altLang="en-US" sz="2000">
                <a:solidFill>
                  <a:srgbClr val="333399"/>
                </a:solidFill>
                <a:latin typeface="Arial" panose="020B0604020202020204" pitchFamily="34" charset="0"/>
                <a:ea typeface="黑体" panose="02010609060101010101" pitchFamily="49" charset="-122"/>
              </a:rPr>
              <a:t>前 </a:t>
            </a:r>
            <a:r>
              <a:rPr kumimoji="1" lang="en-US" altLang="zh-CN" sz="2000">
                <a:solidFill>
                  <a:srgbClr val="333399"/>
                </a:solidFill>
                <a:latin typeface="Arial" panose="020B0604020202020204" pitchFamily="34" charset="0"/>
                <a:ea typeface="黑体" panose="02010609060101010101" pitchFamily="49" charset="-122"/>
              </a:rPr>
              <a:t>4 </a:t>
            </a:r>
            <a:r>
              <a:rPr kumimoji="1" lang="zh-CN" altLang="en-US" sz="2000">
                <a:solidFill>
                  <a:srgbClr val="333399"/>
                </a:solidFill>
                <a:latin typeface="Arial" panose="020B0604020202020204" pitchFamily="34" charset="0"/>
                <a:ea typeface="黑体" panose="02010609060101010101" pitchFamily="49" charset="-122"/>
              </a:rPr>
              <a:t>个字节</a:t>
            </a:r>
          </a:p>
          <a:p>
            <a:pPr algn="ctr" eaLnBrk="1" hangingPunct="1">
              <a:lnSpc>
                <a:spcPct val="90000"/>
              </a:lnSpc>
              <a:spcBef>
                <a:spcPct val="0"/>
              </a:spcBef>
              <a:buClrTx/>
              <a:buFontTx/>
              <a:buNone/>
            </a:pPr>
            <a:r>
              <a:rPr kumimoji="1" lang="zh-CN" altLang="en-US" sz="2000">
                <a:solidFill>
                  <a:srgbClr val="333399"/>
                </a:solidFill>
                <a:latin typeface="Arial" panose="020B0604020202020204" pitchFamily="34" charset="0"/>
                <a:ea typeface="黑体" panose="02010609060101010101" pitchFamily="49" charset="-122"/>
              </a:rPr>
              <a:t>都是一样的</a:t>
            </a:r>
          </a:p>
        </p:txBody>
      </p:sp>
      <p:sp>
        <p:nvSpPr>
          <p:cNvPr id="33" name="Text Box 29">
            <a:extLst>
              <a:ext uri="{FF2B5EF4-FFF2-40B4-BE49-F238E27FC236}">
                <a16:creationId xmlns:a16="http://schemas.microsoft.com/office/drawing/2014/main" id="{516A4648-9374-4622-A05D-A99F1923BE07}"/>
              </a:ext>
            </a:extLst>
          </p:cNvPr>
          <p:cNvSpPr txBox="1">
            <a:spLocks noChangeArrowheads="1"/>
          </p:cNvSpPr>
          <p:nvPr/>
        </p:nvSpPr>
        <p:spPr bwMode="auto">
          <a:xfrm>
            <a:off x="3873946" y="3647977"/>
            <a:ext cx="4445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en-US" altLang="zh-CN" sz="2000" dirty="0">
                <a:solidFill>
                  <a:srgbClr val="333399"/>
                </a:solidFill>
                <a:latin typeface="Arial" panose="020B0604020202020204" pitchFamily="34" charset="0"/>
                <a:ea typeface="黑体" panose="02010609060101010101" pitchFamily="49" charset="-122"/>
              </a:rPr>
              <a:t>ICMP </a:t>
            </a:r>
            <a:r>
              <a:rPr kumimoji="1" lang="zh-CN" altLang="en-US" sz="2000" dirty="0">
                <a:solidFill>
                  <a:srgbClr val="333399"/>
                </a:solidFill>
                <a:latin typeface="Arial" panose="020B0604020202020204" pitchFamily="34" charset="0"/>
                <a:ea typeface="黑体" panose="02010609060101010101" pitchFamily="49" charset="-122"/>
              </a:rPr>
              <a:t>的数据部分（长度取决于类型）</a:t>
            </a:r>
          </a:p>
        </p:txBody>
      </p:sp>
      <p:sp>
        <p:nvSpPr>
          <p:cNvPr id="34" name="Line 30">
            <a:extLst>
              <a:ext uri="{FF2B5EF4-FFF2-40B4-BE49-F238E27FC236}">
                <a16:creationId xmlns:a16="http://schemas.microsoft.com/office/drawing/2014/main" id="{6EF64730-8B27-4815-8A45-877A0E6C66DD}"/>
              </a:ext>
            </a:extLst>
          </p:cNvPr>
          <p:cNvSpPr>
            <a:spLocks noChangeShapeType="1"/>
          </p:cNvSpPr>
          <p:nvPr/>
        </p:nvSpPr>
        <p:spPr bwMode="auto">
          <a:xfrm>
            <a:off x="2803972" y="2822476"/>
            <a:ext cx="484187" cy="0"/>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矩形 34">
            <a:extLst>
              <a:ext uri="{FF2B5EF4-FFF2-40B4-BE49-F238E27FC236}">
                <a16:creationId xmlns:a16="http://schemas.microsoft.com/office/drawing/2014/main" id="{D5E6110A-E2D0-4CC3-80B1-E2B78D810D08}"/>
              </a:ext>
            </a:extLst>
          </p:cNvPr>
          <p:cNvSpPr/>
          <p:nvPr/>
        </p:nvSpPr>
        <p:spPr>
          <a:xfrm>
            <a:off x="191344" y="962720"/>
            <a:ext cx="11809312" cy="941155"/>
          </a:xfrm>
          <a:prstGeom prst="rect">
            <a:avLst/>
          </a:prstGeom>
        </p:spPr>
        <p:txBody>
          <a:bodyPr wrap="square">
            <a:spAutoFit/>
          </a:bodyPr>
          <a:lstStyle/>
          <a:p>
            <a:pPr>
              <a:lnSpc>
                <a:spcPct val="120000"/>
              </a:lnSpc>
              <a:defRPr/>
            </a:pPr>
            <a:r>
              <a:rPr lang="en-US" altLang="zh-CN" sz="2400" dirty="0">
                <a:solidFill>
                  <a:schemeClr val="tx1"/>
                </a:solidFill>
                <a:latin typeface="微软雅黑" panose="020B0503020204020204" pitchFamily="34" charset="-122"/>
                <a:ea typeface="微软雅黑" panose="020B0503020204020204" pitchFamily="34" charset="-122"/>
              </a:rPr>
              <a:t>ICMP </a:t>
            </a:r>
            <a:r>
              <a:rPr lang="zh-CN" altLang="en-US" sz="2400" dirty="0">
                <a:solidFill>
                  <a:schemeClr val="tx1"/>
                </a:solidFill>
                <a:latin typeface="微软雅黑" panose="020B0503020204020204" pitchFamily="34" charset="-122"/>
                <a:ea typeface="微软雅黑" panose="020B0503020204020204" pitchFamily="34" charset="-122"/>
              </a:rPr>
              <a:t>报文的前 </a:t>
            </a:r>
            <a:r>
              <a:rPr lang="en-US" altLang="zh-CN" sz="2400" dirty="0">
                <a:solidFill>
                  <a:schemeClr val="tx1"/>
                </a:solidFill>
                <a:latin typeface="微软雅黑" panose="020B0503020204020204" pitchFamily="34" charset="-122"/>
                <a:ea typeface="微软雅黑" panose="020B0503020204020204" pitchFamily="34" charset="-122"/>
              </a:rPr>
              <a:t>4 </a:t>
            </a:r>
            <a:r>
              <a:rPr lang="zh-CN" altLang="en-US" sz="2400" dirty="0">
                <a:solidFill>
                  <a:schemeClr val="tx1"/>
                </a:solidFill>
                <a:latin typeface="微软雅黑" panose="020B0503020204020204" pitchFamily="34" charset="-122"/>
                <a:ea typeface="微软雅黑" panose="020B0503020204020204" pitchFamily="34" charset="-122"/>
              </a:rPr>
              <a:t>个字节是统一的格式，共有三个字段：即类型、代码和检验和。接着的 </a:t>
            </a:r>
            <a:r>
              <a:rPr lang="en-US" altLang="zh-CN" sz="2400" dirty="0">
                <a:solidFill>
                  <a:schemeClr val="tx1"/>
                </a:solidFill>
                <a:latin typeface="微软雅黑" panose="020B0503020204020204" pitchFamily="34" charset="-122"/>
                <a:ea typeface="微软雅黑" panose="020B0503020204020204" pitchFamily="34" charset="-122"/>
              </a:rPr>
              <a:t>4 </a:t>
            </a:r>
            <a:r>
              <a:rPr lang="zh-CN" altLang="en-US" sz="2400" dirty="0">
                <a:solidFill>
                  <a:schemeClr val="tx1"/>
                </a:solidFill>
                <a:latin typeface="微软雅黑" panose="020B0503020204020204" pitchFamily="34" charset="-122"/>
                <a:ea typeface="微软雅黑" panose="020B0503020204020204" pitchFamily="34" charset="-122"/>
              </a:rPr>
              <a:t>个字节的内容与 </a:t>
            </a:r>
            <a:r>
              <a:rPr lang="en-US" altLang="zh-CN" sz="2400" dirty="0">
                <a:solidFill>
                  <a:schemeClr val="tx1"/>
                </a:solidFill>
                <a:latin typeface="微软雅黑" panose="020B0503020204020204" pitchFamily="34" charset="-122"/>
                <a:ea typeface="微软雅黑" panose="020B0503020204020204" pitchFamily="34" charset="-122"/>
              </a:rPr>
              <a:t>ICMP </a:t>
            </a:r>
            <a:r>
              <a:rPr lang="zh-CN" altLang="en-US" sz="2400" dirty="0">
                <a:solidFill>
                  <a:schemeClr val="tx1"/>
                </a:solidFill>
                <a:latin typeface="微软雅黑" panose="020B0503020204020204" pitchFamily="34" charset="-122"/>
                <a:ea typeface="微软雅黑" panose="020B0503020204020204" pitchFamily="34" charset="-122"/>
              </a:rPr>
              <a:t>的类型有关。 </a:t>
            </a:r>
          </a:p>
        </p:txBody>
      </p:sp>
    </p:spTree>
    <p:extLst>
      <p:ext uri="{BB962C8B-B14F-4D97-AF65-F5344CB8AC3E}">
        <p14:creationId xmlns:p14="http://schemas.microsoft.com/office/powerpoint/2010/main" val="414698572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500"/>
                                  </p:stCondLst>
                                  <p:childTnLst>
                                    <p:anim calcmode="discrete" valueType="str">
                                      <p:cBhvr>
                                        <p:cTn id="6" dur="1000" fill="hold"/>
                                        <p:tgtEl>
                                          <p:spTgt spid="32"/>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grpId="0" nodeType="withEffect">
                                  <p:stCondLst>
                                    <p:cond delay="500"/>
                                  </p:stCondLst>
                                  <p:childTnLst>
                                    <p:anim calcmode="discrete" valueType="str">
                                      <p:cBhvr>
                                        <p:cTn id="8" dur="1000" fill="hold"/>
                                        <p:tgtEl>
                                          <p:spTgt spid="34"/>
                                        </p:tgtEl>
                                        <p:attrNameLst>
                                          <p:attrName>style.visibility</p:attrName>
                                        </p:attrNameLst>
                                      </p:cBhvr>
                                      <p:tavLst>
                                        <p:tav tm="0">
                                          <p:val>
                                            <p:strVal val="hidden"/>
                                          </p:val>
                                        </p:tav>
                                        <p:tav tm="50000">
                                          <p:val>
                                            <p:strVal val="visible"/>
                                          </p:val>
                                        </p:tav>
                                      </p:tavLst>
                                    </p:anim>
                                  </p:childTnLst>
                                </p:cTn>
                              </p:par>
                              <p:par>
                                <p:cTn id="9" presetID="35" presetClass="emph" presetSubtype="0" repeatCount="3000" fill="hold" grpId="0" nodeType="withEffect">
                                  <p:stCondLst>
                                    <p:cond delay="500"/>
                                  </p:stCondLst>
                                  <p:childTnLst>
                                    <p:anim calcmode="discrete" valueType="str">
                                      <p:cBhvr>
                                        <p:cTn id="10" dur="1000" fill="hold"/>
                                        <p:tgtEl>
                                          <p:spTgt spid="23"/>
                                        </p:tgtEl>
                                        <p:attrNameLst>
                                          <p:attrName>style.visibility</p:attrName>
                                        </p:attrNameLst>
                                      </p:cBhvr>
                                      <p:tavLst>
                                        <p:tav tm="0">
                                          <p:val>
                                            <p:strVal val="hidden"/>
                                          </p:val>
                                        </p:tav>
                                        <p:tav tm="50000">
                                          <p:val>
                                            <p:strVal val="visible"/>
                                          </p:val>
                                        </p:tav>
                                      </p:tavLst>
                                    </p:anim>
                                  </p:childTnLst>
                                </p:cTn>
                              </p:par>
                              <p:par>
                                <p:cTn id="11" presetID="35" presetClass="emph" presetSubtype="0" repeatCount="3000" fill="hold" grpId="0" nodeType="withEffect">
                                  <p:stCondLst>
                                    <p:cond delay="500"/>
                                  </p:stCondLst>
                                  <p:childTnLst>
                                    <p:anim calcmode="discrete" valueType="str">
                                      <p:cBhvr>
                                        <p:cTn id="12" dur="1000" fill="hold"/>
                                        <p:tgtEl>
                                          <p:spTgt spid="24"/>
                                        </p:tgtEl>
                                        <p:attrNameLst>
                                          <p:attrName>style.visibility</p:attrName>
                                        </p:attrNameLst>
                                      </p:cBhvr>
                                      <p:tavLst>
                                        <p:tav tm="0">
                                          <p:val>
                                            <p:strVal val="hidden"/>
                                          </p:val>
                                        </p:tav>
                                        <p:tav tm="50000">
                                          <p:val>
                                            <p:strVal val="visible"/>
                                          </p:val>
                                        </p:tav>
                                      </p:tavLst>
                                    </p:anim>
                                  </p:childTnLst>
                                </p:cTn>
                              </p:par>
                              <p:par>
                                <p:cTn id="13" presetID="35" presetClass="emph" presetSubtype="0" repeatCount="3000" fill="hold" grpId="0" nodeType="withEffect">
                                  <p:stCondLst>
                                    <p:cond delay="500"/>
                                  </p:stCondLst>
                                  <p:childTnLst>
                                    <p:anim calcmode="discrete" valueType="str">
                                      <p:cBhvr>
                                        <p:cTn id="14" dur="1000" fill="hold"/>
                                        <p:tgtEl>
                                          <p:spTgt spid="2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32" grpId="0"/>
      <p:bldP spid="3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a:xfrm>
            <a:off x="-2538782" y="-265111"/>
            <a:ext cx="8116887" cy="1462087"/>
          </a:xfrm>
        </p:spPr>
        <p:txBody>
          <a:bodyPr/>
          <a:lstStyle/>
          <a:p>
            <a:pPr eaLnBrk="1" hangingPunct="1"/>
            <a:r>
              <a:rPr lang="en-US" altLang="zh-CN" sz="2800" dirty="0">
                <a:solidFill>
                  <a:srgbClr val="0070C0"/>
                </a:solidFill>
                <a:latin typeface="微软雅黑" panose="020B0503020204020204" pitchFamily="34" charset="-122"/>
                <a:ea typeface="微软雅黑" panose="020B0503020204020204" pitchFamily="34" charset="-122"/>
              </a:rPr>
              <a:t>ICMP </a:t>
            </a:r>
            <a:r>
              <a:rPr lang="zh-CN" altLang="en-US" sz="2800" dirty="0">
                <a:solidFill>
                  <a:srgbClr val="0070C0"/>
                </a:solidFill>
                <a:latin typeface="微软雅黑" panose="020B0503020204020204" pitchFamily="34" charset="-122"/>
                <a:ea typeface="微软雅黑" panose="020B0503020204020204" pitchFamily="34" charset="-122"/>
              </a:rPr>
              <a:t>报文类型</a:t>
            </a:r>
          </a:p>
        </p:txBody>
      </p:sp>
      <p:sp>
        <p:nvSpPr>
          <p:cNvPr id="1144835" name="Rectangle 3"/>
          <p:cNvSpPr>
            <a:spLocks noGrp="1" noChangeArrowheads="1"/>
          </p:cNvSpPr>
          <p:nvPr>
            <p:ph idx="1"/>
          </p:nvPr>
        </p:nvSpPr>
        <p:spPr>
          <a:xfrm>
            <a:off x="148359" y="947718"/>
            <a:ext cx="11593288" cy="2386012"/>
          </a:xfrm>
        </p:spPr>
        <p:txBody>
          <a:bodyPr/>
          <a:lstStyle/>
          <a:p>
            <a:pPr marL="0" indent="0" algn="just" eaLnBrk="1" hangingPunct="1">
              <a:buNone/>
              <a:defRPr/>
            </a:pPr>
            <a:r>
              <a:rPr lang="en-US" altLang="zh-CN" sz="2400" dirty="0"/>
              <a:t>ICMP </a:t>
            </a:r>
            <a:r>
              <a:rPr lang="zh-CN" altLang="en-US" sz="2400" dirty="0"/>
              <a:t>报文的</a:t>
            </a:r>
            <a:r>
              <a:rPr lang="zh-CN" altLang="en-US" sz="2400" b="1" dirty="0">
                <a:solidFill>
                  <a:srgbClr val="0070C0"/>
                </a:solidFill>
              </a:rPr>
              <a:t>类型</a:t>
            </a:r>
            <a:r>
              <a:rPr lang="zh-CN" altLang="en-US" sz="2400" dirty="0"/>
              <a:t>有两种，即 </a:t>
            </a:r>
            <a:r>
              <a:rPr lang="en-US" altLang="zh-CN" sz="2400" dirty="0"/>
              <a:t>ICMP </a:t>
            </a:r>
            <a:r>
              <a:rPr lang="zh-CN" altLang="en-US" sz="2400" dirty="0"/>
              <a:t>差错报告报文和 </a:t>
            </a:r>
            <a:r>
              <a:rPr lang="en-US" altLang="zh-CN" sz="2400" dirty="0"/>
              <a:t>ICMP </a:t>
            </a:r>
            <a:r>
              <a:rPr lang="zh-CN" altLang="en-US" sz="2400" dirty="0"/>
              <a:t>询问报文。 </a:t>
            </a:r>
            <a:endParaRPr lang="en-US" altLang="zh-CN" sz="2400" dirty="0"/>
          </a:p>
          <a:p>
            <a:pPr>
              <a:buFont typeface="Wingdings" panose="05000000000000000000" pitchFamily="2" charset="2"/>
              <a:buChar char="l"/>
              <a:defRPr/>
            </a:pPr>
            <a:r>
              <a:rPr lang="zh-CN" altLang="en-US" sz="2400" dirty="0">
                <a:solidFill>
                  <a:srgbClr val="0070C0"/>
                </a:solidFill>
              </a:rPr>
              <a:t>差错报告报文</a:t>
            </a:r>
            <a:r>
              <a:rPr lang="zh-CN" altLang="en-US" sz="2400" dirty="0"/>
              <a:t>报告了路由器或者主机在处理</a:t>
            </a:r>
            <a:r>
              <a:rPr lang="en-US" altLang="zh-CN" sz="2400" dirty="0"/>
              <a:t>IP</a:t>
            </a:r>
            <a:r>
              <a:rPr lang="zh-CN" altLang="en-US" sz="2400" dirty="0"/>
              <a:t>数据包时可能遇到的问题</a:t>
            </a:r>
          </a:p>
          <a:p>
            <a:pPr>
              <a:buFont typeface="Wingdings" panose="05000000000000000000" pitchFamily="2" charset="2"/>
              <a:buChar char="l"/>
              <a:defRPr/>
            </a:pPr>
            <a:r>
              <a:rPr lang="zh-CN" altLang="en-US" sz="2400" dirty="0">
                <a:solidFill>
                  <a:srgbClr val="0070C0"/>
                </a:solidFill>
              </a:rPr>
              <a:t>查询报文</a:t>
            </a:r>
            <a:r>
              <a:rPr lang="zh-CN" altLang="en-US" sz="2400" dirty="0"/>
              <a:t>总是成双成对的出现，他帮助主机或者网络管理员从某个路由器或者对方主机那里获取特定的信息。</a:t>
            </a:r>
          </a:p>
          <a:p>
            <a:pPr algn="just" eaLnBrk="1" hangingPunct="1">
              <a:buFont typeface="Wingdings" panose="05000000000000000000" pitchFamily="2" charset="2"/>
              <a:buChar char="l"/>
              <a:defRPr/>
            </a:pPr>
            <a:endParaRPr lang="zh-CN" altLang="en-US" sz="2400" dirty="0"/>
          </a:p>
        </p:txBody>
      </p:sp>
      <p:pic>
        <p:nvPicPr>
          <p:cNvPr id="15364"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716529" y="2388892"/>
            <a:ext cx="5136270" cy="2006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3"/>
          <p:cNvSpPr txBox="1">
            <a:spLocks noChangeArrowheads="1"/>
          </p:cNvSpPr>
          <p:nvPr/>
        </p:nvSpPr>
        <p:spPr bwMode="auto">
          <a:xfrm>
            <a:off x="263352" y="4123801"/>
            <a:ext cx="3586238"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sz="2400" b="1" dirty="0">
                <a:solidFill>
                  <a:srgbClr val="0070C0"/>
                </a:solidFill>
                <a:latin typeface="Arial" panose="020B0604020202020204" pitchFamily="34" charset="0"/>
                <a:ea typeface="宋体" panose="02010600030101010101" pitchFamily="2" charset="-122"/>
                <a:sym typeface="Arial" panose="020B0604020202020204" pitchFamily="34" charset="0"/>
              </a:rPr>
              <a:t>差错报告报文的类型有</a:t>
            </a:r>
            <a:r>
              <a:rPr lang="zh-CN" altLang="en-US" sz="2400" dirty="0">
                <a:solidFill>
                  <a:srgbClr val="0070C0"/>
                </a:solidFill>
                <a:latin typeface="Arial" panose="020B0604020202020204" pitchFamily="34" charset="0"/>
                <a:ea typeface="宋体" panose="02010600030101010101" pitchFamily="2" charset="-122"/>
                <a:sym typeface="Arial" panose="020B0604020202020204" pitchFamily="34" charset="0"/>
              </a:rPr>
              <a:t>：</a:t>
            </a:r>
          </a:p>
          <a:p>
            <a:pPr marL="342900" indent="-342900">
              <a:buFont typeface="Wingdings" panose="05000000000000000000" pitchFamily="2" charset="2"/>
              <a:buChar char="l"/>
              <a:defRPr/>
            </a:pPr>
            <a:r>
              <a:rPr lang="zh-CN" altLang="en-US" sz="2400" dirty="0">
                <a:solidFill>
                  <a:srgbClr val="0070C0"/>
                </a:solidFill>
                <a:latin typeface="Arial" panose="020B0604020202020204" pitchFamily="34" charset="0"/>
                <a:ea typeface="宋体" panose="02010600030101010101" pitchFamily="2" charset="-122"/>
                <a:sym typeface="Arial" panose="020B0604020202020204" pitchFamily="34" charset="0"/>
              </a:rPr>
              <a:t>类型</a:t>
            </a:r>
            <a:r>
              <a:rPr lang="en-US" altLang="zh-CN" sz="2400" dirty="0">
                <a:solidFill>
                  <a:srgbClr val="0070C0"/>
                </a:solidFill>
                <a:latin typeface="Arial" panose="020B0604020202020204" pitchFamily="34" charset="0"/>
                <a:ea typeface="宋体" panose="02010600030101010101" pitchFamily="2" charset="-122"/>
                <a:sym typeface="Arial" panose="020B0604020202020204" pitchFamily="34" charset="0"/>
              </a:rPr>
              <a:t>3</a:t>
            </a:r>
            <a:r>
              <a:rPr lang="zh-CN" altLang="en-US" sz="2400" dirty="0">
                <a:solidFill>
                  <a:srgbClr val="0070C0"/>
                </a:solidFill>
                <a:latin typeface="Arial" panose="020B0604020202020204" pitchFamily="34" charset="0"/>
                <a:ea typeface="宋体" panose="02010600030101010101" pitchFamily="2" charset="-122"/>
                <a:sym typeface="Arial" panose="020B0604020202020204" pitchFamily="34" charset="0"/>
              </a:rPr>
              <a:t>：目的站不可达</a:t>
            </a:r>
          </a:p>
          <a:p>
            <a:pPr marL="342900" indent="-342900">
              <a:buFont typeface="Wingdings" panose="05000000000000000000" pitchFamily="2" charset="2"/>
              <a:buChar char="l"/>
              <a:defRPr/>
            </a:pPr>
            <a:r>
              <a:rPr lang="zh-CN" altLang="en-US" sz="2400" dirty="0">
                <a:solidFill>
                  <a:srgbClr val="0070C0"/>
                </a:solidFill>
                <a:latin typeface="Arial" panose="020B0604020202020204" pitchFamily="34" charset="0"/>
                <a:ea typeface="宋体" panose="02010600030101010101" pitchFamily="2" charset="-122"/>
                <a:sym typeface="Arial" panose="020B0604020202020204" pitchFamily="34" charset="0"/>
              </a:rPr>
              <a:t>类型</a:t>
            </a:r>
            <a:r>
              <a:rPr lang="en-US" altLang="zh-CN" sz="2400" dirty="0">
                <a:solidFill>
                  <a:srgbClr val="0070C0"/>
                </a:solidFill>
                <a:latin typeface="Arial" panose="020B0604020202020204" pitchFamily="34" charset="0"/>
                <a:ea typeface="宋体" panose="02010600030101010101" pitchFamily="2" charset="-122"/>
                <a:sym typeface="Arial" panose="020B0604020202020204" pitchFamily="34" charset="0"/>
              </a:rPr>
              <a:t>4</a:t>
            </a:r>
            <a:r>
              <a:rPr lang="zh-CN" altLang="en-US" sz="2400" dirty="0">
                <a:solidFill>
                  <a:srgbClr val="0070C0"/>
                </a:solidFill>
                <a:latin typeface="Arial" panose="020B0604020202020204" pitchFamily="34" charset="0"/>
                <a:ea typeface="宋体" panose="02010600030101010101" pitchFamily="2" charset="-122"/>
                <a:sym typeface="Arial" panose="020B0604020202020204" pitchFamily="34" charset="0"/>
              </a:rPr>
              <a:t>：源站抑制</a:t>
            </a:r>
          </a:p>
          <a:p>
            <a:pPr marL="342900" indent="-342900">
              <a:buFont typeface="Wingdings" panose="05000000000000000000" pitchFamily="2" charset="2"/>
              <a:buChar char="l"/>
              <a:defRPr/>
            </a:pPr>
            <a:r>
              <a:rPr lang="zh-CN" altLang="en-US" sz="2400" dirty="0">
                <a:solidFill>
                  <a:srgbClr val="0070C0"/>
                </a:solidFill>
                <a:latin typeface="Arial" panose="020B0604020202020204" pitchFamily="34" charset="0"/>
                <a:ea typeface="宋体" panose="02010600030101010101" pitchFamily="2" charset="-122"/>
                <a:sym typeface="Arial" panose="020B0604020202020204" pitchFamily="34" charset="0"/>
              </a:rPr>
              <a:t>类型</a:t>
            </a:r>
            <a:r>
              <a:rPr lang="en-US" altLang="zh-CN" sz="2400" dirty="0">
                <a:solidFill>
                  <a:srgbClr val="0070C0"/>
                </a:solidFill>
                <a:latin typeface="Arial" panose="020B0604020202020204" pitchFamily="34" charset="0"/>
                <a:ea typeface="宋体" panose="02010600030101010101" pitchFamily="2" charset="-122"/>
                <a:sym typeface="Arial" panose="020B0604020202020204" pitchFamily="34" charset="0"/>
              </a:rPr>
              <a:t>11</a:t>
            </a:r>
            <a:r>
              <a:rPr lang="zh-CN" altLang="en-US" sz="2400" dirty="0">
                <a:solidFill>
                  <a:srgbClr val="0070C0"/>
                </a:solidFill>
                <a:latin typeface="Arial" panose="020B0604020202020204" pitchFamily="34" charset="0"/>
                <a:ea typeface="宋体" panose="02010600030101010101" pitchFamily="2" charset="-122"/>
                <a:sym typeface="Arial" panose="020B0604020202020204" pitchFamily="34" charset="0"/>
              </a:rPr>
              <a:t>：时间超过</a:t>
            </a:r>
          </a:p>
          <a:p>
            <a:pPr marL="342900" indent="-342900">
              <a:buFont typeface="Wingdings" panose="05000000000000000000" pitchFamily="2" charset="2"/>
              <a:buChar char="l"/>
              <a:defRPr/>
            </a:pPr>
            <a:r>
              <a:rPr lang="zh-CN" altLang="en-US" sz="2400" dirty="0">
                <a:solidFill>
                  <a:srgbClr val="0070C0"/>
                </a:solidFill>
                <a:latin typeface="Arial" panose="020B0604020202020204" pitchFamily="34" charset="0"/>
                <a:ea typeface="宋体" panose="02010600030101010101" pitchFamily="2" charset="-122"/>
                <a:sym typeface="Arial" panose="020B0604020202020204" pitchFamily="34" charset="0"/>
              </a:rPr>
              <a:t>类型</a:t>
            </a:r>
            <a:r>
              <a:rPr lang="en-US" altLang="zh-CN" sz="2400" dirty="0">
                <a:solidFill>
                  <a:srgbClr val="0070C0"/>
                </a:solidFill>
                <a:latin typeface="Arial" panose="020B0604020202020204" pitchFamily="34" charset="0"/>
                <a:ea typeface="宋体" panose="02010600030101010101" pitchFamily="2" charset="-122"/>
                <a:sym typeface="Arial" panose="020B0604020202020204" pitchFamily="34" charset="0"/>
              </a:rPr>
              <a:t>12</a:t>
            </a:r>
            <a:r>
              <a:rPr lang="zh-CN" altLang="en-US" sz="2400" dirty="0">
                <a:solidFill>
                  <a:srgbClr val="0070C0"/>
                </a:solidFill>
                <a:latin typeface="Arial" panose="020B0604020202020204" pitchFamily="34" charset="0"/>
                <a:ea typeface="宋体" panose="02010600030101010101" pitchFamily="2" charset="-122"/>
                <a:sym typeface="Arial" panose="020B0604020202020204" pitchFamily="34" charset="0"/>
              </a:rPr>
              <a:t>：参数问题</a:t>
            </a:r>
          </a:p>
          <a:p>
            <a:pPr marL="342900" indent="-342900">
              <a:buFont typeface="Wingdings" panose="05000000000000000000" pitchFamily="2" charset="2"/>
              <a:buChar char="l"/>
              <a:defRPr/>
            </a:pPr>
            <a:r>
              <a:rPr lang="zh-CN" altLang="en-US" sz="2400" dirty="0">
                <a:solidFill>
                  <a:srgbClr val="0070C0"/>
                </a:solidFill>
                <a:latin typeface="Arial" panose="020B0604020202020204" pitchFamily="34" charset="0"/>
                <a:ea typeface="宋体" panose="02010600030101010101" pitchFamily="2" charset="-122"/>
                <a:sym typeface="Arial" panose="020B0604020202020204" pitchFamily="34" charset="0"/>
              </a:rPr>
              <a:t>类型</a:t>
            </a:r>
            <a:r>
              <a:rPr lang="en-US" altLang="zh-CN" sz="2400" dirty="0">
                <a:solidFill>
                  <a:srgbClr val="0070C0"/>
                </a:solidFill>
                <a:latin typeface="Arial" panose="020B0604020202020204" pitchFamily="34" charset="0"/>
                <a:ea typeface="宋体" panose="02010600030101010101" pitchFamily="2" charset="-122"/>
                <a:sym typeface="Arial" panose="020B0604020202020204" pitchFamily="34" charset="0"/>
              </a:rPr>
              <a:t>5</a:t>
            </a:r>
            <a:r>
              <a:rPr lang="zh-CN" altLang="en-US" sz="2400" dirty="0">
                <a:solidFill>
                  <a:srgbClr val="0070C0"/>
                </a:solidFill>
                <a:latin typeface="Arial" panose="020B0604020202020204" pitchFamily="34" charset="0"/>
                <a:ea typeface="宋体" panose="02010600030101010101" pitchFamily="2" charset="-122"/>
                <a:sym typeface="Arial" panose="020B0604020202020204" pitchFamily="34" charset="0"/>
              </a:rPr>
              <a:t>：重定向</a:t>
            </a:r>
          </a:p>
        </p:txBody>
      </p:sp>
      <p:sp>
        <p:nvSpPr>
          <p:cNvPr id="7" name="文本框 4"/>
          <p:cNvSpPr txBox="1">
            <a:spLocks noChangeArrowheads="1"/>
          </p:cNvSpPr>
          <p:nvPr/>
        </p:nvSpPr>
        <p:spPr bwMode="auto">
          <a:xfrm>
            <a:off x="3849590" y="4127359"/>
            <a:ext cx="5218095"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sz="2400" b="1" dirty="0">
                <a:solidFill>
                  <a:srgbClr val="0070C0"/>
                </a:solidFill>
                <a:latin typeface="Arial" panose="020B0604020202020204" pitchFamily="34" charset="0"/>
                <a:ea typeface="宋体" panose="02010600030101010101" pitchFamily="2" charset="-122"/>
                <a:sym typeface="幼圆" panose="02010509060101010101" pitchFamily="49" charset="-122"/>
              </a:rPr>
              <a:t>查询报文的类型有</a:t>
            </a:r>
            <a:r>
              <a:rPr lang="zh-CN" altLang="en-US" sz="2400" dirty="0">
                <a:solidFill>
                  <a:srgbClr val="0070C0"/>
                </a:solidFill>
                <a:latin typeface="Arial" panose="020B0604020202020204" pitchFamily="34" charset="0"/>
                <a:ea typeface="宋体" panose="02010600030101010101" pitchFamily="2" charset="-122"/>
                <a:sym typeface="幼圆" panose="02010509060101010101" pitchFamily="49" charset="-122"/>
              </a:rPr>
              <a:t>：</a:t>
            </a:r>
          </a:p>
          <a:p>
            <a:pPr marL="342900" indent="-342900">
              <a:buFont typeface="Wingdings" panose="05000000000000000000" pitchFamily="2" charset="2"/>
              <a:buChar char="l"/>
              <a:defRPr/>
            </a:pPr>
            <a:r>
              <a:rPr lang="zh-CN" altLang="en-US" sz="2400" dirty="0">
                <a:solidFill>
                  <a:srgbClr val="0070C0"/>
                </a:solidFill>
                <a:latin typeface="Arial" panose="020B0604020202020204" pitchFamily="34" charset="0"/>
                <a:ea typeface="宋体" panose="02010600030101010101" pitchFamily="2" charset="-122"/>
                <a:sym typeface="幼圆" panose="02010509060101010101" pitchFamily="49" charset="-122"/>
              </a:rPr>
              <a:t>类型</a:t>
            </a:r>
            <a:r>
              <a:rPr lang="en-US" altLang="zh-CN" sz="2400" dirty="0">
                <a:solidFill>
                  <a:srgbClr val="0070C0"/>
                </a:solidFill>
                <a:latin typeface="Arial" panose="020B0604020202020204" pitchFamily="34" charset="0"/>
                <a:ea typeface="宋体" panose="02010600030101010101" pitchFamily="2" charset="-122"/>
                <a:sym typeface="幼圆" panose="02010509060101010101" pitchFamily="49" charset="-122"/>
              </a:rPr>
              <a:t>8</a:t>
            </a:r>
            <a:r>
              <a:rPr lang="zh-CN" altLang="en-US" sz="2400" dirty="0">
                <a:solidFill>
                  <a:srgbClr val="0070C0"/>
                </a:solidFill>
                <a:latin typeface="Arial" panose="020B0604020202020204" pitchFamily="34" charset="0"/>
                <a:ea typeface="宋体" panose="02010600030101010101" pitchFamily="2" charset="-122"/>
                <a:sym typeface="幼圆" panose="02010509060101010101" pitchFamily="49" charset="-122"/>
              </a:rPr>
              <a:t>或</a:t>
            </a:r>
            <a:r>
              <a:rPr lang="en-US" altLang="zh-CN" sz="2400" dirty="0">
                <a:solidFill>
                  <a:srgbClr val="0070C0"/>
                </a:solidFill>
                <a:latin typeface="Arial" panose="020B0604020202020204" pitchFamily="34" charset="0"/>
                <a:ea typeface="宋体" panose="02010600030101010101" pitchFamily="2" charset="-122"/>
                <a:sym typeface="幼圆" panose="02010509060101010101" pitchFamily="49" charset="-122"/>
              </a:rPr>
              <a:t>0</a:t>
            </a:r>
            <a:r>
              <a:rPr lang="zh-CN" altLang="en-US" sz="2400" dirty="0">
                <a:solidFill>
                  <a:srgbClr val="0070C0"/>
                </a:solidFill>
                <a:latin typeface="Arial" panose="020B0604020202020204" pitchFamily="34" charset="0"/>
                <a:ea typeface="宋体" panose="02010600030101010101" pitchFamily="2" charset="-122"/>
                <a:sym typeface="幼圆" panose="02010509060101010101" pitchFamily="49" charset="-122"/>
              </a:rPr>
              <a:t>：回送请求或回答</a:t>
            </a:r>
          </a:p>
          <a:p>
            <a:pPr marL="342900" indent="-342900">
              <a:buFont typeface="Wingdings" panose="05000000000000000000" pitchFamily="2" charset="2"/>
              <a:buChar char="l"/>
              <a:defRPr/>
            </a:pPr>
            <a:r>
              <a:rPr lang="zh-CN" altLang="en-US" sz="2400" dirty="0">
                <a:solidFill>
                  <a:srgbClr val="0070C0"/>
                </a:solidFill>
                <a:latin typeface="Arial" panose="020B0604020202020204" pitchFamily="34" charset="0"/>
                <a:ea typeface="宋体" panose="02010600030101010101" pitchFamily="2" charset="-122"/>
                <a:sym typeface="幼圆" panose="02010509060101010101" pitchFamily="49" charset="-122"/>
              </a:rPr>
              <a:t>类型</a:t>
            </a:r>
            <a:r>
              <a:rPr lang="en-US" altLang="zh-CN" sz="2400" dirty="0">
                <a:solidFill>
                  <a:srgbClr val="0070C0"/>
                </a:solidFill>
                <a:latin typeface="Arial" panose="020B0604020202020204" pitchFamily="34" charset="0"/>
                <a:ea typeface="宋体" panose="02010600030101010101" pitchFamily="2" charset="-122"/>
                <a:sym typeface="幼圆" panose="02010509060101010101" pitchFamily="49" charset="-122"/>
              </a:rPr>
              <a:t>13</a:t>
            </a:r>
            <a:r>
              <a:rPr lang="zh-CN" altLang="en-US" sz="2400" dirty="0">
                <a:solidFill>
                  <a:srgbClr val="0070C0"/>
                </a:solidFill>
                <a:latin typeface="Arial" panose="020B0604020202020204" pitchFamily="34" charset="0"/>
                <a:ea typeface="宋体" panose="02010600030101010101" pitchFamily="2" charset="-122"/>
                <a:sym typeface="幼圆" panose="02010509060101010101" pitchFamily="49" charset="-122"/>
              </a:rPr>
              <a:t>或</a:t>
            </a:r>
            <a:r>
              <a:rPr lang="en-US" altLang="zh-CN" sz="2400" dirty="0">
                <a:solidFill>
                  <a:srgbClr val="0070C0"/>
                </a:solidFill>
                <a:latin typeface="Arial" panose="020B0604020202020204" pitchFamily="34" charset="0"/>
                <a:ea typeface="宋体" panose="02010600030101010101" pitchFamily="2" charset="-122"/>
                <a:sym typeface="幼圆" panose="02010509060101010101" pitchFamily="49" charset="-122"/>
              </a:rPr>
              <a:t>14</a:t>
            </a:r>
            <a:r>
              <a:rPr lang="zh-CN" altLang="en-US" sz="2400" dirty="0">
                <a:solidFill>
                  <a:srgbClr val="0070C0"/>
                </a:solidFill>
                <a:latin typeface="Arial" panose="020B0604020202020204" pitchFamily="34" charset="0"/>
                <a:ea typeface="宋体" panose="02010600030101010101" pitchFamily="2" charset="-122"/>
                <a:sym typeface="幼圆" panose="02010509060101010101" pitchFamily="49" charset="-122"/>
              </a:rPr>
              <a:t>：时间戳请求或回答</a:t>
            </a:r>
          </a:p>
          <a:p>
            <a:pPr marL="342900" indent="-342900">
              <a:buFont typeface="Wingdings" panose="05000000000000000000" pitchFamily="2" charset="2"/>
              <a:buChar char="l"/>
              <a:defRPr/>
            </a:pPr>
            <a:r>
              <a:rPr lang="zh-CN" altLang="en-US" sz="2400" dirty="0">
                <a:solidFill>
                  <a:srgbClr val="0070C0"/>
                </a:solidFill>
                <a:latin typeface="Arial" panose="020B0604020202020204" pitchFamily="34" charset="0"/>
                <a:ea typeface="宋体" panose="02010600030101010101" pitchFamily="2" charset="-122"/>
                <a:sym typeface="幼圆" panose="02010509060101010101" pitchFamily="49" charset="-122"/>
              </a:rPr>
              <a:t>类型</a:t>
            </a:r>
            <a:r>
              <a:rPr lang="en-US" altLang="zh-CN" sz="2400" dirty="0">
                <a:solidFill>
                  <a:srgbClr val="0070C0"/>
                </a:solidFill>
                <a:latin typeface="Arial" panose="020B0604020202020204" pitchFamily="34" charset="0"/>
                <a:ea typeface="宋体" panose="02010600030101010101" pitchFamily="2" charset="-122"/>
                <a:sym typeface="幼圆" panose="02010509060101010101" pitchFamily="49" charset="-122"/>
              </a:rPr>
              <a:t>17</a:t>
            </a:r>
            <a:r>
              <a:rPr lang="zh-CN" altLang="en-US" sz="2400" dirty="0">
                <a:solidFill>
                  <a:srgbClr val="0070C0"/>
                </a:solidFill>
                <a:latin typeface="Arial" panose="020B0604020202020204" pitchFamily="34" charset="0"/>
                <a:ea typeface="宋体" panose="02010600030101010101" pitchFamily="2" charset="-122"/>
                <a:sym typeface="幼圆" panose="02010509060101010101" pitchFamily="49" charset="-122"/>
              </a:rPr>
              <a:t>或</a:t>
            </a:r>
            <a:r>
              <a:rPr lang="en-US" altLang="zh-CN" sz="2400" dirty="0">
                <a:solidFill>
                  <a:srgbClr val="0070C0"/>
                </a:solidFill>
                <a:latin typeface="Arial" panose="020B0604020202020204" pitchFamily="34" charset="0"/>
                <a:ea typeface="宋体" panose="02010600030101010101" pitchFamily="2" charset="-122"/>
                <a:sym typeface="幼圆" panose="02010509060101010101" pitchFamily="49" charset="-122"/>
              </a:rPr>
              <a:t>18</a:t>
            </a:r>
            <a:r>
              <a:rPr lang="zh-CN" altLang="en-US" sz="2400" dirty="0">
                <a:solidFill>
                  <a:srgbClr val="0070C0"/>
                </a:solidFill>
                <a:latin typeface="Arial" panose="020B0604020202020204" pitchFamily="34" charset="0"/>
                <a:ea typeface="宋体" panose="02010600030101010101" pitchFamily="2" charset="-122"/>
                <a:sym typeface="幼圆" panose="02010509060101010101" pitchFamily="49" charset="-122"/>
              </a:rPr>
              <a:t>：地址掩码请求或回答</a:t>
            </a:r>
          </a:p>
        </p:txBody>
      </p:sp>
      <p:cxnSp>
        <p:nvCxnSpPr>
          <p:cNvPr id="15367" name="直接连接符 2"/>
          <p:cNvCxnSpPr>
            <a:cxnSpLocks noChangeShapeType="1"/>
          </p:cNvCxnSpPr>
          <p:nvPr/>
        </p:nvCxnSpPr>
        <p:spPr bwMode="auto">
          <a:xfrm>
            <a:off x="6960096" y="3068960"/>
            <a:ext cx="720725" cy="0"/>
          </a:xfrm>
          <a:prstGeom prst="line">
            <a:avLst/>
          </a:prstGeom>
          <a:noFill/>
          <a:ln w="50800" algn="ctr">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a:xfrm>
            <a:off x="-96688" y="188640"/>
            <a:ext cx="3527425" cy="596900"/>
          </a:xfrm>
        </p:spPr>
        <p:txBody>
          <a:bodyPr/>
          <a:lstStyle/>
          <a:p>
            <a:pPr eaLnBrk="1" hangingPunct="1"/>
            <a:r>
              <a:rPr lang="en-US" altLang="zh-CN" sz="2800" dirty="0">
                <a:solidFill>
                  <a:srgbClr val="002060"/>
                </a:solidFill>
                <a:latin typeface="微软雅黑" panose="020B0503020204020204" pitchFamily="34" charset="-122"/>
                <a:ea typeface="微软雅黑" panose="020B0503020204020204" pitchFamily="34" charset="-122"/>
              </a:rPr>
              <a:t>ICMP </a:t>
            </a:r>
            <a:r>
              <a:rPr lang="zh-CN" altLang="en-US" sz="2800" dirty="0">
                <a:solidFill>
                  <a:srgbClr val="002060"/>
                </a:solidFill>
                <a:latin typeface="微软雅黑" panose="020B0503020204020204" pitchFamily="34" charset="-122"/>
                <a:ea typeface="微软雅黑" panose="020B0503020204020204" pitchFamily="34" charset="-122"/>
              </a:rPr>
              <a:t>差错报告</a:t>
            </a:r>
          </a:p>
        </p:txBody>
      </p:sp>
      <p:pic>
        <p:nvPicPr>
          <p:cNvPr id="16387"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9776" y="116632"/>
            <a:ext cx="8081121" cy="1651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id="{F59F9D54-EE13-4FED-9009-C7192FF806FC}"/>
              </a:ext>
            </a:extLst>
          </p:cNvPr>
          <p:cNvSpPr/>
          <p:nvPr/>
        </p:nvSpPr>
        <p:spPr>
          <a:xfrm>
            <a:off x="264684" y="1988840"/>
            <a:ext cx="11896213" cy="2249462"/>
          </a:xfrm>
          <a:prstGeom prst="rect">
            <a:avLst/>
          </a:prstGeom>
        </p:spPr>
        <p:txBody>
          <a:bodyPr wrap="square">
            <a:spAutoFit/>
          </a:bodyPr>
          <a:lstStyle/>
          <a:p>
            <a:pPr algn="just">
              <a:lnSpc>
                <a:spcPct val="120000"/>
              </a:lnSpc>
              <a:defRPr/>
            </a:pPr>
            <a:r>
              <a:rPr lang="zh-CN" altLang="en-US" sz="2400" dirty="0">
                <a:solidFill>
                  <a:schemeClr val="tx1"/>
                </a:solidFill>
                <a:latin typeface="微软雅黑" panose="020B0503020204020204" pitchFamily="34" charset="-122"/>
                <a:ea typeface="微软雅黑" panose="020B0503020204020204" pitchFamily="34" charset="-122"/>
              </a:rPr>
              <a:t>报告</a:t>
            </a:r>
            <a:r>
              <a:rPr lang="en-US" altLang="zh-CN" sz="2400" dirty="0">
                <a:solidFill>
                  <a:schemeClr val="tx1"/>
                </a:solidFill>
                <a:latin typeface="微软雅黑" panose="020B0503020204020204" pitchFamily="34" charset="-122"/>
                <a:ea typeface="微软雅黑" panose="020B0503020204020204" pitchFamily="34" charset="-122"/>
              </a:rPr>
              <a:t>IP</a:t>
            </a:r>
            <a:r>
              <a:rPr lang="zh-CN" altLang="en-US" sz="2400" dirty="0">
                <a:solidFill>
                  <a:schemeClr val="tx1"/>
                </a:solidFill>
                <a:latin typeface="微软雅黑" panose="020B0503020204020204" pitchFamily="34" charset="-122"/>
                <a:ea typeface="微软雅黑" panose="020B0503020204020204" pitchFamily="34" charset="-122"/>
              </a:rPr>
              <a:t>数据报在传输中的差错是</a:t>
            </a:r>
            <a:r>
              <a:rPr lang="en-US" altLang="zh-CN" sz="2400" dirty="0">
                <a:solidFill>
                  <a:schemeClr val="tx1"/>
                </a:solidFill>
                <a:latin typeface="微软雅黑" panose="020B0503020204020204" pitchFamily="34" charset="-122"/>
                <a:ea typeface="微软雅黑" panose="020B0503020204020204" pitchFamily="34" charset="-122"/>
              </a:rPr>
              <a:t>ICMP</a:t>
            </a:r>
            <a:r>
              <a:rPr lang="zh-CN" altLang="en-US" sz="2400" dirty="0">
                <a:solidFill>
                  <a:schemeClr val="tx1"/>
                </a:solidFill>
                <a:latin typeface="微软雅黑" panose="020B0503020204020204" pitchFamily="34" charset="-122"/>
                <a:ea typeface="微软雅黑" panose="020B0503020204020204" pitchFamily="34" charset="-122"/>
              </a:rPr>
              <a:t>报文最基本的功能，</a:t>
            </a:r>
            <a:r>
              <a:rPr lang="en-US" altLang="zh-CN" sz="2400" dirty="0">
                <a:solidFill>
                  <a:schemeClr val="tx1"/>
                </a:solidFill>
                <a:latin typeface="微软雅黑" panose="020B0503020204020204" pitchFamily="34" charset="-122"/>
                <a:ea typeface="微软雅黑" panose="020B0503020204020204" pitchFamily="34" charset="-122"/>
              </a:rPr>
              <a:t>ICMP</a:t>
            </a:r>
            <a:r>
              <a:rPr lang="zh-CN" altLang="en-US" sz="2400" dirty="0">
                <a:solidFill>
                  <a:schemeClr val="tx1"/>
                </a:solidFill>
                <a:latin typeface="微软雅黑" panose="020B0503020204020204" pitchFamily="34" charset="-122"/>
                <a:ea typeface="微软雅黑" panose="020B0503020204020204" pitchFamily="34" charset="-122"/>
              </a:rPr>
              <a:t>差错报文有如下特点：</a:t>
            </a:r>
            <a:endParaRPr lang="en-US" altLang="zh-CN" sz="2400" dirty="0">
              <a:solidFill>
                <a:schemeClr val="tx1"/>
              </a:solidFill>
              <a:latin typeface="微软雅黑" panose="020B0503020204020204" pitchFamily="34" charset="-122"/>
              <a:ea typeface="微软雅黑" panose="020B0503020204020204" pitchFamily="34" charset="-122"/>
            </a:endParaRPr>
          </a:p>
          <a:p>
            <a:pPr algn="just">
              <a:lnSpc>
                <a:spcPct val="120000"/>
              </a:lnSpc>
              <a:defRPr/>
            </a:pPr>
            <a:r>
              <a:rPr lang="zh-CN" altLang="en-US"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1</a:t>
            </a:r>
            <a:r>
              <a:rPr lang="zh-CN" altLang="en-US" sz="2400" dirty="0">
                <a:solidFill>
                  <a:schemeClr val="tx1"/>
                </a:solidFill>
                <a:latin typeface="微软雅黑" panose="020B0503020204020204" pitchFamily="34" charset="-122"/>
                <a:ea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rPr>
              <a:t>路由器或者目的主机抛弃数据报需要向源主机发送差报文</a:t>
            </a:r>
            <a:r>
              <a:rPr lang="zh-CN" altLang="en-US" sz="2400" dirty="0">
                <a:solidFill>
                  <a:schemeClr val="tx1"/>
                </a:solidFill>
                <a:latin typeface="微软雅黑" panose="020B0503020204020204" pitchFamily="34" charset="-122"/>
                <a:ea typeface="微软雅黑" panose="020B0503020204020204" pitchFamily="34" charset="-122"/>
              </a:rPr>
              <a:t>。</a:t>
            </a:r>
            <a:endParaRPr lang="en-US" altLang="zh-CN" sz="2400" dirty="0">
              <a:solidFill>
                <a:schemeClr val="tx1"/>
              </a:solidFill>
              <a:latin typeface="微软雅黑" panose="020B0503020204020204" pitchFamily="34" charset="-122"/>
              <a:ea typeface="微软雅黑" panose="020B0503020204020204" pitchFamily="34" charset="-122"/>
            </a:endParaRPr>
          </a:p>
          <a:p>
            <a:pPr algn="just">
              <a:lnSpc>
                <a:spcPct val="120000"/>
              </a:lnSpc>
              <a:defRPr/>
            </a:pPr>
            <a:r>
              <a:rPr lang="zh-CN" altLang="en-US"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2</a:t>
            </a:r>
            <a:r>
              <a:rPr lang="zh-CN" altLang="en-US"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ICMP</a:t>
            </a:r>
            <a:r>
              <a:rPr lang="zh-CN" altLang="en-US" sz="2400" dirty="0">
                <a:solidFill>
                  <a:schemeClr val="tx1"/>
                </a:solidFill>
                <a:latin typeface="微软雅黑" panose="020B0503020204020204" pitchFamily="34" charset="-122"/>
                <a:ea typeface="微软雅黑" panose="020B0503020204020204" pitchFamily="34" charset="-122"/>
              </a:rPr>
              <a:t>差错报文只提供</a:t>
            </a:r>
            <a:r>
              <a:rPr lang="en-US" altLang="zh-CN" sz="2400" dirty="0">
                <a:solidFill>
                  <a:schemeClr val="tx1"/>
                </a:solidFill>
                <a:latin typeface="微软雅黑" panose="020B0503020204020204" pitchFamily="34" charset="-122"/>
                <a:ea typeface="微软雅黑" panose="020B0503020204020204" pitchFamily="34" charset="-122"/>
              </a:rPr>
              <a:t>IP</a:t>
            </a:r>
            <a:r>
              <a:rPr lang="zh-CN" altLang="en-US" sz="2400" dirty="0">
                <a:solidFill>
                  <a:schemeClr val="tx1"/>
                </a:solidFill>
                <a:latin typeface="微软雅黑" panose="020B0503020204020204" pitchFamily="34" charset="-122"/>
                <a:ea typeface="微软雅黑" panose="020B0503020204020204" pitchFamily="34" charset="-122"/>
              </a:rPr>
              <a:t>数据报在传输过程中的</a:t>
            </a:r>
            <a:r>
              <a:rPr lang="zh-CN" altLang="en-US" sz="2400" dirty="0">
                <a:solidFill>
                  <a:srgbClr val="0000FF"/>
                </a:solidFill>
                <a:latin typeface="微软雅黑" panose="020B0503020204020204" pitchFamily="34" charset="-122"/>
                <a:ea typeface="微软雅黑" panose="020B0503020204020204" pitchFamily="34" charset="-122"/>
              </a:rPr>
              <a:t>差错报告，并不规定对各类差错应采取什么样的处理措施</a:t>
            </a:r>
            <a:r>
              <a:rPr lang="zh-CN" altLang="en-US" sz="2400" dirty="0">
                <a:solidFill>
                  <a:schemeClr val="tx1"/>
                </a:solidFill>
                <a:latin typeface="微软雅黑" panose="020B0503020204020204" pitchFamily="34" charset="-122"/>
                <a:ea typeface="微软雅黑" panose="020B0503020204020204" pitchFamily="34" charset="-122"/>
              </a:rPr>
              <a:t>。具体对差错的处理，由收到</a:t>
            </a:r>
            <a:r>
              <a:rPr lang="en-US" altLang="zh-CN" sz="2400" dirty="0">
                <a:solidFill>
                  <a:schemeClr val="tx1"/>
                </a:solidFill>
                <a:latin typeface="微软雅黑" panose="020B0503020204020204" pitchFamily="34" charset="-122"/>
                <a:ea typeface="微软雅黑" panose="020B0503020204020204" pitchFamily="34" charset="-122"/>
              </a:rPr>
              <a:t>ICMP</a:t>
            </a:r>
            <a:r>
              <a:rPr lang="zh-CN" altLang="en-US" sz="2400" dirty="0">
                <a:solidFill>
                  <a:schemeClr val="tx1"/>
                </a:solidFill>
                <a:latin typeface="微软雅黑" panose="020B0503020204020204" pitchFamily="34" charset="-122"/>
                <a:ea typeface="微软雅黑" panose="020B0503020204020204" pitchFamily="34" charset="-122"/>
              </a:rPr>
              <a:t>差错报文的源主机将相应的差错与应用程序联系起来才能进行相应的差错处理。</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BDD129C8-01BA-4BE4-9945-7536C734B781}"/>
              </a:ext>
            </a:extLst>
          </p:cNvPr>
          <p:cNvSpPr/>
          <p:nvPr/>
        </p:nvSpPr>
        <p:spPr>
          <a:xfrm>
            <a:off x="177783" y="4234075"/>
            <a:ext cx="11983114" cy="2270750"/>
          </a:xfrm>
          <a:prstGeom prst="rect">
            <a:avLst/>
          </a:prstGeom>
        </p:spPr>
        <p:txBody>
          <a:bodyPr wrap="square">
            <a:spAutoFit/>
          </a:bodyPr>
          <a:lstStyle/>
          <a:p>
            <a:pPr algn="just">
              <a:lnSpc>
                <a:spcPct val="120000"/>
              </a:lnSpc>
              <a:defRPr/>
            </a:pPr>
            <a:r>
              <a:rPr lang="zh-CN" altLang="en-US" sz="2400" dirty="0">
                <a:solidFill>
                  <a:srgbClr val="FF0000"/>
                </a:solidFill>
                <a:latin typeface="微软雅黑" panose="020B0503020204020204" pitchFamily="34" charset="-122"/>
                <a:ea typeface="微软雅黑" panose="020B0503020204020204" pitchFamily="34" charset="-122"/>
              </a:rPr>
              <a:t>（</a:t>
            </a:r>
            <a:r>
              <a:rPr lang="en-US" altLang="zh-CN" sz="2400" dirty="0">
                <a:solidFill>
                  <a:srgbClr val="FF0000"/>
                </a:solidFill>
                <a:latin typeface="微软雅黑" panose="020B0503020204020204" pitchFamily="34" charset="-122"/>
                <a:ea typeface="微软雅黑" panose="020B0503020204020204" pitchFamily="34" charset="-122"/>
              </a:rPr>
              <a:t>3</a:t>
            </a:r>
            <a:r>
              <a:rPr lang="zh-CN" altLang="en-US" sz="2400" dirty="0">
                <a:solidFill>
                  <a:srgbClr val="FF0000"/>
                </a:solidFill>
                <a:latin typeface="微软雅黑" panose="020B0503020204020204" pitchFamily="34" charset="-122"/>
                <a:ea typeface="微软雅黑" panose="020B0503020204020204" pitchFamily="34" charset="-122"/>
              </a:rPr>
              <a:t>）</a:t>
            </a:r>
            <a:r>
              <a:rPr lang="en-US" altLang="zh-CN" sz="2400" dirty="0">
                <a:solidFill>
                  <a:srgbClr val="FF0000"/>
                </a:solidFill>
                <a:latin typeface="微软雅黑" panose="020B0503020204020204" pitchFamily="34" charset="-122"/>
                <a:ea typeface="微软雅黑" panose="020B0503020204020204" pitchFamily="34" charset="-122"/>
              </a:rPr>
              <a:t>ICMP</a:t>
            </a:r>
            <a:r>
              <a:rPr lang="zh-CN" altLang="en-US" sz="2400" dirty="0">
                <a:solidFill>
                  <a:srgbClr val="FF0000"/>
                </a:solidFill>
                <a:latin typeface="微软雅黑" panose="020B0503020204020204" pitchFamily="34" charset="-122"/>
                <a:ea typeface="微软雅黑" panose="020B0503020204020204" pitchFamily="34" charset="-122"/>
              </a:rPr>
              <a:t>差错报文不享受任何优先权</a:t>
            </a:r>
            <a:r>
              <a:rPr lang="zh-CN" altLang="en-US" sz="2400" dirty="0">
                <a:solidFill>
                  <a:schemeClr val="tx1"/>
                </a:solidFill>
                <a:latin typeface="微软雅黑" panose="020B0503020204020204" pitchFamily="34" charset="-122"/>
                <a:ea typeface="微软雅黑" panose="020B0503020204020204" pitchFamily="34" charset="-122"/>
              </a:rPr>
              <a:t>，也没有特别的可靠性保证措施，与普通的</a:t>
            </a:r>
            <a:r>
              <a:rPr lang="en-US" altLang="zh-CN" sz="2400" dirty="0">
                <a:solidFill>
                  <a:schemeClr val="tx1"/>
                </a:solidFill>
                <a:latin typeface="微软雅黑" panose="020B0503020204020204" pitchFamily="34" charset="-122"/>
                <a:ea typeface="微软雅黑" panose="020B0503020204020204" pitchFamily="34" charset="-122"/>
              </a:rPr>
              <a:t>IP</a:t>
            </a:r>
            <a:r>
              <a:rPr lang="zh-CN" altLang="en-US" sz="2400" dirty="0">
                <a:solidFill>
                  <a:schemeClr val="tx1"/>
                </a:solidFill>
                <a:latin typeface="微软雅黑" panose="020B0503020204020204" pitchFamily="34" charset="-122"/>
                <a:ea typeface="微软雅黑" panose="020B0503020204020204" pitchFamily="34" charset="-122"/>
              </a:rPr>
              <a:t>数据报一样进行传输，传输过程中可能被丢弃、损坏，甚至被抛弃。</a:t>
            </a:r>
            <a:endParaRPr lang="en-US" altLang="zh-CN" sz="2400" dirty="0">
              <a:solidFill>
                <a:schemeClr val="tx1"/>
              </a:solidFill>
              <a:latin typeface="微软雅黑" panose="020B0503020204020204" pitchFamily="34" charset="-122"/>
              <a:ea typeface="微软雅黑" panose="020B0503020204020204" pitchFamily="34" charset="-122"/>
            </a:endParaRPr>
          </a:p>
          <a:p>
            <a:pPr algn="just">
              <a:lnSpc>
                <a:spcPct val="120000"/>
              </a:lnSpc>
              <a:defRPr/>
            </a:pPr>
            <a:r>
              <a:rPr lang="zh-CN" altLang="en-US"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4</a:t>
            </a:r>
            <a:r>
              <a:rPr lang="zh-CN" altLang="en-US" sz="2400" dirty="0">
                <a:solidFill>
                  <a:schemeClr val="tx1"/>
                </a:solidFill>
                <a:latin typeface="微软雅黑" panose="020B0503020204020204" pitchFamily="34" charset="-122"/>
                <a:ea typeface="微软雅黑" panose="020B0503020204020204" pitchFamily="34" charset="-122"/>
              </a:rPr>
              <a:t>）为了防止网络中产生大量的</a:t>
            </a:r>
            <a:r>
              <a:rPr lang="en-US" altLang="zh-CN" sz="2400" dirty="0">
                <a:solidFill>
                  <a:schemeClr val="tx1"/>
                </a:solidFill>
                <a:latin typeface="微软雅黑" panose="020B0503020204020204" pitchFamily="34" charset="-122"/>
                <a:ea typeface="微软雅黑" panose="020B0503020204020204" pitchFamily="34" charset="-122"/>
              </a:rPr>
              <a:t>ICMP</a:t>
            </a:r>
            <a:r>
              <a:rPr lang="zh-CN" altLang="en-US" sz="2400" dirty="0">
                <a:solidFill>
                  <a:schemeClr val="tx1"/>
                </a:solidFill>
                <a:latin typeface="微软雅黑" panose="020B0503020204020204" pitchFamily="34" charset="-122"/>
                <a:ea typeface="微软雅黑" panose="020B0503020204020204" pitchFamily="34" charset="-122"/>
              </a:rPr>
              <a:t>差错报文，影响网络的正常工作，有些情况下，即使发生差错，也不会差生</a:t>
            </a:r>
            <a:r>
              <a:rPr lang="en-US" altLang="zh-CN" sz="2400" dirty="0">
                <a:solidFill>
                  <a:schemeClr val="tx1"/>
                </a:solidFill>
                <a:latin typeface="微软雅黑" panose="020B0503020204020204" pitchFamily="34" charset="-122"/>
                <a:ea typeface="微软雅黑" panose="020B0503020204020204" pitchFamily="34" charset="-122"/>
              </a:rPr>
              <a:t>ICMP</a:t>
            </a:r>
            <a:r>
              <a:rPr lang="zh-CN" altLang="en-US" sz="2400" dirty="0">
                <a:solidFill>
                  <a:schemeClr val="tx1"/>
                </a:solidFill>
                <a:latin typeface="微软雅黑" panose="020B0503020204020204" pitchFamily="34" charset="-122"/>
                <a:ea typeface="微软雅黑" panose="020B0503020204020204" pitchFamily="34" charset="-122"/>
              </a:rPr>
              <a:t>差错报文，这些情况包括：</a:t>
            </a:r>
            <a:r>
              <a:rPr lang="en-US" altLang="zh-CN" sz="2400" dirty="0">
                <a:solidFill>
                  <a:srgbClr val="0070C0"/>
                </a:solidFill>
                <a:latin typeface="微软雅黑" panose="020B0503020204020204" pitchFamily="34" charset="-122"/>
                <a:ea typeface="微软雅黑" panose="020B0503020204020204" pitchFamily="34" charset="-122"/>
              </a:rPr>
              <a:t>ICMP</a:t>
            </a:r>
            <a:r>
              <a:rPr lang="zh-CN" altLang="en-US" sz="2400" dirty="0">
                <a:solidFill>
                  <a:srgbClr val="0070C0"/>
                </a:solidFill>
                <a:latin typeface="微软雅黑" panose="020B0503020204020204" pitchFamily="34" charset="-122"/>
                <a:ea typeface="微软雅黑" panose="020B0503020204020204" pitchFamily="34" charset="-122"/>
              </a:rPr>
              <a:t>报文发生错误；目的地址是广播地址或多播地址；不是</a:t>
            </a:r>
            <a:r>
              <a:rPr lang="en-US" altLang="zh-CN" sz="2400" dirty="0">
                <a:solidFill>
                  <a:srgbClr val="0070C0"/>
                </a:solidFill>
                <a:latin typeface="微软雅黑" panose="020B0503020204020204" pitchFamily="34" charset="-122"/>
                <a:ea typeface="微软雅黑" panose="020B0503020204020204" pitchFamily="34" charset="-122"/>
              </a:rPr>
              <a:t>IP</a:t>
            </a:r>
            <a:r>
              <a:rPr lang="zh-CN" altLang="en-US" sz="2400" dirty="0">
                <a:solidFill>
                  <a:srgbClr val="0070C0"/>
                </a:solidFill>
                <a:latin typeface="微软雅黑" panose="020B0503020204020204" pitchFamily="34" charset="-122"/>
                <a:ea typeface="微软雅黑" panose="020B0503020204020204" pitchFamily="34" charset="-122"/>
              </a:rPr>
              <a:t>分片的第一片；源地址不是单个主机的数据报。</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1991544" y="5265737"/>
            <a:ext cx="4183062" cy="596900"/>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9459" name="Rectangle 3"/>
          <p:cNvSpPr>
            <a:spLocks noGrp="1" noChangeArrowheads="1"/>
          </p:cNvSpPr>
          <p:nvPr>
            <p:ph type="title" idx="4294967295"/>
          </p:nvPr>
        </p:nvSpPr>
        <p:spPr>
          <a:xfrm>
            <a:off x="2179953" y="1403350"/>
            <a:ext cx="8116887" cy="839788"/>
          </a:xfrm>
        </p:spPr>
        <p:txBody>
          <a:bodyPr/>
          <a:lstStyle/>
          <a:p>
            <a:pPr eaLnBrk="1" hangingPunct="1"/>
            <a:r>
              <a:rPr lang="en-US" altLang="zh-CN" sz="2800" b="1" dirty="0">
                <a:latin typeface="微软雅黑" panose="020B0503020204020204" pitchFamily="34" charset="-122"/>
                <a:ea typeface="微软雅黑" panose="020B0503020204020204" pitchFamily="34" charset="-122"/>
              </a:rPr>
              <a:t>ICMP </a:t>
            </a:r>
            <a:r>
              <a:rPr lang="zh-CN" altLang="en-US" sz="2800" b="1" dirty="0">
                <a:latin typeface="微软雅黑" panose="020B0503020204020204" pitchFamily="34" charset="-122"/>
                <a:ea typeface="微软雅黑" panose="020B0503020204020204" pitchFamily="34" charset="-122"/>
              </a:rPr>
              <a:t>差错报告 报文格式</a:t>
            </a:r>
          </a:p>
        </p:txBody>
      </p:sp>
      <p:sp>
        <p:nvSpPr>
          <p:cNvPr id="19460" name="Rectangle 4"/>
          <p:cNvSpPr>
            <a:spLocks noChangeArrowheads="1"/>
          </p:cNvSpPr>
          <p:nvPr/>
        </p:nvSpPr>
        <p:spPr bwMode="auto">
          <a:xfrm>
            <a:off x="6053666" y="3627035"/>
            <a:ext cx="184731"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9461" name="Rectangle 5"/>
          <p:cNvSpPr>
            <a:spLocks noChangeArrowheads="1"/>
          </p:cNvSpPr>
          <p:nvPr/>
        </p:nvSpPr>
        <p:spPr bwMode="auto">
          <a:xfrm>
            <a:off x="2683694" y="5265737"/>
            <a:ext cx="3490912" cy="596900"/>
          </a:xfrm>
          <a:prstGeom prst="rect">
            <a:avLst/>
          </a:prstGeom>
          <a:solidFill>
            <a:srgbClr val="CCECFF"/>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9462" name="Line 6"/>
          <p:cNvSpPr>
            <a:spLocks noChangeShapeType="1"/>
          </p:cNvSpPr>
          <p:nvPr/>
        </p:nvSpPr>
        <p:spPr bwMode="auto">
          <a:xfrm>
            <a:off x="1991544" y="6072188"/>
            <a:ext cx="4183062" cy="20637"/>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3" name="Text Box 7"/>
          <p:cNvSpPr txBox="1">
            <a:spLocks noChangeArrowheads="1"/>
          </p:cNvSpPr>
          <p:nvPr/>
        </p:nvSpPr>
        <p:spPr bwMode="auto">
          <a:xfrm>
            <a:off x="1994719" y="5394324"/>
            <a:ext cx="6921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lnSpc>
                <a:spcPct val="80000"/>
              </a:lnSpc>
              <a:spcBef>
                <a:spcPct val="0"/>
              </a:spcBef>
              <a:buClrTx/>
              <a:buFontTx/>
              <a:buNone/>
            </a:pPr>
            <a:r>
              <a:rPr kumimoji="1" lang="zh-CN" altLang="en-US" sz="2000">
                <a:solidFill>
                  <a:srgbClr val="333399"/>
                </a:solidFill>
                <a:latin typeface="Arial" panose="020B0604020202020204" pitchFamily="34" charset="0"/>
                <a:ea typeface="黑体" panose="02010609060101010101" pitchFamily="49" charset="-122"/>
              </a:rPr>
              <a:t>首部</a:t>
            </a:r>
          </a:p>
        </p:txBody>
      </p:sp>
      <p:sp>
        <p:nvSpPr>
          <p:cNvPr id="19464" name="Line 8"/>
          <p:cNvSpPr>
            <a:spLocks noChangeShapeType="1"/>
          </p:cNvSpPr>
          <p:nvPr/>
        </p:nvSpPr>
        <p:spPr bwMode="auto">
          <a:xfrm>
            <a:off x="2683694" y="5265737"/>
            <a:ext cx="0" cy="5969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5" name="Rectangle 9"/>
          <p:cNvSpPr>
            <a:spLocks noChangeArrowheads="1"/>
          </p:cNvSpPr>
          <p:nvPr/>
        </p:nvSpPr>
        <p:spPr bwMode="auto">
          <a:xfrm>
            <a:off x="3542532" y="5921374"/>
            <a:ext cx="1120775" cy="3111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9466" name="Text Box 10"/>
          <p:cNvSpPr txBox="1">
            <a:spLocks noChangeArrowheads="1"/>
          </p:cNvSpPr>
          <p:nvPr/>
        </p:nvSpPr>
        <p:spPr bwMode="auto">
          <a:xfrm>
            <a:off x="3490144" y="5843588"/>
            <a:ext cx="12557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IP </a:t>
            </a:r>
            <a:r>
              <a:rPr kumimoji="1" lang="zh-CN" altLang="en-US" sz="2000">
                <a:solidFill>
                  <a:srgbClr val="333399"/>
                </a:solidFill>
                <a:latin typeface="Arial" panose="020B0604020202020204" pitchFamily="34" charset="0"/>
                <a:ea typeface="黑体" panose="02010609060101010101" pitchFamily="49" charset="-122"/>
              </a:rPr>
              <a:t>数据报</a:t>
            </a:r>
          </a:p>
        </p:txBody>
      </p:sp>
      <p:sp>
        <p:nvSpPr>
          <p:cNvPr id="19467" name="Rectangle 11"/>
          <p:cNvSpPr>
            <a:spLocks noChangeArrowheads="1"/>
          </p:cNvSpPr>
          <p:nvPr/>
        </p:nvSpPr>
        <p:spPr bwMode="auto">
          <a:xfrm>
            <a:off x="2683694" y="4244975"/>
            <a:ext cx="3490912" cy="595313"/>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9468" name="Rectangle 12"/>
          <p:cNvSpPr>
            <a:spLocks noChangeArrowheads="1"/>
          </p:cNvSpPr>
          <p:nvPr/>
        </p:nvSpPr>
        <p:spPr bwMode="auto">
          <a:xfrm>
            <a:off x="2683694" y="4244975"/>
            <a:ext cx="3490912" cy="595313"/>
          </a:xfrm>
          <a:prstGeom prst="rect">
            <a:avLst/>
          </a:prstGeom>
          <a:solidFill>
            <a:srgbClr val="CCECFF"/>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9469" name="Text Box 13"/>
          <p:cNvSpPr txBox="1">
            <a:spLocks noChangeArrowheads="1"/>
          </p:cNvSpPr>
          <p:nvPr/>
        </p:nvSpPr>
        <p:spPr bwMode="auto">
          <a:xfrm>
            <a:off x="2720206" y="4267200"/>
            <a:ext cx="1227138"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lnSpc>
                <a:spcPct val="80000"/>
              </a:lnSpc>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ICMP </a:t>
            </a:r>
            <a:r>
              <a:rPr kumimoji="1" lang="zh-CN" altLang="en-US" sz="2000">
                <a:solidFill>
                  <a:srgbClr val="333399"/>
                </a:solidFill>
                <a:latin typeface="Arial" panose="020B0604020202020204" pitchFamily="34" charset="0"/>
                <a:ea typeface="黑体" panose="02010609060101010101" pitchFamily="49" charset="-122"/>
              </a:rPr>
              <a:t>的</a:t>
            </a:r>
          </a:p>
          <a:p>
            <a:pPr algn="ctr" eaLnBrk="1" hangingPunct="1">
              <a:lnSpc>
                <a:spcPct val="80000"/>
              </a:lnSpc>
              <a:spcBef>
                <a:spcPct val="0"/>
              </a:spcBef>
              <a:buClrTx/>
              <a:buFontTx/>
              <a:buNone/>
            </a:pPr>
            <a:r>
              <a:rPr kumimoji="1" lang="zh-CN" altLang="en-US" sz="2000">
                <a:solidFill>
                  <a:srgbClr val="333399"/>
                </a:solidFill>
                <a:latin typeface="Arial" panose="020B0604020202020204" pitchFamily="34" charset="0"/>
                <a:ea typeface="黑体" panose="02010609060101010101" pitchFamily="49" charset="-122"/>
              </a:rPr>
              <a:t>前 </a:t>
            </a:r>
            <a:r>
              <a:rPr kumimoji="1" lang="en-US" altLang="zh-CN" sz="2000">
                <a:solidFill>
                  <a:srgbClr val="333399"/>
                </a:solidFill>
                <a:latin typeface="Arial" panose="020B0604020202020204" pitchFamily="34" charset="0"/>
                <a:ea typeface="黑体" panose="02010609060101010101" pitchFamily="49" charset="-122"/>
              </a:rPr>
              <a:t>8 </a:t>
            </a:r>
            <a:r>
              <a:rPr kumimoji="1" lang="zh-CN" altLang="en-US" sz="2000">
                <a:solidFill>
                  <a:srgbClr val="333399"/>
                </a:solidFill>
                <a:latin typeface="Arial" panose="020B0604020202020204" pitchFamily="34" charset="0"/>
                <a:ea typeface="黑体" panose="02010609060101010101" pitchFamily="49" charset="-122"/>
              </a:rPr>
              <a:t>字节</a:t>
            </a:r>
          </a:p>
        </p:txBody>
      </p:sp>
      <p:sp>
        <p:nvSpPr>
          <p:cNvPr id="19470" name="Line 14"/>
          <p:cNvSpPr>
            <a:spLocks noChangeShapeType="1"/>
          </p:cNvSpPr>
          <p:nvPr/>
        </p:nvSpPr>
        <p:spPr bwMode="auto">
          <a:xfrm>
            <a:off x="3960044" y="4244975"/>
            <a:ext cx="0" cy="5953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1" name="Text Box 15"/>
          <p:cNvSpPr txBox="1">
            <a:spLocks noChangeArrowheads="1"/>
          </p:cNvSpPr>
          <p:nvPr/>
        </p:nvSpPr>
        <p:spPr bwMode="auto">
          <a:xfrm>
            <a:off x="6180957" y="5364163"/>
            <a:ext cx="33702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zh-CN" altLang="en-US" sz="2000">
                <a:solidFill>
                  <a:srgbClr val="333399"/>
                </a:solidFill>
                <a:latin typeface="Arial" panose="020B0604020202020204" pitchFamily="34" charset="0"/>
                <a:ea typeface="黑体" panose="02010609060101010101" pitchFamily="49" charset="-122"/>
              </a:rPr>
              <a:t>装入 </a:t>
            </a:r>
            <a:r>
              <a:rPr kumimoji="1" lang="en-US" altLang="zh-CN" sz="2000">
                <a:solidFill>
                  <a:srgbClr val="333399"/>
                </a:solidFill>
                <a:latin typeface="Arial" panose="020B0604020202020204" pitchFamily="34" charset="0"/>
                <a:ea typeface="黑体" panose="02010609060101010101" pitchFamily="49" charset="-122"/>
              </a:rPr>
              <a:t>ICMP </a:t>
            </a:r>
            <a:r>
              <a:rPr kumimoji="1" lang="zh-CN" altLang="en-US" sz="2000">
                <a:solidFill>
                  <a:srgbClr val="333399"/>
                </a:solidFill>
                <a:latin typeface="Arial" panose="020B0604020202020204" pitchFamily="34" charset="0"/>
                <a:ea typeface="黑体" panose="02010609060101010101" pitchFamily="49" charset="-122"/>
              </a:rPr>
              <a:t>报文的 </a:t>
            </a:r>
            <a:r>
              <a:rPr kumimoji="1" lang="en-US" altLang="zh-CN" sz="2000">
                <a:solidFill>
                  <a:srgbClr val="333399"/>
                </a:solidFill>
                <a:latin typeface="Arial" panose="020B0604020202020204" pitchFamily="34" charset="0"/>
                <a:ea typeface="黑体" panose="02010609060101010101" pitchFamily="49" charset="-122"/>
              </a:rPr>
              <a:t>IP </a:t>
            </a:r>
            <a:r>
              <a:rPr kumimoji="1" lang="zh-CN" altLang="en-US" sz="2000">
                <a:solidFill>
                  <a:srgbClr val="333399"/>
                </a:solidFill>
                <a:latin typeface="Arial" panose="020B0604020202020204" pitchFamily="34" charset="0"/>
                <a:ea typeface="黑体" panose="02010609060101010101" pitchFamily="49" charset="-122"/>
              </a:rPr>
              <a:t>数据报</a:t>
            </a:r>
          </a:p>
        </p:txBody>
      </p:sp>
      <p:sp>
        <p:nvSpPr>
          <p:cNvPr id="19472" name="Rectangle 16"/>
          <p:cNvSpPr>
            <a:spLocks noChangeArrowheads="1"/>
          </p:cNvSpPr>
          <p:nvPr/>
        </p:nvSpPr>
        <p:spPr bwMode="auto">
          <a:xfrm>
            <a:off x="3960045" y="3222624"/>
            <a:ext cx="6046787" cy="596900"/>
          </a:xfrm>
          <a:prstGeom prst="rect">
            <a:avLst/>
          </a:prstGeom>
          <a:solidFill>
            <a:srgbClr val="FFFF99"/>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9473" name="Text Box 17"/>
          <p:cNvSpPr txBox="1">
            <a:spLocks noChangeArrowheads="1"/>
          </p:cNvSpPr>
          <p:nvPr/>
        </p:nvSpPr>
        <p:spPr bwMode="auto">
          <a:xfrm>
            <a:off x="4082282" y="3235325"/>
            <a:ext cx="1255713"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lnSpc>
                <a:spcPct val="80000"/>
              </a:lnSpc>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IP </a:t>
            </a:r>
            <a:r>
              <a:rPr kumimoji="1" lang="zh-CN" altLang="en-US" sz="2000">
                <a:solidFill>
                  <a:srgbClr val="333399"/>
                </a:solidFill>
                <a:latin typeface="Arial" panose="020B0604020202020204" pitchFamily="34" charset="0"/>
                <a:ea typeface="黑体" panose="02010609060101010101" pitchFamily="49" charset="-122"/>
              </a:rPr>
              <a:t>数据报</a:t>
            </a:r>
          </a:p>
          <a:p>
            <a:pPr algn="ctr" eaLnBrk="1" hangingPunct="1">
              <a:lnSpc>
                <a:spcPct val="80000"/>
              </a:lnSpc>
              <a:spcBef>
                <a:spcPct val="0"/>
              </a:spcBef>
              <a:buClrTx/>
              <a:buFontTx/>
              <a:buNone/>
            </a:pPr>
            <a:r>
              <a:rPr kumimoji="1" lang="zh-CN" altLang="en-US" sz="2000">
                <a:solidFill>
                  <a:srgbClr val="333399"/>
                </a:solidFill>
                <a:latin typeface="Arial" panose="020B0604020202020204" pitchFamily="34" charset="0"/>
                <a:ea typeface="黑体" panose="02010609060101010101" pitchFamily="49" charset="-122"/>
              </a:rPr>
              <a:t>首部</a:t>
            </a:r>
          </a:p>
        </p:txBody>
      </p:sp>
      <p:sp>
        <p:nvSpPr>
          <p:cNvPr id="19474" name="Line 18"/>
          <p:cNvSpPr>
            <a:spLocks noChangeShapeType="1"/>
          </p:cNvSpPr>
          <p:nvPr/>
        </p:nvSpPr>
        <p:spPr bwMode="auto">
          <a:xfrm>
            <a:off x="5577706" y="3222624"/>
            <a:ext cx="0" cy="5969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5" name="Text Box 19"/>
          <p:cNvSpPr txBox="1">
            <a:spLocks noChangeArrowheads="1"/>
          </p:cNvSpPr>
          <p:nvPr/>
        </p:nvSpPr>
        <p:spPr bwMode="auto">
          <a:xfrm>
            <a:off x="6269857" y="4356100"/>
            <a:ext cx="24114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ICMP </a:t>
            </a:r>
            <a:r>
              <a:rPr kumimoji="1" lang="zh-CN" altLang="en-US" sz="2000">
                <a:solidFill>
                  <a:srgbClr val="333399"/>
                </a:solidFill>
                <a:latin typeface="Arial" panose="020B0604020202020204" pitchFamily="34" charset="0"/>
                <a:ea typeface="黑体" panose="02010609060101010101" pitchFamily="49" charset="-122"/>
              </a:rPr>
              <a:t>差错报告报文</a:t>
            </a:r>
          </a:p>
        </p:txBody>
      </p:sp>
      <p:sp>
        <p:nvSpPr>
          <p:cNvPr id="19476" name="Text Box 20"/>
          <p:cNvSpPr txBox="1">
            <a:spLocks noChangeArrowheads="1"/>
          </p:cNvSpPr>
          <p:nvPr/>
        </p:nvSpPr>
        <p:spPr bwMode="auto">
          <a:xfrm>
            <a:off x="5547544" y="3227388"/>
            <a:ext cx="6921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lnSpc>
                <a:spcPct val="80000"/>
              </a:lnSpc>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8</a:t>
            </a:r>
          </a:p>
          <a:p>
            <a:pPr algn="ctr" eaLnBrk="1" hangingPunct="1">
              <a:lnSpc>
                <a:spcPct val="80000"/>
              </a:lnSpc>
              <a:spcBef>
                <a:spcPct val="0"/>
              </a:spcBef>
              <a:buClrTx/>
              <a:buFontTx/>
              <a:buNone/>
            </a:pPr>
            <a:r>
              <a:rPr kumimoji="1" lang="zh-CN" altLang="en-US" sz="2000">
                <a:solidFill>
                  <a:srgbClr val="333399"/>
                </a:solidFill>
                <a:latin typeface="Arial" panose="020B0604020202020204" pitchFamily="34" charset="0"/>
                <a:ea typeface="黑体" panose="02010609060101010101" pitchFamily="49" charset="-122"/>
              </a:rPr>
              <a:t>字节</a:t>
            </a:r>
          </a:p>
        </p:txBody>
      </p:sp>
      <p:sp>
        <p:nvSpPr>
          <p:cNvPr id="19477" name="Line 21"/>
          <p:cNvSpPr>
            <a:spLocks noChangeShapeType="1"/>
          </p:cNvSpPr>
          <p:nvPr/>
        </p:nvSpPr>
        <p:spPr bwMode="auto">
          <a:xfrm>
            <a:off x="6174606" y="3222624"/>
            <a:ext cx="0" cy="5969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8" name="Text Box 22"/>
          <p:cNvSpPr txBox="1">
            <a:spLocks noChangeArrowheads="1"/>
          </p:cNvSpPr>
          <p:nvPr/>
        </p:nvSpPr>
        <p:spPr bwMode="auto">
          <a:xfrm>
            <a:off x="1897882" y="3275013"/>
            <a:ext cx="20875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zh-CN" altLang="en-US" sz="2000">
                <a:solidFill>
                  <a:srgbClr val="333399"/>
                </a:solidFill>
                <a:latin typeface="Arial" panose="020B0604020202020204" pitchFamily="34" charset="0"/>
                <a:ea typeface="黑体" panose="02010609060101010101" pitchFamily="49" charset="-122"/>
              </a:rPr>
              <a:t>收到的 </a:t>
            </a:r>
            <a:r>
              <a:rPr kumimoji="1" lang="en-US" altLang="zh-CN" sz="2000">
                <a:solidFill>
                  <a:srgbClr val="333399"/>
                </a:solidFill>
                <a:latin typeface="Arial" panose="020B0604020202020204" pitchFamily="34" charset="0"/>
                <a:ea typeface="黑体" panose="02010609060101010101" pitchFamily="49" charset="-122"/>
              </a:rPr>
              <a:t>IP </a:t>
            </a:r>
            <a:r>
              <a:rPr kumimoji="1" lang="zh-CN" altLang="en-US" sz="2000">
                <a:solidFill>
                  <a:srgbClr val="333399"/>
                </a:solidFill>
                <a:latin typeface="Arial" panose="020B0604020202020204" pitchFamily="34" charset="0"/>
                <a:ea typeface="黑体" panose="02010609060101010101" pitchFamily="49" charset="-122"/>
              </a:rPr>
              <a:t>数据报</a:t>
            </a:r>
          </a:p>
        </p:txBody>
      </p:sp>
      <p:sp>
        <p:nvSpPr>
          <p:cNvPr id="19479" name="Line 23"/>
          <p:cNvSpPr>
            <a:spLocks noChangeShapeType="1"/>
          </p:cNvSpPr>
          <p:nvPr/>
        </p:nvSpPr>
        <p:spPr bwMode="auto">
          <a:xfrm>
            <a:off x="6174606" y="3819524"/>
            <a:ext cx="0" cy="42545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80" name="Line 24"/>
          <p:cNvSpPr>
            <a:spLocks noChangeShapeType="1"/>
          </p:cNvSpPr>
          <p:nvPr/>
        </p:nvSpPr>
        <p:spPr bwMode="auto">
          <a:xfrm>
            <a:off x="5577706" y="4244975"/>
            <a:ext cx="0" cy="595313"/>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81" name="Text Box 25"/>
          <p:cNvSpPr txBox="1">
            <a:spLocks noChangeArrowheads="1"/>
          </p:cNvSpPr>
          <p:nvPr/>
        </p:nvSpPr>
        <p:spPr bwMode="auto">
          <a:xfrm>
            <a:off x="4082282" y="4267200"/>
            <a:ext cx="1255713"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lnSpc>
                <a:spcPct val="80000"/>
              </a:lnSpc>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IP </a:t>
            </a:r>
            <a:r>
              <a:rPr kumimoji="1" lang="zh-CN" altLang="en-US" sz="2000">
                <a:solidFill>
                  <a:srgbClr val="333399"/>
                </a:solidFill>
                <a:latin typeface="Arial" panose="020B0604020202020204" pitchFamily="34" charset="0"/>
                <a:ea typeface="黑体" panose="02010609060101010101" pitchFamily="49" charset="-122"/>
              </a:rPr>
              <a:t>数据报</a:t>
            </a:r>
          </a:p>
          <a:p>
            <a:pPr algn="ctr" eaLnBrk="1" hangingPunct="1">
              <a:lnSpc>
                <a:spcPct val="80000"/>
              </a:lnSpc>
              <a:spcBef>
                <a:spcPct val="0"/>
              </a:spcBef>
              <a:buClrTx/>
              <a:buFontTx/>
              <a:buNone/>
            </a:pPr>
            <a:r>
              <a:rPr kumimoji="1" lang="zh-CN" altLang="en-US" sz="2000">
                <a:solidFill>
                  <a:srgbClr val="333399"/>
                </a:solidFill>
                <a:latin typeface="Arial" panose="020B0604020202020204" pitchFamily="34" charset="0"/>
                <a:ea typeface="黑体" panose="02010609060101010101" pitchFamily="49" charset="-122"/>
              </a:rPr>
              <a:t>首部</a:t>
            </a:r>
          </a:p>
        </p:txBody>
      </p:sp>
      <p:sp>
        <p:nvSpPr>
          <p:cNvPr id="19482" name="Text Box 26"/>
          <p:cNvSpPr txBox="1">
            <a:spLocks noChangeArrowheads="1"/>
          </p:cNvSpPr>
          <p:nvPr/>
        </p:nvSpPr>
        <p:spPr bwMode="auto">
          <a:xfrm>
            <a:off x="5555481" y="4267200"/>
            <a:ext cx="6921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lnSpc>
                <a:spcPct val="80000"/>
              </a:lnSpc>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8</a:t>
            </a:r>
          </a:p>
          <a:p>
            <a:pPr algn="ctr" eaLnBrk="1" hangingPunct="1">
              <a:lnSpc>
                <a:spcPct val="80000"/>
              </a:lnSpc>
              <a:spcBef>
                <a:spcPct val="0"/>
              </a:spcBef>
              <a:buClrTx/>
              <a:buFontTx/>
              <a:buNone/>
            </a:pPr>
            <a:r>
              <a:rPr kumimoji="1" lang="zh-CN" altLang="en-US" sz="2000">
                <a:solidFill>
                  <a:srgbClr val="333399"/>
                </a:solidFill>
                <a:latin typeface="Arial" panose="020B0604020202020204" pitchFamily="34" charset="0"/>
                <a:ea typeface="黑体" panose="02010609060101010101" pitchFamily="49" charset="-122"/>
              </a:rPr>
              <a:t>字节</a:t>
            </a:r>
          </a:p>
        </p:txBody>
      </p:sp>
      <p:sp>
        <p:nvSpPr>
          <p:cNvPr id="19483" name="AutoShape 27"/>
          <p:cNvSpPr>
            <a:spLocks noChangeArrowheads="1"/>
          </p:cNvSpPr>
          <p:nvPr/>
        </p:nvSpPr>
        <p:spPr bwMode="auto">
          <a:xfrm>
            <a:off x="4556945" y="3790949"/>
            <a:ext cx="255587" cy="509588"/>
          </a:xfrm>
          <a:prstGeom prst="downArrow">
            <a:avLst>
              <a:gd name="adj1" fmla="val 47222"/>
              <a:gd name="adj2" fmla="val 10301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9484" name="AutoShape 28"/>
          <p:cNvSpPr>
            <a:spLocks noChangeArrowheads="1"/>
          </p:cNvSpPr>
          <p:nvPr/>
        </p:nvSpPr>
        <p:spPr bwMode="auto">
          <a:xfrm>
            <a:off x="5777731" y="3790949"/>
            <a:ext cx="254000" cy="509588"/>
          </a:xfrm>
          <a:prstGeom prst="downArrow">
            <a:avLst>
              <a:gd name="adj1" fmla="val 47222"/>
              <a:gd name="adj2" fmla="val 10365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9485" name="Text Box 29"/>
          <p:cNvSpPr txBox="1">
            <a:spLocks noChangeArrowheads="1"/>
          </p:cNvSpPr>
          <p:nvPr/>
        </p:nvSpPr>
        <p:spPr bwMode="auto">
          <a:xfrm>
            <a:off x="3242494" y="5394324"/>
            <a:ext cx="2413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lnSpc>
                <a:spcPct val="80000"/>
              </a:lnSpc>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ICMP </a:t>
            </a:r>
            <a:r>
              <a:rPr kumimoji="1" lang="zh-CN" altLang="en-US" sz="2000">
                <a:solidFill>
                  <a:srgbClr val="333399"/>
                </a:solidFill>
                <a:latin typeface="Arial" panose="020B0604020202020204" pitchFamily="34" charset="0"/>
                <a:ea typeface="黑体" panose="02010609060101010101" pitchFamily="49" charset="-122"/>
              </a:rPr>
              <a:t>差错报告报文</a:t>
            </a:r>
          </a:p>
        </p:txBody>
      </p:sp>
      <p:sp>
        <p:nvSpPr>
          <p:cNvPr id="19486" name="Text Box 30"/>
          <p:cNvSpPr txBox="1">
            <a:spLocks noChangeArrowheads="1"/>
          </p:cNvSpPr>
          <p:nvPr/>
        </p:nvSpPr>
        <p:spPr bwMode="auto">
          <a:xfrm>
            <a:off x="6560369" y="2627313"/>
            <a:ext cx="25257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IP </a:t>
            </a:r>
            <a:r>
              <a:rPr kumimoji="1" lang="zh-CN" altLang="en-US" sz="2000">
                <a:solidFill>
                  <a:srgbClr val="333399"/>
                </a:solidFill>
                <a:latin typeface="Arial" panose="020B0604020202020204" pitchFamily="34" charset="0"/>
                <a:ea typeface="黑体" panose="02010609060101010101" pitchFamily="49" charset="-122"/>
              </a:rPr>
              <a:t>数据报的数据字段</a:t>
            </a:r>
          </a:p>
        </p:txBody>
      </p:sp>
      <p:sp>
        <p:nvSpPr>
          <p:cNvPr id="19487" name="AutoShape 31"/>
          <p:cNvSpPr>
            <a:spLocks/>
          </p:cNvSpPr>
          <p:nvPr/>
        </p:nvSpPr>
        <p:spPr bwMode="auto">
          <a:xfrm rot="5400000">
            <a:off x="7664475" y="880268"/>
            <a:ext cx="169862" cy="4343400"/>
          </a:xfrm>
          <a:prstGeom prst="leftBrace">
            <a:avLst>
              <a:gd name="adj1" fmla="val 213085"/>
              <a:gd name="adj2" fmla="val 50000"/>
            </a:avLst>
          </a:prstGeom>
          <a:noFill/>
          <a:ln w="9525">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19488" name="Line 32"/>
          <p:cNvSpPr>
            <a:spLocks noChangeShapeType="1"/>
          </p:cNvSpPr>
          <p:nvPr/>
        </p:nvSpPr>
        <p:spPr bwMode="auto">
          <a:xfrm>
            <a:off x="3960044" y="3819524"/>
            <a:ext cx="0" cy="42545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89" name="Line 33"/>
          <p:cNvSpPr>
            <a:spLocks noChangeShapeType="1"/>
          </p:cNvSpPr>
          <p:nvPr/>
        </p:nvSpPr>
        <p:spPr bwMode="auto">
          <a:xfrm>
            <a:off x="2683694" y="4840287"/>
            <a:ext cx="0" cy="42545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90" name="Line 34"/>
          <p:cNvSpPr>
            <a:spLocks noChangeShapeType="1"/>
          </p:cNvSpPr>
          <p:nvPr/>
        </p:nvSpPr>
        <p:spPr bwMode="auto">
          <a:xfrm>
            <a:off x="6174606" y="4840287"/>
            <a:ext cx="0" cy="42545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91" name="AutoShape 35"/>
          <p:cNvSpPr>
            <a:spLocks noChangeArrowheads="1"/>
          </p:cNvSpPr>
          <p:nvPr/>
        </p:nvSpPr>
        <p:spPr bwMode="auto">
          <a:xfrm>
            <a:off x="4385495" y="4814888"/>
            <a:ext cx="257175" cy="511175"/>
          </a:xfrm>
          <a:prstGeom prst="downArrow">
            <a:avLst>
              <a:gd name="adj1" fmla="val 47222"/>
              <a:gd name="adj2" fmla="val 10269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noChangeArrowheads="1"/>
          </p:cNvSpPr>
          <p:nvPr>
            <p:ph type="title" idx="4294967295"/>
          </p:nvPr>
        </p:nvSpPr>
        <p:spPr>
          <a:xfrm>
            <a:off x="119336" y="0"/>
            <a:ext cx="8116887" cy="839788"/>
          </a:xfrm>
        </p:spPr>
        <p:txBody>
          <a:bodyPr/>
          <a:lstStyle/>
          <a:p>
            <a:pPr algn="l" eaLnBrk="1" hangingPunct="1"/>
            <a:r>
              <a:rPr lang="en-US" altLang="zh-CN" sz="2800" dirty="0"/>
              <a:t>ICMP </a:t>
            </a:r>
            <a:r>
              <a:rPr lang="zh-CN" altLang="en-US" sz="2800" dirty="0"/>
              <a:t>差错报告报文</a:t>
            </a:r>
            <a:r>
              <a:rPr lang="en-US" altLang="zh-CN" sz="2800" dirty="0"/>
              <a:t>- </a:t>
            </a:r>
            <a:r>
              <a:rPr lang="zh-CN" altLang="en-US" sz="2800" dirty="0">
                <a:solidFill>
                  <a:srgbClr val="002060"/>
                </a:solidFill>
              </a:rPr>
              <a:t>类型</a:t>
            </a:r>
            <a:r>
              <a:rPr lang="en-US" altLang="zh-CN" sz="2800" dirty="0">
                <a:solidFill>
                  <a:srgbClr val="002060"/>
                </a:solidFill>
              </a:rPr>
              <a:t>3</a:t>
            </a:r>
            <a:r>
              <a:rPr lang="zh-CN" altLang="en-US" sz="2800" dirty="0">
                <a:solidFill>
                  <a:srgbClr val="002060"/>
                </a:solidFill>
              </a:rPr>
              <a:t>：终点不可达</a:t>
            </a:r>
          </a:p>
        </p:txBody>
      </p:sp>
      <p:sp>
        <p:nvSpPr>
          <p:cNvPr id="20483" name="内容占位符 2"/>
          <p:cNvSpPr>
            <a:spLocks noGrp="1" noChangeArrowheads="1"/>
          </p:cNvSpPr>
          <p:nvPr>
            <p:ph idx="1"/>
          </p:nvPr>
        </p:nvSpPr>
        <p:spPr>
          <a:xfrm>
            <a:off x="263352" y="1026623"/>
            <a:ext cx="11809312" cy="1616075"/>
          </a:xfrm>
        </p:spPr>
        <p:txBody>
          <a:bodyPr/>
          <a:lstStyle/>
          <a:p>
            <a:pPr marL="0" indent="0">
              <a:lnSpc>
                <a:spcPct val="120000"/>
              </a:lnSpc>
              <a:buNone/>
            </a:pPr>
            <a:r>
              <a:rPr lang="zh-CN" altLang="en-US" sz="2400" dirty="0">
                <a:latin typeface="微软雅黑" panose="020B0503020204020204" pitchFamily="34" charset="-122"/>
                <a:ea typeface="微软雅黑" panose="020B0503020204020204" pitchFamily="34" charset="-122"/>
                <a:sym typeface="Arial" panose="020B0604020202020204" pitchFamily="34" charset="0"/>
              </a:rPr>
              <a:t>当路由器检测到数据报无法传递到目的地时，向创建数据报的源主机发出目的地不可达报文。这报文区分：网络不通（如路由器故障），目的主机连不通（没开机），协议不可达、端口不可达、以及共</a:t>
            </a:r>
            <a:r>
              <a:rPr lang="en-US" altLang="zh-CN" sz="2400" dirty="0">
                <a:latin typeface="微软雅黑" panose="020B0503020204020204" pitchFamily="34" charset="-122"/>
                <a:ea typeface="微软雅黑" panose="020B0503020204020204" pitchFamily="34" charset="-122"/>
                <a:sym typeface="Arial" panose="020B0604020202020204" pitchFamily="34" charset="0"/>
              </a:rPr>
              <a:t>15</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种不同的情况，用不同代码表示。</a:t>
            </a:r>
            <a:endParaRPr lang="zh-CN" altLang="en-US" sz="2400" dirty="0">
              <a:latin typeface="微软雅黑" panose="020B0503020204020204" pitchFamily="34" charset="-122"/>
              <a:ea typeface="微软雅黑" panose="020B0503020204020204" pitchFamily="34" charset="-122"/>
            </a:endParaRPr>
          </a:p>
        </p:txBody>
      </p:sp>
      <p:pic>
        <p:nvPicPr>
          <p:cNvPr id="20484"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2095" y="5301208"/>
            <a:ext cx="4500569" cy="1387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5"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59496" y="2420888"/>
            <a:ext cx="7848872" cy="250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title" idx="4294967295"/>
          </p:nvPr>
        </p:nvSpPr>
        <p:spPr>
          <a:xfrm>
            <a:off x="223178" y="7938"/>
            <a:ext cx="8116888" cy="839787"/>
          </a:xfrm>
        </p:spPr>
        <p:txBody>
          <a:bodyPr/>
          <a:lstStyle/>
          <a:p>
            <a:pPr algn="l" eaLnBrk="1" hangingPunct="1"/>
            <a:r>
              <a:rPr lang="en-US" altLang="zh-CN" sz="2800" dirty="0"/>
              <a:t>ICMP </a:t>
            </a:r>
            <a:r>
              <a:rPr lang="zh-CN" altLang="en-US" sz="2800" dirty="0"/>
              <a:t>差错报告报文</a:t>
            </a:r>
            <a:r>
              <a:rPr lang="en-US" altLang="zh-CN" sz="2800" dirty="0"/>
              <a:t>-</a:t>
            </a:r>
            <a:r>
              <a:rPr lang="zh-CN" altLang="en-US" sz="2800" dirty="0">
                <a:solidFill>
                  <a:srgbClr val="002060"/>
                </a:solidFill>
              </a:rPr>
              <a:t>类型</a:t>
            </a:r>
            <a:r>
              <a:rPr lang="en-US" altLang="zh-CN" sz="2800" dirty="0">
                <a:solidFill>
                  <a:srgbClr val="002060"/>
                </a:solidFill>
              </a:rPr>
              <a:t>4:</a:t>
            </a:r>
            <a:r>
              <a:rPr lang="zh-CN" altLang="en-US" sz="2800" dirty="0">
                <a:solidFill>
                  <a:srgbClr val="002060"/>
                </a:solidFill>
              </a:rPr>
              <a:t>源点抑制</a:t>
            </a:r>
          </a:p>
        </p:txBody>
      </p:sp>
      <p:sp>
        <p:nvSpPr>
          <p:cNvPr id="21510" name="内容占位符 2"/>
          <p:cNvSpPr>
            <a:spLocks noGrp="1" noChangeArrowheads="1"/>
          </p:cNvSpPr>
          <p:nvPr>
            <p:ph idx="1"/>
          </p:nvPr>
        </p:nvSpPr>
        <p:spPr>
          <a:xfrm>
            <a:off x="231036" y="980728"/>
            <a:ext cx="11625603" cy="1584325"/>
          </a:xfrm>
          <a:solidFill>
            <a:schemeClr val="bg1"/>
          </a:solidFill>
        </p:spPr>
        <p:txBody>
          <a:bodyPr/>
          <a:lstStyle/>
          <a:p>
            <a:pPr marL="0" indent="0">
              <a:spcBef>
                <a:spcPct val="50000"/>
              </a:spcBef>
              <a:buNone/>
            </a:pPr>
            <a:r>
              <a:rPr lang="zh-CN" altLang="en-US" sz="2400"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目的：进行流量控制和拥塞控制。</a:t>
            </a:r>
          </a:p>
          <a:p>
            <a:pPr marL="0" indent="0">
              <a:spcBef>
                <a:spcPct val="50000"/>
              </a:spcBef>
              <a:buNone/>
            </a:pPr>
            <a:r>
              <a:rPr lang="zh-CN" altLang="en-US" sz="2400" dirty="0">
                <a:latin typeface="微软雅黑" panose="020B0503020204020204" pitchFamily="34" charset="-122"/>
                <a:ea typeface="微软雅黑" panose="020B0503020204020204" pitchFamily="34" charset="-122"/>
                <a:sym typeface="Arial" panose="020B0604020202020204" pitchFamily="34" charset="0"/>
              </a:rPr>
              <a:t>当路由器或者目的主机</a:t>
            </a:r>
            <a:r>
              <a:rPr lang="zh-CN" altLang="en-US" sz="2400" dirty="0">
                <a:solidFill>
                  <a:srgbClr val="0000FF"/>
                </a:solidFill>
                <a:latin typeface="微软雅黑" panose="020B0503020204020204" pitchFamily="34" charset="-122"/>
                <a:ea typeface="微软雅黑" panose="020B0503020204020204" pitchFamily="34" charset="-122"/>
                <a:sym typeface="Arial" panose="020B0604020202020204" pitchFamily="34" charset="0"/>
              </a:rPr>
              <a:t>由于拥塞丢弃数据报</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时，需要向源主机发送源抑制报文。 </a:t>
            </a:r>
            <a:endParaRPr lang="zh-CN" altLang="en-US" sz="2400" dirty="0">
              <a:latin typeface="微软雅黑" panose="020B0503020204020204" pitchFamily="34" charset="-122"/>
              <a:ea typeface="微软雅黑" panose="020B0503020204020204" pitchFamily="34" charset="-122"/>
            </a:endParaRPr>
          </a:p>
        </p:txBody>
      </p:sp>
      <p:sp>
        <p:nvSpPr>
          <p:cNvPr id="21507" name="Rectangle 4"/>
          <p:cNvSpPr>
            <a:spLocks noChangeArrowheads="1"/>
          </p:cNvSpPr>
          <p:nvPr/>
        </p:nvSpPr>
        <p:spPr bwMode="auto">
          <a:xfrm>
            <a:off x="6003635" y="3023786"/>
            <a:ext cx="184731"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pic>
        <p:nvPicPr>
          <p:cNvPr id="21509"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03512" y="2060848"/>
            <a:ext cx="6768752" cy="358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8" name="图片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4151" y="5301208"/>
            <a:ext cx="4306451"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p:cNvSpPr>
            <a:spLocks noChangeArrowheads="1"/>
          </p:cNvSpPr>
          <p:nvPr/>
        </p:nvSpPr>
        <p:spPr bwMode="auto">
          <a:xfrm>
            <a:off x="6003635" y="3023786"/>
            <a:ext cx="184731"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sp>
        <p:nvSpPr>
          <p:cNvPr id="22532" name="Rectangle 3"/>
          <p:cNvSpPr>
            <a:spLocks noGrp="1" noChangeArrowheads="1"/>
          </p:cNvSpPr>
          <p:nvPr>
            <p:ph type="title" idx="4294967295"/>
          </p:nvPr>
        </p:nvSpPr>
        <p:spPr>
          <a:xfrm>
            <a:off x="263352" y="-31033"/>
            <a:ext cx="6120680" cy="839787"/>
          </a:xfrm>
        </p:spPr>
        <p:txBody>
          <a:bodyPr/>
          <a:lstStyle/>
          <a:p>
            <a:pPr algn="l" eaLnBrk="1" hangingPunct="1"/>
            <a:r>
              <a:rPr lang="en-US" altLang="zh-CN" sz="2800" dirty="0"/>
              <a:t>ICMP </a:t>
            </a:r>
            <a:r>
              <a:rPr lang="zh-CN" altLang="en-US" sz="2800" dirty="0"/>
              <a:t>差错报告报文</a:t>
            </a:r>
            <a:r>
              <a:rPr lang="en-US" altLang="zh-CN" sz="2800" dirty="0"/>
              <a:t>-</a:t>
            </a:r>
            <a:r>
              <a:rPr lang="zh-CN" altLang="en-US" sz="2800" dirty="0">
                <a:solidFill>
                  <a:srgbClr val="002060"/>
                </a:solidFill>
              </a:rPr>
              <a:t>类型</a:t>
            </a:r>
            <a:r>
              <a:rPr lang="en-US" altLang="zh-CN" sz="2800" dirty="0">
                <a:solidFill>
                  <a:srgbClr val="002060"/>
                </a:solidFill>
              </a:rPr>
              <a:t>4:</a:t>
            </a:r>
            <a:r>
              <a:rPr lang="zh-CN" altLang="en-US" sz="2800" dirty="0">
                <a:solidFill>
                  <a:srgbClr val="002060"/>
                </a:solidFill>
              </a:rPr>
              <a:t>源点抑制</a:t>
            </a:r>
          </a:p>
        </p:txBody>
      </p:sp>
      <p:sp>
        <p:nvSpPr>
          <p:cNvPr id="4" name="内容占位符 2"/>
          <p:cNvSpPr>
            <a:spLocks noGrp="1" noChangeArrowheads="1"/>
          </p:cNvSpPr>
          <p:nvPr>
            <p:ph idx="1"/>
          </p:nvPr>
        </p:nvSpPr>
        <p:spPr>
          <a:xfrm>
            <a:off x="279260" y="946150"/>
            <a:ext cx="11708720" cy="4632325"/>
          </a:xfrm>
        </p:spPr>
        <p:txBody>
          <a:bodyPr/>
          <a:lstStyle/>
          <a:p>
            <a:pPr marL="0" indent="0">
              <a:buNone/>
              <a:defRPr/>
            </a:pPr>
            <a:r>
              <a:rPr lang="zh-CN" altLang="en-US" sz="2400" dirty="0">
                <a:latin typeface="微软雅黑" panose="020B0503020204020204" pitchFamily="34" charset="-122"/>
                <a:ea typeface="微软雅黑" panose="020B0503020204020204" pitchFamily="34" charset="-122"/>
                <a:sym typeface="Arial" panose="020B0604020202020204" pitchFamily="34" charset="0"/>
              </a:rPr>
              <a:t>下面几点要注意：</a:t>
            </a:r>
            <a:endParaRPr lang="en-US" altLang="zh-CN" sz="2400" dirty="0">
              <a:latin typeface="微软雅黑" panose="020B0503020204020204" pitchFamily="34" charset="-122"/>
              <a:ea typeface="微软雅黑" panose="020B0503020204020204" pitchFamily="34" charset="-122"/>
            </a:endParaRPr>
          </a:p>
          <a:p>
            <a:pPr>
              <a:buFont typeface="Wingdings" panose="05000000000000000000" pitchFamily="2" charset="2"/>
              <a:buChar char="l"/>
              <a:defRPr/>
            </a:pPr>
            <a:r>
              <a:rPr lang="zh-CN" altLang="en-US" sz="2400"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经受拥塞的路由器或者目的主机必须为每一个丢弃的数据报向源主机发送源站抑制报文</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a:t>
            </a:r>
            <a:endParaRPr lang="en-US" altLang="zh-CN" sz="2400" dirty="0">
              <a:latin typeface="微软雅黑" panose="020B0503020204020204" pitchFamily="34" charset="-122"/>
              <a:ea typeface="微软雅黑" panose="020B0503020204020204" pitchFamily="34" charset="-122"/>
            </a:endParaRPr>
          </a:p>
          <a:p>
            <a:pPr>
              <a:buFont typeface="Wingdings" panose="05000000000000000000" pitchFamily="2" charset="2"/>
              <a:buChar char="l"/>
              <a:defRPr/>
            </a:pPr>
            <a:r>
              <a:rPr lang="zh-CN" altLang="en-US" sz="2400" dirty="0">
                <a:latin typeface="微软雅黑" panose="020B0503020204020204" pitchFamily="34" charset="-122"/>
                <a:ea typeface="微软雅黑" panose="020B0503020204020204" pitchFamily="34" charset="-122"/>
                <a:sym typeface="Arial" panose="020B0604020202020204" pitchFamily="34" charset="0"/>
              </a:rPr>
              <a:t>没有一种机制可以告诉源站，拥塞程度已经减轻，因为可以按照原来的速率发送数据报。源站应继续降低发送速率，直到不再收到更多的源站抑制报文为止。</a:t>
            </a:r>
            <a:endParaRPr lang="en-US" altLang="zh-CN" sz="2400" dirty="0">
              <a:latin typeface="微软雅黑" panose="020B0503020204020204" pitchFamily="34" charset="-122"/>
              <a:ea typeface="微软雅黑" panose="020B0503020204020204" pitchFamily="34" charset="-122"/>
            </a:endParaRPr>
          </a:p>
          <a:p>
            <a:pPr>
              <a:buFont typeface="Wingdings" panose="05000000000000000000" pitchFamily="2" charset="2"/>
              <a:buChar char="l"/>
              <a:defRPr/>
            </a:pPr>
            <a:r>
              <a:rPr lang="zh-CN" altLang="en-US" sz="2400" dirty="0">
                <a:latin typeface="微软雅黑" panose="020B0503020204020204" pitchFamily="34" charset="-122"/>
                <a:ea typeface="微软雅黑" panose="020B0503020204020204" pitchFamily="34" charset="-122"/>
                <a:sym typeface="Arial" panose="020B0604020202020204" pitchFamily="34" charset="0"/>
              </a:rPr>
              <a:t>在一对一的通信中，每个主机可以很快地产生数据报，使得路由器和主机难于跟得上处理。这种情况下，源站抑制报文就有用处了，这些报文告诉源站要放慢发送速率。</a:t>
            </a:r>
          </a:p>
          <a:p>
            <a:pPr>
              <a:buFont typeface="Wingdings" panose="05000000000000000000" pitchFamily="2" charset="2"/>
              <a:buChar char="l"/>
              <a:defRPr/>
            </a:pPr>
            <a:r>
              <a:rPr lang="zh-CN" altLang="en-US" sz="2400" dirty="0">
                <a:latin typeface="微软雅黑" panose="020B0503020204020204" pitchFamily="34" charset="-122"/>
                <a:ea typeface="微软雅黑" panose="020B0503020204020204" pitchFamily="34" charset="-122"/>
                <a:sym typeface="Arial" panose="020B0604020202020204" pitchFamily="34" charset="0"/>
              </a:rPr>
              <a:t>而在多对一的通信中，许多个源站产生的数据报都必须由路由器或目的主机来处理。在这种情况下，有的会以低速率发送，而有的则以高速率发送，这就导致了源站抑制报文在发送后，路由器或主机并不知道哪一个源站应对拥塞负责。它可能丢弃从不非常低速率的源站法来的数据报，而没有丢弃真正产生拥塞的源站所发来的数据报。</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1344" y="3262314"/>
            <a:ext cx="8532812" cy="319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Rectangle 3"/>
          <p:cNvSpPr>
            <a:spLocks noGrp="1" noChangeArrowheads="1"/>
          </p:cNvSpPr>
          <p:nvPr>
            <p:ph type="title" idx="4294967295"/>
          </p:nvPr>
        </p:nvSpPr>
        <p:spPr>
          <a:xfrm>
            <a:off x="263352" y="-15083"/>
            <a:ext cx="8116887" cy="839788"/>
          </a:xfrm>
        </p:spPr>
        <p:txBody>
          <a:bodyPr/>
          <a:lstStyle/>
          <a:p>
            <a:pPr algn="l" eaLnBrk="1" hangingPunct="1"/>
            <a:r>
              <a:rPr lang="en-US" altLang="zh-CN" sz="2800" dirty="0"/>
              <a:t>ICMP </a:t>
            </a:r>
            <a:r>
              <a:rPr lang="zh-CN" altLang="en-US" sz="2800" dirty="0"/>
              <a:t>差错报告报文</a:t>
            </a:r>
            <a:r>
              <a:rPr lang="en-US" altLang="zh-CN" sz="2800" dirty="0"/>
              <a:t>-</a:t>
            </a:r>
            <a:r>
              <a:rPr lang="zh-CN" altLang="en-US" sz="2800" dirty="0">
                <a:solidFill>
                  <a:srgbClr val="002060"/>
                </a:solidFill>
              </a:rPr>
              <a:t>类型</a:t>
            </a:r>
            <a:r>
              <a:rPr lang="en-US" altLang="zh-CN" sz="2800" dirty="0">
                <a:solidFill>
                  <a:srgbClr val="002060"/>
                </a:solidFill>
              </a:rPr>
              <a:t>11</a:t>
            </a:r>
            <a:r>
              <a:rPr lang="zh-CN" altLang="en-US" sz="2800" dirty="0">
                <a:solidFill>
                  <a:srgbClr val="002060"/>
                </a:solidFill>
              </a:rPr>
              <a:t>：超时</a:t>
            </a:r>
          </a:p>
        </p:txBody>
      </p:sp>
      <p:sp>
        <p:nvSpPr>
          <p:cNvPr id="4" name="内容占位符 2"/>
          <p:cNvSpPr>
            <a:spLocks noGrp="1" noChangeArrowheads="1"/>
          </p:cNvSpPr>
          <p:nvPr>
            <p:ph idx="1"/>
          </p:nvPr>
        </p:nvSpPr>
        <p:spPr>
          <a:xfrm>
            <a:off x="335360" y="876495"/>
            <a:ext cx="11737304" cy="2095500"/>
          </a:xfrm>
          <a:solidFill>
            <a:schemeClr val="bg1"/>
          </a:solidFill>
        </p:spPr>
        <p:txBody>
          <a:bodyPr/>
          <a:lstStyle/>
          <a:p>
            <a:pPr marL="0" indent="0" algn="just">
              <a:lnSpc>
                <a:spcPct val="120000"/>
              </a:lnSpc>
              <a:buNone/>
              <a:defRPr/>
            </a:pPr>
            <a:r>
              <a:rPr lang="zh-CN" altLang="en-US" sz="2400"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两种情况：</a:t>
            </a:r>
          </a:p>
          <a:p>
            <a:pPr algn="just">
              <a:lnSpc>
                <a:spcPct val="120000"/>
              </a:lnSpc>
              <a:buFont typeface="Wingdings" panose="05000000000000000000" pitchFamily="2" charset="2"/>
              <a:buChar char="l"/>
              <a:defRPr/>
            </a:pPr>
            <a:r>
              <a:rPr lang="zh-CN" altLang="en-US" sz="2400"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路由器把数据报的生存时间减至零时，路由器丢弃数据报，并向源主机发送超时报文；（代码</a:t>
            </a:r>
            <a:r>
              <a:rPr lang="en-US" altLang="zh-CN" sz="2400"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0</a:t>
            </a:r>
            <a:r>
              <a:rPr lang="zh-CN" altLang="en-US" sz="2400"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a:t>
            </a:r>
          </a:p>
          <a:p>
            <a:pPr algn="just">
              <a:lnSpc>
                <a:spcPct val="120000"/>
              </a:lnSpc>
              <a:buFont typeface="Wingdings" panose="05000000000000000000" pitchFamily="2" charset="2"/>
              <a:buChar char="l"/>
              <a:defRPr/>
            </a:pPr>
            <a:r>
              <a:rPr lang="zh-CN" altLang="en-US" sz="2400"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在规定的时间内没有收到所有的分片时，它就丢弃所有的分片</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，并向源站发送超时报文。（代码</a:t>
            </a:r>
            <a:r>
              <a:rPr lang="en-US" altLang="zh-CN" sz="2400" dirty="0">
                <a:latin typeface="微软雅黑" panose="020B0503020204020204" pitchFamily="34" charset="-122"/>
                <a:ea typeface="微软雅黑" panose="020B0503020204020204" pitchFamily="34" charset="-122"/>
                <a:sym typeface="Arial" panose="020B0604020202020204" pitchFamily="34" charset="0"/>
              </a:rPr>
              <a:t>1</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a:t>
            </a:r>
            <a:endParaRPr lang="en-US" altLang="zh-CN" sz="2400" dirty="0">
              <a:latin typeface="微软雅黑" panose="020B0503020204020204" pitchFamily="34" charset="-122"/>
              <a:ea typeface="微软雅黑" panose="020B0503020204020204" pitchFamily="34" charset="-122"/>
            </a:endParaRPr>
          </a:p>
          <a:p>
            <a:pPr algn="just">
              <a:lnSpc>
                <a:spcPct val="120000"/>
              </a:lnSpc>
              <a:defRPr/>
            </a:pPr>
            <a:endParaRPr lang="zh-CN" altLang="en-US" sz="2400" dirty="0">
              <a:latin typeface="微软雅黑" panose="020B0503020204020204" pitchFamily="34" charset="-122"/>
              <a:ea typeface="微软雅黑" panose="020B0503020204020204" pitchFamily="34" charset="-122"/>
            </a:endParaRPr>
          </a:p>
        </p:txBody>
      </p:sp>
      <p:sp>
        <p:nvSpPr>
          <p:cNvPr id="23556" name="Rectangle 4"/>
          <p:cNvSpPr>
            <a:spLocks noChangeArrowheads="1"/>
          </p:cNvSpPr>
          <p:nvPr/>
        </p:nvSpPr>
        <p:spPr bwMode="auto">
          <a:xfrm>
            <a:off x="6003635" y="3023786"/>
            <a:ext cx="184731"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pic>
        <p:nvPicPr>
          <p:cNvPr id="23558" name="图片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8168" y="5524904"/>
            <a:ext cx="4398578" cy="1218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Grp="1" noChangeArrowheads="1"/>
          </p:cNvSpPr>
          <p:nvPr>
            <p:ph type="title" idx="4294967295"/>
          </p:nvPr>
        </p:nvSpPr>
        <p:spPr>
          <a:xfrm>
            <a:off x="263352" y="-30133"/>
            <a:ext cx="8116887" cy="839788"/>
          </a:xfrm>
        </p:spPr>
        <p:txBody>
          <a:bodyPr/>
          <a:lstStyle/>
          <a:p>
            <a:pPr algn="l" eaLnBrk="1" hangingPunct="1"/>
            <a:r>
              <a:rPr lang="en-US" altLang="zh-CN" sz="2800" dirty="0"/>
              <a:t>ICMP </a:t>
            </a:r>
            <a:r>
              <a:rPr lang="zh-CN" altLang="en-US" sz="2800" dirty="0"/>
              <a:t>差错报告报文</a:t>
            </a:r>
            <a:r>
              <a:rPr lang="en-US" altLang="zh-CN" sz="2800" dirty="0"/>
              <a:t>-</a:t>
            </a:r>
            <a:r>
              <a:rPr lang="zh-CN" altLang="en-US" sz="2800" dirty="0">
                <a:solidFill>
                  <a:srgbClr val="002060"/>
                </a:solidFill>
              </a:rPr>
              <a:t>类型</a:t>
            </a:r>
            <a:r>
              <a:rPr lang="en-US" altLang="zh-CN" sz="2800" dirty="0">
                <a:solidFill>
                  <a:srgbClr val="002060"/>
                </a:solidFill>
              </a:rPr>
              <a:t>12</a:t>
            </a:r>
            <a:r>
              <a:rPr lang="zh-CN" altLang="en-US" sz="2800" dirty="0">
                <a:solidFill>
                  <a:srgbClr val="002060"/>
                </a:solidFill>
              </a:rPr>
              <a:t>：参数问题</a:t>
            </a:r>
          </a:p>
        </p:txBody>
      </p:sp>
      <p:sp>
        <p:nvSpPr>
          <p:cNvPr id="24580" name="内容占位符 2"/>
          <p:cNvSpPr>
            <a:spLocks noGrp="1"/>
          </p:cNvSpPr>
          <p:nvPr>
            <p:ph idx="1"/>
          </p:nvPr>
        </p:nvSpPr>
        <p:spPr>
          <a:xfrm>
            <a:off x="263352" y="1129899"/>
            <a:ext cx="11737304" cy="792162"/>
          </a:xfrm>
        </p:spPr>
        <p:txBody>
          <a:bodyPr/>
          <a:lstStyle/>
          <a:p>
            <a:pPr marL="0" indent="0">
              <a:lnSpc>
                <a:spcPct val="120000"/>
              </a:lnSpc>
              <a:buNone/>
            </a:pPr>
            <a:r>
              <a:rPr lang="zh-CN" altLang="en-US" sz="2400" noProof="1">
                <a:solidFill>
                  <a:srgbClr val="0070C0"/>
                </a:solidFill>
                <a:latin typeface="微软雅黑" panose="020B0503020204020204" pitchFamily="34" charset="-122"/>
                <a:ea typeface="微软雅黑" panose="020B0503020204020204" pitchFamily="34" charset="-122"/>
              </a:rPr>
              <a:t>当路由器或目的主机收到数据报后，发现首部中有的字段的值不正确时，就丢弃该数据报，并向源点发送参数问题报文。</a:t>
            </a:r>
            <a:endParaRPr lang="zh-CN" altLang="zh-CN" sz="2400" noProof="1">
              <a:solidFill>
                <a:srgbClr val="0070C0"/>
              </a:solidFill>
              <a:latin typeface="微软雅黑" panose="020B0503020204020204" pitchFamily="34" charset="-122"/>
              <a:ea typeface="微软雅黑" panose="020B0503020204020204" pitchFamily="34" charset="-122"/>
            </a:endParaRPr>
          </a:p>
        </p:txBody>
      </p:sp>
      <p:sp>
        <p:nvSpPr>
          <p:cNvPr id="24579" name="Rectangle 4"/>
          <p:cNvSpPr>
            <a:spLocks noChangeArrowheads="1"/>
          </p:cNvSpPr>
          <p:nvPr/>
        </p:nvSpPr>
        <p:spPr bwMode="auto">
          <a:xfrm>
            <a:off x="6003635" y="3023786"/>
            <a:ext cx="184731"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pic>
        <p:nvPicPr>
          <p:cNvPr id="24582"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39415" y="2132856"/>
            <a:ext cx="9214121" cy="3240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1" name="图片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6040" y="5229200"/>
            <a:ext cx="5292219" cy="125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noChangeArrowheads="1"/>
          </p:cNvSpPr>
          <p:nvPr>
            <p:ph type="title" idx="4294967295"/>
          </p:nvPr>
        </p:nvSpPr>
        <p:spPr>
          <a:xfrm>
            <a:off x="191344" y="188640"/>
            <a:ext cx="6480720" cy="551755"/>
          </a:xfrm>
          <a:noFill/>
        </p:spPr>
        <p:txBody>
          <a:bodyPr/>
          <a:lstStyle/>
          <a:p>
            <a:pPr algn="l" eaLnBrk="1" hangingPunct="1"/>
            <a:r>
              <a:rPr lang="en-US" altLang="zh-CN" sz="2800" dirty="0"/>
              <a:t>ICMP </a:t>
            </a:r>
            <a:r>
              <a:rPr lang="zh-CN" altLang="en-US" sz="2800" dirty="0"/>
              <a:t>差错报告报文</a:t>
            </a:r>
            <a:r>
              <a:rPr lang="en-US" altLang="zh-CN" sz="2800" dirty="0"/>
              <a:t>-</a:t>
            </a:r>
            <a:r>
              <a:rPr lang="zh-CN" altLang="en-US" sz="2800" dirty="0">
                <a:solidFill>
                  <a:srgbClr val="002060"/>
                </a:solidFill>
              </a:rPr>
              <a:t>类型</a:t>
            </a:r>
            <a:r>
              <a:rPr lang="en-US" altLang="zh-CN" sz="2800" dirty="0">
                <a:solidFill>
                  <a:srgbClr val="002060"/>
                </a:solidFill>
              </a:rPr>
              <a:t>5</a:t>
            </a:r>
            <a:r>
              <a:rPr lang="zh-CN" altLang="en-US" sz="2800" dirty="0">
                <a:solidFill>
                  <a:srgbClr val="002060"/>
                </a:solidFill>
              </a:rPr>
              <a:t>：重定向</a:t>
            </a:r>
          </a:p>
        </p:txBody>
      </p:sp>
      <p:sp>
        <p:nvSpPr>
          <p:cNvPr id="25604" name="内容占位符 2"/>
          <p:cNvSpPr>
            <a:spLocks noGrp="1"/>
          </p:cNvSpPr>
          <p:nvPr>
            <p:ph idx="1"/>
          </p:nvPr>
        </p:nvSpPr>
        <p:spPr>
          <a:xfrm>
            <a:off x="191344" y="938213"/>
            <a:ext cx="11809312" cy="1516062"/>
          </a:xfrm>
          <a:solidFill>
            <a:schemeClr val="bg1"/>
          </a:solidFill>
        </p:spPr>
        <p:txBody>
          <a:bodyPr/>
          <a:lstStyle/>
          <a:p>
            <a:pPr marL="0" indent="0" algn="just">
              <a:lnSpc>
                <a:spcPct val="120000"/>
              </a:lnSpc>
              <a:buNone/>
            </a:pPr>
            <a:r>
              <a:rPr lang="zh-CN" altLang="en-US" sz="2400" b="1" noProof="1">
                <a:latin typeface="Times New Roman" panose="02020603050405020304" pitchFamily="18" charset="0"/>
              </a:rPr>
              <a:t>如果路由器发现发送端主机使用了次优的路径发送数据，那么它会返回一个</a:t>
            </a:r>
            <a:r>
              <a:rPr lang="en-US" altLang="zh-CN" sz="2400" b="1" noProof="1">
                <a:latin typeface="Times New Roman" panose="02020603050405020304" pitchFamily="18" charset="0"/>
              </a:rPr>
              <a:t>ICMP</a:t>
            </a:r>
            <a:r>
              <a:rPr lang="zh-CN" altLang="en-US" sz="2400" b="1" noProof="1">
                <a:latin typeface="Times New Roman" panose="02020603050405020304" pitchFamily="18" charset="0"/>
              </a:rPr>
              <a:t>重定向（</a:t>
            </a:r>
            <a:r>
              <a:rPr lang="en-US" altLang="zh-CN" sz="2400" b="1" noProof="1">
                <a:latin typeface="Times New Roman" panose="02020603050405020304" pitchFamily="18" charset="0"/>
              </a:rPr>
              <a:t>ICMP Redirect Message</a:t>
            </a:r>
            <a:r>
              <a:rPr lang="zh-CN" altLang="en-US" sz="2400" b="1" noProof="1">
                <a:latin typeface="Times New Roman" panose="02020603050405020304" pitchFamily="18" charset="0"/>
              </a:rPr>
              <a:t>）的消息给这个主机。在这个消息中包含了最合适的路由信息。路由器会通过这样的</a:t>
            </a:r>
            <a:r>
              <a:rPr lang="en-US" altLang="zh-CN" sz="2400" b="1" noProof="1">
                <a:latin typeface="Times New Roman" panose="02020603050405020304" pitchFamily="18" charset="0"/>
              </a:rPr>
              <a:t>ICMP</a:t>
            </a:r>
            <a:r>
              <a:rPr lang="zh-CN" altLang="en-US" sz="2400" b="1" noProof="1">
                <a:latin typeface="Times New Roman" panose="02020603050405020304" pitchFamily="18" charset="0"/>
              </a:rPr>
              <a:t>消息给发送端主机一个更合适的发送路由。</a:t>
            </a:r>
            <a:endParaRPr lang="zh-CN" altLang="zh-CN" sz="2400" b="1" noProof="1">
              <a:latin typeface="Times New Roman" panose="02020603050405020304" pitchFamily="18" charset="0"/>
            </a:endParaRPr>
          </a:p>
        </p:txBody>
      </p:sp>
      <p:sp>
        <p:nvSpPr>
          <p:cNvPr id="25603" name="Rectangle 4"/>
          <p:cNvSpPr>
            <a:spLocks noChangeArrowheads="1"/>
          </p:cNvSpPr>
          <p:nvPr/>
        </p:nvSpPr>
        <p:spPr bwMode="auto">
          <a:xfrm>
            <a:off x="6003635" y="3023786"/>
            <a:ext cx="184731"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endParaRPr lang="zh-CN" altLang="en-US" sz="2500">
              <a:solidFill>
                <a:schemeClr val="bg1"/>
              </a:solidFill>
              <a:latin typeface="黑体" panose="02010609060101010101" pitchFamily="49" charset="-122"/>
              <a:ea typeface="黑体" panose="02010609060101010101" pitchFamily="49" charset="-122"/>
            </a:endParaRPr>
          </a:p>
        </p:txBody>
      </p:sp>
      <p:pic>
        <p:nvPicPr>
          <p:cNvPr id="25605"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99856" y="2447926"/>
            <a:ext cx="6858000" cy="391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a:xfrm>
            <a:off x="4223792" y="2204864"/>
            <a:ext cx="3456384" cy="625475"/>
          </a:xfrm>
        </p:spPr>
        <p:txBody>
          <a:bodyPr/>
          <a:lstStyle/>
          <a:p>
            <a:pPr eaLnBrk="1" hangingPunct="1"/>
            <a:r>
              <a:rPr lang="en-US" altLang="zh-CN" sz="3400" b="1" dirty="0">
                <a:solidFill>
                  <a:srgbClr val="002060"/>
                </a:solidFill>
              </a:rPr>
              <a:t>ICMP </a:t>
            </a:r>
            <a:r>
              <a:rPr lang="zh-CN" altLang="en-US" sz="3400" b="1" dirty="0">
                <a:solidFill>
                  <a:srgbClr val="002060"/>
                </a:solidFill>
              </a:rPr>
              <a:t>询问报文</a:t>
            </a:r>
          </a:p>
        </p:txBody>
      </p:sp>
      <p:sp>
        <p:nvSpPr>
          <p:cNvPr id="26627" name="Rectangle 3"/>
          <p:cNvSpPr>
            <a:spLocks noGrp="1" noChangeArrowheads="1"/>
          </p:cNvSpPr>
          <p:nvPr>
            <p:ph idx="1"/>
          </p:nvPr>
        </p:nvSpPr>
        <p:spPr>
          <a:xfrm>
            <a:off x="3575720" y="3212976"/>
            <a:ext cx="6264696" cy="1235075"/>
          </a:xfrm>
        </p:spPr>
        <p:txBody>
          <a:bodyPr/>
          <a:lstStyle/>
          <a:p>
            <a:pPr algn="just" eaLnBrk="1" hangingPunct="1">
              <a:lnSpc>
                <a:spcPct val="120000"/>
              </a:lnSpc>
              <a:buFont typeface="Wingdings" panose="05000000000000000000" pitchFamily="2" charset="2"/>
              <a:buChar char="l"/>
            </a:pPr>
            <a:r>
              <a:rPr lang="zh-CN" altLang="en-US" sz="2800" dirty="0">
                <a:solidFill>
                  <a:srgbClr val="0070C0"/>
                </a:solidFill>
              </a:rPr>
              <a:t>回送请求和回答回答报文</a:t>
            </a:r>
            <a:endParaRPr lang="en-US" altLang="zh-CN" sz="2800" dirty="0">
              <a:solidFill>
                <a:srgbClr val="0070C0"/>
              </a:solidFill>
            </a:endParaRPr>
          </a:p>
          <a:p>
            <a:pPr algn="just" eaLnBrk="1" hangingPunct="1">
              <a:lnSpc>
                <a:spcPct val="120000"/>
              </a:lnSpc>
              <a:buFont typeface="Wingdings" panose="05000000000000000000" pitchFamily="2" charset="2"/>
              <a:buChar char="l"/>
            </a:pPr>
            <a:r>
              <a:rPr lang="zh-CN" altLang="en-US" sz="2800" dirty="0">
                <a:solidFill>
                  <a:srgbClr val="0070C0"/>
                </a:solidFill>
              </a:rPr>
              <a:t>时间戳请求和回答回答报文</a:t>
            </a:r>
            <a:endParaRPr lang="en-US" altLang="zh-CN" sz="2800" dirty="0">
              <a:solidFill>
                <a:srgbClr val="0070C0"/>
              </a:solidFill>
            </a:endParaRPr>
          </a:p>
          <a:p>
            <a:pPr algn="just" eaLnBrk="1" hangingPunct="1">
              <a:lnSpc>
                <a:spcPct val="120000"/>
              </a:lnSpc>
              <a:buFont typeface="Wingdings" panose="05000000000000000000" pitchFamily="2" charset="2"/>
              <a:buChar char="l"/>
            </a:pPr>
            <a:r>
              <a:rPr lang="zh-CN" altLang="en-US" sz="2800" dirty="0"/>
              <a:t>地址掩码请求和回答报文</a:t>
            </a:r>
            <a:endParaRPr lang="en-US" altLang="zh-CN" sz="2800" dirty="0"/>
          </a:p>
          <a:p>
            <a:pPr algn="just" eaLnBrk="1" hangingPunct="1">
              <a:lnSpc>
                <a:spcPct val="120000"/>
              </a:lnSpc>
              <a:buFont typeface="Wingdings" panose="05000000000000000000" pitchFamily="2" charset="2"/>
              <a:buChar char="l"/>
            </a:pPr>
            <a:r>
              <a:rPr lang="zh-CN" altLang="en-US" sz="2800" dirty="0"/>
              <a:t>路由器询问和通告报文</a:t>
            </a: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744760" y="-14045"/>
            <a:ext cx="8116888" cy="985838"/>
          </a:xfrm>
        </p:spPr>
        <p:txBody>
          <a:bodyPr/>
          <a:lstStyle/>
          <a:p>
            <a:pPr eaLnBrk="1" hangingPunct="1"/>
            <a:r>
              <a:rPr lang="en-US" altLang="zh-CN" sz="2800" dirty="0"/>
              <a:t>ICMP </a:t>
            </a:r>
            <a:r>
              <a:rPr lang="zh-CN" altLang="en-US" sz="2800" dirty="0"/>
              <a:t>回送请求（</a:t>
            </a:r>
            <a:r>
              <a:rPr lang="en-US" altLang="zh-CN" sz="2800" dirty="0"/>
              <a:t>8</a:t>
            </a:r>
            <a:r>
              <a:rPr lang="zh-CN" altLang="en-US" sz="2800" dirty="0"/>
              <a:t>）和回答（</a:t>
            </a:r>
            <a:r>
              <a:rPr lang="en-US" altLang="zh-CN" sz="2800" dirty="0"/>
              <a:t>0</a:t>
            </a:r>
            <a:r>
              <a:rPr lang="zh-CN" altLang="en-US" sz="2800" dirty="0"/>
              <a:t>）报文</a:t>
            </a:r>
          </a:p>
        </p:txBody>
      </p:sp>
      <p:sp>
        <p:nvSpPr>
          <p:cNvPr id="27651" name="内容占位符 2"/>
          <p:cNvSpPr>
            <a:spLocks noGrp="1" noChangeArrowheads="1"/>
          </p:cNvSpPr>
          <p:nvPr>
            <p:ph idx="1"/>
          </p:nvPr>
        </p:nvSpPr>
        <p:spPr>
          <a:xfrm>
            <a:off x="335360" y="1073149"/>
            <a:ext cx="11665296" cy="1622425"/>
          </a:xfrm>
        </p:spPr>
        <p:txBody>
          <a:bodyPr/>
          <a:lstStyle/>
          <a:p>
            <a:pPr>
              <a:lnSpc>
                <a:spcPct val="120000"/>
              </a:lnSpc>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回送请求和应答数据包用来测试从发送主机到接收主机的网络链路是否完好以及目标主机的 TCP/IP 协议是否工作正常。</a:t>
            </a:r>
          </a:p>
          <a:p>
            <a:pPr>
              <a:lnSpc>
                <a:spcPct val="120000"/>
              </a:lnSpc>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回送请求与应答数据包的格式</a:t>
            </a:r>
          </a:p>
        </p:txBody>
      </p:sp>
      <p:sp>
        <p:nvSpPr>
          <p:cNvPr id="6" name="文本框 5"/>
          <p:cNvSpPr txBox="1">
            <a:spLocks noChangeArrowheads="1"/>
          </p:cNvSpPr>
          <p:nvPr/>
        </p:nvSpPr>
        <p:spPr bwMode="auto">
          <a:xfrm>
            <a:off x="368849" y="2693439"/>
            <a:ext cx="11631807" cy="2587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defRPr/>
            </a:pPr>
            <a:r>
              <a:rPr lang="zh-CN" altLang="en-US" sz="2400" dirty="0">
                <a:solidFill>
                  <a:schemeClr val="tx1"/>
                </a:solidFill>
                <a:latin typeface="微软雅黑" panose="020B0503020204020204" pitchFamily="34" charset="-122"/>
                <a:ea typeface="微软雅黑" panose="020B0503020204020204" pitchFamily="34" charset="-122"/>
              </a:rPr>
              <a:t>其中：</a:t>
            </a:r>
          </a:p>
          <a:p>
            <a:pPr marL="469900" indent="-469900">
              <a:lnSpc>
                <a:spcPct val="130000"/>
              </a:lnSpc>
              <a:spcBef>
                <a:spcPct val="20000"/>
              </a:spcBef>
              <a:buClr>
                <a:schemeClr val="accent2"/>
              </a:buClr>
              <a:buFont typeface="Wingdings" panose="05000000000000000000" pitchFamily="2" charset="2"/>
              <a:buChar char="l"/>
              <a:defRPr/>
            </a:pPr>
            <a:r>
              <a:rPr lang="zh-CN" altLang="en-US" sz="2400" dirty="0">
                <a:solidFill>
                  <a:schemeClr val="tx1"/>
                </a:solidFill>
                <a:latin typeface="微软雅黑" panose="020B0503020204020204" pitchFamily="34" charset="-122"/>
                <a:ea typeface="微软雅黑" panose="020B0503020204020204" pitchFamily="34" charset="-122"/>
              </a:rPr>
              <a:t>可选数据字段是一个变长的字段，发送方可以用任何数据填充该字段，该字段的长度也可以为 0 。</a:t>
            </a:r>
          </a:p>
          <a:p>
            <a:pPr marL="469900" indent="-469900">
              <a:lnSpc>
                <a:spcPct val="130000"/>
              </a:lnSpc>
              <a:spcBef>
                <a:spcPct val="20000"/>
              </a:spcBef>
              <a:buClr>
                <a:schemeClr val="accent2"/>
              </a:buClr>
              <a:buFont typeface="Wingdings" panose="05000000000000000000" pitchFamily="2" charset="2"/>
              <a:buChar char="l"/>
              <a:defRPr/>
            </a:pPr>
            <a:r>
              <a:rPr lang="zh-CN" altLang="en-US" sz="2400" dirty="0">
                <a:solidFill>
                  <a:schemeClr val="tx1"/>
                </a:solidFill>
                <a:latin typeface="微软雅黑" panose="020B0503020204020204" pitchFamily="34" charset="-122"/>
                <a:ea typeface="微软雅黑" panose="020B0503020204020204" pitchFamily="34" charset="-122"/>
              </a:rPr>
              <a:t>标识和序列号字段是发送方用来匹配请求数据包和应答数据包的。可由发送方任意使用。</a:t>
            </a:r>
          </a:p>
        </p:txBody>
      </p:sp>
      <p:pic>
        <p:nvPicPr>
          <p:cNvPr id="27653"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0056" y="5100775"/>
            <a:ext cx="5381909" cy="1368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文本框 4"/>
          <p:cNvSpPr txBox="1">
            <a:spLocks noChangeArrowheads="1"/>
          </p:cNvSpPr>
          <p:nvPr/>
        </p:nvSpPr>
        <p:spPr bwMode="auto">
          <a:xfrm>
            <a:off x="263352" y="908720"/>
            <a:ext cx="11809312" cy="2925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500">
                <a:solidFill>
                  <a:schemeClr val="bg1"/>
                </a:solidFill>
                <a:latin typeface="黑体" panose="02010609060101010101" pitchFamily="49" charset="-122"/>
                <a:ea typeface="黑体" panose="02010609060101010101" pitchFamily="49" charset="-122"/>
              </a:defRPr>
            </a:lvl1pPr>
            <a:lvl2pPr marL="742950" indent="-285750">
              <a:defRPr sz="2500">
                <a:solidFill>
                  <a:schemeClr val="bg1"/>
                </a:solidFill>
                <a:latin typeface="黑体" panose="02010609060101010101" pitchFamily="49" charset="-122"/>
                <a:ea typeface="黑体" panose="02010609060101010101" pitchFamily="49" charset="-122"/>
              </a:defRPr>
            </a:lvl2pPr>
            <a:lvl3pPr marL="1143000" indent="-228600">
              <a:defRPr sz="2500">
                <a:solidFill>
                  <a:schemeClr val="bg1"/>
                </a:solidFill>
                <a:latin typeface="黑体" panose="02010609060101010101" pitchFamily="49" charset="-122"/>
                <a:ea typeface="黑体" panose="02010609060101010101" pitchFamily="49" charset="-122"/>
              </a:defRPr>
            </a:lvl3pPr>
            <a:lvl4pPr marL="1600200" indent="-228600">
              <a:defRPr sz="2500">
                <a:solidFill>
                  <a:schemeClr val="bg1"/>
                </a:solidFill>
                <a:latin typeface="黑体" panose="02010609060101010101" pitchFamily="49" charset="-122"/>
                <a:ea typeface="黑体" panose="02010609060101010101" pitchFamily="49" charset="-122"/>
              </a:defRPr>
            </a:lvl4pPr>
            <a:lvl5pPr marL="2057400" indent="-228600">
              <a:defRPr sz="2500">
                <a:solidFill>
                  <a:schemeClr val="bg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500">
                <a:solidFill>
                  <a:schemeClr val="bg1"/>
                </a:solidFill>
                <a:latin typeface="黑体" panose="02010609060101010101" pitchFamily="49" charset="-122"/>
                <a:ea typeface="黑体" panose="02010609060101010101" pitchFamily="49" charset="-122"/>
              </a:defRPr>
            </a:lvl9pPr>
          </a:lstStyle>
          <a:p>
            <a:pPr algn="just">
              <a:lnSpc>
                <a:spcPct val="130000"/>
              </a:lnSpc>
            </a:pPr>
            <a:r>
              <a:rPr lang="zh-CN" altLang="en-US" sz="2400" dirty="0">
                <a:solidFill>
                  <a:schemeClr val="tx1"/>
                </a:solidFill>
                <a:latin typeface="Arial" panose="020B0604020202020204" pitchFamily="34" charset="0"/>
                <a:ea typeface="微软雅黑" panose="020B0503020204020204" pitchFamily="34" charset="-122"/>
              </a:rPr>
              <a:t>工作过程如下：</a:t>
            </a:r>
          </a:p>
          <a:p>
            <a:pPr algn="just">
              <a:lnSpc>
                <a:spcPct val="130000"/>
              </a:lnSpc>
            </a:pPr>
            <a:r>
              <a:rPr lang="en-US" altLang="zh-CN" sz="2400" dirty="0">
                <a:solidFill>
                  <a:schemeClr val="tx1"/>
                </a:solidFill>
                <a:latin typeface="Arial" panose="020B0604020202020204" pitchFamily="34" charset="0"/>
                <a:ea typeface="微软雅黑" panose="020B0503020204020204" pitchFamily="34" charset="-122"/>
              </a:rPr>
              <a:t>1</a:t>
            </a:r>
            <a:r>
              <a:rPr lang="zh-CN" altLang="en-US" sz="2400" dirty="0">
                <a:solidFill>
                  <a:schemeClr val="tx1"/>
                </a:solidFill>
                <a:latin typeface="Arial" panose="020B0604020202020204" pitchFamily="34" charset="0"/>
                <a:ea typeface="微软雅黑" panose="020B0503020204020204" pitchFamily="34" charset="-122"/>
              </a:rPr>
              <a:t>）发送方构造一个回送请求数据包，类型是</a:t>
            </a:r>
            <a:r>
              <a:rPr lang="en-US" altLang="zh-CN" sz="2400" dirty="0">
                <a:solidFill>
                  <a:schemeClr val="tx1"/>
                </a:solidFill>
                <a:latin typeface="Arial" panose="020B0604020202020204" pitchFamily="34" charset="0"/>
                <a:ea typeface="微软雅黑" panose="020B0503020204020204" pitchFamily="34" charset="-122"/>
              </a:rPr>
              <a:t>8</a:t>
            </a:r>
            <a:r>
              <a:rPr lang="zh-CN" altLang="en-US" sz="2400" dirty="0">
                <a:solidFill>
                  <a:schemeClr val="tx1"/>
                </a:solidFill>
                <a:latin typeface="Arial" panose="020B0604020202020204" pitchFamily="34" charset="0"/>
                <a:ea typeface="微软雅黑" panose="020B0503020204020204" pitchFamily="34" charset="-122"/>
              </a:rPr>
              <a:t>，代码为</a:t>
            </a:r>
            <a:r>
              <a:rPr lang="en-US" altLang="zh-CN" sz="2400" dirty="0">
                <a:solidFill>
                  <a:schemeClr val="tx1"/>
                </a:solidFill>
                <a:latin typeface="Arial" panose="020B0604020202020204" pitchFamily="34" charset="0"/>
                <a:ea typeface="微软雅黑" panose="020B0503020204020204" pitchFamily="34" charset="-122"/>
              </a:rPr>
              <a:t>0</a:t>
            </a:r>
            <a:r>
              <a:rPr lang="zh-CN" altLang="en-US" sz="2400" dirty="0">
                <a:solidFill>
                  <a:schemeClr val="tx1"/>
                </a:solidFill>
                <a:latin typeface="Arial" panose="020B0604020202020204" pitchFamily="34" charset="0"/>
                <a:ea typeface="微软雅黑" panose="020B0503020204020204" pitchFamily="34" charset="-122"/>
              </a:rPr>
              <a:t>，它可以设置任意长度的可选数据字段，其中可以随意填写数据。</a:t>
            </a:r>
          </a:p>
          <a:p>
            <a:pPr algn="just">
              <a:lnSpc>
                <a:spcPct val="130000"/>
              </a:lnSpc>
            </a:pPr>
            <a:r>
              <a:rPr lang="en-US" altLang="zh-CN" sz="2400" dirty="0">
                <a:solidFill>
                  <a:schemeClr val="tx1"/>
                </a:solidFill>
                <a:latin typeface="Arial" panose="020B0604020202020204" pitchFamily="34" charset="0"/>
                <a:ea typeface="微软雅黑" panose="020B0503020204020204" pitchFamily="34" charset="-122"/>
              </a:rPr>
              <a:t>2</a:t>
            </a:r>
            <a:r>
              <a:rPr lang="zh-CN" altLang="en-US" sz="2400" dirty="0">
                <a:solidFill>
                  <a:schemeClr val="tx1"/>
                </a:solidFill>
                <a:latin typeface="Arial" panose="020B0604020202020204" pitchFamily="34" charset="0"/>
                <a:ea typeface="微软雅黑" panose="020B0503020204020204" pitchFamily="34" charset="-122"/>
              </a:rPr>
              <a:t>）目标主机收到该数据包后将类型字段由 8 改为 0 ，再发送给请求数据包的发送方。</a:t>
            </a:r>
          </a:p>
          <a:p>
            <a:pPr algn="just">
              <a:lnSpc>
                <a:spcPct val="130000"/>
              </a:lnSpc>
            </a:pPr>
            <a:r>
              <a:rPr lang="en-US" altLang="zh-CN" sz="2400" dirty="0">
                <a:solidFill>
                  <a:schemeClr val="tx1"/>
                </a:solidFill>
                <a:latin typeface="Arial" panose="020B0604020202020204" pitchFamily="34" charset="0"/>
                <a:ea typeface="微软雅黑" panose="020B0503020204020204" pitchFamily="34" charset="-122"/>
              </a:rPr>
              <a:t>3</a:t>
            </a:r>
            <a:r>
              <a:rPr lang="zh-CN" altLang="en-US" sz="2400" dirty="0">
                <a:solidFill>
                  <a:schemeClr val="tx1"/>
                </a:solidFill>
                <a:latin typeface="Arial" panose="020B0604020202020204" pitchFamily="34" charset="0"/>
                <a:ea typeface="微软雅黑" panose="020B0503020204020204" pitchFamily="34" charset="-122"/>
              </a:rPr>
              <a:t>）一旦请求发送方收到请求应答数据包，可以肯定：从发送方到接收方的网络通路工作正常；目标主机的 TCP/IP 协议工作正常。</a:t>
            </a:r>
          </a:p>
        </p:txBody>
      </p:sp>
      <p:pic>
        <p:nvPicPr>
          <p:cNvPr id="28676"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68008" y="4005064"/>
            <a:ext cx="5399758" cy="2376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DA877489-57BA-4B22-BDA6-58D6B17B886E}"/>
              </a:ext>
            </a:extLst>
          </p:cNvPr>
          <p:cNvSpPr txBox="1">
            <a:spLocks noChangeArrowheads="1"/>
          </p:cNvSpPr>
          <p:nvPr/>
        </p:nvSpPr>
        <p:spPr bwMode="auto">
          <a:xfrm>
            <a:off x="119336" y="-16247"/>
            <a:ext cx="8116888" cy="985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algn="l" eaLnBrk="1" hangingPunct="1"/>
            <a:r>
              <a:rPr lang="en-US" altLang="zh-CN" sz="2800" kern="0"/>
              <a:t>ICMP </a:t>
            </a:r>
            <a:r>
              <a:rPr lang="zh-CN" altLang="en-US" sz="2800" kern="0"/>
              <a:t>回送请求（</a:t>
            </a:r>
            <a:r>
              <a:rPr lang="en-US" altLang="zh-CN" sz="2800" kern="0"/>
              <a:t>8</a:t>
            </a:r>
            <a:r>
              <a:rPr lang="zh-CN" altLang="en-US" sz="2800" kern="0"/>
              <a:t>）和回答（</a:t>
            </a:r>
            <a:r>
              <a:rPr lang="en-US" altLang="zh-CN" sz="2800" kern="0"/>
              <a:t>0</a:t>
            </a:r>
            <a:r>
              <a:rPr lang="zh-CN" altLang="en-US" sz="2800" kern="0"/>
              <a:t>）报文</a:t>
            </a:r>
            <a:endParaRPr lang="zh-CN" altLang="en-US" sz="2800" kern="0" dirty="0"/>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idx="4294967295"/>
          </p:nvPr>
        </p:nvSpPr>
        <p:spPr>
          <a:xfrm>
            <a:off x="263352" y="188640"/>
            <a:ext cx="8116888" cy="626726"/>
          </a:xfrm>
        </p:spPr>
        <p:txBody>
          <a:bodyPr/>
          <a:lstStyle/>
          <a:p>
            <a:pPr algn="l" eaLnBrk="1" hangingPunct="1"/>
            <a:r>
              <a:rPr lang="en-US" altLang="zh-CN" sz="2800" dirty="0"/>
              <a:t>ICMP </a:t>
            </a:r>
            <a:r>
              <a:rPr lang="zh-CN" altLang="en-US" sz="2800" dirty="0"/>
              <a:t>时间戳请求（</a:t>
            </a:r>
            <a:r>
              <a:rPr lang="en-US" altLang="zh-CN" sz="2800" dirty="0"/>
              <a:t>13</a:t>
            </a:r>
            <a:r>
              <a:rPr lang="zh-CN" altLang="en-US" sz="2800" dirty="0"/>
              <a:t>）和回答（</a:t>
            </a:r>
            <a:r>
              <a:rPr lang="en-US" altLang="zh-CN" sz="2800" dirty="0"/>
              <a:t>14</a:t>
            </a:r>
            <a:r>
              <a:rPr lang="zh-CN" altLang="en-US" sz="2800" dirty="0"/>
              <a:t>）报文</a:t>
            </a:r>
          </a:p>
        </p:txBody>
      </p:sp>
      <p:sp>
        <p:nvSpPr>
          <p:cNvPr id="29699" name="内容占位符 2"/>
          <p:cNvSpPr>
            <a:spLocks noGrp="1" noChangeArrowheads="1"/>
          </p:cNvSpPr>
          <p:nvPr>
            <p:ph idx="1"/>
          </p:nvPr>
        </p:nvSpPr>
        <p:spPr>
          <a:xfrm>
            <a:off x="263352" y="1052736"/>
            <a:ext cx="11665296" cy="2422525"/>
          </a:xfrm>
        </p:spPr>
        <p:txBody>
          <a:bodyPr/>
          <a:lstStyle/>
          <a:p>
            <a:pPr marL="0" indent="0">
              <a:buNone/>
            </a:pPr>
            <a:r>
              <a:rPr lang="zh-CN" altLang="en-US" sz="2400" dirty="0"/>
              <a:t>目的：</a:t>
            </a:r>
          </a:p>
          <a:p>
            <a:pPr marL="0" indent="0">
              <a:buNone/>
            </a:pPr>
            <a:r>
              <a:rPr lang="zh-CN" altLang="en-US" sz="2400" dirty="0"/>
              <a:t>（</a:t>
            </a:r>
            <a:r>
              <a:rPr lang="en-US" altLang="zh-CN" sz="2400" dirty="0"/>
              <a:t>1</a:t>
            </a:r>
            <a:r>
              <a:rPr lang="zh-CN" altLang="en-US" sz="2400" dirty="0"/>
              <a:t>）用来确定</a:t>
            </a:r>
            <a:r>
              <a:rPr lang="en-US" altLang="zh-CN" sz="2400" dirty="0"/>
              <a:t>IP</a:t>
            </a:r>
            <a:r>
              <a:rPr lang="zh-CN" altLang="en-US" sz="2400" dirty="0"/>
              <a:t>数据包在这两个机器之间来回所需的往返时间</a:t>
            </a:r>
          </a:p>
          <a:p>
            <a:pPr marL="0" indent="0">
              <a:buNone/>
            </a:pPr>
            <a:r>
              <a:rPr lang="zh-CN" altLang="en-US" sz="2400" dirty="0"/>
              <a:t>（</a:t>
            </a:r>
            <a:r>
              <a:rPr lang="en-US" altLang="zh-CN" sz="2400" dirty="0"/>
              <a:t>2</a:t>
            </a:r>
            <a:r>
              <a:rPr lang="zh-CN" altLang="en-US" sz="2400" dirty="0"/>
              <a:t>）也可用于同步两个机器的时钟</a:t>
            </a:r>
          </a:p>
          <a:p>
            <a:pPr marL="0" indent="0">
              <a:buNone/>
            </a:pPr>
            <a:r>
              <a:rPr lang="zh-CN" altLang="en-US" sz="2400" dirty="0"/>
              <a:t>时间戳请求和应答报文格式如图所示</a:t>
            </a:r>
          </a:p>
        </p:txBody>
      </p:sp>
      <p:graphicFrame>
        <p:nvGraphicFramePr>
          <p:cNvPr id="6" name="Group 3"/>
          <p:cNvGraphicFramePr>
            <a:graphicFrameLocks noGrp="1"/>
          </p:cNvGraphicFramePr>
          <p:nvPr>
            <p:extLst>
              <p:ext uri="{D42A27DB-BD31-4B8C-83A1-F6EECF244321}">
                <p14:modId xmlns:p14="http://schemas.microsoft.com/office/powerpoint/2010/main" val="2125866898"/>
              </p:ext>
            </p:extLst>
          </p:nvPr>
        </p:nvGraphicFramePr>
        <p:xfrm>
          <a:off x="1847528" y="3429000"/>
          <a:ext cx="7772400" cy="2019301"/>
        </p:xfrm>
        <a:graphic>
          <a:graphicData uri="http://schemas.openxmlformats.org/drawingml/2006/table">
            <a:tbl>
              <a:tblPr/>
              <a:tblGrid>
                <a:gridCol w="22225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3924300">
                  <a:extLst>
                    <a:ext uri="{9D8B030D-6E8A-4147-A177-3AD203B41FA5}">
                      <a16:colId xmlns:a16="http://schemas.microsoft.com/office/drawing/2014/main" val="20002"/>
                    </a:ext>
                  </a:extLst>
                </a:gridCol>
              </a:tblGrid>
              <a:tr h="366220">
                <a:tc>
                  <a:txBody>
                    <a:bodyPr/>
                    <a:lstStyle/>
                    <a:p>
                      <a:pPr marL="0" marR="0" lvl="0" indent="0" algn="ctr" defTabSz="914400" rtl="0" eaLnBrk="0" fontAlgn="base" latinLnBrk="0" hangingPunct="0">
                        <a:spcBef>
                          <a:spcPct val="20000"/>
                        </a:spcBef>
                        <a:spcAft>
                          <a:spcPct val="0"/>
                        </a:spcAft>
                        <a:buClrTx/>
                        <a:buSzTx/>
                        <a:buFontTx/>
                        <a:buNone/>
                      </a:pPr>
                      <a:r>
                        <a:rPr kumimoji="0" lang="zh-CN" sz="1800" b="1" i="0" u="none" strike="noStrike" cap="none" normalizeH="0" baseline="0" dirty="0">
                          <a:ln>
                            <a:noFill/>
                          </a:ln>
                          <a:solidFill>
                            <a:srgbClr val="FF0000"/>
                          </a:solidFill>
                          <a:effectLst/>
                          <a:latin typeface="Calibri" pitchFamily="34" charset="0"/>
                          <a:ea typeface="宋体" pitchFamily="2" charset="-122"/>
                        </a:rPr>
                        <a:t>类型</a:t>
                      </a:r>
                      <a:r>
                        <a:rPr kumimoji="0" lang="zh-CN" altLang="en-US" sz="1800" b="1" i="0" u="none" strike="noStrike" cap="none" normalizeH="0" baseline="0" dirty="0">
                          <a:ln>
                            <a:noFill/>
                          </a:ln>
                          <a:solidFill>
                            <a:srgbClr val="FF0000"/>
                          </a:solidFill>
                          <a:effectLst/>
                          <a:latin typeface="Calibri" pitchFamily="34" charset="0"/>
                          <a:ea typeface="宋体" pitchFamily="2" charset="-122"/>
                        </a:rPr>
                        <a:t>（</a:t>
                      </a:r>
                      <a:r>
                        <a:rPr kumimoji="0" lang="en-US" altLang="zh-CN" sz="1800" b="1" i="0" u="none" strike="noStrike" cap="none" normalizeH="0" baseline="0" dirty="0">
                          <a:ln>
                            <a:noFill/>
                          </a:ln>
                          <a:solidFill>
                            <a:srgbClr val="FF0000"/>
                          </a:solidFill>
                          <a:effectLst/>
                          <a:latin typeface="Calibri" pitchFamily="34" charset="0"/>
                          <a:ea typeface="宋体" pitchFamily="2" charset="-122"/>
                        </a:rPr>
                        <a:t>17</a:t>
                      </a:r>
                      <a:r>
                        <a:rPr kumimoji="0" lang="zh-CN" altLang="en-US" sz="1800" b="1" i="0" u="none" strike="noStrike" cap="none" normalizeH="0" baseline="0" dirty="0">
                          <a:ln>
                            <a:noFill/>
                          </a:ln>
                          <a:solidFill>
                            <a:srgbClr val="FF0000"/>
                          </a:solidFill>
                          <a:effectLst/>
                          <a:latin typeface="Calibri" pitchFamily="34" charset="0"/>
                          <a:ea typeface="宋体" pitchFamily="2" charset="-122"/>
                        </a:rPr>
                        <a:t>或</a:t>
                      </a:r>
                      <a:r>
                        <a:rPr kumimoji="0" lang="en-US" altLang="zh-CN" sz="1800" b="1" i="0" u="none" strike="noStrike" cap="none" normalizeH="0" baseline="0" dirty="0">
                          <a:ln>
                            <a:noFill/>
                          </a:ln>
                          <a:solidFill>
                            <a:srgbClr val="FF0000"/>
                          </a:solidFill>
                          <a:effectLst/>
                          <a:latin typeface="Calibri" pitchFamily="34" charset="0"/>
                          <a:ea typeface="宋体" pitchFamily="2" charset="-122"/>
                        </a:rPr>
                        <a:t>18</a:t>
                      </a:r>
                      <a:r>
                        <a:rPr kumimoji="0" lang="zh-CN" altLang="en-US" sz="1800" b="1" i="0" u="none" strike="noStrike" cap="none" normalizeH="0" baseline="0" dirty="0">
                          <a:ln>
                            <a:noFill/>
                          </a:ln>
                          <a:solidFill>
                            <a:srgbClr val="FF0000"/>
                          </a:solidFill>
                          <a:effectLst/>
                          <a:latin typeface="Calibri" pitchFamily="34" charset="0"/>
                          <a:ea typeface="宋体" pitchFamily="2" charset="-122"/>
                        </a:rPr>
                        <a:t>）</a:t>
                      </a:r>
                      <a:endParaRPr kumimoji="0" lang="zh-CN" sz="1800" b="1" i="0" u="none" strike="noStrike" cap="none" normalizeH="0" baseline="0" dirty="0">
                        <a:ln>
                          <a:noFill/>
                        </a:ln>
                        <a:solidFill>
                          <a:srgbClr val="FF0000"/>
                        </a:solidFill>
                        <a:effectLst/>
                        <a:latin typeface="Calibri" pitchFamily="34" charset="0"/>
                        <a:ea typeface="宋体" pitchFamily="2" charset="-122"/>
                      </a:endParaRPr>
                    </a:p>
                  </a:txBody>
                  <a:tcPr marT="45778" marB="45778" horzOverflow="overflow">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25400" cap="flat" cmpd="sng" algn="ctr">
                      <a:solidFill>
                        <a:srgbClr val="C0504D"/>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spcBef>
                          <a:spcPct val="20000"/>
                        </a:spcBef>
                        <a:spcAft>
                          <a:spcPct val="0"/>
                        </a:spcAft>
                        <a:buClrTx/>
                        <a:buSzTx/>
                        <a:buFontTx/>
                        <a:buNone/>
                      </a:pPr>
                      <a:r>
                        <a:rPr kumimoji="0" lang="zh-CN" altLang="zh-CN" sz="1800" b="1" i="0" u="none" strike="noStrike" cap="none" normalizeH="0" baseline="0">
                          <a:ln>
                            <a:noFill/>
                          </a:ln>
                          <a:solidFill>
                            <a:srgbClr val="FF0000"/>
                          </a:solidFill>
                          <a:effectLst/>
                          <a:latin typeface="Calibri" pitchFamily="34" charset="0"/>
                          <a:ea typeface="宋体" pitchFamily="2" charset="-122"/>
                        </a:rPr>
                        <a:t> </a:t>
                      </a:r>
                      <a:r>
                        <a:rPr kumimoji="0" lang="zh-CN" sz="1800" b="1" i="0" u="none" strike="noStrike" cap="none" normalizeH="0" baseline="0">
                          <a:ln>
                            <a:noFill/>
                          </a:ln>
                          <a:solidFill>
                            <a:srgbClr val="FF0000"/>
                          </a:solidFill>
                          <a:effectLst/>
                          <a:latin typeface="Calibri" pitchFamily="34" charset="0"/>
                          <a:ea typeface="宋体" pitchFamily="2" charset="-122"/>
                        </a:rPr>
                        <a:t>代码（</a:t>
                      </a:r>
                      <a:r>
                        <a:rPr kumimoji="0" lang="zh-CN" altLang="zh-CN" sz="1800" b="1" i="0" u="none" strike="noStrike" cap="none" normalizeH="0" baseline="0">
                          <a:ln>
                            <a:noFill/>
                          </a:ln>
                          <a:solidFill>
                            <a:srgbClr val="FF0000"/>
                          </a:solidFill>
                          <a:effectLst/>
                          <a:latin typeface="Calibri" pitchFamily="34" charset="0"/>
                          <a:ea typeface="宋体" pitchFamily="2" charset="-122"/>
                        </a:rPr>
                        <a:t>0</a:t>
                      </a:r>
                      <a:r>
                        <a:rPr kumimoji="0" lang="zh-CN" sz="1800" b="1" i="0" u="none" strike="noStrike" cap="none" normalizeH="0" baseline="0">
                          <a:ln>
                            <a:noFill/>
                          </a:ln>
                          <a:solidFill>
                            <a:srgbClr val="FF0000"/>
                          </a:solidFill>
                          <a:effectLst/>
                          <a:latin typeface="Calibri" pitchFamily="34" charset="0"/>
                          <a:ea typeface="宋体" pitchFamily="2" charset="-122"/>
                        </a:rPr>
                        <a:t>）</a:t>
                      </a:r>
                    </a:p>
                  </a:txBody>
                  <a:tcPr marT="45778" marB="45778" horzOverflow="overflow">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25400" cap="flat" cmpd="sng" algn="ctr">
                      <a:solidFill>
                        <a:srgbClr val="C0504D"/>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spcBef>
                          <a:spcPct val="20000"/>
                        </a:spcBef>
                        <a:spcAft>
                          <a:spcPct val="0"/>
                        </a:spcAft>
                        <a:buClrTx/>
                        <a:buSzTx/>
                        <a:buFontTx/>
                        <a:buNone/>
                      </a:pPr>
                      <a:r>
                        <a:rPr kumimoji="0" lang="zh-CN" sz="1800" b="1" i="0" u="none" strike="noStrike" cap="none" normalizeH="0" baseline="0">
                          <a:ln>
                            <a:noFill/>
                          </a:ln>
                          <a:solidFill>
                            <a:srgbClr val="FF0000"/>
                          </a:solidFill>
                          <a:effectLst/>
                          <a:latin typeface="Calibri" pitchFamily="34" charset="0"/>
                          <a:ea typeface="宋体" pitchFamily="2" charset="-122"/>
                        </a:rPr>
                        <a:t>检验和</a:t>
                      </a:r>
                    </a:p>
                  </a:txBody>
                  <a:tcPr marT="45778" marB="45778" horzOverflow="overflow">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25400" cap="flat" cmpd="sng" algn="ctr">
                      <a:solidFill>
                        <a:srgbClr val="C0504D"/>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367175">
                <a:tc gridSpan="2">
                  <a:txBody>
                    <a:bodyPr/>
                    <a:lstStyle/>
                    <a:p>
                      <a:pPr marL="0" marR="0" lvl="0" indent="0" algn="ctr" defTabSz="914400" rtl="0" eaLnBrk="0" fontAlgn="base" latinLnBrk="0" hangingPunct="0">
                        <a:spcBef>
                          <a:spcPct val="20000"/>
                        </a:spcBef>
                        <a:spcAft>
                          <a:spcPct val="0"/>
                        </a:spcAft>
                        <a:buClrTx/>
                        <a:buSzTx/>
                        <a:buFontTx/>
                        <a:buNone/>
                      </a:pPr>
                      <a:r>
                        <a:rPr kumimoji="0" lang="zh-CN" sz="1800" b="1" i="0" u="none" strike="noStrike" cap="none" normalizeH="0" baseline="0" dirty="0">
                          <a:ln>
                            <a:noFill/>
                          </a:ln>
                          <a:solidFill>
                            <a:srgbClr val="FF0000"/>
                          </a:solidFill>
                          <a:effectLst/>
                          <a:latin typeface="Calibri" pitchFamily="34" charset="0"/>
                          <a:ea typeface="宋体" pitchFamily="2" charset="-122"/>
                        </a:rPr>
                        <a:t>标识符</a:t>
                      </a:r>
                    </a:p>
                  </a:txBody>
                  <a:tcPr marT="45778" marB="45778" horzOverflow="overflow">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254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lnTlToBr>
                      <a:noFill/>
                    </a:lnTlToBr>
                    <a:lnBlToTr>
                      <a:noFill/>
                    </a:lnBlToTr>
                    <a:solidFill>
                      <a:srgbClr val="FFFFFF">
                        <a:alpha val="20000"/>
                      </a:srgbClr>
                    </a:solidFill>
                  </a:tcPr>
                </a:tc>
                <a:tc hMerge="1">
                  <a:txBody>
                    <a:bodyPr/>
                    <a:lstStyle/>
                    <a:p>
                      <a:endParaRPr lang="zh-CN"/>
                    </a:p>
                  </a:txBody>
                  <a:tcPr/>
                </a:tc>
                <a:tc>
                  <a:txBody>
                    <a:bodyPr/>
                    <a:lstStyle/>
                    <a:p>
                      <a:pPr marL="0" marR="0" lvl="0" indent="0" algn="ctr" defTabSz="914400" rtl="0" eaLnBrk="0" fontAlgn="base" latinLnBrk="0" hangingPunct="0">
                        <a:spcBef>
                          <a:spcPct val="20000"/>
                        </a:spcBef>
                        <a:spcAft>
                          <a:spcPct val="0"/>
                        </a:spcAft>
                        <a:buClrTx/>
                        <a:buSzTx/>
                        <a:buFontTx/>
                        <a:buNone/>
                      </a:pPr>
                      <a:r>
                        <a:rPr kumimoji="0" lang="zh-CN" sz="1800" b="1" i="0" u="none" strike="noStrike" cap="none" normalizeH="0" baseline="0" dirty="0">
                          <a:ln>
                            <a:noFill/>
                          </a:ln>
                          <a:solidFill>
                            <a:srgbClr val="FF0000"/>
                          </a:solidFill>
                          <a:effectLst/>
                          <a:latin typeface="Calibri" pitchFamily="34" charset="0"/>
                          <a:ea typeface="宋体" pitchFamily="2" charset="-122"/>
                        </a:rPr>
                        <a:t>序列号</a:t>
                      </a:r>
                    </a:p>
                  </a:txBody>
                  <a:tcPr marT="45778" marB="45778" horzOverflow="overflow">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254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lnTlToBr>
                      <a:noFill/>
                    </a:lnTlToBr>
                    <a:lnBlToTr>
                      <a:noFill/>
                    </a:lnBlToTr>
                    <a:solidFill>
                      <a:srgbClr val="FFFFFF">
                        <a:alpha val="20000"/>
                      </a:srgbClr>
                    </a:solidFill>
                  </a:tcPr>
                </a:tc>
                <a:extLst>
                  <a:ext uri="{0D108BD9-81ED-4DB2-BD59-A6C34878D82A}">
                    <a16:rowId xmlns:a16="http://schemas.microsoft.com/office/drawing/2014/main" val="10001"/>
                  </a:ext>
                </a:extLst>
              </a:tr>
              <a:tr h="421218">
                <a:tc gridSpan="3">
                  <a:txBody>
                    <a:bodyPr/>
                    <a:lstStyle/>
                    <a:p>
                      <a:pPr marL="0" marR="0" lvl="0" indent="0" algn="ctr" defTabSz="914400" rtl="0" eaLnBrk="0" fontAlgn="base" latinLnBrk="0" hangingPunct="0">
                        <a:spcBef>
                          <a:spcPct val="20000"/>
                        </a:spcBef>
                        <a:spcAft>
                          <a:spcPct val="0"/>
                        </a:spcAft>
                        <a:buClrTx/>
                        <a:buSzTx/>
                        <a:buFontTx/>
                        <a:buNone/>
                      </a:pPr>
                      <a:r>
                        <a:rPr kumimoji="0" lang="zh-CN" sz="1800" b="1" i="0" u="none" strike="noStrike" cap="none" normalizeH="0" baseline="0" dirty="0">
                          <a:ln>
                            <a:noFill/>
                          </a:ln>
                          <a:solidFill>
                            <a:srgbClr val="0000FF"/>
                          </a:solidFill>
                          <a:effectLst/>
                          <a:latin typeface="Calibri" pitchFamily="34" charset="0"/>
                          <a:ea typeface="宋体" pitchFamily="2" charset="-122"/>
                        </a:rPr>
                        <a:t>发起时间戳</a:t>
                      </a:r>
                    </a:p>
                  </a:txBody>
                  <a:tcPr marT="45778" marB="45778" horzOverflow="overflow">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r h="432344">
                <a:tc gridSpan="3">
                  <a:txBody>
                    <a:bodyPr/>
                    <a:lstStyle/>
                    <a:p>
                      <a:pPr marL="0" marR="0" lvl="0" indent="0" algn="ctr" defTabSz="914400" rtl="0" eaLnBrk="0" fontAlgn="base" latinLnBrk="0" hangingPunct="0">
                        <a:spcBef>
                          <a:spcPct val="20000"/>
                        </a:spcBef>
                        <a:spcAft>
                          <a:spcPct val="0"/>
                        </a:spcAft>
                        <a:buClrTx/>
                        <a:buSzTx/>
                        <a:buFontTx/>
                        <a:buNone/>
                      </a:pPr>
                      <a:r>
                        <a:rPr kumimoji="0" lang="zh-CN" sz="1800" b="1" i="0" u="none" strike="noStrike" cap="none" normalizeH="0" baseline="0" dirty="0">
                          <a:ln>
                            <a:noFill/>
                          </a:ln>
                          <a:solidFill>
                            <a:srgbClr val="0000FF"/>
                          </a:solidFill>
                          <a:effectLst/>
                          <a:latin typeface="Calibri" pitchFamily="34" charset="0"/>
                          <a:ea typeface="宋体" pitchFamily="2" charset="-122"/>
                        </a:rPr>
                        <a:t>接收时间戳</a:t>
                      </a:r>
                    </a:p>
                  </a:txBody>
                  <a:tcPr marT="45778" marB="45778" horzOverflow="overflow">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3"/>
                  </a:ext>
                </a:extLst>
              </a:tr>
              <a:tr h="432344">
                <a:tc gridSpan="3">
                  <a:txBody>
                    <a:bodyPr/>
                    <a:lstStyle/>
                    <a:p>
                      <a:pPr marL="0" marR="0" lvl="0" indent="0" algn="ctr" defTabSz="914400" rtl="0" eaLnBrk="0" fontAlgn="base" latinLnBrk="0" hangingPunct="0">
                        <a:spcBef>
                          <a:spcPct val="20000"/>
                        </a:spcBef>
                        <a:spcAft>
                          <a:spcPct val="0"/>
                        </a:spcAft>
                        <a:buClrTx/>
                        <a:buSzTx/>
                        <a:buFontTx/>
                        <a:buNone/>
                      </a:pPr>
                      <a:r>
                        <a:rPr kumimoji="0" lang="zh-CN" altLang="en-US" sz="1800" b="1" i="0" u="none" strike="noStrike" cap="none" normalizeH="0" baseline="0" dirty="0">
                          <a:ln>
                            <a:noFill/>
                          </a:ln>
                          <a:solidFill>
                            <a:srgbClr val="0000FF"/>
                          </a:solidFill>
                          <a:effectLst/>
                          <a:latin typeface="Calibri" pitchFamily="34" charset="0"/>
                          <a:ea typeface="宋体" pitchFamily="2" charset="-122"/>
                        </a:rPr>
                        <a:t>回传</a:t>
                      </a:r>
                      <a:r>
                        <a:rPr kumimoji="0" lang="zh-CN" sz="1800" b="1" i="0" u="none" strike="noStrike" cap="none" normalizeH="0" baseline="0" dirty="0">
                          <a:ln>
                            <a:noFill/>
                          </a:ln>
                          <a:solidFill>
                            <a:srgbClr val="0000FF"/>
                          </a:solidFill>
                          <a:effectLst/>
                          <a:latin typeface="Calibri" pitchFamily="34" charset="0"/>
                          <a:ea typeface="宋体" pitchFamily="2" charset="-122"/>
                        </a:rPr>
                        <a:t>时间戳</a:t>
                      </a:r>
                    </a:p>
                  </a:txBody>
                  <a:tcPr marT="45778" marB="45778" horzOverflow="overflow">
                    <a:lnL w="12700" cap="flat" cmpd="sng" algn="ctr">
                      <a:solidFill>
                        <a:srgbClr val="C0504D"/>
                      </a:solidFill>
                      <a:prstDash val="solid"/>
                      <a:round/>
                      <a:headEnd type="none" w="med" len="med"/>
                      <a:tailEnd type="none" w="med" len="med"/>
                    </a:lnL>
                    <a:lnR w="12700" cap="flat" cmpd="sng" algn="ctr">
                      <a:solidFill>
                        <a:srgbClr val="C0504D"/>
                      </a:solidFill>
                      <a:prstDash val="solid"/>
                      <a:round/>
                      <a:headEnd type="none" w="med" len="med"/>
                      <a:tailEnd type="none" w="med" len="med"/>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lnTlToBr>
                      <a:noFill/>
                    </a:lnTlToBr>
                    <a:lnBlToTr>
                      <a:noFill/>
                    </a:lnBlToTr>
                    <a:solidFill>
                      <a:srgbClr val="FFFFFF"/>
                    </a:solidFill>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4"/>
                  </a:ext>
                </a:extLst>
              </a:tr>
            </a:tbl>
          </a:graphicData>
        </a:graphic>
      </p:graphicFrame>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2"/>
          <p:cNvSpPr>
            <a:spLocks noGrp="1" noChangeArrowheads="1"/>
          </p:cNvSpPr>
          <p:nvPr>
            <p:ph type="title" idx="4294967295"/>
          </p:nvPr>
        </p:nvSpPr>
        <p:spPr>
          <a:xfrm>
            <a:off x="191344" y="116632"/>
            <a:ext cx="8424936" cy="695325"/>
          </a:xfrm>
        </p:spPr>
        <p:txBody>
          <a:bodyPr/>
          <a:lstStyle/>
          <a:p>
            <a:pPr algn="l" eaLnBrk="1" hangingPunct="1">
              <a:lnSpc>
                <a:spcPct val="90000"/>
              </a:lnSpc>
            </a:pPr>
            <a:r>
              <a:rPr lang="en-US" altLang="zh-CN" sz="2800" dirty="0">
                <a:solidFill>
                  <a:srgbClr val="0070C0"/>
                </a:solidFill>
                <a:latin typeface="微软雅黑" panose="020B0503020204020204" pitchFamily="34" charset="-122"/>
                <a:ea typeface="微软雅黑" panose="020B0503020204020204" pitchFamily="34" charset="-122"/>
              </a:rPr>
              <a:t>ICMP</a:t>
            </a:r>
            <a:r>
              <a:rPr lang="zh-CN" altLang="en-US" sz="2800" dirty="0">
                <a:solidFill>
                  <a:srgbClr val="0070C0"/>
                </a:solidFill>
                <a:latin typeface="微软雅黑" panose="020B0503020204020204" pitchFamily="34" charset="-122"/>
                <a:ea typeface="微软雅黑" panose="020B0503020204020204" pitchFamily="34" charset="-122"/>
              </a:rPr>
              <a:t>的应用：分组网间探测</a:t>
            </a:r>
            <a:r>
              <a:rPr lang="en-US" altLang="zh-CN" sz="2800" dirty="0">
                <a:solidFill>
                  <a:srgbClr val="0070C0"/>
                </a:solidFill>
                <a:latin typeface="微软雅黑" panose="020B0503020204020204" pitchFamily="34" charset="-122"/>
                <a:ea typeface="微软雅黑" panose="020B0503020204020204" pitchFamily="34" charset="-122"/>
              </a:rPr>
              <a:t>PING</a:t>
            </a:r>
            <a:endParaRPr lang="zh-CN" altLang="en-US" sz="2800" dirty="0">
              <a:solidFill>
                <a:srgbClr val="0070C0"/>
              </a:solidFill>
              <a:latin typeface="微软雅黑" panose="020B0503020204020204" pitchFamily="34" charset="-122"/>
              <a:ea typeface="微软雅黑" panose="020B0503020204020204" pitchFamily="34" charset="-122"/>
            </a:endParaRPr>
          </a:p>
        </p:txBody>
      </p:sp>
      <p:sp>
        <p:nvSpPr>
          <p:cNvPr id="4" name="矩形 3"/>
          <p:cNvSpPr/>
          <p:nvPr/>
        </p:nvSpPr>
        <p:spPr>
          <a:xfrm>
            <a:off x="192180" y="1052736"/>
            <a:ext cx="11880484" cy="1384353"/>
          </a:xfrm>
          <a:prstGeom prst="rect">
            <a:avLst/>
          </a:prstGeom>
        </p:spPr>
        <p:txBody>
          <a:bodyPr wrap="square">
            <a:spAutoFit/>
          </a:bodyPr>
          <a:lstStyle/>
          <a:p>
            <a:pPr>
              <a:lnSpc>
                <a:spcPct val="120000"/>
              </a:lnSpc>
            </a:pPr>
            <a:r>
              <a:rPr lang="zh-CN" altLang="en-US" sz="2400" dirty="0">
                <a:solidFill>
                  <a:schemeClr val="tx1"/>
                </a:solidFill>
                <a:latin typeface="微软雅黑" panose="020B0503020204020204" pitchFamily="34" charset="-122"/>
                <a:ea typeface="微软雅黑" panose="020B0503020204020204" pitchFamily="34" charset="-122"/>
              </a:rPr>
              <a:t>用来探测两台主机之间的连通性。</a:t>
            </a:r>
            <a:endParaRPr lang="en-US" altLang="zh-CN" sz="2400" dirty="0">
              <a:solidFill>
                <a:schemeClr val="tx1"/>
              </a:solidFill>
              <a:latin typeface="微软雅黑" panose="020B0503020204020204" pitchFamily="34" charset="-122"/>
              <a:ea typeface="微软雅黑" panose="020B0503020204020204" pitchFamily="34" charset="-122"/>
            </a:endParaRPr>
          </a:p>
          <a:p>
            <a:pPr>
              <a:lnSpc>
                <a:spcPct val="120000"/>
              </a:lnSpc>
            </a:pPr>
            <a:r>
              <a:rPr lang="zh-CN" altLang="en-US" sz="2400" dirty="0">
                <a:solidFill>
                  <a:schemeClr val="tx1"/>
                </a:solidFill>
                <a:latin typeface="微软雅黑" panose="020B0503020204020204" pitchFamily="34" charset="-122"/>
                <a:ea typeface="微软雅黑" panose="020B0503020204020204" pitchFamily="34" charset="-122"/>
              </a:rPr>
              <a:t>发送方发送</a:t>
            </a:r>
            <a:r>
              <a:rPr lang="en-US" altLang="zh-CN" sz="2400" dirty="0">
                <a:solidFill>
                  <a:schemeClr val="tx1"/>
                </a:solidFill>
                <a:latin typeface="微软雅黑" panose="020B0503020204020204" pitchFamily="34" charset="-122"/>
                <a:ea typeface="微软雅黑" panose="020B0503020204020204" pitchFamily="34" charset="-122"/>
              </a:rPr>
              <a:t>ICMP </a:t>
            </a:r>
            <a:r>
              <a:rPr lang="zh-CN" altLang="en-US" sz="2400" dirty="0">
                <a:solidFill>
                  <a:schemeClr val="tx1"/>
                </a:solidFill>
                <a:latin typeface="微软雅黑" panose="020B0503020204020204" pitchFamily="34" charset="-122"/>
                <a:ea typeface="微软雅黑" panose="020B0503020204020204" pitchFamily="34" charset="-122"/>
              </a:rPr>
              <a:t>回送请求（</a:t>
            </a:r>
            <a:r>
              <a:rPr lang="en-US" altLang="zh-CN" sz="2400" dirty="0">
                <a:solidFill>
                  <a:schemeClr val="tx1"/>
                </a:solidFill>
                <a:latin typeface="微软雅黑" panose="020B0503020204020204" pitchFamily="34" charset="-122"/>
                <a:ea typeface="微软雅黑" panose="020B0503020204020204" pitchFamily="34" charset="-122"/>
              </a:rPr>
              <a:t>8</a:t>
            </a:r>
            <a:r>
              <a:rPr lang="zh-CN" altLang="en-US" sz="2400" dirty="0">
                <a:solidFill>
                  <a:schemeClr val="tx1"/>
                </a:solidFill>
                <a:latin typeface="微软雅黑" panose="020B0503020204020204" pitchFamily="34" charset="-122"/>
                <a:ea typeface="微软雅黑" panose="020B0503020204020204" pitchFamily="34" charset="-122"/>
              </a:rPr>
              <a:t>）报文给待探测的主机，该报文被封装在</a:t>
            </a:r>
            <a:r>
              <a:rPr lang="en-US" altLang="zh-CN" sz="2400" dirty="0">
                <a:solidFill>
                  <a:schemeClr val="tx1"/>
                </a:solidFill>
                <a:latin typeface="微软雅黑" panose="020B0503020204020204" pitchFamily="34" charset="-122"/>
                <a:ea typeface="微软雅黑" panose="020B0503020204020204" pitchFamily="34" charset="-122"/>
              </a:rPr>
              <a:t>IP</a:t>
            </a:r>
            <a:r>
              <a:rPr lang="zh-CN" altLang="en-US" sz="2400" dirty="0">
                <a:solidFill>
                  <a:schemeClr val="tx1"/>
                </a:solidFill>
                <a:latin typeface="微软雅黑" panose="020B0503020204020204" pitchFamily="34" charset="-122"/>
                <a:ea typeface="微软雅黑" panose="020B0503020204020204" pitchFamily="34" charset="-122"/>
              </a:rPr>
              <a:t>报文中，对方网络层接收到后，提交给</a:t>
            </a:r>
            <a:r>
              <a:rPr lang="en-US" altLang="zh-CN" sz="2400" dirty="0">
                <a:solidFill>
                  <a:schemeClr val="tx1"/>
                </a:solidFill>
                <a:latin typeface="微软雅黑" panose="020B0503020204020204" pitchFamily="34" charset="-122"/>
                <a:ea typeface="微软雅黑" panose="020B0503020204020204" pitchFamily="34" charset="-122"/>
              </a:rPr>
              <a:t>ICMP</a:t>
            </a:r>
            <a:r>
              <a:rPr lang="zh-CN" altLang="en-US" sz="2400" dirty="0">
                <a:solidFill>
                  <a:schemeClr val="tx1"/>
                </a:solidFill>
                <a:latin typeface="微软雅黑" panose="020B0503020204020204" pitchFamily="34" charset="-122"/>
                <a:ea typeface="微软雅黑" panose="020B0503020204020204" pitchFamily="34" charset="-122"/>
              </a:rPr>
              <a:t>模块，</a:t>
            </a:r>
            <a:r>
              <a:rPr lang="en-US" altLang="zh-CN" sz="2400" dirty="0">
                <a:solidFill>
                  <a:schemeClr val="tx1"/>
                </a:solidFill>
                <a:latin typeface="微软雅黑" panose="020B0503020204020204" pitchFamily="34" charset="-122"/>
                <a:ea typeface="微软雅黑" panose="020B0503020204020204" pitchFamily="34" charset="-122"/>
              </a:rPr>
              <a:t>ICMP</a:t>
            </a:r>
            <a:r>
              <a:rPr lang="zh-CN" altLang="en-US" sz="2400" dirty="0">
                <a:solidFill>
                  <a:schemeClr val="tx1"/>
                </a:solidFill>
                <a:latin typeface="微软雅黑" panose="020B0503020204020204" pitchFamily="34" charset="-122"/>
                <a:ea typeface="微软雅黑" panose="020B0503020204020204" pitchFamily="34" charset="-122"/>
              </a:rPr>
              <a:t>模块处理后，返回回答（</a:t>
            </a:r>
            <a:r>
              <a:rPr lang="en-US" altLang="zh-CN" sz="2400" dirty="0">
                <a:solidFill>
                  <a:schemeClr val="tx1"/>
                </a:solidFill>
                <a:latin typeface="微软雅黑" panose="020B0503020204020204" pitchFamily="34" charset="-122"/>
                <a:ea typeface="微软雅黑" panose="020B0503020204020204" pitchFamily="34" charset="-122"/>
              </a:rPr>
              <a:t>0</a:t>
            </a:r>
            <a:r>
              <a:rPr lang="zh-CN" altLang="en-US" sz="2400" dirty="0">
                <a:solidFill>
                  <a:schemeClr val="tx1"/>
                </a:solidFill>
                <a:latin typeface="微软雅黑" panose="020B0503020204020204" pitchFamily="34" charset="-122"/>
                <a:ea typeface="微软雅黑" panose="020B0503020204020204" pitchFamily="34" charset="-122"/>
              </a:rPr>
              <a:t>）报文。</a:t>
            </a:r>
          </a:p>
        </p:txBody>
      </p:sp>
      <p:sp>
        <p:nvSpPr>
          <p:cNvPr id="6" name="文本框 5">
            <a:extLst>
              <a:ext uri="{FF2B5EF4-FFF2-40B4-BE49-F238E27FC236}">
                <a16:creationId xmlns:a16="http://schemas.microsoft.com/office/drawing/2014/main" id="{549721D2-6CEE-43D3-93BD-AE143CCD8939}"/>
              </a:ext>
            </a:extLst>
          </p:cNvPr>
          <p:cNvSpPr txBox="1"/>
          <p:nvPr/>
        </p:nvSpPr>
        <p:spPr>
          <a:xfrm>
            <a:off x="263352" y="2492896"/>
            <a:ext cx="8954190" cy="4154984"/>
          </a:xfrm>
          <a:prstGeom prst="rect">
            <a:avLst/>
          </a:prstGeom>
          <a:solidFill>
            <a:schemeClr val="bg1">
              <a:lumMod val="95000"/>
            </a:schemeClr>
          </a:solidFill>
        </p:spPr>
        <p:txBody>
          <a:bodyPr wrap="square">
            <a:spAutoFit/>
          </a:bodyPr>
          <a:lstStyle/>
          <a:p>
            <a:r>
              <a:rPr lang="zh-CN" altLang="en-US" sz="2200" dirty="0">
                <a:solidFill>
                  <a:schemeClr val="tx1"/>
                </a:solidFill>
              </a:rPr>
              <a:t>C:\&gt;ping www.baidu.com</a:t>
            </a:r>
          </a:p>
          <a:p>
            <a:endParaRPr lang="zh-CN" altLang="en-US" sz="2200" dirty="0">
              <a:solidFill>
                <a:schemeClr val="tx1"/>
              </a:solidFill>
            </a:endParaRPr>
          </a:p>
          <a:p>
            <a:r>
              <a:rPr lang="zh-CN" altLang="en-US" sz="2200" dirty="0">
                <a:solidFill>
                  <a:schemeClr val="tx1"/>
                </a:solidFill>
              </a:rPr>
              <a:t>正在 Ping www.a.shifen.com [180.101.49.44] 具有 32 字节的数据:</a:t>
            </a:r>
          </a:p>
          <a:p>
            <a:r>
              <a:rPr lang="zh-CN" altLang="en-US" sz="2200" dirty="0">
                <a:solidFill>
                  <a:schemeClr val="tx1"/>
                </a:solidFill>
              </a:rPr>
              <a:t>来自 180.101.49.44 的回复: 字节=32 时间=489ms TTL=54</a:t>
            </a:r>
          </a:p>
          <a:p>
            <a:r>
              <a:rPr lang="zh-CN" altLang="en-US" sz="2200" dirty="0">
                <a:solidFill>
                  <a:schemeClr val="tx1"/>
                </a:solidFill>
              </a:rPr>
              <a:t>来自 180.101.49.44 的回复: 字节=32 时间=600ms TTL=54</a:t>
            </a:r>
          </a:p>
          <a:p>
            <a:r>
              <a:rPr lang="zh-CN" altLang="en-US" sz="2200" dirty="0">
                <a:solidFill>
                  <a:schemeClr val="tx1"/>
                </a:solidFill>
              </a:rPr>
              <a:t>来自 180.101.49.44 的回复: 字节=32 时间=207ms TTL=54</a:t>
            </a:r>
          </a:p>
          <a:p>
            <a:r>
              <a:rPr lang="zh-CN" altLang="en-US" sz="2200" dirty="0">
                <a:solidFill>
                  <a:schemeClr val="tx1"/>
                </a:solidFill>
              </a:rPr>
              <a:t>来自 180.101.49.44 的回复: 字节=32 时间=296ms TTL=54</a:t>
            </a:r>
          </a:p>
          <a:p>
            <a:endParaRPr lang="zh-CN" altLang="en-US" sz="2200" dirty="0">
              <a:solidFill>
                <a:schemeClr val="tx1"/>
              </a:solidFill>
            </a:endParaRPr>
          </a:p>
          <a:p>
            <a:r>
              <a:rPr lang="zh-CN" altLang="en-US" sz="2200" dirty="0">
                <a:solidFill>
                  <a:schemeClr val="tx1"/>
                </a:solidFill>
              </a:rPr>
              <a:t>180.101.49.44 的 Ping 统计信息:</a:t>
            </a:r>
          </a:p>
          <a:p>
            <a:r>
              <a:rPr lang="zh-CN" altLang="en-US" sz="2200" dirty="0">
                <a:solidFill>
                  <a:schemeClr val="tx1"/>
                </a:solidFill>
              </a:rPr>
              <a:t>    数据包: 已发送 = 4，已接收 = 4，丢失 = 0 (0% 丢失)，</a:t>
            </a:r>
          </a:p>
          <a:p>
            <a:r>
              <a:rPr lang="zh-CN" altLang="en-US" sz="2200" dirty="0">
                <a:solidFill>
                  <a:schemeClr val="tx1"/>
                </a:solidFill>
              </a:rPr>
              <a:t>往返行程的估计时间(以毫秒为单位):</a:t>
            </a:r>
          </a:p>
          <a:p>
            <a:r>
              <a:rPr lang="zh-CN" altLang="en-US" sz="2200" dirty="0">
                <a:solidFill>
                  <a:schemeClr val="tx1"/>
                </a:solidFill>
              </a:rPr>
              <a:t>    最短 = 207ms，最长 = 600ms，平均 = 398ms</a:t>
            </a:r>
          </a:p>
        </p:txBody>
      </p:sp>
    </p:spTree>
    <p:extLst>
      <p:ext uri="{BB962C8B-B14F-4D97-AF65-F5344CB8AC3E}">
        <p14:creationId xmlns:p14="http://schemas.microsoft.com/office/powerpoint/2010/main" val="575042313"/>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2"/>
          <p:cNvSpPr>
            <a:spLocks noGrp="1" noChangeArrowheads="1"/>
          </p:cNvSpPr>
          <p:nvPr>
            <p:ph type="title" idx="4294967295"/>
          </p:nvPr>
        </p:nvSpPr>
        <p:spPr>
          <a:xfrm>
            <a:off x="191344" y="116632"/>
            <a:ext cx="8424936" cy="695325"/>
          </a:xfrm>
        </p:spPr>
        <p:txBody>
          <a:bodyPr/>
          <a:lstStyle/>
          <a:p>
            <a:pPr eaLnBrk="1" hangingPunct="1">
              <a:lnSpc>
                <a:spcPct val="90000"/>
              </a:lnSpc>
            </a:pPr>
            <a:r>
              <a:rPr lang="en-US" altLang="zh-CN" sz="2800" dirty="0">
                <a:solidFill>
                  <a:srgbClr val="0070C0"/>
                </a:solidFill>
                <a:latin typeface="微软雅黑" panose="020B0503020204020204" pitchFamily="34" charset="-122"/>
                <a:ea typeface="微软雅黑" panose="020B0503020204020204" pitchFamily="34" charset="-122"/>
              </a:rPr>
              <a:t>ICMP</a:t>
            </a:r>
            <a:r>
              <a:rPr lang="zh-CN" altLang="en-US" sz="2800" dirty="0">
                <a:solidFill>
                  <a:srgbClr val="0070C0"/>
                </a:solidFill>
                <a:latin typeface="微软雅黑" panose="020B0503020204020204" pitchFamily="34" charset="-122"/>
                <a:ea typeface="微软雅黑" panose="020B0503020204020204" pitchFamily="34" charset="-122"/>
              </a:rPr>
              <a:t>的应用：</a:t>
            </a:r>
            <a:r>
              <a:rPr lang="en-US" altLang="zh-CN" sz="2800" dirty="0">
                <a:solidFill>
                  <a:srgbClr val="0070C0"/>
                </a:solidFill>
                <a:latin typeface="微软雅黑" panose="020B0503020204020204" pitchFamily="34" charset="-122"/>
                <a:ea typeface="微软雅黑" panose="020B0503020204020204" pitchFamily="34" charset="-122"/>
              </a:rPr>
              <a:t>tracert </a:t>
            </a:r>
            <a:r>
              <a:rPr lang="zh-CN" altLang="en-US" sz="2800" dirty="0">
                <a:solidFill>
                  <a:srgbClr val="0070C0"/>
                </a:solidFill>
                <a:latin typeface="微软雅黑" panose="020B0503020204020204" pitchFamily="34" charset="-122"/>
                <a:ea typeface="微软雅黑" panose="020B0503020204020204" pitchFamily="34" charset="-122"/>
              </a:rPr>
              <a:t>探测从源到目标经历的路由器</a:t>
            </a:r>
          </a:p>
        </p:txBody>
      </p:sp>
      <p:sp>
        <p:nvSpPr>
          <p:cNvPr id="3" name="矩形 2"/>
          <p:cNvSpPr/>
          <p:nvPr/>
        </p:nvSpPr>
        <p:spPr>
          <a:xfrm>
            <a:off x="263352" y="811957"/>
            <a:ext cx="6552728" cy="6063198"/>
          </a:xfrm>
          <a:prstGeom prst="rect">
            <a:avLst/>
          </a:prstGeom>
          <a:solidFill>
            <a:schemeClr val="bg1">
              <a:lumMod val="95000"/>
            </a:schemeClr>
          </a:solidFill>
        </p:spPr>
        <p:txBody>
          <a:bodyPr wrap="square">
            <a:spAutoFit/>
          </a:bodyPr>
          <a:lstStyle/>
          <a:p>
            <a:r>
              <a:rPr lang="zh-CN" altLang="en-US" sz="2400" dirty="0">
                <a:solidFill>
                  <a:schemeClr val="tx1"/>
                </a:solidFill>
                <a:latin typeface="Times New Roman" panose="02020603050405020304" pitchFamily="18" charset="0"/>
                <a:cs typeface="Times New Roman" panose="02020603050405020304" pitchFamily="18" charset="0"/>
              </a:rPr>
              <a:t>C:\&gt;</a:t>
            </a:r>
            <a:r>
              <a:rPr lang="zh-CN" altLang="en-US" sz="2800" b="1" dirty="0">
                <a:solidFill>
                  <a:schemeClr val="tx1"/>
                </a:solidFill>
                <a:latin typeface="Times New Roman" panose="02020603050405020304" pitchFamily="18" charset="0"/>
                <a:cs typeface="Times New Roman" panose="02020603050405020304" pitchFamily="18" charset="0"/>
              </a:rPr>
              <a:t>tracert</a:t>
            </a:r>
            <a:r>
              <a:rPr lang="zh-CN" altLang="en-US" sz="2400" dirty="0">
                <a:solidFill>
                  <a:schemeClr val="tx1"/>
                </a:solidFill>
                <a:latin typeface="Times New Roman" panose="02020603050405020304" pitchFamily="18" charset="0"/>
                <a:cs typeface="Times New Roman" panose="02020603050405020304" pitchFamily="18" charset="0"/>
              </a:rPr>
              <a:t> www.baidu.com</a:t>
            </a:r>
          </a:p>
          <a:p>
            <a:endParaRPr lang="zh-CN" altLang="en-US" sz="2400" dirty="0">
              <a:solidFill>
                <a:schemeClr val="tx1"/>
              </a:solidFill>
              <a:latin typeface="Times New Roman" panose="02020603050405020304" pitchFamily="18" charset="0"/>
              <a:cs typeface="Times New Roman" panose="02020603050405020304" pitchFamily="18" charset="0"/>
            </a:endParaRPr>
          </a:p>
          <a:p>
            <a:r>
              <a:rPr lang="zh-CN" altLang="en-US" sz="2400" dirty="0">
                <a:solidFill>
                  <a:schemeClr val="tx1"/>
                </a:solidFill>
                <a:latin typeface="Times New Roman" panose="02020603050405020304" pitchFamily="18" charset="0"/>
                <a:cs typeface="Times New Roman" panose="02020603050405020304" pitchFamily="18" charset="0"/>
              </a:rPr>
              <a:t>通过最多 30 个跃点跟踪</a:t>
            </a:r>
          </a:p>
          <a:p>
            <a:r>
              <a:rPr lang="zh-CN" altLang="en-US" sz="2400" dirty="0">
                <a:solidFill>
                  <a:schemeClr val="tx1"/>
                </a:solidFill>
                <a:latin typeface="Times New Roman" panose="02020603050405020304" pitchFamily="18" charset="0"/>
                <a:cs typeface="Times New Roman" panose="02020603050405020304" pitchFamily="18" charset="0"/>
              </a:rPr>
              <a:t>到 www.a.shifen.com [180.101.50.242] 的路由:</a:t>
            </a:r>
          </a:p>
          <a:p>
            <a:endParaRPr lang="zh-CN" altLang="en-US" sz="2400" dirty="0">
              <a:solidFill>
                <a:schemeClr val="tx1"/>
              </a:solidFill>
              <a:latin typeface="Times New Roman" panose="02020603050405020304" pitchFamily="18" charset="0"/>
              <a:cs typeface="Times New Roman" panose="02020603050405020304" pitchFamily="18" charset="0"/>
            </a:endParaRPr>
          </a:p>
          <a:p>
            <a:r>
              <a:rPr lang="zh-CN" altLang="en-US" sz="2400" dirty="0">
                <a:solidFill>
                  <a:schemeClr val="tx1"/>
                </a:solidFill>
                <a:latin typeface="Times New Roman" panose="02020603050405020304" pitchFamily="18" charset="0"/>
                <a:cs typeface="Times New Roman" panose="02020603050405020304" pitchFamily="18" charset="0"/>
              </a:rPr>
              <a:t>  1     2 ms     1 ms     1 ms  192.168.0.1</a:t>
            </a:r>
          </a:p>
          <a:p>
            <a:r>
              <a:rPr lang="zh-CN" altLang="en-US" sz="2400" dirty="0">
                <a:solidFill>
                  <a:schemeClr val="tx1"/>
                </a:solidFill>
                <a:latin typeface="Times New Roman" panose="02020603050405020304" pitchFamily="18" charset="0"/>
                <a:cs typeface="Times New Roman" panose="02020603050405020304" pitchFamily="18" charset="0"/>
              </a:rPr>
              <a:t>  2    16 ms     2 ms     3 ms  100.111.128.1</a:t>
            </a:r>
          </a:p>
          <a:p>
            <a:r>
              <a:rPr lang="zh-CN" altLang="en-US" sz="2400" dirty="0">
                <a:solidFill>
                  <a:schemeClr val="tx1"/>
                </a:solidFill>
                <a:latin typeface="Times New Roman" panose="02020603050405020304" pitchFamily="18" charset="0"/>
                <a:cs typeface="Times New Roman" panose="02020603050405020304" pitchFamily="18" charset="0"/>
              </a:rPr>
              <a:t>  3     7 ms     8 ms     *     58.217.231.161</a:t>
            </a:r>
          </a:p>
          <a:p>
            <a:r>
              <a:rPr lang="zh-CN" altLang="en-US" sz="2400" dirty="0">
                <a:solidFill>
                  <a:schemeClr val="tx1"/>
                </a:solidFill>
                <a:latin typeface="Times New Roman" panose="02020603050405020304" pitchFamily="18" charset="0"/>
                <a:cs typeface="Times New Roman" panose="02020603050405020304" pitchFamily="18" charset="0"/>
              </a:rPr>
              <a:t>  4     5 ms     6 ms     6 ms  58.213.95.222</a:t>
            </a:r>
          </a:p>
          <a:p>
            <a:r>
              <a:rPr lang="zh-CN" altLang="en-US" sz="2400" dirty="0">
                <a:solidFill>
                  <a:schemeClr val="tx1"/>
                </a:solidFill>
                <a:latin typeface="Times New Roman" panose="02020603050405020304" pitchFamily="18" charset="0"/>
                <a:cs typeface="Times New Roman" panose="02020603050405020304" pitchFamily="18" charset="0"/>
              </a:rPr>
              <a:t>  5     6 ms     3 ms     5 ms  58.213.95.210</a:t>
            </a:r>
          </a:p>
          <a:p>
            <a:r>
              <a:rPr lang="zh-CN" altLang="en-US" sz="2400" dirty="0">
                <a:solidFill>
                  <a:schemeClr val="tx1"/>
                </a:solidFill>
                <a:latin typeface="Times New Roman" panose="02020603050405020304" pitchFamily="18" charset="0"/>
                <a:cs typeface="Times New Roman" panose="02020603050405020304" pitchFamily="18" charset="0"/>
              </a:rPr>
              <a:t>  6     4 ms     4 ms    10 ms  58.213.96.66</a:t>
            </a:r>
          </a:p>
          <a:p>
            <a:r>
              <a:rPr lang="zh-CN" altLang="en-US" sz="2400" dirty="0">
                <a:solidFill>
                  <a:schemeClr val="tx1"/>
                </a:solidFill>
                <a:latin typeface="Times New Roman" panose="02020603050405020304" pitchFamily="18" charset="0"/>
                <a:cs typeface="Times New Roman" panose="02020603050405020304" pitchFamily="18" charset="0"/>
              </a:rPr>
              <a:t>  7     6 ms     *        *     10.166.50.25</a:t>
            </a:r>
          </a:p>
          <a:p>
            <a:r>
              <a:rPr lang="zh-CN" altLang="en-US" sz="2400" dirty="0">
                <a:solidFill>
                  <a:schemeClr val="tx1"/>
                </a:solidFill>
                <a:latin typeface="Times New Roman" panose="02020603050405020304" pitchFamily="18" charset="0"/>
                <a:cs typeface="Times New Roman" panose="02020603050405020304" pitchFamily="18" charset="0"/>
              </a:rPr>
              <a:t>  8     5 ms     4 ms     7 ms  10.166.112.34</a:t>
            </a:r>
          </a:p>
          <a:p>
            <a:r>
              <a:rPr lang="zh-CN" altLang="en-US" sz="2400" dirty="0">
                <a:solidFill>
                  <a:schemeClr val="tx1"/>
                </a:solidFill>
                <a:latin typeface="Times New Roman" panose="02020603050405020304" pitchFamily="18" charset="0"/>
                <a:cs typeface="Times New Roman" panose="02020603050405020304" pitchFamily="18" charset="0"/>
              </a:rPr>
              <a:t>  9     *        *        8 ms  10.165.1.113</a:t>
            </a:r>
          </a:p>
          <a:p>
            <a:r>
              <a:rPr lang="zh-CN" altLang="en-US" sz="2400" dirty="0">
                <a:solidFill>
                  <a:schemeClr val="tx1"/>
                </a:solidFill>
                <a:latin typeface="Times New Roman" panose="02020603050405020304" pitchFamily="18" charset="0"/>
                <a:cs typeface="Times New Roman" panose="02020603050405020304" pitchFamily="18" charset="0"/>
              </a:rPr>
              <a:t> 10     5 ms    23 ms     7 ms  180.101.50.242</a:t>
            </a:r>
          </a:p>
          <a:p>
            <a:r>
              <a:rPr lang="zh-CN" altLang="en-US" sz="2400" dirty="0">
                <a:solidFill>
                  <a:schemeClr val="tx1"/>
                </a:solidFill>
                <a:latin typeface="Times New Roman" panose="02020603050405020304" pitchFamily="18" charset="0"/>
                <a:cs typeface="Times New Roman" panose="02020603050405020304" pitchFamily="18" charset="0"/>
              </a:rPr>
              <a:t>跟踪完成。</a:t>
            </a:r>
          </a:p>
        </p:txBody>
      </p:sp>
      <p:sp>
        <p:nvSpPr>
          <p:cNvPr id="4" name="矩形 3"/>
          <p:cNvSpPr/>
          <p:nvPr/>
        </p:nvSpPr>
        <p:spPr>
          <a:xfrm>
            <a:off x="6995592" y="1772817"/>
            <a:ext cx="5005064" cy="2677656"/>
          </a:xfrm>
          <a:prstGeom prst="rect">
            <a:avLst/>
          </a:prstGeom>
        </p:spPr>
        <p:txBody>
          <a:bodyPr wrap="square">
            <a:spAutoFit/>
          </a:bodyPr>
          <a:lstStyle/>
          <a:p>
            <a:r>
              <a:rPr lang="zh-CN" altLang="en-US" sz="2400" dirty="0">
                <a:solidFill>
                  <a:schemeClr val="tx1"/>
                </a:solidFill>
                <a:latin typeface="微软雅黑" panose="020B0503020204020204" pitchFamily="34" charset="-122"/>
                <a:ea typeface="微软雅黑" panose="020B0503020204020204" pitchFamily="34" charset="-122"/>
              </a:rPr>
              <a:t>    给目标发送多个</a:t>
            </a:r>
            <a:r>
              <a:rPr lang="en-US" altLang="zh-CN" sz="2400" dirty="0">
                <a:solidFill>
                  <a:schemeClr val="tx1"/>
                </a:solidFill>
                <a:latin typeface="微软雅黑" panose="020B0503020204020204" pitchFamily="34" charset="-122"/>
                <a:ea typeface="微软雅黑" panose="020B0503020204020204" pitchFamily="34" charset="-122"/>
              </a:rPr>
              <a:t>IP</a:t>
            </a:r>
            <a:r>
              <a:rPr lang="zh-CN" altLang="en-US" sz="2400" dirty="0">
                <a:solidFill>
                  <a:schemeClr val="tx1"/>
                </a:solidFill>
                <a:latin typeface="微软雅黑" panose="020B0503020204020204" pitchFamily="34" charset="-122"/>
                <a:ea typeface="微软雅黑" panose="020B0503020204020204" pitchFamily="34" charset="-122"/>
              </a:rPr>
              <a:t>传送，设置不同的</a:t>
            </a:r>
            <a:r>
              <a:rPr lang="en-US" altLang="zh-CN" sz="2400" dirty="0">
                <a:solidFill>
                  <a:schemeClr val="tx1"/>
                </a:solidFill>
                <a:latin typeface="微软雅黑" panose="020B0503020204020204" pitchFamily="34" charset="-122"/>
                <a:ea typeface="微软雅黑" panose="020B0503020204020204" pitchFamily="34" charset="-122"/>
              </a:rPr>
              <a:t>TTL</a:t>
            </a:r>
            <a:r>
              <a:rPr lang="zh-CN" altLang="en-US" sz="2400" dirty="0">
                <a:solidFill>
                  <a:schemeClr val="tx1"/>
                </a:solidFill>
                <a:latin typeface="微软雅黑" panose="020B0503020204020204" pitchFamily="34" charset="-122"/>
                <a:ea typeface="微软雅黑" panose="020B0503020204020204" pitchFamily="34" charset="-122"/>
              </a:rPr>
              <a:t>，那么报文在中间如果没有到达目标，则会由于</a:t>
            </a:r>
            <a:r>
              <a:rPr lang="en-US" altLang="zh-CN" sz="2400" dirty="0">
                <a:solidFill>
                  <a:schemeClr val="tx1"/>
                </a:solidFill>
                <a:latin typeface="微软雅黑" panose="020B0503020204020204" pitchFamily="34" charset="-122"/>
                <a:ea typeface="微软雅黑" panose="020B0503020204020204" pitchFamily="34" charset="-122"/>
              </a:rPr>
              <a:t>TLL</a:t>
            </a:r>
            <a:r>
              <a:rPr lang="zh-CN" altLang="en-US" sz="2400" dirty="0">
                <a:solidFill>
                  <a:schemeClr val="tx1"/>
                </a:solidFill>
                <a:latin typeface="微软雅黑" panose="020B0503020204020204" pitchFamily="34" charset="-122"/>
                <a:ea typeface="微软雅黑" panose="020B0503020204020204" pitchFamily="34" charset="-122"/>
              </a:rPr>
              <a:t>达到</a:t>
            </a:r>
            <a:r>
              <a:rPr lang="en-US" altLang="zh-CN" sz="2400" dirty="0">
                <a:solidFill>
                  <a:schemeClr val="tx1"/>
                </a:solidFill>
                <a:latin typeface="微软雅黑" panose="020B0503020204020204" pitchFamily="34" charset="-122"/>
                <a:ea typeface="微软雅黑" panose="020B0503020204020204" pitchFamily="34" charset="-122"/>
              </a:rPr>
              <a:t>0</a:t>
            </a:r>
            <a:r>
              <a:rPr lang="zh-CN" altLang="en-US" sz="2400" dirty="0">
                <a:solidFill>
                  <a:schemeClr val="tx1"/>
                </a:solidFill>
                <a:latin typeface="微软雅黑" panose="020B0503020204020204" pitchFamily="34" charset="-122"/>
                <a:ea typeface="微软雅黑" panose="020B0503020204020204" pitchFamily="34" charset="-122"/>
              </a:rPr>
              <a:t>，被放弃，中间路由器会给源端发送</a:t>
            </a:r>
            <a:r>
              <a:rPr lang="en-US" altLang="zh-CN" sz="2400" dirty="0">
                <a:solidFill>
                  <a:schemeClr val="tx1"/>
                </a:solidFill>
                <a:latin typeface="微软雅黑" panose="020B0503020204020204" pitchFamily="34" charset="-122"/>
                <a:ea typeface="微软雅黑" panose="020B0503020204020204" pitchFamily="34" charset="-122"/>
              </a:rPr>
              <a:t>ICMP</a:t>
            </a:r>
            <a:r>
              <a:rPr lang="zh-CN" altLang="en-US" sz="2400" dirty="0">
                <a:solidFill>
                  <a:schemeClr val="tx1"/>
                </a:solidFill>
                <a:latin typeface="微软雅黑" panose="020B0503020204020204" pitchFamily="34" charset="-122"/>
                <a:ea typeface="微软雅黑" panose="020B0503020204020204" pitchFamily="34" charset="-122"/>
              </a:rPr>
              <a:t>报文，则根据该返回的</a:t>
            </a:r>
            <a:r>
              <a:rPr lang="en-US" altLang="zh-CN" sz="2400" dirty="0">
                <a:solidFill>
                  <a:schemeClr val="tx1"/>
                </a:solidFill>
                <a:latin typeface="微软雅黑" panose="020B0503020204020204" pitchFamily="34" charset="-122"/>
                <a:ea typeface="微软雅黑" panose="020B0503020204020204" pitchFamily="34" charset="-122"/>
              </a:rPr>
              <a:t>ICMP</a:t>
            </a:r>
            <a:r>
              <a:rPr lang="zh-CN" altLang="en-US" sz="2400" dirty="0">
                <a:solidFill>
                  <a:schemeClr val="tx1"/>
                </a:solidFill>
                <a:latin typeface="微软雅黑" panose="020B0503020204020204" pitchFamily="34" charset="-122"/>
                <a:ea typeface="微软雅黑" panose="020B0503020204020204" pitchFamily="34" charset="-122"/>
              </a:rPr>
              <a:t>报文的源地址，可以知道经过了哪些路由器。</a:t>
            </a:r>
          </a:p>
        </p:txBody>
      </p:sp>
    </p:spTree>
    <p:extLst>
      <p:ext uri="{BB962C8B-B14F-4D97-AF65-F5344CB8AC3E}">
        <p14:creationId xmlns:p14="http://schemas.microsoft.com/office/powerpoint/2010/main" val="1357402510"/>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2">
            <a:extLst>
              <a:ext uri="{FF2B5EF4-FFF2-40B4-BE49-F238E27FC236}">
                <a16:creationId xmlns:a16="http://schemas.microsoft.com/office/drawing/2014/main" id="{FF8B9BBF-EEF8-42C2-8C8E-E1E720518FBD}"/>
              </a:ext>
            </a:extLst>
          </p:cNvPr>
          <p:cNvSpPr txBox="1">
            <a:spLocks noChangeArrowheads="1"/>
          </p:cNvSpPr>
          <p:nvPr/>
        </p:nvSpPr>
        <p:spPr bwMode="auto">
          <a:xfrm>
            <a:off x="191344" y="116632"/>
            <a:ext cx="8424936"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eaLnBrk="1" hangingPunct="1">
              <a:lnSpc>
                <a:spcPct val="90000"/>
              </a:lnSpc>
            </a:pPr>
            <a:r>
              <a:rPr lang="en-US" altLang="zh-CN" sz="2800" kern="0">
                <a:solidFill>
                  <a:srgbClr val="0070C0"/>
                </a:solidFill>
                <a:latin typeface="微软雅黑" panose="020B0503020204020204" pitchFamily="34" charset="-122"/>
                <a:ea typeface="微软雅黑" panose="020B0503020204020204" pitchFamily="34" charset="-122"/>
              </a:rPr>
              <a:t>ICMP</a:t>
            </a:r>
            <a:r>
              <a:rPr lang="zh-CN" altLang="en-US" sz="2800" kern="0">
                <a:solidFill>
                  <a:srgbClr val="0070C0"/>
                </a:solidFill>
                <a:latin typeface="微软雅黑" panose="020B0503020204020204" pitchFamily="34" charset="-122"/>
                <a:ea typeface="微软雅黑" panose="020B0503020204020204" pitchFamily="34" charset="-122"/>
              </a:rPr>
              <a:t>的应用：</a:t>
            </a:r>
            <a:r>
              <a:rPr lang="en-US" altLang="zh-CN" sz="2800" kern="0">
                <a:solidFill>
                  <a:srgbClr val="0070C0"/>
                </a:solidFill>
                <a:latin typeface="微软雅黑" panose="020B0503020204020204" pitchFamily="34" charset="-122"/>
                <a:ea typeface="微软雅黑" panose="020B0503020204020204" pitchFamily="34" charset="-122"/>
              </a:rPr>
              <a:t>tracert </a:t>
            </a:r>
            <a:r>
              <a:rPr lang="zh-CN" altLang="en-US" sz="2800" kern="0">
                <a:solidFill>
                  <a:srgbClr val="0070C0"/>
                </a:solidFill>
                <a:latin typeface="微软雅黑" panose="020B0503020204020204" pitchFamily="34" charset="-122"/>
                <a:ea typeface="微软雅黑" panose="020B0503020204020204" pitchFamily="34" charset="-122"/>
              </a:rPr>
              <a:t>探测从源到目标经历的路由器</a:t>
            </a:r>
            <a:endParaRPr lang="zh-CN" altLang="en-US" sz="2800" kern="0" dirty="0">
              <a:solidFill>
                <a:srgbClr val="0070C0"/>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18A99270-7174-46E7-8D9D-E5DE1D37B72D}"/>
              </a:ext>
            </a:extLst>
          </p:cNvPr>
          <p:cNvPicPr>
            <a:picLocks noChangeAspect="1"/>
          </p:cNvPicPr>
          <p:nvPr/>
        </p:nvPicPr>
        <p:blipFill>
          <a:blip r:embed="rId2"/>
          <a:stretch>
            <a:fillRect/>
          </a:stretch>
        </p:blipFill>
        <p:spPr>
          <a:xfrm>
            <a:off x="191344" y="841876"/>
            <a:ext cx="11850255" cy="5899492"/>
          </a:xfrm>
          <a:prstGeom prst="rect">
            <a:avLst/>
          </a:prstGeom>
        </p:spPr>
      </p:pic>
    </p:spTree>
    <p:extLst>
      <p:ext uri="{BB962C8B-B14F-4D97-AF65-F5344CB8AC3E}">
        <p14:creationId xmlns:p14="http://schemas.microsoft.com/office/powerpoint/2010/main" val="529865718"/>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D7F49EEF-5529-46C7-8E96-B7FFEF1B6A10}"/>
              </a:ext>
            </a:extLst>
          </p:cNvPr>
          <p:cNvSpPr txBox="1"/>
          <p:nvPr/>
        </p:nvSpPr>
        <p:spPr>
          <a:xfrm>
            <a:off x="191344" y="1052736"/>
            <a:ext cx="11161240" cy="1938992"/>
          </a:xfrm>
          <a:prstGeom prst="rect">
            <a:avLst/>
          </a:prstGeom>
          <a:noFill/>
        </p:spPr>
        <p:txBody>
          <a:bodyPr wrap="square">
            <a:spAutoFit/>
          </a:bodyPr>
          <a:lstStyle/>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1. </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若某路由器收到一个</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TTL</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值为</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1</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的</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IP</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数据报，则路由器的操作是</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    )</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a:t>
            </a:r>
          </a:p>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A.</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转发该</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 IP </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数据报</a:t>
            </a:r>
          </a:p>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B.</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仅仅丢弃该</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 IP </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数据报</a:t>
            </a:r>
          </a:p>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C.</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丢弃该</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 IP </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数据报并向源主机发送类型为终点不可达的</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 ICMP </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差错报告报文</a:t>
            </a:r>
          </a:p>
          <a:p>
            <a:pPr algn="just"/>
            <a:r>
              <a:rPr lang="en-US"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D.</a:t>
            </a:r>
            <a:r>
              <a:rPr lang="zh-CN"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丢弃该</a:t>
            </a:r>
            <a:r>
              <a:rPr lang="en-US"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 IP </a:t>
            </a:r>
            <a:r>
              <a:rPr lang="zh-CN"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数据报并向源主机发送类型为时间超过的</a:t>
            </a:r>
            <a:r>
              <a:rPr lang="en-US"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ICMP </a:t>
            </a:r>
            <a:r>
              <a:rPr lang="zh-CN"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差错报告报文</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6A4D56ED-429D-4ECD-8FAE-749FBDE2A1E0}"/>
              </a:ext>
            </a:extLst>
          </p:cNvPr>
          <p:cNvSpPr txBox="1"/>
          <p:nvPr/>
        </p:nvSpPr>
        <p:spPr>
          <a:xfrm>
            <a:off x="263352" y="3429000"/>
            <a:ext cx="10585176" cy="1938992"/>
          </a:xfrm>
          <a:prstGeom prst="rect">
            <a:avLst/>
          </a:prstGeom>
          <a:noFill/>
        </p:spPr>
        <p:txBody>
          <a:bodyPr wrap="square">
            <a:spAutoFit/>
          </a:bodyPr>
          <a:lstStyle/>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2. </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在</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TCP/IP </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体系结构中，直接为</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 ICMP </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提供服务的协议是</a:t>
            </a:r>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    )</a:t>
            </a:r>
            <a:r>
              <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a:t>
            </a:r>
          </a:p>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A. PPP</a:t>
            </a:r>
            <a:endPar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B. IP</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C. UDP</a:t>
            </a:r>
            <a:endPar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D.TCP</a:t>
            </a:r>
            <a:endParaRPr lang="zh-CN" altLang="zh-CN" sz="2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222740515"/>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2">
            <a:extLst>
              <a:ext uri="{FF2B5EF4-FFF2-40B4-BE49-F238E27FC236}">
                <a16:creationId xmlns:a16="http://schemas.microsoft.com/office/drawing/2014/main" id="{FF8B9BBF-EEF8-42C2-8C8E-E1E720518FBD}"/>
              </a:ext>
            </a:extLst>
          </p:cNvPr>
          <p:cNvSpPr txBox="1">
            <a:spLocks noChangeArrowheads="1"/>
          </p:cNvSpPr>
          <p:nvPr/>
        </p:nvSpPr>
        <p:spPr bwMode="auto">
          <a:xfrm>
            <a:off x="191344" y="116632"/>
            <a:ext cx="8424936"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algn="l" eaLnBrk="1" hangingPunct="1">
              <a:lnSpc>
                <a:spcPct val="90000"/>
              </a:lnSpc>
            </a:pPr>
            <a:r>
              <a:rPr lang="zh-CN" altLang="en-US" sz="2800" kern="0" dirty="0">
                <a:solidFill>
                  <a:srgbClr val="0070C0"/>
                </a:solidFill>
                <a:latin typeface="微软雅黑" panose="020B0503020204020204" pitchFamily="34" charset="-122"/>
                <a:ea typeface="微软雅黑" panose="020B0503020204020204" pitchFamily="34" charset="-122"/>
              </a:rPr>
              <a:t>分析</a:t>
            </a:r>
          </a:p>
        </p:txBody>
      </p:sp>
      <p:sp>
        <p:nvSpPr>
          <p:cNvPr id="5" name="Rectangle 72">
            <a:extLst>
              <a:ext uri="{FF2B5EF4-FFF2-40B4-BE49-F238E27FC236}">
                <a16:creationId xmlns:a16="http://schemas.microsoft.com/office/drawing/2014/main" id="{39EB061A-8369-4220-96BC-122D7F6A92F0}"/>
              </a:ext>
            </a:extLst>
          </p:cNvPr>
          <p:cNvSpPr txBox="1">
            <a:spLocks noChangeArrowheads="1"/>
          </p:cNvSpPr>
          <p:nvPr/>
        </p:nvSpPr>
        <p:spPr bwMode="auto">
          <a:xfrm>
            <a:off x="1919536" y="1700808"/>
            <a:ext cx="9145016" cy="2088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marL="514350" indent="-514350" algn="l" eaLnBrk="1" hangingPunct="1">
              <a:lnSpc>
                <a:spcPct val="120000"/>
              </a:lnSpc>
              <a:buAutoNum type="arabicPeriod"/>
            </a:pPr>
            <a:r>
              <a:rPr lang="zh-CN" altLang="en-US" sz="2800" kern="0" dirty="0">
                <a:solidFill>
                  <a:srgbClr val="0070C0"/>
                </a:solidFill>
                <a:latin typeface="微软雅黑" panose="020B0503020204020204" pitchFamily="34" charset="-122"/>
                <a:ea typeface="微软雅黑" panose="020B0503020204020204" pitchFamily="34" charset="-122"/>
              </a:rPr>
              <a:t>开启</a:t>
            </a:r>
            <a:r>
              <a:rPr lang="en-US" altLang="zh-CN" sz="2800" kern="0" dirty="0" err="1">
                <a:solidFill>
                  <a:srgbClr val="0070C0"/>
                </a:solidFill>
                <a:latin typeface="微软雅黑" panose="020B0503020204020204" pitchFamily="34" charset="-122"/>
                <a:ea typeface="微软雅黑" panose="020B0503020204020204" pitchFamily="34" charset="-122"/>
              </a:rPr>
              <a:t>WireShark</a:t>
            </a:r>
            <a:r>
              <a:rPr lang="en-US" altLang="zh-CN" sz="2800" kern="0" dirty="0">
                <a:solidFill>
                  <a:srgbClr val="0070C0"/>
                </a:solidFill>
                <a:latin typeface="微软雅黑" panose="020B0503020204020204" pitchFamily="34" charset="-122"/>
                <a:ea typeface="微软雅黑" panose="020B0503020204020204" pitchFamily="34" charset="-122"/>
              </a:rPr>
              <a:t>, </a:t>
            </a:r>
            <a:r>
              <a:rPr lang="zh-CN" altLang="en-US" sz="2800" kern="0" dirty="0">
                <a:solidFill>
                  <a:srgbClr val="0070C0"/>
                </a:solidFill>
                <a:latin typeface="微软雅黑" panose="020B0503020204020204" pitchFamily="34" charset="-122"/>
                <a:ea typeface="微软雅黑" panose="020B0503020204020204" pitchFamily="34" charset="-122"/>
              </a:rPr>
              <a:t>执行</a:t>
            </a:r>
            <a:r>
              <a:rPr lang="en-US" altLang="zh-CN" sz="2800" kern="0" dirty="0">
                <a:solidFill>
                  <a:srgbClr val="0070C0"/>
                </a:solidFill>
                <a:latin typeface="微软雅黑" panose="020B0503020204020204" pitchFamily="34" charset="-122"/>
                <a:ea typeface="微软雅黑" panose="020B0503020204020204" pitchFamily="34" charset="-122"/>
              </a:rPr>
              <a:t>PING</a:t>
            </a:r>
            <a:r>
              <a:rPr lang="zh-CN" altLang="en-US" sz="2800" kern="0" dirty="0">
                <a:solidFill>
                  <a:srgbClr val="0070C0"/>
                </a:solidFill>
                <a:latin typeface="微软雅黑" panose="020B0503020204020204" pitchFamily="34" charset="-122"/>
                <a:ea typeface="微软雅黑" panose="020B0503020204020204" pitchFamily="34" charset="-122"/>
              </a:rPr>
              <a:t>指令，捕获并分析分组。</a:t>
            </a:r>
            <a:endParaRPr lang="en-US" altLang="zh-CN" sz="2800" kern="0" dirty="0">
              <a:solidFill>
                <a:srgbClr val="0070C0"/>
              </a:solidFill>
              <a:latin typeface="微软雅黑" panose="020B0503020204020204" pitchFamily="34" charset="-122"/>
              <a:ea typeface="微软雅黑" panose="020B0503020204020204" pitchFamily="34" charset="-122"/>
            </a:endParaRPr>
          </a:p>
          <a:p>
            <a:pPr marL="514350" indent="-514350" algn="l" eaLnBrk="1" hangingPunct="1">
              <a:lnSpc>
                <a:spcPct val="120000"/>
              </a:lnSpc>
              <a:buAutoNum type="arabicPeriod"/>
            </a:pPr>
            <a:r>
              <a:rPr lang="zh-CN" altLang="en-US" sz="2800" kern="0" dirty="0">
                <a:solidFill>
                  <a:srgbClr val="0070C0"/>
                </a:solidFill>
                <a:latin typeface="微软雅黑" panose="020B0503020204020204" pitchFamily="34" charset="-122"/>
                <a:ea typeface="微软雅黑" panose="020B0503020204020204" pitchFamily="34" charset="-122"/>
              </a:rPr>
              <a:t>开启</a:t>
            </a:r>
            <a:r>
              <a:rPr lang="en-US" altLang="zh-CN" sz="2800" kern="0" dirty="0" err="1">
                <a:solidFill>
                  <a:srgbClr val="0070C0"/>
                </a:solidFill>
                <a:latin typeface="微软雅黑" panose="020B0503020204020204" pitchFamily="34" charset="-122"/>
                <a:ea typeface="微软雅黑" panose="020B0503020204020204" pitchFamily="34" charset="-122"/>
              </a:rPr>
              <a:t>WireShark</a:t>
            </a:r>
            <a:r>
              <a:rPr lang="zh-CN" altLang="en-US" sz="2800" kern="0" dirty="0">
                <a:solidFill>
                  <a:srgbClr val="0070C0"/>
                </a:solidFill>
                <a:latin typeface="微软雅黑" panose="020B0503020204020204" pitchFamily="34" charset="-122"/>
                <a:ea typeface="微软雅黑" panose="020B0503020204020204" pitchFamily="34" charset="-122"/>
              </a:rPr>
              <a:t>，执行</a:t>
            </a:r>
            <a:r>
              <a:rPr lang="en-US" altLang="zh-CN" sz="2800" kern="0" dirty="0">
                <a:solidFill>
                  <a:srgbClr val="0070C0"/>
                </a:solidFill>
                <a:latin typeface="微软雅黑" panose="020B0503020204020204" pitchFamily="34" charset="-122"/>
                <a:ea typeface="微软雅黑" panose="020B0503020204020204" pitchFamily="34" charset="-122"/>
              </a:rPr>
              <a:t>tracert</a:t>
            </a:r>
            <a:r>
              <a:rPr lang="zh-CN" altLang="en-US" sz="2800" kern="0" dirty="0">
                <a:solidFill>
                  <a:srgbClr val="0070C0"/>
                </a:solidFill>
                <a:latin typeface="微软雅黑" panose="020B0503020204020204" pitchFamily="34" charset="-122"/>
                <a:ea typeface="微软雅黑" panose="020B0503020204020204" pitchFamily="34" charset="-122"/>
              </a:rPr>
              <a:t>指令，捕获并分析分组。</a:t>
            </a:r>
          </a:p>
        </p:txBody>
      </p:sp>
    </p:spTree>
    <p:extLst>
      <p:ext uri="{BB962C8B-B14F-4D97-AF65-F5344CB8AC3E}">
        <p14:creationId xmlns:p14="http://schemas.microsoft.com/office/powerpoint/2010/main" val="2000887614"/>
      </p:ext>
    </p:extLst>
  </p:cSld>
  <p:clrMapOvr>
    <a:masterClrMapping/>
  </p:clrMapOvr>
  <p:transition spd="slow"/>
</p:sld>
</file>

<file path=ppt/theme/theme1.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500" b="0" i="0" u="none" strike="noStrike" cap="none" normalizeH="0" baseline="0" smtClean="0">
            <a:ln>
              <a:noFill/>
            </a:ln>
            <a:solidFill>
              <a:schemeClr val="bg1"/>
            </a:solidFill>
            <a:effectLst/>
            <a:latin typeface="黑体" pitchFamily="49" charset="-122"/>
            <a:ea typeface="黑体" pitchFamily="49"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500" b="0" i="0" u="none" strike="noStrike" cap="none" normalizeH="0" baseline="0" smtClean="0">
            <a:ln>
              <a:noFill/>
            </a:ln>
            <a:solidFill>
              <a:schemeClr val="bg1"/>
            </a:solidFill>
            <a:effectLst/>
            <a:latin typeface="黑体" pitchFamily="49" charset="-122"/>
            <a:ea typeface="黑体" pitchFamily="49"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500" b="0" i="0" u="none" strike="noStrike" cap="none" normalizeH="0" baseline="0" smtClean="0">
            <a:ln>
              <a:noFill/>
            </a:ln>
            <a:solidFill>
              <a:schemeClr val="bg1"/>
            </a:solidFill>
            <a:effectLst/>
            <a:latin typeface="黑体" pitchFamily="49" charset="-122"/>
            <a:ea typeface="黑体" pitchFamily="49"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500" b="0" i="0" u="none" strike="noStrike" cap="none" normalizeH="0" baseline="0" smtClean="0">
            <a:ln>
              <a:noFill/>
            </a:ln>
            <a:solidFill>
              <a:schemeClr val="bg1"/>
            </a:solidFill>
            <a:effectLst/>
            <a:latin typeface="黑体" pitchFamily="49" charset="-122"/>
            <a:ea typeface="黑体" pitchFamily="49"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6971</TotalTime>
  <Words>2135</Words>
  <Application>Microsoft Office PowerPoint</Application>
  <PresentationFormat>宽屏</PresentationFormat>
  <Paragraphs>164</Paragraphs>
  <Slides>23</Slides>
  <Notes>1</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23</vt:i4>
      </vt:variant>
    </vt:vector>
  </HeadingPairs>
  <TitlesOfParts>
    <vt:vector size="32" baseType="lpstr">
      <vt:lpstr>等线</vt:lpstr>
      <vt:lpstr>黑体</vt:lpstr>
      <vt:lpstr>微软雅黑</vt:lpstr>
      <vt:lpstr>Arial</vt:lpstr>
      <vt:lpstr>Calibri</vt:lpstr>
      <vt:lpstr>Times New Roman</vt:lpstr>
      <vt:lpstr>Wingdings</vt:lpstr>
      <vt:lpstr>自定义设计方案</vt:lpstr>
      <vt:lpstr>1_自定义设计方案</vt:lpstr>
      <vt:lpstr>PowerPoint 演示文稿</vt:lpstr>
      <vt:lpstr>IP协议的缺点</vt:lpstr>
      <vt:lpstr>因特网控制消息协议 ICMP</vt:lpstr>
      <vt:lpstr>PowerPoint 演示文稿</vt:lpstr>
      <vt:lpstr>PowerPoint 演示文稿</vt:lpstr>
      <vt:lpstr>ICMP 报文类型</vt:lpstr>
      <vt:lpstr>ICMP 差错报告</vt:lpstr>
      <vt:lpstr>ICMP 差错报告 报文格式</vt:lpstr>
      <vt:lpstr>ICMP 差错报告报文- 类型3：终点不可达</vt:lpstr>
      <vt:lpstr>ICMP 差错报告报文-类型4:源点抑制</vt:lpstr>
      <vt:lpstr>ICMP 差错报告报文-类型4:源点抑制</vt:lpstr>
      <vt:lpstr>ICMP 差错报告报文-类型11：超时</vt:lpstr>
      <vt:lpstr>ICMP 差错报告报文-类型12：参数问题</vt:lpstr>
      <vt:lpstr>ICMP 差错报告报文-类型5：重定向</vt:lpstr>
      <vt:lpstr>ICMP 询问报文</vt:lpstr>
      <vt:lpstr>ICMP 回送请求（8）和回答（0）报文</vt:lpstr>
      <vt:lpstr>PowerPoint 演示文稿</vt:lpstr>
      <vt:lpstr>ICMP 时间戳请求（13）和回答（14）报文</vt:lpstr>
      <vt:lpstr>ICMP的应用：分组网间探测PING</vt:lpstr>
      <vt:lpstr>ICMP的应用：tracert 探测从源到目标经历的路由器</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wangjimin</cp:lastModifiedBy>
  <cp:revision>1240</cp:revision>
  <dcterms:created xsi:type="dcterms:W3CDTF">1601-01-01T00:00:00Z</dcterms:created>
  <dcterms:modified xsi:type="dcterms:W3CDTF">2025-03-28T01:03:06Z</dcterms:modified>
</cp:coreProperties>
</file>