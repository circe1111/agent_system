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1" r:id="rId1"/>
    <p:sldMasterId id="2147483733" r:id="rId2"/>
  </p:sldMasterIdLst>
  <p:notesMasterIdLst>
    <p:notesMasterId r:id="rId56"/>
  </p:notesMasterIdLst>
  <p:handoutMasterIdLst>
    <p:handoutMasterId r:id="rId57"/>
  </p:handoutMasterIdLst>
  <p:sldIdLst>
    <p:sldId id="258" r:id="rId3"/>
    <p:sldId id="579" r:id="rId4"/>
    <p:sldId id="622" r:id="rId5"/>
    <p:sldId id="515" r:id="rId6"/>
    <p:sldId id="619" r:id="rId7"/>
    <p:sldId id="416" r:id="rId8"/>
    <p:sldId id="418" r:id="rId9"/>
    <p:sldId id="422" r:id="rId10"/>
    <p:sldId id="584" r:id="rId11"/>
    <p:sldId id="583" r:id="rId12"/>
    <p:sldId id="504" r:id="rId13"/>
    <p:sldId id="630" r:id="rId14"/>
    <p:sldId id="585" r:id="rId15"/>
    <p:sldId id="425" r:id="rId16"/>
    <p:sldId id="588" r:id="rId17"/>
    <p:sldId id="650" r:id="rId18"/>
    <p:sldId id="587" r:id="rId19"/>
    <p:sldId id="624" r:id="rId20"/>
    <p:sldId id="625" r:id="rId21"/>
    <p:sldId id="644" r:id="rId22"/>
    <p:sldId id="645" r:id="rId23"/>
    <p:sldId id="648" r:id="rId24"/>
    <p:sldId id="519" r:id="rId25"/>
    <p:sldId id="520" r:id="rId26"/>
    <p:sldId id="521" r:id="rId27"/>
    <p:sldId id="522" r:id="rId28"/>
    <p:sldId id="523" r:id="rId29"/>
    <p:sldId id="580" r:id="rId30"/>
    <p:sldId id="524" r:id="rId31"/>
    <p:sldId id="525" r:id="rId32"/>
    <p:sldId id="527" r:id="rId33"/>
    <p:sldId id="608" r:id="rId34"/>
    <p:sldId id="620" r:id="rId35"/>
    <p:sldId id="609" r:id="rId36"/>
    <p:sldId id="610" r:id="rId37"/>
    <p:sldId id="616" r:id="rId38"/>
    <p:sldId id="589" r:id="rId39"/>
    <p:sldId id="590" r:id="rId40"/>
    <p:sldId id="592" r:id="rId41"/>
    <p:sldId id="629" r:id="rId42"/>
    <p:sldId id="593" r:id="rId43"/>
    <p:sldId id="594" r:id="rId44"/>
    <p:sldId id="638" r:id="rId45"/>
    <p:sldId id="612" r:id="rId46"/>
    <p:sldId id="613" r:id="rId47"/>
    <p:sldId id="597" r:id="rId48"/>
    <p:sldId id="631" r:id="rId49"/>
    <p:sldId id="636" r:id="rId50"/>
    <p:sldId id="640" r:id="rId51"/>
    <p:sldId id="641" r:id="rId52"/>
    <p:sldId id="639" r:id="rId53"/>
    <p:sldId id="643" r:id="rId54"/>
    <p:sldId id="649" r:id="rId55"/>
  </p:sldIdLst>
  <p:sldSz cx="9144000" cy="6858000" type="screen4x3"/>
  <p:notesSz cx="6858000" cy="9144000"/>
  <p:defaultTextStyle>
    <a:defPPr>
      <a:defRPr lang="en-US"/>
    </a:defPPr>
    <a:lvl1pPr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F7"/>
    <a:srgbClr val="2A10E8"/>
    <a:srgbClr val="CC0000"/>
    <a:srgbClr val="FF9933"/>
    <a:srgbClr val="FFCC00"/>
    <a:srgbClr val="516FA7"/>
    <a:srgbClr val="CCEC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1" autoAdjust="0"/>
    <p:restoredTop sz="89708" autoAdjust="0"/>
  </p:normalViewPr>
  <p:slideViewPr>
    <p:cSldViewPr>
      <p:cViewPr varScale="1">
        <p:scale>
          <a:sx n="96" d="100"/>
          <a:sy n="96" d="100"/>
        </p:scale>
        <p:origin x="1011"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42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zh-CN" altLang="en-US"/>
          </a:p>
        </p:txBody>
      </p:sp>
      <p:sp>
        <p:nvSpPr>
          <p:cNvPr id="23859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fld id="{8A5CE94A-D3C8-42EE-B379-C7D0E4476345}" type="datetime1">
              <a:rPr lang="zh-CN" altLang="en-US"/>
              <a:pPr>
                <a:defRPr/>
              </a:pPr>
              <a:t>2026/2/24</a:t>
            </a:fld>
            <a:endParaRPr lang="en-US" altLang="zh-CN"/>
          </a:p>
        </p:txBody>
      </p:sp>
      <p:sp>
        <p:nvSpPr>
          <p:cNvPr id="23859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23859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2552274F-6FE6-40E9-BF3D-5E66C98D1074}" type="slidenum">
              <a:rPr lang="zh-CN" altLang="en-US"/>
              <a:pPr>
                <a:defRPr/>
              </a:pPr>
              <a:t>‹#›</a:t>
            </a:fld>
            <a:endParaRPr lang="en-US" altLang="zh-CN"/>
          </a:p>
        </p:txBody>
      </p:sp>
    </p:spTree>
    <p:extLst>
      <p:ext uri="{BB962C8B-B14F-4D97-AF65-F5344CB8AC3E}">
        <p14:creationId xmlns:p14="http://schemas.microsoft.com/office/powerpoint/2010/main" val="27612022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zh-CN" alt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fld id="{9CF37872-B497-4D05-9C56-49CCB20B57F3}" type="datetime1">
              <a:rPr lang="zh-CN" altLang="en-US"/>
              <a:pPr>
                <a:defRPr/>
              </a:pPr>
              <a:t>2026/2/24</a:t>
            </a:fld>
            <a:endParaRPr lang="en-US" altLang="zh-CN"/>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15992232-FAA3-4EDF-8D86-40B3045221C3}" type="slidenum">
              <a:rPr lang="zh-CN" altLang="en-US"/>
              <a:pPr>
                <a:defRPr/>
              </a:pPr>
              <a:t>‹#›</a:t>
            </a:fld>
            <a:endParaRPr lang="en-US" altLang="zh-CN"/>
          </a:p>
        </p:txBody>
      </p:sp>
    </p:spTree>
    <p:extLst>
      <p:ext uri="{BB962C8B-B14F-4D97-AF65-F5344CB8AC3E}">
        <p14:creationId xmlns:p14="http://schemas.microsoft.com/office/powerpoint/2010/main" val="3300856494"/>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B36BD0D-C7E1-4480-BED4-101519D4B36A}" type="datetime1">
              <a:rPr lang="zh-CN" altLang="en-US" smtClean="0"/>
              <a:pPr>
                <a:spcBef>
                  <a:spcPct val="0"/>
                </a:spcBef>
              </a:pPr>
              <a:t>2026/2/24</a:t>
            </a:fld>
            <a:endParaRPr lang="en-US" altLang="zh-CN"/>
          </a:p>
        </p:txBody>
      </p:sp>
      <p:sp>
        <p:nvSpPr>
          <p:cNvPr id="7171"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D81459F-BC21-4BF4-B872-915473B37EAA}" type="slidenum">
              <a:rPr lang="zh-CN" altLang="en-US" smtClean="0"/>
              <a:pPr>
                <a:spcBef>
                  <a:spcPct val="0"/>
                </a:spcBef>
              </a:pPr>
              <a:t>1</a:t>
            </a:fld>
            <a:endParaRPr lang="en-US" altLang="zh-CN"/>
          </a:p>
        </p:txBody>
      </p:sp>
      <p:sp>
        <p:nvSpPr>
          <p:cNvPr id="7172" name="Rectangle 2"/>
          <p:cNvSpPr>
            <a:spLocks noGrp="1" noRot="1" noChangeAspect="1" noChangeArrowheads="1" noTextEdit="1"/>
          </p:cNvSpPr>
          <p:nvPr>
            <p:ph type="sldImg"/>
          </p:nvPr>
        </p:nvSpPr>
        <p:spPr>
          <a:ln/>
        </p:spPr>
      </p:sp>
      <p:sp>
        <p:nvSpPr>
          <p:cNvPr id="7173"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3058268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E54715D-F81B-4BE7-AC29-3BBC07E941AA}" type="datetime1">
              <a:rPr lang="zh-CN" altLang="en-US" smtClean="0"/>
              <a:pPr>
                <a:spcBef>
                  <a:spcPct val="0"/>
                </a:spcBef>
              </a:pPr>
              <a:t>2026/2/24</a:t>
            </a:fld>
            <a:endParaRPr lang="en-US" altLang="zh-CN"/>
          </a:p>
        </p:txBody>
      </p:sp>
      <p:sp>
        <p:nvSpPr>
          <p:cNvPr id="921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63DC89F-4B8E-4FDE-AD83-9C075F598DA1}" type="slidenum">
              <a:rPr lang="zh-CN" altLang="en-US" smtClean="0"/>
              <a:pPr>
                <a:spcBef>
                  <a:spcPct val="0"/>
                </a:spcBef>
              </a:pPr>
              <a:t>2</a:t>
            </a:fld>
            <a:endParaRPr lang="en-US" altLang="zh-CN"/>
          </a:p>
        </p:txBody>
      </p:sp>
      <p:sp>
        <p:nvSpPr>
          <p:cNvPr id="9220" name="Rectangle 2"/>
          <p:cNvSpPr>
            <a:spLocks noGrp="1" noRot="1" noChangeAspect="1" noChangeArrowheads="1" noTextEdit="1"/>
          </p:cNvSpPr>
          <p:nvPr>
            <p:ph type="sldImg"/>
          </p:nvPr>
        </p:nvSpPr>
        <p:spPr>
          <a:ln/>
        </p:spPr>
      </p:sp>
      <p:sp>
        <p:nvSpPr>
          <p:cNvPr id="9221"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2015424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013F088-BAE0-49F9-9FCB-C8D4588AFD2B}" type="datetime1">
              <a:rPr lang="zh-CN" altLang="en-US" smtClean="0"/>
              <a:pPr>
                <a:spcBef>
                  <a:spcPct val="0"/>
                </a:spcBef>
              </a:pPr>
              <a:t>2026/2/24</a:t>
            </a:fld>
            <a:endParaRPr lang="en-US" altLang="zh-CN"/>
          </a:p>
        </p:txBody>
      </p:sp>
      <p:sp>
        <p:nvSpPr>
          <p:cNvPr id="11267"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9A45C1C-D88B-40E9-92B3-03D8420AA4A2}" type="slidenum">
              <a:rPr lang="zh-CN" altLang="en-US" smtClean="0"/>
              <a:pPr>
                <a:spcBef>
                  <a:spcPct val="0"/>
                </a:spcBef>
              </a:pPr>
              <a:t>3</a:t>
            </a:fld>
            <a:endParaRPr lang="en-US" altLang="zh-CN"/>
          </a:p>
        </p:txBody>
      </p:sp>
      <p:sp>
        <p:nvSpPr>
          <p:cNvPr id="11268" name="Rectangle 2"/>
          <p:cNvSpPr>
            <a:spLocks noGrp="1" noRot="1" noChangeAspect="1" noChangeArrowheads="1" noTextEdit="1"/>
          </p:cNvSpPr>
          <p:nvPr>
            <p:ph type="sldImg"/>
          </p:nvPr>
        </p:nvSpPr>
        <p:spPr>
          <a:ln/>
        </p:spPr>
      </p:sp>
      <p:sp>
        <p:nvSpPr>
          <p:cNvPr id="11269"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098081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fld id="{9CAA02E4-63B2-440D-B688-823AF4A88959}" type="slidenum">
              <a:rPr kumimoji="0" lang="en-US" altLang="zh-CN" sz="1200" smtClean="0">
                <a:latin typeface="Arial" panose="020B0604020202020204" pitchFamily="34" charset="0"/>
              </a:rPr>
              <a:pPr/>
              <a:t>32</a:t>
            </a:fld>
            <a:endParaRPr kumimoji="0" lang="en-US" altLang="zh-CN" sz="1200">
              <a:latin typeface="Arial" panose="020B0604020202020204" pitchFamily="34"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1474786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fld id="{3CEC2DBB-3E23-479C-A459-344E5BC6BD30}" type="slidenum">
              <a:rPr kumimoji="0" lang="en-US" altLang="zh-CN" sz="1200" smtClean="0">
                <a:latin typeface="Arial" panose="020B0604020202020204" pitchFamily="34" charset="0"/>
              </a:rPr>
              <a:pPr/>
              <a:t>33</a:t>
            </a:fld>
            <a:endParaRPr kumimoji="0" lang="en-US" altLang="zh-CN" sz="1200">
              <a:latin typeface="Arial" panose="020B060402020202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1613362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fld id="{FA47F325-6AB8-4887-B909-2B26170BD8F2}" type="slidenum">
              <a:rPr kumimoji="0" lang="en-US" altLang="zh-CN" sz="1200" smtClean="0">
                <a:latin typeface="Arial" panose="020B0604020202020204" pitchFamily="34" charset="0"/>
              </a:rPr>
              <a:pPr/>
              <a:t>35</a:t>
            </a:fld>
            <a:endParaRPr kumimoji="0" lang="en-US" altLang="zh-CN" sz="1200">
              <a:latin typeface="Arial" panose="020B0604020202020204"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47852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fld id="{45C1D216-CB61-4393-B0B8-D9BD3C24D719}" type="slidenum">
              <a:rPr kumimoji="0" lang="en-US" altLang="zh-CN" sz="1200" smtClean="0">
                <a:latin typeface="Arial" panose="020B0604020202020204" pitchFamily="34" charset="0"/>
              </a:rPr>
              <a:pPr/>
              <a:t>36</a:t>
            </a:fld>
            <a:endParaRPr kumimoji="0" lang="en-US" altLang="zh-CN" sz="1200">
              <a:latin typeface="Arial" panose="020B0604020202020204"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3811364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0E3E4A5-69B2-4CB1-A54E-CBEF76031310}" type="datetime1">
              <a:rPr lang="zh-CN" altLang="en-US" smtClean="0"/>
              <a:pPr>
                <a:spcBef>
                  <a:spcPct val="0"/>
                </a:spcBef>
              </a:pPr>
              <a:t>2026/2/24</a:t>
            </a:fld>
            <a:endParaRPr lang="en-US" altLang="zh-CN"/>
          </a:p>
        </p:txBody>
      </p:sp>
      <p:sp>
        <p:nvSpPr>
          <p:cNvPr id="6041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CBCAE4F-2032-47AC-803E-0C3BCA031032}" type="slidenum">
              <a:rPr lang="zh-CN" altLang="en-US" smtClean="0"/>
              <a:pPr>
                <a:spcBef>
                  <a:spcPct val="0"/>
                </a:spcBef>
              </a:pPr>
              <a:t>46</a:t>
            </a:fld>
            <a:endParaRPr lang="en-US" altLang="zh-CN"/>
          </a:p>
        </p:txBody>
      </p:sp>
      <p:sp>
        <p:nvSpPr>
          <p:cNvPr id="6042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64F82F0-389B-4EBA-9CE6-A2A9810AC23B}" type="slidenum">
              <a:rPr lang="en-US" altLang="zh-CN">
                <a:solidFill>
                  <a:srgbClr val="000000"/>
                </a:solidFill>
                <a:latin typeface="Arial" panose="020B0604020202020204" pitchFamily="34" charset="0"/>
              </a:rPr>
              <a:pPr algn="r" eaLnBrk="1" hangingPunct="1">
                <a:spcBef>
                  <a:spcPct val="0"/>
                </a:spcBef>
              </a:pPr>
              <a:t>46</a:t>
            </a:fld>
            <a:endParaRPr lang="en-US" altLang="zh-CN">
              <a:solidFill>
                <a:srgbClr val="000000"/>
              </a:solidFill>
              <a:latin typeface="Arial" panose="020B0604020202020204" pitchFamily="34" charset="0"/>
            </a:endParaRPr>
          </a:p>
        </p:txBody>
      </p:sp>
      <p:sp>
        <p:nvSpPr>
          <p:cNvPr id="60421" name="Rectangle 2"/>
          <p:cNvSpPr>
            <a:spLocks noGrp="1" noRot="1" noChangeAspect="1" noChangeArrowheads="1" noTextEdit="1"/>
          </p:cNvSpPr>
          <p:nvPr>
            <p:ph type="sldImg"/>
          </p:nvPr>
        </p:nvSpPr>
        <p:spPr>
          <a:ln/>
        </p:spPr>
      </p:sp>
      <p:sp>
        <p:nvSpPr>
          <p:cNvPr id="60422" name="Rectangle 3"/>
          <p:cNvSpPr>
            <a:spLocks noGrp="1" noChangeArrowheads="1"/>
          </p:cNvSpPr>
          <p:nvPr>
            <p:ph type="body" idx="1"/>
          </p:nvPr>
        </p:nvSpPr>
        <p:spPr>
          <a:xfrm>
            <a:off x="685800" y="4343400"/>
            <a:ext cx="5486400" cy="4114800"/>
          </a:xfrm>
          <a:noFill/>
        </p:spPr>
        <p:txBody>
          <a:bodyPr/>
          <a:lstStyle/>
          <a:p>
            <a:pPr eaLnBrk="1" hangingPunct="1"/>
            <a:endParaRPr lang="zh-CN" altLang="zh-CN"/>
          </a:p>
        </p:txBody>
      </p:sp>
    </p:spTree>
    <p:extLst>
      <p:ext uri="{BB962C8B-B14F-4D97-AF65-F5344CB8AC3E}">
        <p14:creationId xmlns:p14="http://schemas.microsoft.com/office/powerpoint/2010/main" val="3072856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type="dt" sz="quarter" idx="1"/>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90E3E4A5-69B2-4CB1-A54E-CBEF76031310}" type="datetime1">
              <a:rPr lang="zh-CN" altLang="en-US" smtClean="0"/>
              <a:pPr>
                <a:spcBef>
                  <a:spcPct val="0"/>
                </a:spcBef>
              </a:pPr>
              <a:t>2026/2/24</a:t>
            </a:fld>
            <a:endParaRPr lang="en-US" altLang="zh-CN"/>
          </a:p>
        </p:txBody>
      </p:sp>
      <p:sp>
        <p:nvSpPr>
          <p:cNvPr id="60419" name="Rectangle 7"/>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CBCAE4F-2032-47AC-803E-0C3BCA031032}" type="slidenum">
              <a:rPr lang="zh-CN" altLang="en-US" smtClean="0"/>
              <a:pPr>
                <a:spcBef>
                  <a:spcPct val="0"/>
                </a:spcBef>
              </a:pPr>
              <a:t>47</a:t>
            </a:fld>
            <a:endParaRPr lang="en-US" altLang="zh-CN"/>
          </a:p>
        </p:txBody>
      </p:sp>
      <p:sp>
        <p:nvSpPr>
          <p:cNvPr id="6042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64F82F0-389B-4EBA-9CE6-A2A9810AC23B}" type="slidenum">
              <a:rPr lang="en-US" altLang="zh-CN">
                <a:solidFill>
                  <a:srgbClr val="000000"/>
                </a:solidFill>
                <a:latin typeface="Arial" panose="020B0604020202020204" pitchFamily="34" charset="0"/>
              </a:rPr>
              <a:pPr algn="r" eaLnBrk="1" hangingPunct="1">
                <a:spcBef>
                  <a:spcPct val="0"/>
                </a:spcBef>
              </a:pPr>
              <a:t>47</a:t>
            </a:fld>
            <a:endParaRPr lang="en-US" altLang="zh-CN">
              <a:solidFill>
                <a:srgbClr val="000000"/>
              </a:solidFill>
              <a:latin typeface="Arial" panose="020B0604020202020204" pitchFamily="34" charset="0"/>
            </a:endParaRPr>
          </a:p>
        </p:txBody>
      </p:sp>
      <p:sp>
        <p:nvSpPr>
          <p:cNvPr id="60421" name="Rectangle 2"/>
          <p:cNvSpPr>
            <a:spLocks noGrp="1" noRot="1" noChangeAspect="1" noChangeArrowheads="1" noTextEdit="1"/>
          </p:cNvSpPr>
          <p:nvPr>
            <p:ph type="sldImg"/>
          </p:nvPr>
        </p:nvSpPr>
        <p:spPr>
          <a:ln/>
        </p:spPr>
      </p:sp>
      <p:sp>
        <p:nvSpPr>
          <p:cNvPr id="60422" name="Rectangle 3"/>
          <p:cNvSpPr>
            <a:spLocks noGrp="1" noChangeArrowheads="1"/>
          </p:cNvSpPr>
          <p:nvPr>
            <p:ph type="body" idx="1"/>
          </p:nvPr>
        </p:nvSpPr>
        <p:spPr>
          <a:xfrm>
            <a:off x="685800" y="4343400"/>
            <a:ext cx="5486400" cy="4114800"/>
          </a:xfrm>
          <a:noFill/>
        </p:spPr>
        <p:txBody>
          <a:bodyPr/>
          <a:lstStyle/>
          <a:p>
            <a:pPr eaLnBrk="1" hangingPunct="1"/>
            <a:endParaRPr lang="zh-CN" altLang="zh-CN"/>
          </a:p>
        </p:txBody>
      </p:sp>
    </p:spTree>
    <p:extLst>
      <p:ext uri="{BB962C8B-B14F-4D97-AF65-F5344CB8AC3E}">
        <p14:creationId xmlns:p14="http://schemas.microsoft.com/office/powerpoint/2010/main" val="21955909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pic>
        <p:nvPicPr>
          <p:cNvPr id="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p:cNvSpPr txBox="1">
            <a:spLocks noChangeArrowheads="1"/>
          </p:cNvSpPr>
          <p:nvPr/>
        </p:nvSpPr>
        <p:spPr bwMode="auto">
          <a:xfrm>
            <a:off x="2627313" y="2603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a:solidFill>
                  <a:srgbClr val="F7F7F7"/>
                </a:solidFill>
                <a:ea typeface="楷体_GB2312" pitchFamily="49" charset="-122"/>
              </a:rPr>
              <a:t>计算机与信息学院</a:t>
            </a:r>
          </a:p>
        </p:txBody>
      </p:sp>
      <p:sp>
        <p:nvSpPr>
          <p:cNvPr id="7" name="Text Box 14"/>
          <p:cNvSpPr txBox="1">
            <a:spLocks noChangeArrowheads="1"/>
          </p:cNvSpPr>
          <p:nvPr/>
        </p:nvSpPr>
        <p:spPr bwMode="auto">
          <a:xfrm>
            <a:off x="0" y="6640513"/>
            <a:ext cx="9144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algn="ctr" eaLnBrk="1" hangingPunct="1">
              <a:defRPr/>
            </a:pPr>
            <a:r>
              <a:rPr kumimoji="1" lang="zh-CN" altLang="en-US" sz="1000">
                <a:solidFill>
                  <a:schemeClr val="bg1"/>
                </a:solidFill>
                <a:latin typeface="Times New Roman" pitchFamily="18" charset="0"/>
              </a:rPr>
              <a:t>河海大学计算机与信息学院计算机科学与技术系</a:t>
            </a:r>
            <a:endParaRPr kumimoji="1" lang="en-US" altLang="zh-CN" sz="1000">
              <a:solidFill>
                <a:schemeClr val="bg1"/>
              </a:solidFill>
              <a:latin typeface="Times New Roman" pitchFamily="18" charset="0"/>
            </a:endParaRPr>
          </a:p>
        </p:txBody>
      </p:sp>
      <p:pic>
        <p:nvPicPr>
          <p:cNvPr id="8" name="Picture 15" descr="邓体字徽（白色透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388" y="0"/>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6" name="Rectangle 2"/>
          <p:cNvSpPr>
            <a:spLocks noGrp="1" noChangeArrowheads="1"/>
          </p:cNvSpPr>
          <p:nvPr>
            <p:ph type="ctrTitle"/>
          </p:nvPr>
        </p:nvSpPr>
        <p:spPr>
          <a:xfrm>
            <a:off x="685800" y="990600"/>
            <a:ext cx="7772400" cy="1371600"/>
          </a:xfrm>
        </p:spPr>
        <p:txBody>
          <a:bodyPr/>
          <a:lstStyle>
            <a:lvl1pPr>
              <a:defRPr sz="4000"/>
            </a:lvl1pPr>
          </a:lstStyle>
          <a:p>
            <a:pPr lvl="0"/>
            <a:r>
              <a:rPr lang="zh-CN" altLang="en-US" noProof="0"/>
              <a:t>单击此处编辑母版标题样式</a:t>
            </a:r>
          </a:p>
        </p:txBody>
      </p:sp>
      <p:sp>
        <p:nvSpPr>
          <p:cNvPr id="144387"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pPr lvl="0"/>
            <a:r>
              <a:rPr lang="zh-CN" altLang="en-US" noProof="0"/>
              <a:t>单击此处编辑母版副标题样式</a:t>
            </a:r>
          </a:p>
        </p:txBody>
      </p:sp>
      <p:pic>
        <p:nvPicPr>
          <p:cNvPr id="9" name="Picture 13">
            <a:extLst>
              <a:ext uri="{FF2B5EF4-FFF2-40B4-BE49-F238E27FC236}">
                <a16:creationId xmlns:a16="http://schemas.microsoft.com/office/drawing/2014/main" id="{5C3A032D-38D7-4307-8C26-3C75FAC51F2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24" y="5152"/>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14">
            <a:extLst>
              <a:ext uri="{FF2B5EF4-FFF2-40B4-BE49-F238E27FC236}">
                <a16:creationId xmlns:a16="http://schemas.microsoft.com/office/drawing/2014/main" id="{3110089E-19D4-41FC-A345-F8E7449EF85A}"/>
              </a:ext>
            </a:extLst>
          </p:cNvPr>
          <p:cNvSpPr txBox="1">
            <a:spLocks noChangeArrowheads="1"/>
          </p:cNvSpPr>
          <p:nvPr userDrawn="1"/>
        </p:nvSpPr>
        <p:spPr bwMode="auto">
          <a:xfrm>
            <a:off x="2477814" y="265502"/>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dirty="0">
                <a:solidFill>
                  <a:srgbClr val="F7F7F7"/>
                </a:solidFill>
                <a:ea typeface="楷体_GB2312" pitchFamily="49" charset="-122"/>
              </a:rPr>
              <a:t>计算机与软件学院</a:t>
            </a:r>
          </a:p>
        </p:txBody>
      </p:sp>
      <p:pic>
        <p:nvPicPr>
          <p:cNvPr id="11" name="Picture 15" descr="邓体字徽（白色透明）">
            <a:extLst>
              <a:ext uri="{FF2B5EF4-FFF2-40B4-BE49-F238E27FC236}">
                <a16:creationId xmlns:a16="http://schemas.microsoft.com/office/drawing/2014/main" id="{71B9ACB9-4E76-4101-A340-4F3E95792CDF}"/>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72764" y="5152"/>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4500181"/>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4" name="Picture 13">
            <a:extLst>
              <a:ext uri="{FF2B5EF4-FFF2-40B4-BE49-F238E27FC236}">
                <a16:creationId xmlns:a16="http://schemas.microsoft.com/office/drawing/2014/main" id="{A5297D42-6309-4176-816C-EAA3FA55B92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24" y="5152"/>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4">
            <a:extLst>
              <a:ext uri="{FF2B5EF4-FFF2-40B4-BE49-F238E27FC236}">
                <a16:creationId xmlns:a16="http://schemas.microsoft.com/office/drawing/2014/main" id="{D1037E59-0162-4F08-8CC4-00923B1A8794}"/>
              </a:ext>
            </a:extLst>
          </p:cNvPr>
          <p:cNvSpPr txBox="1">
            <a:spLocks noChangeArrowheads="1"/>
          </p:cNvSpPr>
          <p:nvPr userDrawn="1"/>
        </p:nvSpPr>
        <p:spPr bwMode="auto">
          <a:xfrm>
            <a:off x="2477814" y="265502"/>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dirty="0">
                <a:solidFill>
                  <a:srgbClr val="F7F7F7"/>
                </a:solidFill>
                <a:ea typeface="楷体_GB2312" pitchFamily="49" charset="-122"/>
              </a:rPr>
              <a:t>计算机与软件学院</a:t>
            </a:r>
          </a:p>
        </p:txBody>
      </p:sp>
      <p:pic>
        <p:nvPicPr>
          <p:cNvPr id="6" name="Picture 15" descr="邓体字徽（白色透明）">
            <a:extLst>
              <a:ext uri="{FF2B5EF4-FFF2-40B4-BE49-F238E27FC236}">
                <a16:creationId xmlns:a16="http://schemas.microsoft.com/office/drawing/2014/main" id="{AF645676-F8ED-41B4-8BE3-6A8119CE354A}"/>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72764" y="5152"/>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5669626"/>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pic>
        <p:nvPicPr>
          <p:cNvPr id="4" name="Picture 13">
            <a:extLst>
              <a:ext uri="{FF2B5EF4-FFF2-40B4-BE49-F238E27FC236}">
                <a16:creationId xmlns:a16="http://schemas.microsoft.com/office/drawing/2014/main" id="{A9AB68B2-3524-4652-814C-F341B869DED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24" y="5152"/>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4">
            <a:extLst>
              <a:ext uri="{FF2B5EF4-FFF2-40B4-BE49-F238E27FC236}">
                <a16:creationId xmlns:a16="http://schemas.microsoft.com/office/drawing/2014/main" id="{A3B26440-D443-4685-B819-805A83FF0232}"/>
              </a:ext>
            </a:extLst>
          </p:cNvPr>
          <p:cNvSpPr txBox="1">
            <a:spLocks noChangeArrowheads="1"/>
          </p:cNvSpPr>
          <p:nvPr userDrawn="1"/>
        </p:nvSpPr>
        <p:spPr bwMode="auto">
          <a:xfrm>
            <a:off x="2477814" y="265502"/>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dirty="0">
                <a:solidFill>
                  <a:srgbClr val="F7F7F7"/>
                </a:solidFill>
                <a:ea typeface="楷体_GB2312" pitchFamily="49" charset="-122"/>
              </a:rPr>
              <a:t>计算机与软件学院</a:t>
            </a:r>
          </a:p>
        </p:txBody>
      </p:sp>
      <p:pic>
        <p:nvPicPr>
          <p:cNvPr id="6" name="Picture 15" descr="邓体字徽（白色透明）">
            <a:extLst>
              <a:ext uri="{FF2B5EF4-FFF2-40B4-BE49-F238E27FC236}">
                <a16:creationId xmlns:a16="http://schemas.microsoft.com/office/drawing/2014/main" id="{4717858E-2FB0-4D3C-999B-D568BAD71C90}"/>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72764" y="5152"/>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5940305"/>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5" name="Picture 13">
            <a:extLst>
              <a:ext uri="{FF2B5EF4-FFF2-40B4-BE49-F238E27FC236}">
                <a16:creationId xmlns:a16="http://schemas.microsoft.com/office/drawing/2014/main" id="{FD9CE4DA-22C3-4464-929A-7A58F603424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24" y="5152"/>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4">
            <a:extLst>
              <a:ext uri="{FF2B5EF4-FFF2-40B4-BE49-F238E27FC236}">
                <a16:creationId xmlns:a16="http://schemas.microsoft.com/office/drawing/2014/main" id="{14CA4EF7-E680-42F8-B419-B31D5A4D07B7}"/>
              </a:ext>
            </a:extLst>
          </p:cNvPr>
          <p:cNvSpPr txBox="1">
            <a:spLocks noChangeArrowheads="1"/>
          </p:cNvSpPr>
          <p:nvPr userDrawn="1"/>
        </p:nvSpPr>
        <p:spPr bwMode="auto">
          <a:xfrm>
            <a:off x="2477814" y="265502"/>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dirty="0">
                <a:solidFill>
                  <a:srgbClr val="F7F7F7"/>
                </a:solidFill>
                <a:ea typeface="楷体_GB2312" pitchFamily="49" charset="-122"/>
              </a:rPr>
              <a:t>计算机与软件学院</a:t>
            </a:r>
          </a:p>
        </p:txBody>
      </p:sp>
      <p:pic>
        <p:nvPicPr>
          <p:cNvPr id="7" name="Picture 15" descr="邓体字徽（白色透明）">
            <a:extLst>
              <a:ext uri="{FF2B5EF4-FFF2-40B4-BE49-F238E27FC236}">
                <a16:creationId xmlns:a16="http://schemas.microsoft.com/office/drawing/2014/main" id="{87DD8848-B96D-442A-9BD7-133221011D2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72764" y="5152"/>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54206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31708751"/>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406310047"/>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899303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906060787"/>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23398635"/>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72362579"/>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202490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752600"/>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3438" y="17526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3438" y="39624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7199889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66738" y="304800"/>
            <a:ext cx="8008937" cy="5715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3371933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B5151DE1-9CC6-414C-9C9E-0ED20B374263}" type="datetime11">
              <a:rPr lang="zh-CN" altLang="en-US"/>
              <a:pPr>
                <a:defRPr/>
              </a:pPr>
              <a:t>21:14:52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FEBE5EC-D87F-4E6A-B24D-A634D2F4E21E}" type="slidenum">
              <a:rPr lang="zh-CN" altLang="en-US"/>
              <a:pPr>
                <a:defRPr/>
              </a:pPr>
              <a:t>‹#›</a:t>
            </a:fld>
            <a:endParaRPr lang="en-US" altLang="zh-CN"/>
          </a:p>
        </p:txBody>
      </p:sp>
    </p:spTree>
    <p:extLst>
      <p:ext uri="{BB962C8B-B14F-4D97-AF65-F5344CB8AC3E}">
        <p14:creationId xmlns:p14="http://schemas.microsoft.com/office/powerpoint/2010/main" val="2592420418"/>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7631029C-BAB1-4165-8F4A-81F1094EEF82}" type="datetime11">
              <a:rPr lang="zh-CN" altLang="en-US"/>
              <a:pPr>
                <a:defRPr/>
              </a:pPr>
              <a:t>21:14:52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924FCCD-DE05-47B4-82E2-59B6EAA0B8C3}" type="slidenum">
              <a:rPr lang="zh-CN" altLang="en-US"/>
              <a:pPr>
                <a:defRPr/>
              </a:pPr>
              <a:t>‹#›</a:t>
            </a:fld>
            <a:endParaRPr lang="en-US" altLang="zh-CN"/>
          </a:p>
        </p:txBody>
      </p:sp>
    </p:spTree>
    <p:extLst>
      <p:ext uri="{BB962C8B-B14F-4D97-AF65-F5344CB8AC3E}">
        <p14:creationId xmlns:p14="http://schemas.microsoft.com/office/powerpoint/2010/main" val="802353197"/>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6C294BAF-75B6-45BF-8D96-A2B791AF5220}" type="datetime11">
              <a:rPr lang="zh-CN" altLang="en-US"/>
              <a:pPr>
                <a:defRPr/>
              </a:pPr>
              <a:t>21:14:52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F188FEE-4F88-4327-AEDD-D86CF7A03507}" type="slidenum">
              <a:rPr lang="zh-CN" altLang="en-US"/>
              <a:pPr>
                <a:defRPr/>
              </a:pPr>
              <a:t>‹#›</a:t>
            </a:fld>
            <a:endParaRPr lang="en-US" altLang="zh-CN"/>
          </a:p>
        </p:txBody>
      </p:sp>
    </p:spTree>
    <p:extLst>
      <p:ext uri="{BB962C8B-B14F-4D97-AF65-F5344CB8AC3E}">
        <p14:creationId xmlns:p14="http://schemas.microsoft.com/office/powerpoint/2010/main" val="2703367686"/>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2C11D35A-B8BD-42D7-8D2B-E9C336BC1531}" type="datetime11">
              <a:rPr lang="zh-CN" altLang="en-US"/>
              <a:pPr>
                <a:defRPr/>
              </a:pPr>
              <a:t>21:14:52</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7F1F47C-3F9B-42A9-B0FD-91A999740A37}" type="slidenum">
              <a:rPr lang="zh-CN" altLang="en-US"/>
              <a:pPr>
                <a:defRPr/>
              </a:pPr>
              <a:t>‹#›</a:t>
            </a:fld>
            <a:endParaRPr lang="en-US" altLang="zh-CN"/>
          </a:p>
        </p:txBody>
      </p:sp>
    </p:spTree>
    <p:extLst>
      <p:ext uri="{BB962C8B-B14F-4D97-AF65-F5344CB8AC3E}">
        <p14:creationId xmlns:p14="http://schemas.microsoft.com/office/powerpoint/2010/main" val="1453447358"/>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A38A9D71-5EC2-4C23-9FFE-57BE85536556}" type="datetime11">
              <a:rPr lang="zh-CN" altLang="en-US"/>
              <a:pPr>
                <a:defRPr/>
              </a:pPr>
              <a:t>21:14:52</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4D8601B-A26F-4C4B-B07C-9ED001C7CE27}" type="slidenum">
              <a:rPr lang="zh-CN" altLang="en-US"/>
              <a:pPr>
                <a:defRPr/>
              </a:pPr>
              <a:t>‹#›</a:t>
            </a:fld>
            <a:endParaRPr lang="en-US" altLang="zh-CN"/>
          </a:p>
        </p:txBody>
      </p:sp>
    </p:spTree>
    <p:extLst>
      <p:ext uri="{BB962C8B-B14F-4D97-AF65-F5344CB8AC3E}">
        <p14:creationId xmlns:p14="http://schemas.microsoft.com/office/powerpoint/2010/main" val="2397313731"/>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14D43CFF-A368-47DD-ABD9-B3B318F2C38C}" type="datetime11">
              <a:rPr lang="zh-CN" altLang="en-US"/>
              <a:pPr>
                <a:defRPr/>
              </a:pPr>
              <a:t>21:14:52</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CDBB4E8-0E61-4155-8076-C5C1E7EFFB4B}" type="slidenum">
              <a:rPr lang="zh-CN" altLang="en-US"/>
              <a:pPr>
                <a:defRPr/>
              </a:pPr>
              <a:t>‹#›</a:t>
            </a:fld>
            <a:endParaRPr lang="en-US" altLang="zh-CN"/>
          </a:p>
        </p:txBody>
      </p:sp>
    </p:spTree>
    <p:extLst>
      <p:ext uri="{BB962C8B-B14F-4D97-AF65-F5344CB8AC3E}">
        <p14:creationId xmlns:p14="http://schemas.microsoft.com/office/powerpoint/2010/main" val="1144266529"/>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AE758D1C-75C2-415E-A30E-C633EB8DACFF}" type="datetime11">
              <a:rPr lang="zh-CN" altLang="en-US"/>
              <a:pPr>
                <a:defRPr/>
              </a:pPr>
              <a:t>21:14:52</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5946D8B1-5536-4BA0-87FD-071E96D34EA5}" type="slidenum">
              <a:rPr lang="zh-CN" altLang="en-US"/>
              <a:pPr>
                <a:defRPr/>
              </a:pPr>
              <a:t>‹#›</a:t>
            </a:fld>
            <a:endParaRPr lang="en-US" altLang="zh-CN"/>
          </a:p>
        </p:txBody>
      </p:sp>
    </p:spTree>
    <p:extLst>
      <p:ext uri="{BB962C8B-B14F-4D97-AF65-F5344CB8AC3E}">
        <p14:creationId xmlns:p14="http://schemas.microsoft.com/office/powerpoint/2010/main" val="1317401895"/>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2BA84E80-374A-4EC7-992E-605220B414B0}" type="datetime11">
              <a:rPr lang="zh-CN" altLang="en-US"/>
              <a:pPr>
                <a:defRPr/>
              </a:pPr>
              <a:t>21:14:52</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440E6F3-F0DF-4FCA-A6CE-684B6FD38042}" type="slidenum">
              <a:rPr lang="zh-CN" altLang="en-US"/>
              <a:pPr>
                <a:defRPr/>
              </a:pPr>
              <a:t>‹#›</a:t>
            </a:fld>
            <a:endParaRPr lang="en-US" altLang="zh-CN"/>
          </a:p>
        </p:txBody>
      </p:sp>
    </p:spTree>
    <p:extLst>
      <p:ext uri="{BB962C8B-B14F-4D97-AF65-F5344CB8AC3E}">
        <p14:creationId xmlns:p14="http://schemas.microsoft.com/office/powerpoint/2010/main" val="26221455"/>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77FD242-75C5-40AC-BA09-230E72FD108A}" type="datetime11">
              <a:rPr lang="zh-CN" altLang="en-US"/>
              <a:pPr>
                <a:defRPr/>
              </a:pPr>
              <a:t>21:14:52</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44199E1-A5A8-4D20-8803-E97ABB02818F}" type="slidenum">
              <a:rPr lang="zh-CN" altLang="en-US"/>
              <a:pPr>
                <a:defRPr/>
              </a:pPr>
              <a:t>‹#›</a:t>
            </a:fld>
            <a:endParaRPr lang="en-US" altLang="zh-CN"/>
          </a:p>
        </p:txBody>
      </p:sp>
    </p:spTree>
    <p:extLst>
      <p:ext uri="{BB962C8B-B14F-4D97-AF65-F5344CB8AC3E}">
        <p14:creationId xmlns:p14="http://schemas.microsoft.com/office/powerpoint/2010/main" val="2425472042"/>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D63FAB70-0999-4746-8A8F-45E386135005}" type="datetime11">
              <a:rPr lang="zh-CN" altLang="en-US"/>
              <a:pPr>
                <a:defRPr/>
              </a:pPr>
              <a:t>21:14:52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B6CF27C-B5C2-4D6E-889D-E9F6CC4CC968}" type="slidenum">
              <a:rPr lang="zh-CN" altLang="en-US"/>
              <a:pPr>
                <a:defRPr/>
              </a:pPr>
              <a:t>‹#›</a:t>
            </a:fld>
            <a:endParaRPr lang="en-US" altLang="zh-CN"/>
          </a:p>
        </p:txBody>
      </p:sp>
    </p:spTree>
    <p:extLst>
      <p:ext uri="{BB962C8B-B14F-4D97-AF65-F5344CB8AC3E}">
        <p14:creationId xmlns:p14="http://schemas.microsoft.com/office/powerpoint/2010/main" val="2724755901"/>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FC16B26F-B6D1-4488-B46E-AF104EF4B37F}" type="datetime11">
              <a:rPr lang="zh-CN" altLang="en-US"/>
              <a:pPr>
                <a:defRPr/>
              </a:pPr>
              <a:t>21:14:52</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9273DBF-862F-45C7-8117-6121B57BC44D}" type="slidenum">
              <a:rPr lang="zh-CN" altLang="en-US"/>
              <a:pPr>
                <a:defRPr/>
              </a:pPr>
              <a:t>‹#›</a:t>
            </a:fld>
            <a:endParaRPr lang="en-US" altLang="zh-CN"/>
          </a:p>
        </p:txBody>
      </p:sp>
    </p:spTree>
    <p:extLst>
      <p:ext uri="{BB962C8B-B14F-4D97-AF65-F5344CB8AC3E}">
        <p14:creationId xmlns:p14="http://schemas.microsoft.com/office/powerpoint/2010/main" val="2211473536"/>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121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1029" name="Text Box 11"/>
          <p:cNvSpPr txBox="1">
            <a:spLocks noChangeArrowheads="1"/>
          </p:cNvSpPr>
          <p:nvPr/>
        </p:nvSpPr>
        <p:spPr bwMode="auto">
          <a:xfrm>
            <a:off x="0" y="6613525"/>
            <a:ext cx="9144000" cy="2444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algn="ctr" eaLnBrk="1" hangingPunct="1">
              <a:defRPr/>
            </a:pPr>
            <a:r>
              <a:rPr kumimoji="1" lang="zh-CN" altLang="en-US" sz="1000">
                <a:solidFill>
                  <a:schemeClr val="bg1"/>
                </a:solidFill>
                <a:latin typeface="Times New Roman" pitchFamily="18" charset="0"/>
              </a:rPr>
              <a:t>河海大学计算机与信息学院计算机科学与技术系 </a:t>
            </a:r>
            <a:endParaRPr kumimoji="1" lang="en-US" altLang="zh-CN" sz="1000">
              <a:solidFill>
                <a:schemeClr val="bg1"/>
              </a:solidFill>
              <a:latin typeface="Times New Roman" pitchFamily="18" charset="0"/>
            </a:endParaRPr>
          </a:p>
        </p:txBody>
      </p:sp>
      <p:pic>
        <p:nvPicPr>
          <p:cNvPr id="1030" name="Picture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ext Box 14"/>
          <p:cNvSpPr txBox="1">
            <a:spLocks noChangeArrowheads="1"/>
          </p:cNvSpPr>
          <p:nvPr/>
        </p:nvSpPr>
        <p:spPr bwMode="auto">
          <a:xfrm>
            <a:off x="2484438" y="260350"/>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Verdana" pitchFamily="34" charset="0"/>
                <a:ea typeface="宋体" pitchFamily="2" charset="-122"/>
              </a:defRPr>
            </a:lvl1pPr>
            <a:lvl2pPr marL="742950" indent="-285750" eaLnBrk="0" hangingPunct="0">
              <a:defRPr sz="2000">
                <a:solidFill>
                  <a:schemeClr val="tx1"/>
                </a:solidFill>
                <a:latin typeface="Verdana" pitchFamily="34" charset="0"/>
                <a:ea typeface="宋体" pitchFamily="2" charset="-122"/>
              </a:defRPr>
            </a:lvl2pPr>
            <a:lvl3pPr marL="1143000" indent="-228600" eaLnBrk="0" hangingPunct="0">
              <a:defRPr sz="2000">
                <a:solidFill>
                  <a:schemeClr val="tx1"/>
                </a:solidFill>
                <a:latin typeface="Verdana" pitchFamily="34" charset="0"/>
                <a:ea typeface="宋体" pitchFamily="2" charset="-122"/>
              </a:defRPr>
            </a:lvl3pPr>
            <a:lvl4pPr marL="1600200" indent="-228600" eaLnBrk="0" hangingPunct="0">
              <a:defRPr sz="2000">
                <a:solidFill>
                  <a:schemeClr val="tx1"/>
                </a:solidFill>
                <a:latin typeface="Verdana" pitchFamily="34" charset="0"/>
                <a:ea typeface="宋体" pitchFamily="2" charset="-122"/>
              </a:defRPr>
            </a:lvl4pPr>
            <a:lvl5pPr marL="2057400" indent="-228600" eaLnBrk="0" hangingPunct="0">
              <a:defRPr sz="20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Verdana" pitchFamily="34" charset="0"/>
                <a:ea typeface="宋体" pitchFamily="2" charset="-122"/>
              </a:defRPr>
            </a:lvl9pPr>
          </a:lstStyle>
          <a:p>
            <a:pPr eaLnBrk="1" hangingPunct="1">
              <a:spcBef>
                <a:spcPct val="50000"/>
              </a:spcBef>
              <a:defRPr/>
            </a:pPr>
            <a:r>
              <a:rPr lang="zh-CN" altLang="en-US" sz="2400" b="1" dirty="0">
                <a:solidFill>
                  <a:srgbClr val="F7F7F7"/>
                </a:solidFill>
                <a:ea typeface="楷体_GB2312" pitchFamily="49" charset="-122"/>
              </a:rPr>
              <a:t>计算机与软件学院</a:t>
            </a:r>
          </a:p>
        </p:txBody>
      </p:sp>
      <p:pic>
        <p:nvPicPr>
          <p:cNvPr id="1032" name="Picture 15" descr="邓体字徽（白色透明）"/>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79388" y="0"/>
            <a:ext cx="223202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Lst>
  <p:transition spd="slow"/>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118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400">
                <a:latin typeface="Times New Roman" pitchFamily="18" charset="0"/>
              </a:defRPr>
            </a:lvl1pPr>
          </a:lstStyle>
          <a:p>
            <a:pPr>
              <a:defRPr/>
            </a:pPr>
            <a:fld id="{74BE2251-F7D0-41B1-8EB3-CD52806284E0}" type="datetime11">
              <a:rPr lang="zh-CN" altLang="en-US"/>
              <a:pPr>
                <a:defRPr/>
              </a:pPr>
              <a:t>21:14:51</a:t>
            </a:fld>
            <a:endParaRPr lang="en-US" altLang="zh-CN"/>
          </a:p>
        </p:txBody>
      </p:sp>
      <p:sp>
        <p:nvSpPr>
          <p:cNvPr id="22118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kumimoji="1" sz="1400">
                <a:latin typeface="Times New Roman" pitchFamily="18" charset="0"/>
              </a:defRPr>
            </a:lvl1pPr>
          </a:lstStyle>
          <a:p>
            <a:pPr>
              <a:defRPr/>
            </a:pPr>
            <a:endParaRPr lang="en-US" altLang="zh-CN"/>
          </a:p>
        </p:txBody>
      </p:sp>
      <p:sp>
        <p:nvSpPr>
          <p:cNvPr id="22119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400">
                <a:latin typeface="Times New Roman" panose="02020603050405020304" pitchFamily="18" charset="0"/>
              </a:defRPr>
            </a:lvl1pPr>
          </a:lstStyle>
          <a:p>
            <a:pPr>
              <a:defRPr/>
            </a:pPr>
            <a:fld id="{F70B5D3D-571F-4314-B5E1-1A095578045E}"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220" r:id="rId1"/>
    <p:sldLayoutId id="2147484221" r:id="rId2"/>
    <p:sldLayoutId id="2147484222" r:id="rId3"/>
    <p:sldLayoutId id="2147484223" r:id="rId4"/>
    <p:sldLayoutId id="2147484224" r:id="rId5"/>
    <p:sldLayoutId id="2147484225" r:id="rId6"/>
    <p:sldLayoutId id="2147484226" r:id="rId7"/>
    <p:sldLayoutId id="2147484227" r:id="rId8"/>
    <p:sldLayoutId id="2147484228" r:id="rId9"/>
    <p:sldLayoutId id="2147484229" r:id="rId10"/>
    <p:sldLayoutId id="2147484230" r:id="rId11"/>
  </p:sldLayoutIdLst>
  <p:transition spd="slow"/>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oleObject" Target="NULL"/><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8.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Text Box 15"/>
          <p:cNvSpPr txBox="1">
            <a:spLocks noChangeArrowheads="1"/>
          </p:cNvSpPr>
          <p:nvPr/>
        </p:nvSpPr>
        <p:spPr bwMode="auto">
          <a:xfrm>
            <a:off x="611188" y="3500438"/>
            <a:ext cx="8208962" cy="628650"/>
          </a:xfrm>
          <a:prstGeom prst="rect">
            <a:avLst/>
          </a:prstGeom>
          <a:noFill/>
          <a:ln>
            <a:noFill/>
          </a:ln>
          <a:effectLst>
            <a:outerShdw dist="35921" dir="2700000" algn="ctr" rotWithShape="0">
              <a:srgbClr val="FFFF00">
                <a:alpha val="5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80000"/>
              </a:lnSpc>
              <a:spcBef>
                <a:spcPct val="50000"/>
              </a:spcBef>
              <a:buClrTx/>
              <a:buFontTx/>
              <a:buNone/>
            </a:pPr>
            <a:r>
              <a:rPr kumimoji="1" lang="zh-CN" altLang="en-US" sz="4400" b="1">
                <a:solidFill>
                  <a:srgbClr val="FF0000"/>
                </a:solidFill>
                <a:latin typeface="黑体" panose="02010609060101010101" pitchFamily="49" charset="-122"/>
                <a:ea typeface="黑体" panose="02010609060101010101" pitchFamily="49" charset="-122"/>
              </a:rPr>
              <a:t>计算机网络</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1"/>
          <p:cNvSpPr>
            <a:spLocks noChangeArrowheads="1"/>
          </p:cNvSpPr>
          <p:nvPr/>
        </p:nvSpPr>
        <p:spPr bwMode="auto">
          <a:xfrm>
            <a:off x="1727684" y="2780928"/>
            <a:ext cx="5688632"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marL="457200" indent="-457200">
              <a:lnSpc>
                <a:spcPct val="150000"/>
              </a:lnSpc>
              <a:buFont typeface="Wingdings" panose="05000000000000000000" pitchFamily="2" charset="2"/>
              <a:buChar char="l"/>
            </a:pPr>
            <a:r>
              <a:rPr lang="zh-CN" altLang="en-US" sz="2600" dirty="0"/>
              <a:t>共享式以太网和</a:t>
            </a:r>
            <a:r>
              <a:rPr lang="en-US" altLang="zh-CN" sz="2600" dirty="0"/>
              <a:t>CSMA/CD</a:t>
            </a:r>
          </a:p>
          <a:p>
            <a:pPr marL="457200" indent="-457200">
              <a:lnSpc>
                <a:spcPct val="150000"/>
              </a:lnSpc>
              <a:buFont typeface="Wingdings" panose="05000000000000000000" pitchFamily="2" charset="2"/>
              <a:buChar char="l"/>
            </a:pPr>
            <a:r>
              <a:rPr lang="zh-CN" altLang="en-US" sz="2600" dirty="0"/>
              <a:t>高速以太网</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051720" y="2348880"/>
            <a:ext cx="467995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zh-CN" altLang="en-US" sz="4000" b="1" dirty="0">
                <a:solidFill>
                  <a:srgbClr val="800000"/>
                </a:solidFill>
                <a:latin typeface="黑体" panose="02010609060101010101" pitchFamily="49" charset="-122"/>
                <a:ea typeface="黑体" panose="02010609060101010101" pitchFamily="49" charset="-122"/>
              </a:rPr>
              <a:t>以太网</a:t>
            </a:r>
            <a:endParaRPr kumimoji="1" lang="zh-CN" altLang="en-US" sz="4000" b="1" dirty="0">
              <a:latin typeface="黑体" panose="02010609060101010101" pitchFamily="49" charset="-122"/>
              <a:ea typeface="黑体" panose="02010609060101010101" pitchFamily="49" charset="-122"/>
            </a:endParaRPr>
          </a:p>
        </p:txBody>
      </p:sp>
      <p:sp>
        <p:nvSpPr>
          <p:cNvPr id="3" name="Rectangle 3">
            <a:extLst>
              <a:ext uri="{FF2B5EF4-FFF2-40B4-BE49-F238E27FC236}">
                <a16:creationId xmlns:a16="http://schemas.microsoft.com/office/drawing/2014/main" id="{FE404DA0-9B3D-418F-872D-1E30F71DAE0D}"/>
              </a:ext>
            </a:extLst>
          </p:cNvPr>
          <p:cNvSpPr txBox="1">
            <a:spLocks noChangeArrowheads="1"/>
          </p:cNvSpPr>
          <p:nvPr/>
        </p:nvSpPr>
        <p:spPr>
          <a:xfrm>
            <a:off x="467544" y="3429000"/>
            <a:ext cx="8467254" cy="2448272"/>
          </a:xfrm>
          <a:prstGeom prst="rect">
            <a:avLst/>
          </a:prstGeom>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algn="just" eaLnBrk="1" hangingPunct="1">
              <a:lnSpc>
                <a:spcPct val="120000"/>
              </a:lnSpc>
              <a:buFont typeface="Wingdings" panose="05000000000000000000" pitchFamily="2" charset="2"/>
              <a:buChar char="l"/>
              <a:defRPr/>
            </a:pPr>
            <a:r>
              <a:rPr lang="en-US" altLang="zh-CN" sz="2400" kern="0" dirty="0">
                <a:latin typeface="微软雅黑" panose="020B0503020204020204" pitchFamily="34" charset="-122"/>
                <a:ea typeface="微软雅黑" panose="020B0503020204020204" pitchFamily="34" charset="-122"/>
              </a:rPr>
              <a:t>DIX Ethernet V2 </a:t>
            </a:r>
            <a:r>
              <a:rPr lang="zh-CN" altLang="en-US" sz="2400" kern="0" dirty="0">
                <a:latin typeface="微软雅黑" panose="020B0503020204020204" pitchFamily="34" charset="-122"/>
                <a:ea typeface="微软雅黑" panose="020B0503020204020204" pitchFamily="34" charset="-122"/>
              </a:rPr>
              <a:t>是第一个局域网产品（以太网）规约。</a:t>
            </a:r>
          </a:p>
          <a:p>
            <a:pPr algn="just" eaLnBrk="1" hangingPunct="1">
              <a:lnSpc>
                <a:spcPct val="120000"/>
              </a:lnSpc>
              <a:buFont typeface="Wingdings" panose="05000000000000000000" pitchFamily="2" charset="2"/>
              <a:buChar char="l"/>
              <a:defRPr/>
            </a:pPr>
            <a:r>
              <a:rPr lang="zh-CN" altLang="en-US" sz="2400" kern="0" dirty="0">
                <a:latin typeface="微软雅黑" panose="020B0503020204020204" pitchFamily="34" charset="-122"/>
                <a:ea typeface="微软雅黑" panose="020B0503020204020204" pitchFamily="34" charset="-122"/>
              </a:rPr>
              <a:t>在</a:t>
            </a:r>
            <a:r>
              <a:rPr lang="en-US" altLang="zh-CN" sz="2400" kern="0" dirty="0">
                <a:latin typeface="微软雅黑" panose="020B0503020204020204" pitchFamily="34" charset="-122"/>
                <a:ea typeface="微软雅黑" panose="020B0503020204020204" pitchFamily="34" charset="-122"/>
              </a:rPr>
              <a:t>DIX V2</a:t>
            </a:r>
            <a:r>
              <a:rPr lang="zh-CN" altLang="en-US" sz="2400" kern="0" dirty="0">
                <a:latin typeface="微软雅黑" panose="020B0503020204020204" pitchFamily="34" charset="-122"/>
                <a:ea typeface="微软雅黑" panose="020B0503020204020204" pitchFamily="34" charset="-122"/>
              </a:rPr>
              <a:t>基础上，</a:t>
            </a:r>
            <a:r>
              <a:rPr lang="en-US" altLang="zh-CN" sz="2400" kern="0" dirty="0">
                <a:latin typeface="微软雅黑" panose="020B0503020204020204" pitchFamily="34" charset="-122"/>
                <a:ea typeface="微软雅黑" panose="020B0503020204020204" pitchFamily="34" charset="-122"/>
              </a:rPr>
              <a:t>IEEE</a:t>
            </a:r>
            <a:r>
              <a:rPr lang="zh-CN" altLang="en-US" sz="2400" kern="0" dirty="0">
                <a:latin typeface="微软雅黑" panose="020B0503020204020204" pitchFamily="34" charset="-122"/>
                <a:ea typeface="微软雅黑" panose="020B0503020204020204" pitchFamily="34" charset="-122"/>
              </a:rPr>
              <a:t>制定了 以太网标准 </a:t>
            </a:r>
            <a:r>
              <a:rPr lang="en-US" altLang="zh-CN" sz="2400" kern="0" dirty="0">
                <a:latin typeface="微软雅黑" panose="020B0503020204020204" pitchFamily="34" charset="-122"/>
                <a:ea typeface="微软雅黑" panose="020B0503020204020204" pitchFamily="34" charset="-122"/>
              </a:rPr>
              <a:t>IEEE 802.3</a:t>
            </a:r>
            <a:r>
              <a:rPr lang="zh-CN" altLang="en-US" sz="2400" kern="0" dirty="0">
                <a:latin typeface="微软雅黑" panose="020B0503020204020204" pitchFamily="34" charset="-122"/>
                <a:ea typeface="微软雅黑" panose="020B0503020204020204" pitchFamily="34" charset="-122"/>
              </a:rPr>
              <a:t>。</a:t>
            </a:r>
            <a:endParaRPr lang="en-US" altLang="zh-CN" sz="2400" kern="0" dirty="0">
              <a:latin typeface="微软雅黑" panose="020B0503020204020204" pitchFamily="34" charset="-122"/>
              <a:ea typeface="微软雅黑" panose="020B0503020204020204" pitchFamily="34" charset="-122"/>
            </a:endParaRPr>
          </a:p>
          <a:p>
            <a:pPr algn="just" eaLnBrk="1" hangingPunct="1">
              <a:lnSpc>
                <a:spcPct val="120000"/>
              </a:lnSpc>
              <a:buFont typeface="Wingdings" panose="05000000000000000000" pitchFamily="2" charset="2"/>
              <a:buChar char="l"/>
              <a:defRPr/>
            </a:pPr>
            <a:r>
              <a:rPr lang="zh-CN" altLang="en-US" sz="2400" kern="0" dirty="0">
                <a:latin typeface="微软雅黑" panose="020B0503020204020204" pitchFamily="34" charset="-122"/>
                <a:ea typeface="微软雅黑" panose="020B0503020204020204" pitchFamily="34" charset="-122"/>
              </a:rPr>
              <a:t>传统的以太网（</a:t>
            </a:r>
            <a:r>
              <a:rPr lang="en-US" altLang="zh-CN" sz="2400" kern="0" dirty="0">
                <a:latin typeface="微软雅黑" panose="020B0503020204020204" pitchFamily="34" charset="-122"/>
                <a:ea typeface="微软雅黑" panose="020B0503020204020204" pitchFamily="34" charset="-122"/>
              </a:rPr>
              <a:t>10Mbps</a:t>
            </a:r>
            <a:r>
              <a:rPr lang="zh-CN" altLang="en-US" sz="2400" kern="0" dirty="0">
                <a:latin typeface="微软雅黑" panose="020B0503020204020204" pitchFamily="34" charset="-122"/>
                <a:ea typeface="微软雅黑" panose="020B0503020204020204" pitchFamily="34" charset="-122"/>
              </a:rPr>
              <a:t>）是基于总线的共享式以太网，现代快速以太网（</a:t>
            </a:r>
            <a:r>
              <a:rPr lang="en-US" altLang="zh-CN" sz="2400" kern="0" dirty="0">
                <a:latin typeface="微软雅黑" panose="020B0503020204020204" pitchFamily="34" charset="-122"/>
                <a:ea typeface="微软雅黑" panose="020B0503020204020204" pitchFamily="34" charset="-122"/>
              </a:rPr>
              <a:t>100Mbps</a:t>
            </a:r>
            <a:r>
              <a:rPr lang="zh-CN" altLang="en-US" sz="2400" kern="0" dirty="0">
                <a:latin typeface="微软雅黑" panose="020B0503020204020204" pitchFamily="34" charset="-122"/>
                <a:ea typeface="微软雅黑" panose="020B0503020204020204" pitchFamily="34" charset="-122"/>
              </a:rPr>
              <a:t>及其以上）都是基于交换机的交换式以太网。</a:t>
            </a:r>
            <a:endParaRPr lang="en-US" altLang="zh-CN" sz="2400" kern="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566738" y="1752600"/>
            <a:ext cx="8001000" cy="1339850"/>
          </a:xfrm>
        </p:spPr>
        <p:txBody>
          <a:bodyPr/>
          <a:lstStyle/>
          <a:p>
            <a:pPr eaLnBrk="1" hangingPunct="1">
              <a:buFont typeface="Wingdings" panose="05000000000000000000" pitchFamily="2" charset="2"/>
              <a:buChar char="u"/>
            </a:pPr>
            <a:r>
              <a:rPr lang="zh-CN" altLang="en-US" sz="2600">
                <a:latin typeface="黑体" panose="02010609060101010101" pitchFamily="49" charset="-122"/>
                <a:ea typeface="黑体" panose="02010609060101010101" pitchFamily="49" charset="-122"/>
              </a:rPr>
              <a:t>最初的以太网是将许多计算机都连接到一根总线上。当初认为这样的连接方法既简单又可靠，因为总线上没有有源器件。 </a:t>
            </a:r>
          </a:p>
        </p:txBody>
      </p:sp>
      <p:sp>
        <p:nvSpPr>
          <p:cNvPr id="14339" name="Rectangle 3"/>
          <p:cNvSpPr>
            <a:spLocks noGrp="1" noChangeArrowheads="1"/>
          </p:cNvSpPr>
          <p:nvPr>
            <p:ph type="title"/>
          </p:nvPr>
        </p:nvSpPr>
        <p:spPr>
          <a:xfrm>
            <a:off x="574675" y="304800"/>
            <a:ext cx="3133725" cy="1216025"/>
          </a:xfrm>
        </p:spPr>
        <p:txBody>
          <a:bodyPr/>
          <a:lstStyle/>
          <a:p>
            <a:pPr eaLnBrk="1" hangingPunct="1"/>
            <a:r>
              <a:rPr kumimoji="1" lang="zh-CN" altLang="en-US" sz="3600" b="1" dirty="0">
                <a:solidFill>
                  <a:srgbClr val="0000CC"/>
                </a:solidFill>
                <a:latin typeface="黑体" panose="02010609060101010101" pitchFamily="49" charset="-122"/>
                <a:ea typeface="黑体" panose="02010609060101010101" pitchFamily="49" charset="-122"/>
              </a:rPr>
              <a:t>共享式以太网</a:t>
            </a:r>
            <a:r>
              <a:rPr lang="zh-CN" altLang="en-US" dirty="0"/>
              <a:t> </a:t>
            </a:r>
          </a:p>
        </p:txBody>
      </p:sp>
      <p:grpSp>
        <p:nvGrpSpPr>
          <p:cNvPr id="14340" name="Group 4"/>
          <p:cNvGrpSpPr>
            <a:grpSpLocks/>
          </p:cNvGrpSpPr>
          <p:nvPr/>
        </p:nvGrpSpPr>
        <p:grpSpPr bwMode="auto">
          <a:xfrm>
            <a:off x="4337050" y="4008438"/>
            <a:ext cx="471488" cy="1406525"/>
            <a:chOff x="1177" y="1994"/>
            <a:chExt cx="258" cy="714"/>
          </a:xfrm>
        </p:grpSpPr>
        <p:sp>
          <p:nvSpPr>
            <p:cNvPr id="14385" name="Line 5"/>
            <p:cNvSpPr>
              <a:spLocks noChangeShapeType="1"/>
            </p:cNvSpPr>
            <p:nvPr/>
          </p:nvSpPr>
          <p:spPr bwMode="auto">
            <a:xfrm rot="16200000" flipV="1">
              <a:off x="1043" y="2261"/>
              <a:ext cx="537" cy="4"/>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4386"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4341" name="Line 7"/>
          <p:cNvSpPr>
            <a:spLocks noChangeShapeType="1"/>
          </p:cNvSpPr>
          <p:nvPr/>
        </p:nvSpPr>
        <p:spPr bwMode="auto">
          <a:xfrm flipV="1">
            <a:off x="642938" y="3997325"/>
            <a:ext cx="781685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2" name="Rectangle 8"/>
          <p:cNvSpPr>
            <a:spLocks noChangeArrowheads="1"/>
          </p:cNvSpPr>
          <p:nvPr/>
        </p:nvSpPr>
        <p:spPr bwMode="auto">
          <a:xfrm>
            <a:off x="8342313" y="3930650"/>
            <a:ext cx="117475" cy="125413"/>
          </a:xfrm>
          <a:prstGeom prst="rect">
            <a:avLst/>
          </a:prstGeom>
          <a:solidFill>
            <a:srgbClr val="3333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14343" name="Rectangle 9"/>
          <p:cNvSpPr>
            <a:spLocks noChangeArrowheads="1"/>
          </p:cNvSpPr>
          <p:nvPr/>
        </p:nvSpPr>
        <p:spPr bwMode="auto">
          <a:xfrm>
            <a:off x="539750" y="3930650"/>
            <a:ext cx="117475" cy="125413"/>
          </a:xfrm>
          <a:prstGeom prst="rect">
            <a:avLst/>
          </a:prstGeom>
          <a:solidFill>
            <a:srgbClr val="3333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14344" name="Line 10"/>
          <p:cNvSpPr>
            <a:spLocks noChangeShapeType="1"/>
          </p:cNvSpPr>
          <p:nvPr/>
        </p:nvSpPr>
        <p:spPr bwMode="auto">
          <a:xfrm>
            <a:off x="7885113" y="3789363"/>
            <a:ext cx="493712" cy="2397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45" name="Group 11"/>
          <p:cNvGrpSpPr>
            <a:grpSpLocks/>
          </p:cNvGrpSpPr>
          <p:nvPr/>
        </p:nvGrpSpPr>
        <p:grpSpPr bwMode="auto">
          <a:xfrm>
            <a:off x="1390650" y="4008438"/>
            <a:ext cx="471488" cy="1406525"/>
            <a:chOff x="1177" y="1994"/>
            <a:chExt cx="258" cy="714"/>
          </a:xfrm>
        </p:grpSpPr>
        <p:sp>
          <p:nvSpPr>
            <p:cNvPr id="14383" name="Line 12"/>
            <p:cNvSpPr>
              <a:spLocks noChangeShapeType="1"/>
            </p:cNvSpPr>
            <p:nvPr/>
          </p:nvSpPr>
          <p:spPr bwMode="auto">
            <a:xfrm rot="16200000" flipV="1">
              <a:off x="1043" y="2261"/>
              <a:ext cx="537" cy="4"/>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4384"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4346" name="Freeform 14"/>
          <p:cNvSpPr>
            <a:spLocks/>
          </p:cNvSpPr>
          <p:nvPr/>
        </p:nvSpPr>
        <p:spPr bwMode="auto">
          <a:xfrm>
            <a:off x="3101975" y="4010025"/>
            <a:ext cx="3175" cy="1027113"/>
          </a:xfrm>
          <a:custGeom>
            <a:avLst/>
            <a:gdLst>
              <a:gd name="T0" fmla="*/ 0 w 2"/>
              <a:gd name="T1" fmla="*/ 2147483646 h 521"/>
              <a:gd name="T2" fmla="*/ 2147483646 w 2"/>
              <a:gd name="T3" fmla="*/ 0 h 521"/>
              <a:gd name="T4" fmla="*/ 0 60000 65536"/>
              <a:gd name="T5" fmla="*/ 0 60000 65536"/>
            </a:gdLst>
            <a:ahLst/>
            <a:cxnLst>
              <a:cxn ang="T4">
                <a:pos x="T0" y="T1"/>
              </a:cxn>
              <a:cxn ang="T5">
                <a:pos x="T2" y="T3"/>
              </a:cxn>
            </a:cxnLst>
            <a:rect l="0" t="0" r="r" b="b"/>
            <a:pathLst>
              <a:path w="2" h="521">
                <a:moveTo>
                  <a:pt x="0" y="521"/>
                </a:moveTo>
                <a:lnTo>
                  <a:pt x="2" y="0"/>
                </a:lnTo>
              </a:path>
            </a:pathLst>
          </a:custGeom>
          <a:solidFill>
            <a:srgbClr val="333399"/>
          </a:solidFill>
          <a:ln w="38100" cmpd="sng">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4347"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63850" y="4902200"/>
            <a:ext cx="471488"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348" name="Group 16"/>
          <p:cNvGrpSpPr>
            <a:grpSpLocks/>
          </p:cNvGrpSpPr>
          <p:nvPr/>
        </p:nvGrpSpPr>
        <p:grpSpPr bwMode="auto">
          <a:xfrm>
            <a:off x="5810250" y="4008438"/>
            <a:ext cx="471488" cy="1406525"/>
            <a:chOff x="1177" y="1994"/>
            <a:chExt cx="258" cy="714"/>
          </a:xfrm>
        </p:grpSpPr>
        <p:sp>
          <p:nvSpPr>
            <p:cNvPr id="14381" name="Line 17"/>
            <p:cNvSpPr>
              <a:spLocks noChangeShapeType="1"/>
            </p:cNvSpPr>
            <p:nvPr/>
          </p:nvSpPr>
          <p:spPr bwMode="auto">
            <a:xfrm rot="16200000" flipV="1">
              <a:off x="1043" y="2261"/>
              <a:ext cx="537" cy="4"/>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4382" name="Picture 1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ffectLst/>
            <a:extLst>
              <a:ext uri="{909E8E84-426E-40DD-AFC4-6F175D3DCCD1}">
                <a14:hiddenFill xmlns:a14="http://schemas.microsoft.com/office/drawing/2010/main">
                  <a:solidFill>
                    <a:srgbClr val="3333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4349" name="Freeform 19"/>
          <p:cNvSpPr>
            <a:spLocks/>
          </p:cNvSpPr>
          <p:nvPr/>
        </p:nvSpPr>
        <p:spPr bwMode="auto">
          <a:xfrm>
            <a:off x="7523163" y="4010025"/>
            <a:ext cx="3175" cy="1042988"/>
          </a:xfrm>
          <a:custGeom>
            <a:avLst/>
            <a:gdLst>
              <a:gd name="T0" fmla="*/ 0 w 2"/>
              <a:gd name="T1" fmla="*/ 2147483646 h 529"/>
              <a:gd name="T2" fmla="*/ 2147483646 w 2"/>
              <a:gd name="T3" fmla="*/ 0 h 529"/>
              <a:gd name="T4" fmla="*/ 0 60000 65536"/>
              <a:gd name="T5" fmla="*/ 0 60000 65536"/>
            </a:gdLst>
            <a:ahLst/>
            <a:cxnLst>
              <a:cxn ang="T4">
                <a:pos x="T0" y="T1"/>
              </a:cxn>
              <a:cxn ang="T5">
                <a:pos x="T2" y="T3"/>
              </a:cxn>
            </a:cxnLst>
            <a:rect l="0" t="0" r="r" b="b"/>
            <a:pathLst>
              <a:path w="2" h="529">
                <a:moveTo>
                  <a:pt x="0" y="529"/>
                </a:moveTo>
                <a:lnTo>
                  <a:pt x="2" y="0"/>
                </a:lnTo>
              </a:path>
            </a:pathLst>
          </a:custGeom>
          <a:solidFill>
            <a:srgbClr val="333399"/>
          </a:solidFill>
          <a:ln w="38100" cmpd="sng">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4350"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5038" y="4902200"/>
            <a:ext cx="471487"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7685" name="Text Box 21"/>
          <p:cNvSpPr txBox="1">
            <a:spLocks noChangeArrowheads="1"/>
          </p:cNvSpPr>
          <p:nvPr/>
        </p:nvSpPr>
        <p:spPr bwMode="auto">
          <a:xfrm>
            <a:off x="2508250" y="5734050"/>
            <a:ext cx="120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a:t>
            </a:r>
            <a:r>
              <a:rPr kumimoji="1" lang="zh-CN" altLang="en-US" sz="2000">
                <a:solidFill>
                  <a:srgbClr val="333399"/>
                </a:solidFill>
                <a:latin typeface="Arial" panose="020B0604020202020204" pitchFamily="34" charset="0"/>
                <a:ea typeface="黑体" panose="02010609060101010101" pitchFamily="49" charset="-122"/>
              </a:rPr>
              <a:t>向</a:t>
            </a:r>
            <a:r>
              <a:rPr kumimoji="1" lang="zh-CN" altLang="en-US" sz="12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rPr>
              <a:t>D</a:t>
            </a:r>
          </a:p>
          <a:p>
            <a:pPr algn="ct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发送数据</a:t>
            </a:r>
          </a:p>
        </p:txBody>
      </p:sp>
      <p:sp>
        <p:nvSpPr>
          <p:cNvPr id="14352" name="Text Box 22"/>
          <p:cNvSpPr txBox="1">
            <a:spLocks noChangeArrowheads="1"/>
          </p:cNvSpPr>
          <p:nvPr/>
        </p:nvSpPr>
        <p:spPr bwMode="auto">
          <a:xfrm>
            <a:off x="4125913" y="5408613"/>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rPr>
              <a:t>C</a:t>
            </a:r>
          </a:p>
        </p:txBody>
      </p:sp>
      <p:sp>
        <p:nvSpPr>
          <p:cNvPr id="14353" name="Text Box 23"/>
          <p:cNvSpPr txBox="1">
            <a:spLocks noChangeArrowheads="1"/>
          </p:cNvSpPr>
          <p:nvPr/>
        </p:nvSpPr>
        <p:spPr bwMode="auto">
          <a:xfrm>
            <a:off x="5667375" y="5394325"/>
            <a:ext cx="577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rPr>
              <a:t>D</a:t>
            </a:r>
          </a:p>
        </p:txBody>
      </p:sp>
      <p:sp>
        <p:nvSpPr>
          <p:cNvPr id="14354" name="Text Box 24"/>
          <p:cNvSpPr txBox="1">
            <a:spLocks noChangeArrowheads="1"/>
          </p:cNvSpPr>
          <p:nvPr/>
        </p:nvSpPr>
        <p:spPr bwMode="auto">
          <a:xfrm>
            <a:off x="1187450" y="5394325"/>
            <a:ext cx="633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rPr>
              <a:t>A</a:t>
            </a:r>
          </a:p>
        </p:txBody>
      </p:sp>
      <p:sp>
        <p:nvSpPr>
          <p:cNvPr id="14355" name="Text Box 25"/>
          <p:cNvSpPr txBox="1">
            <a:spLocks noChangeArrowheads="1"/>
          </p:cNvSpPr>
          <p:nvPr/>
        </p:nvSpPr>
        <p:spPr bwMode="auto">
          <a:xfrm>
            <a:off x="7046913" y="5391150"/>
            <a:ext cx="633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rPr>
              <a:t>E</a:t>
            </a:r>
          </a:p>
        </p:txBody>
      </p:sp>
      <p:sp>
        <p:nvSpPr>
          <p:cNvPr id="14356" name="Line 26"/>
          <p:cNvSpPr>
            <a:spLocks noChangeShapeType="1"/>
          </p:cNvSpPr>
          <p:nvPr/>
        </p:nvSpPr>
        <p:spPr bwMode="auto">
          <a:xfrm flipH="1">
            <a:off x="642938" y="3716338"/>
            <a:ext cx="544512" cy="2809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7" name="Text Box 27"/>
          <p:cNvSpPr txBox="1">
            <a:spLocks noChangeArrowheads="1"/>
          </p:cNvSpPr>
          <p:nvPr/>
        </p:nvSpPr>
        <p:spPr bwMode="auto">
          <a:xfrm>
            <a:off x="1052513" y="3392488"/>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匹配电阻</a:t>
            </a:r>
          </a:p>
        </p:txBody>
      </p:sp>
      <p:sp>
        <p:nvSpPr>
          <p:cNvPr id="14358" name="Text Box 28"/>
          <p:cNvSpPr txBox="1">
            <a:spLocks noChangeArrowheads="1"/>
          </p:cNvSpPr>
          <p:nvPr/>
        </p:nvSpPr>
        <p:spPr bwMode="auto">
          <a:xfrm>
            <a:off x="6842125" y="3392488"/>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匹配电阻</a:t>
            </a:r>
          </a:p>
        </p:txBody>
      </p:sp>
      <p:sp>
        <p:nvSpPr>
          <p:cNvPr id="497693" name="Freeform 29"/>
          <p:cNvSpPr>
            <a:spLocks/>
          </p:cNvSpPr>
          <p:nvPr/>
        </p:nvSpPr>
        <p:spPr bwMode="auto">
          <a:xfrm>
            <a:off x="3016250" y="4097338"/>
            <a:ext cx="1582738" cy="915987"/>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ap="flat" cmpd="sng">
            <a:solidFill>
              <a:srgbClr val="FF0000"/>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4" name="Freeform 30"/>
          <p:cNvSpPr>
            <a:spLocks/>
          </p:cNvSpPr>
          <p:nvPr/>
        </p:nvSpPr>
        <p:spPr bwMode="auto">
          <a:xfrm>
            <a:off x="3059113" y="4110038"/>
            <a:ext cx="3082925" cy="998537"/>
          </a:xfrm>
          <a:custGeom>
            <a:avLst/>
            <a:gdLst>
              <a:gd name="T0" fmla="*/ 2147483646 w 1895"/>
              <a:gd name="T1" fmla="*/ 2147483646 h 629"/>
              <a:gd name="T2" fmla="*/ 2147483646 w 1895"/>
              <a:gd name="T3" fmla="*/ 2147483646 h 629"/>
              <a:gd name="T4" fmla="*/ 2147483646 w 1895"/>
              <a:gd name="T5" fmla="*/ 2147483646 h 629"/>
              <a:gd name="T6" fmla="*/ 2147483646 w 1895"/>
              <a:gd name="T7" fmla="*/ 2147483646 h 629"/>
              <a:gd name="T8" fmla="*/ 2147483646 w 1895"/>
              <a:gd name="T9" fmla="*/ 2147483646 h 6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cap="flat" cmpd="sng">
            <a:solidFill>
              <a:srgbClr val="FF0000"/>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5" name="Freeform 31"/>
          <p:cNvSpPr>
            <a:spLocks/>
          </p:cNvSpPr>
          <p:nvPr/>
        </p:nvSpPr>
        <p:spPr bwMode="auto">
          <a:xfrm>
            <a:off x="3059113" y="4113213"/>
            <a:ext cx="4432300" cy="962025"/>
          </a:xfrm>
          <a:custGeom>
            <a:avLst/>
            <a:gdLst>
              <a:gd name="T0" fmla="*/ 2147483646 w 2601"/>
              <a:gd name="T1" fmla="*/ 2147483646 h 606"/>
              <a:gd name="T2" fmla="*/ 2147483646 w 2601"/>
              <a:gd name="T3" fmla="*/ 2147483646 h 606"/>
              <a:gd name="T4" fmla="*/ 2147483646 w 2601"/>
              <a:gd name="T5" fmla="*/ 2147483646 h 606"/>
              <a:gd name="T6" fmla="*/ 2147483646 w 2601"/>
              <a:gd name="T7" fmla="*/ 2147483646 h 606"/>
              <a:gd name="T8" fmla="*/ 2147483646 w 2601"/>
              <a:gd name="T9" fmla="*/ 2147483646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cmpd="sng">
            <a:solidFill>
              <a:srgbClr val="FF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6" name="Freeform 32"/>
          <p:cNvSpPr>
            <a:spLocks/>
          </p:cNvSpPr>
          <p:nvPr/>
        </p:nvSpPr>
        <p:spPr bwMode="auto">
          <a:xfrm>
            <a:off x="3059113" y="4076700"/>
            <a:ext cx="5157787" cy="846138"/>
          </a:xfrm>
          <a:custGeom>
            <a:avLst/>
            <a:gdLst>
              <a:gd name="T0" fmla="*/ 2147483646 w 3249"/>
              <a:gd name="T1" fmla="*/ 2147483646 h 533"/>
              <a:gd name="T2" fmla="*/ 2147483646 w 3249"/>
              <a:gd name="T3" fmla="*/ 2147483646 h 533"/>
              <a:gd name="T4" fmla="*/ 2147483646 w 3249"/>
              <a:gd name="T5" fmla="*/ 2147483646 h 533"/>
              <a:gd name="T6" fmla="*/ 2147483646 w 3249"/>
              <a:gd name="T7" fmla="*/ 2147483646 h 533"/>
              <a:gd name="T8" fmla="*/ 2147483646 w 3249"/>
              <a:gd name="T9" fmla="*/ 2147483646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cap="flat" cmpd="sng">
            <a:solidFill>
              <a:srgbClr val="FF0000"/>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7" name="Freeform 33"/>
          <p:cNvSpPr>
            <a:spLocks/>
          </p:cNvSpPr>
          <p:nvPr/>
        </p:nvSpPr>
        <p:spPr bwMode="auto">
          <a:xfrm>
            <a:off x="539750" y="4076700"/>
            <a:ext cx="2609850" cy="846138"/>
          </a:xfrm>
          <a:custGeom>
            <a:avLst/>
            <a:gdLst>
              <a:gd name="T0" fmla="*/ 2147483646 w 1644"/>
              <a:gd name="T1" fmla="*/ 2147483646 h 533"/>
              <a:gd name="T2" fmla="*/ 2147483646 w 1644"/>
              <a:gd name="T3" fmla="*/ 2147483646 h 533"/>
              <a:gd name="T4" fmla="*/ 2147483646 w 1644"/>
              <a:gd name="T5" fmla="*/ 2147483646 h 533"/>
              <a:gd name="T6" fmla="*/ 2147483646 w 1644"/>
              <a:gd name="T7" fmla="*/ 2147483646 h 533"/>
              <a:gd name="T8" fmla="*/ 0 w 1644"/>
              <a:gd name="T9" fmla="*/ 2147483646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cap="flat" cmpd="sng">
            <a:solidFill>
              <a:srgbClr val="FF0000"/>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7698" name="Freeform 34"/>
          <p:cNvSpPr>
            <a:spLocks/>
          </p:cNvSpPr>
          <p:nvPr/>
        </p:nvSpPr>
        <p:spPr bwMode="auto">
          <a:xfrm flipH="1">
            <a:off x="1476375" y="4076700"/>
            <a:ext cx="1582738" cy="915988"/>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ap="flat" cmpd="sng">
            <a:solidFill>
              <a:srgbClr val="FF0000"/>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97699" name="Group 35"/>
          <p:cNvGrpSpPr>
            <a:grpSpLocks/>
          </p:cNvGrpSpPr>
          <p:nvPr/>
        </p:nvGrpSpPr>
        <p:grpSpPr bwMode="auto">
          <a:xfrm>
            <a:off x="7261225" y="5018088"/>
            <a:ext cx="249238" cy="268287"/>
            <a:chOff x="1474" y="3430"/>
            <a:chExt cx="136" cy="136"/>
          </a:xfrm>
        </p:grpSpPr>
        <p:sp>
          <p:nvSpPr>
            <p:cNvPr id="14379" name="Line 36"/>
            <p:cNvSpPr>
              <a:spLocks noChangeShapeType="1"/>
            </p:cNvSpPr>
            <p:nvPr/>
          </p:nvSpPr>
          <p:spPr bwMode="auto">
            <a:xfrm>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0" name="Line 37"/>
            <p:cNvSpPr>
              <a:spLocks noChangeShapeType="1"/>
            </p:cNvSpPr>
            <p:nvPr/>
          </p:nvSpPr>
          <p:spPr bwMode="auto">
            <a:xfrm flipH="1">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7702" name="AutoShape 38"/>
          <p:cNvSpPr>
            <a:spLocks noChangeArrowheads="1"/>
          </p:cNvSpPr>
          <p:nvPr/>
        </p:nvSpPr>
        <p:spPr bwMode="auto">
          <a:xfrm>
            <a:off x="7078663" y="5788025"/>
            <a:ext cx="877887" cy="377825"/>
          </a:xfrm>
          <a:prstGeom prst="roundRect">
            <a:avLst>
              <a:gd name="adj" fmla="val 16667"/>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solidFill>
                  <a:srgbClr val="333399"/>
                </a:solidFill>
                <a:latin typeface="Tahoma" panose="020B0604030504040204" pitchFamily="34" charset="0"/>
                <a:ea typeface="黑体" panose="02010609060101010101" pitchFamily="49" charset="-122"/>
              </a:rPr>
              <a:t>不接受</a:t>
            </a:r>
          </a:p>
        </p:txBody>
      </p:sp>
      <p:grpSp>
        <p:nvGrpSpPr>
          <p:cNvPr id="497703" name="Group 39"/>
          <p:cNvGrpSpPr>
            <a:grpSpLocks/>
          </p:cNvGrpSpPr>
          <p:nvPr/>
        </p:nvGrpSpPr>
        <p:grpSpPr bwMode="auto">
          <a:xfrm>
            <a:off x="4322763" y="5018088"/>
            <a:ext cx="249237" cy="268287"/>
            <a:chOff x="1474" y="3430"/>
            <a:chExt cx="136" cy="136"/>
          </a:xfrm>
        </p:grpSpPr>
        <p:sp>
          <p:nvSpPr>
            <p:cNvPr id="14377" name="Line 40"/>
            <p:cNvSpPr>
              <a:spLocks noChangeShapeType="1"/>
            </p:cNvSpPr>
            <p:nvPr/>
          </p:nvSpPr>
          <p:spPr bwMode="auto">
            <a:xfrm>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8" name="Line 41"/>
            <p:cNvSpPr>
              <a:spLocks noChangeShapeType="1"/>
            </p:cNvSpPr>
            <p:nvPr/>
          </p:nvSpPr>
          <p:spPr bwMode="auto">
            <a:xfrm flipH="1">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7706" name="AutoShape 42"/>
          <p:cNvSpPr>
            <a:spLocks noChangeArrowheads="1"/>
          </p:cNvSpPr>
          <p:nvPr/>
        </p:nvSpPr>
        <p:spPr bwMode="auto">
          <a:xfrm>
            <a:off x="4140200" y="5788025"/>
            <a:ext cx="877888" cy="377825"/>
          </a:xfrm>
          <a:prstGeom prst="roundRect">
            <a:avLst>
              <a:gd name="adj" fmla="val 16667"/>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solidFill>
                  <a:srgbClr val="333399"/>
                </a:solidFill>
                <a:latin typeface="Tahoma" panose="020B0604030504040204" pitchFamily="34" charset="0"/>
                <a:ea typeface="黑体" panose="02010609060101010101" pitchFamily="49" charset="-122"/>
              </a:rPr>
              <a:t>不接受</a:t>
            </a:r>
          </a:p>
        </p:txBody>
      </p:sp>
      <p:grpSp>
        <p:nvGrpSpPr>
          <p:cNvPr id="497707" name="Group 43"/>
          <p:cNvGrpSpPr>
            <a:grpSpLocks/>
          </p:cNvGrpSpPr>
          <p:nvPr/>
        </p:nvGrpSpPr>
        <p:grpSpPr bwMode="auto">
          <a:xfrm>
            <a:off x="1370013" y="5018088"/>
            <a:ext cx="249237" cy="268287"/>
            <a:chOff x="1474" y="3430"/>
            <a:chExt cx="136" cy="136"/>
          </a:xfrm>
        </p:grpSpPr>
        <p:sp>
          <p:nvSpPr>
            <p:cNvPr id="14375" name="Line 44"/>
            <p:cNvSpPr>
              <a:spLocks noChangeShapeType="1"/>
            </p:cNvSpPr>
            <p:nvPr/>
          </p:nvSpPr>
          <p:spPr bwMode="auto">
            <a:xfrm>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6" name="Line 45"/>
            <p:cNvSpPr>
              <a:spLocks noChangeShapeType="1"/>
            </p:cNvSpPr>
            <p:nvPr/>
          </p:nvSpPr>
          <p:spPr bwMode="auto">
            <a:xfrm flipH="1">
              <a:off x="1474" y="3430"/>
              <a:ext cx="136" cy="136"/>
            </a:xfrm>
            <a:prstGeom prst="line">
              <a:avLst/>
            </a:prstGeom>
            <a:noFill/>
            <a:ln w="762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7710" name="AutoShape 46"/>
          <p:cNvSpPr>
            <a:spLocks noChangeArrowheads="1"/>
          </p:cNvSpPr>
          <p:nvPr/>
        </p:nvSpPr>
        <p:spPr bwMode="auto">
          <a:xfrm>
            <a:off x="1187450" y="5788025"/>
            <a:ext cx="877888" cy="377825"/>
          </a:xfrm>
          <a:prstGeom prst="roundRect">
            <a:avLst>
              <a:gd name="adj" fmla="val 16667"/>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solidFill>
                  <a:srgbClr val="333399"/>
                </a:solidFill>
                <a:latin typeface="Tahoma" panose="020B0604030504040204" pitchFamily="34" charset="0"/>
                <a:ea typeface="黑体" panose="02010609060101010101" pitchFamily="49" charset="-122"/>
              </a:rPr>
              <a:t>不接受</a:t>
            </a:r>
          </a:p>
        </p:txBody>
      </p:sp>
      <p:sp>
        <p:nvSpPr>
          <p:cNvPr id="497711" name="Text Box 47"/>
          <p:cNvSpPr txBox="1">
            <a:spLocks noChangeArrowheads="1"/>
          </p:cNvSpPr>
          <p:nvPr/>
        </p:nvSpPr>
        <p:spPr bwMode="auto">
          <a:xfrm>
            <a:off x="5724525" y="5805488"/>
            <a:ext cx="701675" cy="406400"/>
          </a:xfrm>
          <a:prstGeom prst="rect">
            <a:avLst/>
          </a:prstGeom>
          <a:solidFill>
            <a:srgbClr val="FFCC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接受</a:t>
            </a:r>
          </a:p>
        </p:txBody>
      </p:sp>
      <p:sp>
        <p:nvSpPr>
          <p:cNvPr id="14372" name="Text Box 48"/>
          <p:cNvSpPr txBox="1">
            <a:spLocks noChangeArrowheads="1"/>
          </p:cNvSpPr>
          <p:nvPr/>
        </p:nvSpPr>
        <p:spPr bwMode="auto">
          <a:xfrm>
            <a:off x="2922588" y="5394325"/>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a:t>
            </a:r>
          </a:p>
        </p:txBody>
      </p:sp>
      <p:sp>
        <p:nvSpPr>
          <p:cNvPr id="497713" name="Text Box 49"/>
          <p:cNvSpPr txBox="1">
            <a:spLocks noChangeArrowheads="1"/>
          </p:cNvSpPr>
          <p:nvPr/>
        </p:nvSpPr>
        <p:spPr bwMode="auto">
          <a:xfrm>
            <a:off x="3775075" y="4365625"/>
            <a:ext cx="1703388" cy="711200"/>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000">
                <a:solidFill>
                  <a:srgbClr val="333399"/>
                </a:solidFill>
                <a:latin typeface="Arial" panose="020B0604020202020204" pitchFamily="34" charset="0"/>
                <a:ea typeface="黑体" panose="02010609060101010101" pitchFamily="49" charset="-122"/>
              </a:rPr>
              <a:t>只有 </a:t>
            </a:r>
            <a:r>
              <a:rPr lang="en-US" altLang="zh-CN" sz="2000">
                <a:solidFill>
                  <a:srgbClr val="333399"/>
                </a:solidFill>
                <a:latin typeface="Arial" panose="020B0604020202020204" pitchFamily="34" charset="0"/>
                <a:ea typeface="黑体" panose="02010609060101010101" pitchFamily="49" charset="-122"/>
              </a:rPr>
              <a:t>D </a:t>
            </a:r>
            <a:r>
              <a:rPr lang="zh-CN" altLang="en-US" sz="2000">
                <a:solidFill>
                  <a:srgbClr val="333399"/>
                </a:solidFill>
                <a:latin typeface="Arial" panose="020B0604020202020204" pitchFamily="34" charset="0"/>
                <a:ea typeface="黑体" panose="02010609060101010101" pitchFamily="49" charset="-122"/>
              </a:rPr>
              <a:t>接受</a:t>
            </a:r>
          </a:p>
          <a:p>
            <a:pPr algn="ctr" eaLnBrk="1" hangingPunct="1">
              <a:spcBef>
                <a:spcPct val="0"/>
              </a:spcBef>
              <a:buClrTx/>
              <a:buFontTx/>
              <a:buNone/>
            </a:pPr>
            <a:r>
              <a:rPr lang="en-US" altLang="zh-CN" sz="2000">
                <a:solidFill>
                  <a:srgbClr val="333399"/>
                </a:solidFill>
                <a:latin typeface="Arial" panose="020B0604020202020204" pitchFamily="34" charset="0"/>
                <a:ea typeface="黑体" panose="02010609060101010101" pitchFamily="49" charset="-122"/>
              </a:rPr>
              <a:t>B </a:t>
            </a:r>
            <a:r>
              <a:rPr lang="zh-CN" altLang="en-US" sz="2000">
                <a:solidFill>
                  <a:srgbClr val="333399"/>
                </a:solidFill>
                <a:latin typeface="Arial" panose="020B0604020202020204" pitchFamily="34" charset="0"/>
                <a:ea typeface="黑体" panose="02010609060101010101" pitchFamily="49" charset="-122"/>
              </a:rPr>
              <a:t>发送的数据</a:t>
            </a:r>
          </a:p>
        </p:txBody>
      </p:sp>
      <p:sp>
        <p:nvSpPr>
          <p:cNvPr id="14374" name="矩形 1"/>
          <p:cNvSpPr>
            <a:spLocks noChangeArrowheads="1"/>
          </p:cNvSpPr>
          <p:nvPr/>
        </p:nvSpPr>
        <p:spPr bwMode="auto">
          <a:xfrm>
            <a:off x="4319588" y="-39688"/>
            <a:ext cx="4824412" cy="1200151"/>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r>
              <a:rPr lang="zh-CN" altLang="en-US" sz="2400">
                <a:latin typeface="微软雅黑" panose="020B0503020204020204" pitchFamily="34" charset="-122"/>
                <a:ea typeface="微软雅黑" panose="020B0503020204020204" pitchFamily="34" charset="-122"/>
              </a:rPr>
              <a:t>网卡检查收到的帧的目标地址，本机地址，本机所在组的地址，广播地址，三类地址的帧将被接收。</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768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4000" fill="hold" grpId="1" nodeType="afterEffect">
                                  <p:stCondLst>
                                    <p:cond delay="0"/>
                                  </p:stCondLst>
                                  <p:childTnLst>
                                    <p:anim calcmode="discrete" valueType="str">
                                      <p:cBhvr>
                                        <p:cTn id="9" dur="500" fill="hold"/>
                                        <p:tgtEl>
                                          <p:spTgt spid="497685"/>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2000"/>
                            </p:stCondLst>
                            <p:childTnLst>
                              <p:par>
                                <p:cTn id="11" presetID="22" presetClass="entr" presetSubtype="2" fill="hold" grpId="0" nodeType="afterEffect">
                                  <p:stCondLst>
                                    <p:cond delay="0"/>
                                  </p:stCondLst>
                                  <p:childTnLst>
                                    <p:set>
                                      <p:cBhvr>
                                        <p:cTn id="12" dur="1" fill="hold">
                                          <p:stCondLst>
                                            <p:cond delay="0"/>
                                          </p:stCondLst>
                                        </p:cTn>
                                        <p:tgtEl>
                                          <p:spTgt spid="497697"/>
                                        </p:tgtEl>
                                        <p:attrNameLst>
                                          <p:attrName>style.visibility</p:attrName>
                                        </p:attrNameLst>
                                      </p:cBhvr>
                                      <p:to>
                                        <p:strVal val="visible"/>
                                      </p:to>
                                    </p:set>
                                    <p:animEffect transition="in" filter="wipe(right)">
                                      <p:cBhvr>
                                        <p:cTn id="13" dur="2000"/>
                                        <p:tgtEl>
                                          <p:spTgt spid="49769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97698"/>
                                        </p:tgtEl>
                                        <p:attrNameLst>
                                          <p:attrName>style.visibility</p:attrName>
                                        </p:attrNameLst>
                                      </p:cBhvr>
                                      <p:to>
                                        <p:strVal val="visible"/>
                                      </p:to>
                                    </p:set>
                                    <p:animEffect transition="in" filter="wipe(right)">
                                      <p:cBhvr>
                                        <p:cTn id="16" dur="2000"/>
                                        <p:tgtEl>
                                          <p:spTgt spid="49769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497696"/>
                                        </p:tgtEl>
                                        <p:attrNameLst>
                                          <p:attrName>style.visibility</p:attrName>
                                        </p:attrNameLst>
                                      </p:cBhvr>
                                      <p:to>
                                        <p:strVal val="visible"/>
                                      </p:to>
                                    </p:set>
                                    <p:animEffect transition="in" filter="wipe(left)">
                                      <p:cBhvr>
                                        <p:cTn id="19" dur="2000"/>
                                        <p:tgtEl>
                                          <p:spTgt spid="49769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497695"/>
                                        </p:tgtEl>
                                        <p:attrNameLst>
                                          <p:attrName>style.visibility</p:attrName>
                                        </p:attrNameLst>
                                      </p:cBhvr>
                                      <p:to>
                                        <p:strVal val="visible"/>
                                      </p:to>
                                    </p:set>
                                    <p:animEffect transition="in" filter="wipe(left)">
                                      <p:cBhvr>
                                        <p:cTn id="22" dur="2000"/>
                                        <p:tgtEl>
                                          <p:spTgt spid="497695"/>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97694"/>
                                        </p:tgtEl>
                                        <p:attrNameLst>
                                          <p:attrName>style.visibility</p:attrName>
                                        </p:attrNameLst>
                                      </p:cBhvr>
                                      <p:to>
                                        <p:strVal val="visible"/>
                                      </p:to>
                                    </p:set>
                                    <p:animEffect transition="in" filter="wipe(left)">
                                      <p:cBhvr>
                                        <p:cTn id="25" dur="2000"/>
                                        <p:tgtEl>
                                          <p:spTgt spid="497694"/>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97693"/>
                                        </p:tgtEl>
                                        <p:attrNameLst>
                                          <p:attrName>style.visibility</p:attrName>
                                        </p:attrNameLst>
                                      </p:cBhvr>
                                      <p:to>
                                        <p:strVal val="visible"/>
                                      </p:to>
                                    </p:set>
                                    <p:animEffect transition="in" filter="wipe(left)">
                                      <p:cBhvr>
                                        <p:cTn id="28" dur="2000"/>
                                        <p:tgtEl>
                                          <p:spTgt spid="497693"/>
                                        </p:tgtEl>
                                      </p:cBhvr>
                                    </p:animEffect>
                                  </p:childTnLst>
                                </p:cTn>
                              </p:par>
                            </p:childTnLst>
                          </p:cTn>
                        </p:par>
                        <p:par>
                          <p:cTn id="29" fill="hold" nodeType="afterGroup">
                            <p:stCondLst>
                              <p:cond delay="4000"/>
                            </p:stCondLst>
                            <p:childTnLst>
                              <p:par>
                                <p:cTn id="30" presetID="1" presetClass="entr" presetSubtype="0" fill="hold" grpId="0" nodeType="afterEffect">
                                  <p:stCondLst>
                                    <p:cond delay="0"/>
                                  </p:stCondLst>
                                  <p:childTnLst>
                                    <p:set>
                                      <p:cBhvr>
                                        <p:cTn id="31" dur="1" fill="hold">
                                          <p:stCondLst>
                                            <p:cond delay="0"/>
                                          </p:stCondLst>
                                        </p:cTn>
                                        <p:tgtEl>
                                          <p:spTgt spid="4977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9770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97711"/>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97702"/>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97699"/>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97703"/>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97707"/>
                                        </p:tgtEl>
                                        <p:attrNameLst>
                                          <p:attrName>style.visibility</p:attrName>
                                        </p:attrNameLst>
                                      </p:cBhvr>
                                      <p:to>
                                        <p:strVal val="visible"/>
                                      </p:to>
                                    </p:set>
                                  </p:childTnLst>
                                </p:cTn>
                              </p:par>
                            </p:childTnLst>
                          </p:cTn>
                        </p:par>
                        <p:par>
                          <p:cTn id="44" fill="hold" nodeType="afterGroup">
                            <p:stCondLst>
                              <p:cond delay="4000"/>
                            </p:stCondLst>
                            <p:childTnLst>
                              <p:par>
                                <p:cTn id="45" presetID="35" presetClass="emph" presetSubtype="0" repeatCount="5000" fill="hold" grpId="1" nodeType="afterEffect">
                                  <p:stCondLst>
                                    <p:cond delay="0"/>
                                  </p:stCondLst>
                                  <p:childTnLst>
                                    <p:anim calcmode="discrete" valueType="str">
                                      <p:cBhvr>
                                        <p:cTn id="46" dur="500" fill="hold"/>
                                        <p:tgtEl>
                                          <p:spTgt spid="497710"/>
                                        </p:tgtEl>
                                        <p:attrNameLst>
                                          <p:attrName>style.visibility</p:attrName>
                                        </p:attrNameLst>
                                      </p:cBhvr>
                                      <p:tavLst>
                                        <p:tav tm="0">
                                          <p:val>
                                            <p:strVal val="hidden"/>
                                          </p:val>
                                        </p:tav>
                                        <p:tav tm="50000">
                                          <p:val>
                                            <p:strVal val="visible"/>
                                          </p:val>
                                        </p:tav>
                                      </p:tavLst>
                                    </p:anim>
                                  </p:childTnLst>
                                </p:cTn>
                              </p:par>
                              <p:par>
                                <p:cTn id="47" presetID="35" presetClass="emph" presetSubtype="0" repeatCount="5000" fill="hold" grpId="1" nodeType="withEffect">
                                  <p:stCondLst>
                                    <p:cond delay="0"/>
                                  </p:stCondLst>
                                  <p:childTnLst>
                                    <p:anim calcmode="discrete" valueType="str">
                                      <p:cBhvr>
                                        <p:cTn id="48" dur="500" fill="hold"/>
                                        <p:tgtEl>
                                          <p:spTgt spid="497706"/>
                                        </p:tgtEl>
                                        <p:attrNameLst>
                                          <p:attrName>style.visibility</p:attrName>
                                        </p:attrNameLst>
                                      </p:cBhvr>
                                      <p:tavLst>
                                        <p:tav tm="0">
                                          <p:val>
                                            <p:strVal val="hidden"/>
                                          </p:val>
                                        </p:tav>
                                        <p:tav tm="50000">
                                          <p:val>
                                            <p:strVal val="visible"/>
                                          </p:val>
                                        </p:tav>
                                      </p:tavLst>
                                    </p:anim>
                                  </p:childTnLst>
                                </p:cTn>
                              </p:par>
                              <p:par>
                                <p:cTn id="49" presetID="35" presetClass="emph" presetSubtype="0" repeatCount="5000" fill="hold" grpId="1" nodeType="withEffect">
                                  <p:stCondLst>
                                    <p:cond delay="0"/>
                                  </p:stCondLst>
                                  <p:childTnLst>
                                    <p:anim calcmode="discrete" valueType="str">
                                      <p:cBhvr>
                                        <p:cTn id="50" dur="500" fill="hold"/>
                                        <p:tgtEl>
                                          <p:spTgt spid="497711"/>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497702"/>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nodeType="withEffect">
                                  <p:stCondLst>
                                    <p:cond delay="0"/>
                                  </p:stCondLst>
                                  <p:childTnLst>
                                    <p:anim calcmode="discrete" valueType="str">
                                      <p:cBhvr>
                                        <p:cTn id="54" dur="500" fill="hold"/>
                                        <p:tgtEl>
                                          <p:spTgt spid="497699"/>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nodeType="withEffect">
                                  <p:stCondLst>
                                    <p:cond delay="0"/>
                                  </p:stCondLst>
                                  <p:childTnLst>
                                    <p:anim calcmode="discrete" valueType="str">
                                      <p:cBhvr>
                                        <p:cTn id="56" dur="500" fill="hold"/>
                                        <p:tgtEl>
                                          <p:spTgt spid="497703"/>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497707"/>
                                        </p:tgtEl>
                                        <p:attrNameLst>
                                          <p:attrName>style.visibility</p:attrName>
                                        </p:attrNameLst>
                                      </p:cBhvr>
                                      <p:tavLst>
                                        <p:tav tm="0">
                                          <p:val>
                                            <p:strVal val="hidden"/>
                                          </p:val>
                                        </p:tav>
                                        <p:tav tm="50000">
                                          <p:val>
                                            <p:strVal val="visible"/>
                                          </p:val>
                                        </p:tav>
                                      </p:tavLst>
                                    </p:anim>
                                  </p:childTnLst>
                                </p:cTn>
                              </p:par>
                            </p:childTnLst>
                          </p:cTn>
                        </p:par>
                        <p:par>
                          <p:cTn id="59" fill="hold" nodeType="afterGroup">
                            <p:stCondLst>
                              <p:cond delay="6500"/>
                            </p:stCondLst>
                            <p:childTnLst>
                              <p:par>
                                <p:cTn id="60" presetID="10" presetClass="exit" presetSubtype="0" fill="hold" grpId="1" nodeType="afterEffect">
                                  <p:stCondLst>
                                    <p:cond delay="0"/>
                                  </p:stCondLst>
                                  <p:childTnLst>
                                    <p:animEffect transition="out" filter="fade">
                                      <p:cBhvr>
                                        <p:cTn id="61" dur="2000"/>
                                        <p:tgtEl>
                                          <p:spTgt spid="497693"/>
                                        </p:tgtEl>
                                      </p:cBhvr>
                                    </p:animEffect>
                                    <p:set>
                                      <p:cBhvr>
                                        <p:cTn id="62" dur="1" fill="hold">
                                          <p:stCondLst>
                                            <p:cond delay="1999"/>
                                          </p:stCondLst>
                                        </p:cTn>
                                        <p:tgtEl>
                                          <p:spTgt spid="497693"/>
                                        </p:tgtEl>
                                        <p:attrNameLst>
                                          <p:attrName>style.visibility</p:attrName>
                                        </p:attrNameLst>
                                      </p:cBhvr>
                                      <p:to>
                                        <p:strVal val="hidden"/>
                                      </p:to>
                                    </p:set>
                                  </p:childTnLst>
                                </p:cTn>
                              </p:par>
                              <p:par>
                                <p:cTn id="63" presetID="10" presetClass="exit" presetSubtype="0" fill="hold" grpId="1" nodeType="withEffect">
                                  <p:stCondLst>
                                    <p:cond delay="0"/>
                                  </p:stCondLst>
                                  <p:childTnLst>
                                    <p:animEffect transition="out" filter="fade">
                                      <p:cBhvr>
                                        <p:cTn id="64" dur="2000"/>
                                        <p:tgtEl>
                                          <p:spTgt spid="497695"/>
                                        </p:tgtEl>
                                      </p:cBhvr>
                                    </p:animEffect>
                                    <p:set>
                                      <p:cBhvr>
                                        <p:cTn id="65" dur="1" fill="hold">
                                          <p:stCondLst>
                                            <p:cond delay="1999"/>
                                          </p:stCondLst>
                                        </p:cTn>
                                        <p:tgtEl>
                                          <p:spTgt spid="497695"/>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000"/>
                                        <p:tgtEl>
                                          <p:spTgt spid="497696"/>
                                        </p:tgtEl>
                                      </p:cBhvr>
                                    </p:animEffect>
                                    <p:set>
                                      <p:cBhvr>
                                        <p:cTn id="68" dur="1" fill="hold">
                                          <p:stCondLst>
                                            <p:cond delay="1999"/>
                                          </p:stCondLst>
                                        </p:cTn>
                                        <p:tgtEl>
                                          <p:spTgt spid="497696"/>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000"/>
                                        <p:tgtEl>
                                          <p:spTgt spid="497698"/>
                                        </p:tgtEl>
                                      </p:cBhvr>
                                    </p:animEffect>
                                    <p:set>
                                      <p:cBhvr>
                                        <p:cTn id="71" dur="1" fill="hold">
                                          <p:stCondLst>
                                            <p:cond delay="1999"/>
                                          </p:stCondLst>
                                        </p:cTn>
                                        <p:tgtEl>
                                          <p:spTgt spid="497698"/>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000"/>
                                        <p:tgtEl>
                                          <p:spTgt spid="497697"/>
                                        </p:tgtEl>
                                      </p:cBhvr>
                                    </p:animEffect>
                                    <p:set>
                                      <p:cBhvr>
                                        <p:cTn id="74" dur="1" fill="hold">
                                          <p:stCondLst>
                                            <p:cond delay="1999"/>
                                          </p:stCondLst>
                                        </p:cTn>
                                        <p:tgtEl>
                                          <p:spTgt spid="497697"/>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2000"/>
                                        <p:tgtEl>
                                          <p:spTgt spid="497707"/>
                                        </p:tgtEl>
                                      </p:cBhvr>
                                    </p:animEffect>
                                    <p:set>
                                      <p:cBhvr>
                                        <p:cTn id="77" dur="1" fill="hold">
                                          <p:stCondLst>
                                            <p:cond delay="1999"/>
                                          </p:stCondLst>
                                        </p:cTn>
                                        <p:tgtEl>
                                          <p:spTgt spid="497707"/>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2000"/>
                                        <p:tgtEl>
                                          <p:spTgt spid="497703"/>
                                        </p:tgtEl>
                                      </p:cBhvr>
                                    </p:animEffect>
                                    <p:set>
                                      <p:cBhvr>
                                        <p:cTn id="80" dur="1" fill="hold">
                                          <p:stCondLst>
                                            <p:cond delay="1999"/>
                                          </p:stCondLst>
                                        </p:cTn>
                                        <p:tgtEl>
                                          <p:spTgt spid="497703"/>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2000"/>
                                        <p:tgtEl>
                                          <p:spTgt spid="497699"/>
                                        </p:tgtEl>
                                      </p:cBhvr>
                                    </p:animEffect>
                                    <p:set>
                                      <p:cBhvr>
                                        <p:cTn id="83" dur="1" fill="hold">
                                          <p:stCondLst>
                                            <p:cond delay="1999"/>
                                          </p:stCondLst>
                                        </p:cTn>
                                        <p:tgtEl>
                                          <p:spTgt spid="497699"/>
                                        </p:tgtEl>
                                        <p:attrNameLst>
                                          <p:attrName>style.visibility</p:attrName>
                                        </p:attrNameLst>
                                      </p:cBhvr>
                                      <p:to>
                                        <p:strVal val="hidden"/>
                                      </p:to>
                                    </p:set>
                                  </p:childTnLst>
                                </p:cTn>
                              </p:par>
                            </p:childTnLst>
                          </p:cTn>
                        </p:par>
                        <p:par>
                          <p:cTn id="84" fill="hold" nodeType="afterGroup">
                            <p:stCondLst>
                              <p:cond delay="8500"/>
                            </p:stCondLst>
                            <p:childTnLst>
                              <p:par>
                                <p:cTn id="85" presetID="1" presetClass="entr" presetSubtype="0" fill="hold" grpId="1" nodeType="afterEffect">
                                  <p:stCondLst>
                                    <p:cond delay="0"/>
                                  </p:stCondLst>
                                  <p:childTnLst>
                                    <p:set>
                                      <p:cBhvr>
                                        <p:cTn id="86" dur="1" fill="hold">
                                          <p:stCondLst>
                                            <p:cond delay="0"/>
                                          </p:stCondLst>
                                        </p:cTn>
                                        <p:tgtEl>
                                          <p:spTgt spid="497713"/>
                                        </p:tgtEl>
                                        <p:attrNameLst>
                                          <p:attrName>style.visibility</p:attrName>
                                        </p:attrNameLst>
                                      </p:cBhvr>
                                      <p:to>
                                        <p:strVal val="visible"/>
                                      </p:to>
                                    </p:set>
                                  </p:childTnLst>
                                </p:cTn>
                              </p:par>
                            </p:childTnLst>
                          </p:cTn>
                        </p:par>
                        <p:par>
                          <p:cTn id="87" fill="hold" nodeType="afterGroup">
                            <p:stCondLst>
                              <p:cond delay="8500"/>
                            </p:stCondLst>
                            <p:childTnLst>
                              <p:par>
                                <p:cTn id="88" presetID="35" presetClass="emph" presetSubtype="0" repeatCount="3000" fill="hold" grpId="0" nodeType="afterEffect">
                                  <p:stCondLst>
                                    <p:cond delay="0"/>
                                  </p:stCondLst>
                                  <p:childTnLst>
                                    <p:anim calcmode="discrete" valueType="str">
                                      <p:cBhvr>
                                        <p:cTn id="89" dur="1000" fill="hold"/>
                                        <p:tgtEl>
                                          <p:spTgt spid="4977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85" grpId="0"/>
      <p:bldP spid="497685" grpId="1"/>
      <p:bldP spid="497693" grpId="0" animBg="1"/>
      <p:bldP spid="497693" grpId="1" animBg="1"/>
      <p:bldP spid="497694" grpId="0" animBg="1"/>
      <p:bldP spid="497695" grpId="0" animBg="1"/>
      <p:bldP spid="497695" grpId="1" animBg="1"/>
      <p:bldP spid="497696" grpId="0" animBg="1"/>
      <p:bldP spid="497696" grpId="1" animBg="1"/>
      <p:bldP spid="497697" grpId="0" animBg="1"/>
      <p:bldP spid="497697" grpId="1" animBg="1"/>
      <p:bldP spid="497698" grpId="0" animBg="1"/>
      <p:bldP spid="497698" grpId="1" animBg="1"/>
      <p:bldP spid="497702" grpId="0" animBg="1"/>
      <p:bldP spid="497702" grpId="1" animBg="1"/>
      <p:bldP spid="497706" grpId="0" animBg="1"/>
      <p:bldP spid="497706" grpId="1" animBg="1"/>
      <p:bldP spid="497710" grpId="0" animBg="1"/>
      <p:bldP spid="497710" grpId="1" animBg="1"/>
      <p:bldP spid="497711" grpId="0" animBg="1"/>
      <p:bldP spid="497711" grpId="1" animBg="1"/>
      <p:bldP spid="497713" grpId="0" animBg="1"/>
      <p:bldP spid="497713" grpId="1"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Text Box 3"/>
          <p:cNvSpPr txBox="1">
            <a:spLocks noChangeArrowheads="1"/>
          </p:cNvSpPr>
          <p:nvPr/>
        </p:nvSpPr>
        <p:spPr bwMode="auto">
          <a:xfrm>
            <a:off x="1437382" y="2776249"/>
            <a:ext cx="662483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a:spcBef>
                <a:spcPct val="0"/>
              </a:spcBef>
              <a:buClrTx/>
              <a:buFontTx/>
              <a:buNone/>
            </a:pPr>
            <a:r>
              <a:rPr kumimoji="1" lang="zh-CN" altLang="en-US" sz="3200" b="1" dirty="0">
                <a:solidFill>
                  <a:srgbClr val="0000CC"/>
                </a:solidFill>
                <a:latin typeface="黑体" panose="02010609060101010101" pitchFamily="49" charset="-122"/>
                <a:ea typeface="黑体" panose="02010609060101010101" pitchFamily="49" charset="-122"/>
              </a:rPr>
              <a:t>共享式以太网的介质访问控制方式</a:t>
            </a:r>
          </a:p>
        </p:txBody>
      </p:sp>
      <p:sp>
        <p:nvSpPr>
          <p:cNvPr id="18435" name="矩形 2"/>
          <p:cNvSpPr>
            <a:spLocks noChangeArrowheads="1"/>
          </p:cNvSpPr>
          <p:nvPr/>
        </p:nvSpPr>
        <p:spPr bwMode="auto">
          <a:xfrm>
            <a:off x="1619250" y="3789363"/>
            <a:ext cx="6261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en-US" altLang="zh-CN" sz="2400" b="1">
                <a:solidFill>
                  <a:srgbClr val="000000"/>
                </a:solidFill>
                <a:latin typeface="Microsoft Yahei" panose="020B0503020204020204" pitchFamily="34" charset="-122"/>
                <a:ea typeface="Microsoft Yahei" panose="020B0503020204020204" pitchFamily="34" charset="-122"/>
              </a:rPr>
              <a:t>CSMA/CD </a:t>
            </a:r>
            <a:r>
              <a:rPr lang="zh-CN" altLang="en-US" sz="2400"/>
              <a:t>载波监听多点接入</a:t>
            </a:r>
            <a:r>
              <a:rPr lang="en-US" altLang="zh-CN" sz="2400"/>
              <a:t>/</a:t>
            </a:r>
            <a:r>
              <a:rPr lang="zh-CN" altLang="en-US" sz="2400"/>
              <a:t>碰撞检测协议</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06375" y="2060848"/>
            <a:ext cx="8804275" cy="1125265"/>
          </a:xfrm>
          <a:noFill/>
        </p:spPr>
        <p:txBody>
          <a:bodyPr anchor="ctr"/>
          <a:lstStyle/>
          <a:p>
            <a:pPr eaLnBrk="1" hangingPunct="1"/>
            <a:r>
              <a:rPr lang="zh-CN" altLang="en-US" sz="2600" dirty="0">
                <a:solidFill>
                  <a:srgbClr val="000099"/>
                </a:solidFill>
                <a:latin typeface="微软雅黑" panose="020B0503020204020204" pitchFamily="34" charset="-122"/>
                <a:ea typeface="微软雅黑" panose="020B0503020204020204" pitchFamily="34" charset="-122"/>
              </a:rPr>
              <a:t> 在以太网中采用“竞争”策略来获得信道。这种方案称做</a:t>
            </a:r>
            <a:r>
              <a:rPr lang="zh-CN" altLang="en-US" sz="2600" dirty="0">
                <a:solidFill>
                  <a:schemeClr val="accent2"/>
                </a:solidFill>
                <a:latin typeface="微软雅黑" panose="020B0503020204020204" pitchFamily="34" charset="-122"/>
                <a:ea typeface="微软雅黑" panose="020B0503020204020204" pitchFamily="34" charset="-122"/>
              </a:rPr>
              <a:t>载波监听多路访问</a:t>
            </a:r>
            <a:r>
              <a:rPr lang="en-US" altLang="zh-CN" sz="2600" dirty="0">
                <a:solidFill>
                  <a:schemeClr val="accent2"/>
                </a:solidFill>
                <a:latin typeface="微软雅黑" panose="020B0503020204020204" pitchFamily="34" charset="-122"/>
                <a:ea typeface="微软雅黑" panose="020B0503020204020204" pitchFamily="34" charset="-122"/>
              </a:rPr>
              <a:t>/</a:t>
            </a:r>
            <a:r>
              <a:rPr lang="zh-CN" altLang="en-US" sz="2600" dirty="0">
                <a:solidFill>
                  <a:schemeClr val="accent2"/>
                </a:solidFill>
                <a:latin typeface="微软雅黑" panose="020B0503020204020204" pitchFamily="34" charset="-122"/>
                <a:ea typeface="微软雅黑" panose="020B0503020204020204" pitchFamily="34" charset="-122"/>
              </a:rPr>
              <a:t>冲突检测协议</a:t>
            </a:r>
            <a:r>
              <a:rPr lang="zh-CN" altLang="en-US" sz="2600" dirty="0">
                <a:solidFill>
                  <a:srgbClr val="000099"/>
                </a:solidFill>
                <a:latin typeface="微软雅黑" panose="020B0503020204020204" pitchFamily="34" charset="-122"/>
                <a:ea typeface="微软雅黑" panose="020B0503020204020204" pitchFamily="34" charset="-122"/>
              </a:rPr>
              <a:t>，简写为</a:t>
            </a:r>
            <a:r>
              <a:rPr lang="en-US" altLang="zh-CN" sz="2600" dirty="0">
                <a:solidFill>
                  <a:srgbClr val="FF0000"/>
                </a:solidFill>
                <a:latin typeface="微软雅黑" panose="020B0503020204020204" pitchFamily="34" charset="-122"/>
                <a:ea typeface="微软雅黑" panose="020B0503020204020204" pitchFamily="34" charset="-122"/>
              </a:rPr>
              <a:t>CSMA/CD</a:t>
            </a:r>
            <a:r>
              <a:rPr lang="zh-CN" altLang="en-US" sz="2600" dirty="0">
                <a:solidFill>
                  <a:srgbClr val="000099"/>
                </a:solidFill>
                <a:latin typeface="微软雅黑" panose="020B0503020204020204" pitchFamily="34" charset="-122"/>
                <a:ea typeface="微软雅黑" panose="020B0503020204020204" pitchFamily="34" charset="-122"/>
              </a:rPr>
              <a:t>，</a:t>
            </a:r>
            <a:r>
              <a:rPr kumimoji="1" lang="zh-CN" altLang="en-US" sz="2600" u="sng" dirty="0">
                <a:solidFill>
                  <a:srgbClr val="000099"/>
                </a:solidFill>
                <a:latin typeface="微软雅黑" panose="020B0503020204020204" pitchFamily="34" charset="-122"/>
                <a:ea typeface="微软雅黑" panose="020B0503020204020204" pitchFamily="34" charset="-122"/>
              </a:rPr>
              <a:t>以太网的工作原理</a:t>
            </a:r>
            <a:r>
              <a:rPr kumimoji="1" lang="zh-CN" altLang="en-US" sz="2600" u="sng" dirty="0">
                <a:solidFill>
                  <a:srgbClr val="0000CC"/>
                </a:solidFill>
                <a:latin typeface="微软雅黑" panose="020B0503020204020204" pitchFamily="34" charset="-122"/>
                <a:ea typeface="微软雅黑" panose="020B0503020204020204" pitchFamily="34" charset="-122"/>
              </a:rPr>
              <a:t>可以概括为</a:t>
            </a:r>
            <a:r>
              <a:rPr kumimoji="1" lang="zh-CN" altLang="en-US" sz="2600" dirty="0">
                <a:solidFill>
                  <a:srgbClr val="0000CC"/>
                </a:solidFill>
                <a:latin typeface="微软雅黑" panose="020B0503020204020204" pitchFamily="34" charset="-122"/>
                <a:ea typeface="微软雅黑" panose="020B0503020204020204" pitchFamily="34" charset="-122"/>
              </a:rPr>
              <a:t>：</a:t>
            </a:r>
            <a:br>
              <a:rPr kumimoji="1" lang="zh-CN" altLang="en-US" sz="2600" dirty="0">
                <a:solidFill>
                  <a:srgbClr val="0000CC"/>
                </a:solidFill>
                <a:latin typeface="微软雅黑" panose="020B0503020204020204" pitchFamily="34" charset="-122"/>
                <a:ea typeface="微软雅黑" panose="020B0503020204020204" pitchFamily="34" charset="-122"/>
              </a:rPr>
            </a:br>
            <a:r>
              <a:rPr lang="zh-CN" altLang="en-US" sz="2600" dirty="0">
                <a:solidFill>
                  <a:srgbClr val="000099"/>
                </a:solidFill>
                <a:latin typeface="微软雅黑" panose="020B0503020204020204" pitchFamily="34" charset="-122"/>
                <a:ea typeface="微软雅黑" panose="020B0503020204020204" pitchFamily="34" charset="-122"/>
              </a:rPr>
              <a:t>  </a:t>
            </a:r>
            <a:endParaRPr lang="zh-CN" altLang="en-US" sz="2600" dirty="0">
              <a:solidFill>
                <a:srgbClr val="000000"/>
              </a:solidFill>
              <a:latin typeface="微软雅黑" panose="020B0503020204020204" pitchFamily="34" charset="-122"/>
              <a:ea typeface="微软雅黑" panose="020B0503020204020204" pitchFamily="34" charset="-122"/>
            </a:endParaRPr>
          </a:p>
        </p:txBody>
      </p:sp>
      <p:sp>
        <p:nvSpPr>
          <p:cNvPr id="19459" name="Text Box 3"/>
          <p:cNvSpPr txBox="1">
            <a:spLocks noChangeArrowheads="1"/>
          </p:cNvSpPr>
          <p:nvPr/>
        </p:nvSpPr>
        <p:spPr bwMode="auto">
          <a:xfrm>
            <a:off x="395536" y="1023848"/>
            <a:ext cx="6552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a:spcBef>
                <a:spcPct val="0"/>
              </a:spcBef>
              <a:buClrTx/>
              <a:buFontTx/>
              <a:buNone/>
            </a:pPr>
            <a:r>
              <a:rPr kumimoji="1" lang="zh-CN" altLang="en-US" sz="2800" b="1" dirty="0">
                <a:solidFill>
                  <a:srgbClr val="0000CC"/>
                </a:solidFill>
                <a:latin typeface="黑体" panose="02010609060101010101" pitchFamily="49" charset="-122"/>
                <a:ea typeface="黑体" panose="02010609060101010101" pitchFamily="49" charset="-122"/>
              </a:rPr>
              <a:t>共享式以太网的介质访问控制方式</a:t>
            </a:r>
          </a:p>
        </p:txBody>
      </p:sp>
      <p:sp>
        <p:nvSpPr>
          <p:cNvPr id="17412" name="Rectangle 4"/>
          <p:cNvSpPr>
            <a:spLocks noChangeArrowheads="1"/>
          </p:cNvSpPr>
          <p:nvPr/>
        </p:nvSpPr>
        <p:spPr bwMode="auto">
          <a:xfrm>
            <a:off x="323528" y="2780928"/>
            <a:ext cx="2781300" cy="255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0" indent="0" eaLnBrk="1" hangingPunct="1">
              <a:lnSpc>
                <a:spcPct val="90000"/>
              </a:lnSpc>
              <a:buClrTx/>
              <a:buFont typeface="Wingdings" panose="05000000000000000000" pitchFamily="2" charset="2"/>
              <a:buNone/>
              <a:defRPr/>
            </a:pPr>
            <a:endParaRPr kumimoji="1" lang="zh-CN" altLang="en-US" sz="2800" dirty="0">
              <a:latin typeface="微软雅黑" panose="020B0503020204020204" pitchFamily="34" charset="-122"/>
              <a:ea typeface="微软雅黑" panose="020B0503020204020204" pitchFamily="34" charset="-122"/>
            </a:endParaRPr>
          </a:p>
          <a:p>
            <a:pPr eaLnBrk="1" hangingPunct="1">
              <a:lnSpc>
                <a:spcPct val="90000"/>
              </a:lnSpc>
              <a:buClrTx/>
              <a:buFont typeface="Wingdings" panose="05000000000000000000" pitchFamily="2" charset="2"/>
              <a:buChar char="l"/>
              <a:defRPr/>
            </a:pPr>
            <a:r>
              <a:rPr kumimoji="1" lang="zh-CN" altLang="en-US" sz="2800" dirty="0">
                <a:latin typeface="微软雅黑" panose="020B0503020204020204" pitchFamily="34" charset="-122"/>
                <a:ea typeface="微软雅黑" panose="020B0503020204020204" pitchFamily="34" charset="-122"/>
              </a:rPr>
              <a:t> 先听后发 </a:t>
            </a:r>
          </a:p>
          <a:p>
            <a:pPr eaLnBrk="1" hangingPunct="1">
              <a:lnSpc>
                <a:spcPct val="90000"/>
              </a:lnSpc>
              <a:buClrTx/>
              <a:buFont typeface="Wingdings" panose="05000000000000000000" pitchFamily="2" charset="2"/>
              <a:buChar char="l"/>
              <a:defRPr/>
            </a:pPr>
            <a:r>
              <a:rPr kumimoji="1" lang="zh-CN" altLang="en-US" sz="2800" dirty="0">
                <a:latin typeface="微软雅黑" panose="020B0503020204020204" pitchFamily="34" charset="-122"/>
                <a:ea typeface="微软雅黑" panose="020B0503020204020204" pitchFamily="34" charset="-122"/>
              </a:rPr>
              <a:t> 边发边听</a:t>
            </a:r>
          </a:p>
          <a:p>
            <a:pPr eaLnBrk="1" hangingPunct="1">
              <a:lnSpc>
                <a:spcPct val="90000"/>
              </a:lnSpc>
              <a:buClrTx/>
              <a:buFont typeface="Wingdings" panose="05000000000000000000" pitchFamily="2" charset="2"/>
              <a:buChar char="l"/>
              <a:defRPr/>
            </a:pPr>
            <a:r>
              <a:rPr kumimoji="1" lang="zh-CN" altLang="en-US" sz="2800" dirty="0">
                <a:latin typeface="微软雅黑" panose="020B0503020204020204" pitchFamily="34" charset="-122"/>
                <a:ea typeface="微软雅黑" panose="020B0503020204020204" pitchFamily="34" charset="-122"/>
              </a:rPr>
              <a:t> 冲突停止</a:t>
            </a:r>
          </a:p>
          <a:p>
            <a:pPr eaLnBrk="1" hangingPunct="1">
              <a:lnSpc>
                <a:spcPct val="90000"/>
              </a:lnSpc>
              <a:buClrTx/>
              <a:buFont typeface="Wingdings" panose="05000000000000000000" pitchFamily="2" charset="2"/>
              <a:buChar char="l"/>
              <a:defRPr/>
            </a:pPr>
            <a:r>
              <a:rPr kumimoji="1" lang="zh-CN" altLang="en-US" sz="2800" dirty="0">
                <a:latin typeface="微软雅黑" panose="020B0503020204020204" pitchFamily="34" charset="-122"/>
                <a:ea typeface="微软雅黑" panose="020B0503020204020204" pitchFamily="34" charset="-122"/>
              </a:rPr>
              <a:t> 延迟重发 </a:t>
            </a:r>
          </a:p>
        </p:txBody>
      </p:sp>
      <p:graphicFrame>
        <p:nvGraphicFramePr>
          <p:cNvPr id="19461" name="Object 5"/>
          <p:cNvGraphicFramePr>
            <a:graphicFrameLocks noChangeAspect="1"/>
          </p:cNvGraphicFramePr>
          <p:nvPr/>
        </p:nvGraphicFramePr>
        <p:xfrm>
          <a:off x="2700338" y="3284538"/>
          <a:ext cx="6048375" cy="3281362"/>
        </p:xfrm>
        <a:graphic>
          <a:graphicData uri="http://schemas.openxmlformats.org/presentationml/2006/ole">
            <mc:AlternateContent xmlns:mc="http://schemas.openxmlformats.org/markup-compatibility/2006">
              <mc:Choice xmlns:v="urn:schemas-microsoft-com:vml" Requires="v">
                <p:oleObj spid="_x0000_s19833" r:id="rId3" imgW="4267200" imgH="2314575" progId="Visio.Drawing.6">
                  <p:embed/>
                </p:oleObj>
              </mc:Choice>
              <mc:Fallback>
                <p:oleObj r:id="rId3" imgW="4267200" imgH="2314575"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3284538"/>
                        <a:ext cx="6048375" cy="3281362"/>
                      </a:xfrm>
                      <a:prstGeom prst="rect">
                        <a:avLst/>
                      </a:prstGeom>
                      <a:solidFill>
                        <a:srgbClr val="6699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27050" y="2060848"/>
            <a:ext cx="8089900" cy="3024336"/>
          </a:xfrm>
        </p:spPr>
        <p:txBody>
          <a:bodyPr/>
          <a:lstStyle/>
          <a:p>
            <a:pPr eaLnBrk="1" hangingPunct="1">
              <a:lnSpc>
                <a:spcPct val="120000"/>
              </a:lnSpc>
              <a:defRPr/>
            </a:pPr>
            <a:r>
              <a:rPr lang="zh-CN" altLang="zh-CN" sz="2600" dirty="0">
                <a:solidFill>
                  <a:srgbClr val="000099"/>
                </a:solidFill>
                <a:latin typeface="微软雅黑" panose="020B0503020204020204" pitchFamily="34" charset="-122"/>
                <a:ea typeface="微软雅黑" panose="020B0503020204020204" pitchFamily="34" charset="-122"/>
              </a:rPr>
              <a:t>发前</a:t>
            </a:r>
            <a:r>
              <a:rPr lang="zh-CN" altLang="en-US" sz="2600" dirty="0">
                <a:solidFill>
                  <a:srgbClr val="000099"/>
                </a:solidFill>
                <a:latin typeface="微软雅黑" panose="020B0503020204020204" pitchFamily="34" charset="-122"/>
                <a:ea typeface="微软雅黑" panose="020B0503020204020204" pitchFamily="34" charset="-122"/>
              </a:rPr>
              <a:t>先</a:t>
            </a:r>
            <a:r>
              <a:rPr lang="zh-CN" altLang="zh-CN" sz="2600" dirty="0">
                <a:solidFill>
                  <a:srgbClr val="000099"/>
                </a:solidFill>
                <a:latin typeface="微软雅黑" panose="020B0503020204020204" pitchFamily="34" charset="-122"/>
                <a:ea typeface="微软雅黑" panose="020B0503020204020204" pitchFamily="34" charset="-122"/>
              </a:rPr>
              <a:t>监听</a:t>
            </a:r>
            <a:r>
              <a:rPr lang="zh-CN" altLang="en-US" sz="2600" dirty="0">
                <a:solidFill>
                  <a:srgbClr val="000099"/>
                </a:solidFill>
                <a:latin typeface="微软雅黑" panose="020B0503020204020204" pitchFamily="34" charset="-122"/>
                <a:ea typeface="微软雅黑" panose="020B0503020204020204" pitchFamily="34" charset="-122"/>
              </a:rPr>
              <a:t>信道是否有信息在传递。</a:t>
            </a:r>
            <a:br>
              <a:rPr lang="en-US" altLang="zh-CN" sz="2600" dirty="0">
                <a:solidFill>
                  <a:srgbClr val="000099"/>
                </a:solidFill>
                <a:latin typeface="微软雅黑" panose="020B0503020204020204" pitchFamily="34" charset="-122"/>
                <a:ea typeface="微软雅黑" panose="020B0503020204020204" pitchFamily="34" charset="-122"/>
              </a:rPr>
            </a:b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rPr>
              <a:t>坚持：若信道空闲则立即发送；若信道忙，则继续监听。</a:t>
            </a:r>
            <a:br>
              <a:rPr lang="en-US" altLang="zh-CN" sz="2600" dirty="0">
                <a:latin typeface="微软雅黑" panose="020B0503020204020204" pitchFamily="34" charset="-122"/>
                <a:ea typeface="微软雅黑" panose="020B0503020204020204" pitchFamily="34" charset="-122"/>
              </a:rPr>
            </a:b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rPr>
              <a:t>）非坚持：若信道空闲则立即发送；若信道忙，则放弃监听，等待一个随机时间后再继续监听。</a:t>
            </a:r>
            <a:br>
              <a:rPr lang="en-US" altLang="zh-CN" sz="2600" dirty="0">
                <a:latin typeface="微软雅黑" panose="020B0503020204020204" pitchFamily="34" charset="-122"/>
                <a:ea typeface="微软雅黑" panose="020B0503020204020204" pitchFamily="34" charset="-122"/>
              </a:rPr>
            </a:b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3</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p-</a:t>
            </a:r>
            <a:r>
              <a:rPr lang="zh-CN" altLang="en-US" sz="2600" dirty="0">
                <a:latin typeface="微软雅黑" panose="020B0503020204020204" pitchFamily="34" charset="-122"/>
                <a:ea typeface="微软雅黑" panose="020B0503020204020204" pitchFamily="34" charset="-122"/>
              </a:rPr>
              <a:t>坚持：若信道忙，则持续监听；若信道空闲，则以概率</a:t>
            </a:r>
            <a:r>
              <a:rPr lang="en-US" altLang="zh-CN" sz="2600" dirty="0">
                <a:latin typeface="微软雅黑" panose="020B0503020204020204" pitchFamily="34" charset="-122"/>
                <a:ea typeface="微软雅黑" panose="020B0503020204020204" pitchFamily="34" charset="-122"/>
              </a:rPr>
              <a:t>p</a:t>
            </a:r>
            <a:r>
              <a:rPr lang="zh-CN" altLang="en-US" sz="2600" dirty="0">
                <a:latin typeface="微软雅黑" panose="020B0503020204020204" pitchFamily="34" charset="-122"/>
                <a:ea typeface="微软雅黑" panose="020B0503020204020204" pitchFamily="34" charset="-122"/>
              </a:rPr>
              <a:t>发送数据，以概率</a:t>
            </a:r>
            <a:r>
              <a:rPr lang="en-US" altLang="zh-CN" sz="2600" dirty="0">
                <a:latin typeface="微软雅黑" panose="020B0503020204020204" pitchFamily="34" charset="-122"/>
                <a:ea typeface="微软雅黑" panose="020B0503020204020204" pitchFamily="34" charset="-122"/>
              </a:rPr>
              <a:t>1-p</a:t>
            </a:r>
            <a:r>
              <a:rPr lang="zh-CN" altLang="en-US" sz="2600" dirty="0">
                <a:latin typeface="微软雅黑" panose="020B0503020204020204" pitchFamily="34" charset="-122"/>
                <a:ea typeface="微软雅黑" panose="020B0503020204020204" pitchFamily="34" charset="-122"/>
              </a:rPr>
              <a:t>继续监听。</a:t>
            </a:r>
            <a:endParaRPr lang="zh-CN" altLang="en-US" sz="2600" dirty="0">
              <a:solidFill>
                <a:srgbClr val="000099"/>
              </a:solidFill>
              <a:latin typeface="微软雅黑" panose="020B0503020204020204" pitchFamily="34" charset="-122"/>
              <a:ea typeface="微软雅黑" panose="020B0503020204020204" pitchFamily="34" charset="-122"/>
            </a:endParaRPr>
          </a:p>
        </p:txBody>
      </p:sp>
      <p:sp>
        <p:nvSpPr>
          <p:cNvPr id="2" name="矩形 1"/>
          <p:cNvSpPr/>
          <p:nvPr/>
        </p:nvSpPr>
        <p:spPr>
          <a:xfrm>
            <a:off x="539750" y="981075"/>
            <a:ext cx="1831975" cy="584200"/>
          </a:xfrm>
          <a:prstGeom prst="rect">
            <a:avLst/>
          </a:prstGeom>
        </p:spPr>
        <p:txBody>
          <a:bodyPr wrap="none">
            <a:spAutoFit/>
          </a:bodyPr>
          <a:lstStyle/>
          <a:p>
            <a:pPr>
              <a:defRPr/>
            </a:pPr>
            <a:r>
              <a:rPr lang="zh-CN" altLang="en-US" sz="3200" b="1" dirty="0">
                <a:solidFill>
                  <a:srgbClr val="000099"/>
                </a:solidFill>
                <a:latin typeface="黑体" panose="02010609060101010101" pitchFamily="49" charset="-122"/>
                <a:ea typeface="黑体" panose="02010609060101010101" pitchFamily="49" charset="-122"/>
                <a:cs typeface="+mj-cs"/>
              </a:rPr>
              <a:t>先听后发</a:t>
            </a:r>
            <a:endParaRPr lang="zh-CN" altLang="en-US" dirty="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68313" y="2205038"/>
            <a:ext cx="8640762" cy="2879725"/>
          </a:xfrm>
        </p:spPr>
        <p:txBody>
          <a:bodyPr/>
          <a:lstStyle/>
          <a:p>
            <a:pPr eaLnBrk="1" hangingPunct="1">
              <a:lnSpc>
                <a:spcPct val="150000"/>
              </a:lnSpc>
            </a:pPr>
            <a:br>
              <a:rPr lang="zh-CN" altLang="en-US" sz="2400" dirty="0">
                <a:solidFill>
                  <a:schemeClr val="tx1"/>
                </a:solidFill>
                <a:latin typeface="微软雅黑" panose="020B0503020204020204" pitchFamily="34" charset="-122"/>
                <a:ea typeface="微软雅黑" panose="020B0503020204020204" pitchFamily="34" charset="-122"/>
              </a:rPr>
            </a:br>
            <a:r>
              <a:rPr lang="zh-CN" altLang="en-US" sz="2400" dirty="0">
                <a:solidFill>
                  <a:schemeClr val="tx1"/>
                </a:solidFill>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发送站点传输过程中仍继续监听媒体，以检测是否存在冲突</a:t>
            </a:r>
            <a:r>
              <a:rPr lang="zh-CN" altLang="en-US" sz="2400" dirty="0">
                <a:solidFill>
                  <a:schemeClr val="tx1"/>
                </a:solidFill>
                <a:latin typeface="微软雅黑" panose="020B0503020204020204" pitchFamily="34" charset="-122"/>
                <a:ea typeface="微软雅黑" panose="020B0503020204020204" pitchFamily="34" charset="-122"/>
              </a:rPr>
              <a:t>。如果发生冲突，信道上可以检测到超过发送站点本身发送的载波信号的幅度，由此判断出冲突的存在。</a:t>
            </a:r>
            <a:r>
              <a:rPr lang="zh-CN" altLang="en-US" sz="2400" dirty="0">
                <a:solidFill>
                  <a:srgbClr val="FF0000"/>
                </a:solidFill>
                <a:latin typeface="微软雅黑" panose="020B0503020204020204" pitchFamily="34" charset="-122"/>
                <a:ea typeface="微软雅黑" panose="020B0503020204020204" pitchFamily="34" charset="-122"/>
              </a:rPr>
              <a:t>一旦检测到冲突，就立即停止发送，并向总线上发一串阻塞信号，用以通知总线上其它各有关站点</a:t>
            </a:r>
            <a:r>
              <a:rPr lang="zh-CN" altLang="en-US" sz="2400" dirty="0">
                <a:solidFill>
                  <a:schemeClr val="tx1"/>
                </a:solidFill>
                <a:latin typeface="微软雅黑" panose="020B0503020204020204" pitchFamily="34" charset="-122"/>
                <a:ea typeface="微软雅黑" panose="020B0503020204020204" pitchFamily="34" charset="-122"/>
              </a:rPr>
              <a:t>。这样，通道容量就不致因白白传送已受损的帧而浪费，可以提高总线的利用率。</a:t>
            </a:r>
          </a:p>
        </p:txBody>
      </p:sp>
      <p:sp>
        <p:nvSpPr>
          <p:cNvPr id="21507" name="Text Box 3"/>
          <p:cNvSpPr txBox="1">
            <a:spLocks noChangeArrowheads="1"/>
          </p:cNvSpPr>
          <p:nvPr/>
        </p:nvSpPr>
        <p:spPr bwMode="auto">
          <a:xfrm>
            <a:off x="460604" y="980728"/>
            <a:ext cx="65516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lang="zh-CN" altLang="en-US" sz="3200" b="1">
                <a:solidFill>
                  <a:srgbClr val="000099"/>
                </a:solidFill>
                <a:latin typeface="黑体" panose="02010609060101010101" pitchFamily="49" charset="-122"/>
                <a:ea typeface="黑体" panose="02010609060101010101" pitchFamily="49" charset="-122"/>
              </a:rPr>
              <a:t>边听边发（碰撞检测</a:t>
            </a:r>
            <a:r>
              <a:rPr lang="en-US" altLang="zh-CN" sz="3200" b="1">
                <a:solidFill>
                  <a:srgbClr val="000099"/>
                </a:solidFill>
                <a:latin typeface="黑体" panose="02010609060101010101" pitchFamily="49" charset="-122"/>
                <a:ea typeface="黑体" panose="02010609060101010101" pitchFamily="49" charset="-122"/>
              </a:rPr>
              <a:t>/</a:t>
            </a:r>
            <a:r>
              <a:rPr lang="zh-CN" altLang="en-US" sz="3200" b="1">
                <a:solidFill>
                  <a:srgbClr val="000099"/>
                </a:solidFill>
                <a:latin typeface="黑体" panose="02010609060101010101" pitchFamily="49" charset="-122"/>
                <a:ea typeface="黑体" panose="02010609060101010101" pitchFamily="49" charset="-122"/>
              </a:rPr>
              <a:t>冲突检测）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539552" y="2204864"/>
            <a:ext cx="8353425" cy="2932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lnSpc>
                <a:spcPct val="120000"/>
              </a:lnSpc>
              <a:defRPr sz="2600">
                <a:solidFill>
                  <a:srgbClr val="000099"/>
                </a:solidFill>
                <a:latin typeface="微软雅黑" panose="020B0503020204020204" pitchFamily="34" charset="-122"/>
                <a:ea typeface="微软雅黑" panose="020B0503020204020204" pitchFamily="34" charset="-122"/>
                <a:cs typeface="+mj-cs"/>
              </a:defRPr>
            </a:lvl1pPr>
            <a:lvl2pPr>
              <a:defRPr sz="3800">
                <a:solidFill>
                  <a:schemeClr val="tx2"/>
                </a:solidFill>
              </a:defRPr>
            </a:lvl2pPr>
            <a:lvl3pPr>
              <a:defRPr sz="3800">
                <a:solidFill>
                  <a:schemeClr val="tx2"/>
                </a:solidFill>
              </a:defRPr>
            </a:lvl3pPr>
            <a:lvl4pPr>
              <a:defRPr sz="3800">
                <a:solidFill>
                  <a:schemeClr val="tx2"/>
                </a:solidFill>
              </a:defRPr>
            </a:lvl4pPr>
            <a:lvl5pPr>
              <a:defRPr sz="3800">
                <a:solidFill>
                  <a:schemeClr val="tx2"/>
                </a:solidFill>
              </a:defRPr>
            </a:lvl5pPr>
            <a:lvl6pPr marL="457200" fontAlgn="base">
              <a:spcBef>
                <a:spcPct val="0"/>
              </a:spcBef>
              <a:spcAft>
                <a:spcPct val="0"/>
              </a:spcAft>
              <a:defRPr sz="3800">
                <a:solidFill>
                  <a:schemeClr val="tx2"/>
                </a:solidFill>
              </a:defRPr>
            </a:lvl6pPr>
            <a:lvl7pPr marL="914400" fontAlgn="base">
              <a:spcBef>
                <a:spcPct val="0"/>
              </a:spcBef>
              <a:spcAft>
                <a:spcPct val="0"/>
              </a:spcAft>
              <a:defRPr sz="3800">
                <a:solidFill>
                  <a:schemeClr val="tx2"/>
                </a:solidFill>
              </a:defRPr>
            </a:lvl7pPr>
            <a:lvl8pPr marL="1371600" fontAlgn="base">
              <a:spcBef>
                <a:spcPct val="0"/>
              </a:spcBef>
              <a:spcAft>
                <a:spcPct val="0"/>
              </a:spcAft>
              <a:defRPr sz="3800">
                <a:solidFill>
                  <a:schemeClr val="tx2"/>
                </a:solidFill>
              </a:defRPr>
            </a:lvl8pPr>
            <a:lvl9pPr marL="1828800" fontAlgn="base">
              <a:spcBef>
                <a:spcPct val="0"/>
              </a:spcBef>
              <a:spcAft>
                <a:spcPct val="0"/>
              </a:spcAft>
              <a:defRPr sz="3800">
                <a:solidFill>
                  <a:schemeClr val="tx2"/>
                </a:solidFill>
              </a:defRPr>
            </a:lvl9pPr>
          </a:lstStyle>
          <a:p>
            <a:r>
              <a:rPr lang="en-US" altLang="zh-CN" sz="2400" b="1" dirty="0">
                <a:solidFill>
                  <a:srgbClr val="FF0000"/>
                </a:solidFill>
              </a:rPr>
              <a:t>	</a:t>
            </a:r>
            <a:r>
              <a:rPr lang="zh-CN" altLang="en-US" sz="2400" b="1" dirty="0">
                <a:solidFill>
                  <a:srgbClr val="FF0000"/>
                </a:solidFill>
              </a:rPr>
              <a:t>争用期：</a:t>
            </a:r>
            <a:r>
              <a:rPr lang="zh-CN" altLang="en-US" dirty="0">
                <a:solidFill>
                  <a:srgbClr val="0070C0"/>
                </a:solidFill>
              </a:rPr>
              <a:t>等于任意两个站之间最大传播时延的两倍，即</a:t>
            </a:r>
            <a:r>
              <a:rPr lang="en-US" altLang="zh-CN" dirty="0">
                <a:solidFill>
                  <a:srgbClr val="0070C0"/>
                </a:solidFill>
              </a:rPr>
              <a:t>2</a:t>
            </a:r>
            <a:r>
              <a:rPr lang="en-US" altLang="zh-CN" dirty="0">
                <a:solidFill>
                  <a:srgbClr val="0070C0"/>
                </a:solidFill>
                <a:sym typeface="Symbol" panose="05050102010706020507" pitchFamily="18" charset="2"/>
              </a:rPr>
              <a:t></a:t>
            </a:r>
            <a:r>
              <a:rPr lang="en-US" altLang="zh-CN" dirty="0">
                <a:solidFill>
                  <a:srgbClr val="0070C0"/>
                </a:solidFill>
              </a:rPr>
              <a:t> </a:t>
            </a:r>
            <a:r>
              <a:rPr lang="zh-CN" altLang="en-US" dirty="0">
                <a:solidFill>
                  <a:srgbClr val="0070C0"/>
                </a:solidFill>
              </a:rPr>
              <a:t>。</a:t>
            </a:r>
            <a:endParaRPr lang="en-US" altLang="zh-CN" dirty="0">
              <a:solidFill>
                <a:srgbClr val="0070C0"/>
              </a:solidFill>
            </a:endParaRPr>
          </a:p>
          <a:p>
            <a:r>
              <a:rPr lang="zh-CN" altLang="en-US" dirty="0">
                <a:solidFill>
                  <a:schemeClr val="tx1"/>
                </a:solidFill>
              </a:rPr>
              <a:t>       假定</a:t>
            </a:r>
            <a:r>
              <a:rPr lang="en-US" altLang="zh-CN" dirty="0">
                <a:solidFill>
                  <a:schemeClr val="tx1"/>
                </a:solidFill>
              </a:rPr>
              <a:t>A</a:t>
            </a:r>
            <a:r>
              <a:rPr lang="zh-CN" altLang="en-US" dirty="0">
                <a:solidFill>
                  <a:schemeClr val="tx1"/>
                </a:solidFill>
              </a:rPr>
              <a:t>、</a:t>
            </a:r>
            <a:r>
              <a:rPr lang="en-US" altLang="zh-CN" dirty="0">
                <a:solidFill>
                  <a:schemeClr val="tx1"/>
                </a:solidFill>
              </a:rPr>
              <a:t>B</a:t>
            </a:r>
            <a:r>
              <a:rPr lang="zh-CN" altLang="en-US" dirty="0">
                <a:solidFill>
                  <a:schemeClr val="tx1"/>
                </a:solidFill>
              </a:rPr>
              <a:t>两个站点位于总线两端，两站点之间的最大传播时延为</a:t>
            </a:r>
            <a:r>
              <a:rPr lang="en-US" altLang="zh-CN" dirty="0">
                <a:solidFill>
                  <a:schemeClr val="tx1"/>
                </a:solidFill>
                <a:sym typeface="Symbol" panose="05050102010706020507" pitchFamily="18" charset="2"/>
              </a:rPr>
              <a:t></a:t>
            </a:r>
            <a:r>
              <a:rPr lang="en-US" altLang="zh-CN" dirty="0">
                <a:solidFill>
                  <a:schemeClr val="tx1"/>
                </a:solidFill>
              </a:rPr>
              <a:t>.</a:t>
            </a:r>
            <a:r>
              <a:rPr lang="zh-CN" altLang="en-US" dirty="0">
                <a:solidFill>
                  <a:schemeClr val="tx1"/>
                </a:solidFill>
              </a:rPr>
              <a:t>当</a:t>
            </a:r>
            <a:r>
              <a:rPr lang="en-US" altLang="zh-CN" dirty="0">
                <a:solidFill>
                  <a:schemeClr val="tx1"/>
                </a:solidFill>
              </a:rPr>
              <a:t>A</a:t>
            </a:r>
            <a:r>
              <a:rPr lang="zh-CN" altLang="en-US" dirty="0">
                <a:solidFill>
                  <a:schemeClr val="tx1"/>
                </a:solidFill>
              </a:rPr>
              <a:t>站点发送数据后，经过接近于最大传播时延</a:t>
            </a:r>
            <a:r>
              <a:rPr lang="en-US" altLang="zh-CN" dirty="0">
                <a:solidFill>
                  <a:schemeClr val="tx1"/>
                </a:solidFill>
                <a:sym typeface="Symbol" panose="05050102010706020507" pitchFamily="18" charset="2"/>
              </a:rPr>
              <a:t></a:t>
            </a:r>
            <a:r>
              <a:rPr lang="zh-CN" altLang="en-US" dirty="0">
                <a:solidFill>
                  <a:schemeClr val="tx1"/>
                </a:solidFill>
              </a:rPr>
              <a:t>时</a:t>
            </a:r>
            <a:r>
              <a:rPr lang="en-US" altLang="zh-CN" dirty="0">
                <a:solidFill>
                  <a:schemeClr val="tx1"/>
                </a:solidFill>
              </a:rPr>
              <a:t>,B</a:t>
            </a:r>
            <a:r>
              <a:rPr lang="zh-CN" altLang="en-US" dirty="0">
                <a:solidFill>
                  <a:schemeClr val="tx1"/>
                </a:solidFill>
              </a:rPr>
              <a:t>站点正好也发送数据，此时冲突便发生。发生冲突后</a:t>
            </a:r>
            <a:r>
              <a:rPr lang="en-US" altLang="zh-CN" dirty="0">
                <a:solidFill>
                  <a:schemeClr val="tx1"/>
                </a:solidFill>
              </a:rPr>
              <a:t>,B </a:t>
            </a:r>
            <a:r>
              <a:rPr lang="zh-CN" altLang="en-US" dirty="0">
                <a:solidFill>
                  <a:schemeClr val="tx1"/>
                </a:solidFill>
              </a:rPr>
              <a:t>站点立即可检测到该冲突，而</a:t>
            </a:r>
            <a:r>
              <a:rPr lang="en-US" altLang="zh-CN" dirty="0">
                <a:solidFill>
                  <a:schemeClr val="tx1"/>
                </a:solidFill>
              </a:rPr>
              <a:t>A</a:t>
            </a:r>
            <a:r>
              <a:rPr lang="zh-CN" altLang="en-US" dirty="0">
                <a:solidFill>
                  <a:schemeClr val="tx1"/>
                </a:solidFill>
              </a:rPr>
              <a:t>站点需再经过一份最大传播时延</a:t>
            </a:r>
            <a:r>
              <a:rPr lang="en-US" altLang="zh-CN" dirty="0">
                <a:solidFill>
                  <a:schemeClr val="tx1"/>
                </a:solidFill>
                <a:sym typeface="Symbol" panose="05050102010706020507" pitchFamily="18" charset="2"/>
              </a:rPr>
              <a:t></a:t>
            </a:r>
            <a:r>
              <a:rPr lang="zh-CN" altLang="en-US" dirty="0">
                <a:solidFill>
                  <a:schemeClr val="tx1"/>
                </a:solidFill>
              </a:rPr>
              <a:t>后，才能检测出冲突。</a:t>
            </a:r>
          </a:p>
        </p:txBody>
      </p:sp>
      <p:sp>
        <p:nvSpPr>
          <p:cNvPr id="4" name="Text Box 3">
            <a:extLst>
              <a:ext uri="{FF2B5EF4-FFF2-40B4-BE49-F238E27FC236}">
                <a16:creationId xmlns:a16="http://schemas.microsoft.com/office/drawing/2014/main" id="{D1125018-748C-44CD-8007-A76A9F79C17C}"/>
              </a:ext>
            </a:extLst>
          </p:cNvPr>
          <p:cNvSpPr txBox="1">
            <a:spLocks noChangeArrowheads="1"/>
          </p:cNvSpPr>
          <p:nvPr/>
        </p:nvSpPr>
        <p:spPr bwMode="auto">
          <a:xfrm>
            <a:off x="460604" y="980728"/>
            <a:ext cx="65516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lang="zh-CN" altLang="en-US" sz="3200" b="1">
                <a:solidFill>
                  <a:srgbClr val="000099"/>
                </a:solidFill>
                <a:latin typeface="黑体" panose="02010609060101010101" pitchFamily="49" charset="-122"/>
                <a:ea typeface="黑体" panose="02010609060101010101" pitchFamily="49" charset="-122"/>
              </a:rPr>
              <a:t>边听边发（碰撞检测</a:t>
            </a:r>
            <a:r>
              <a:rPr lang="en-US" altLang="zh-CN" sz="3200" b="1">
                <a:solidFill>
                  <a:srgbClr val="000099"/>
                </a:solidFill>
                <a:latin typeface="黑体" panose="02010609060101010101" pitchFamily="49" charset="-122"/>
                <a:ea typeface="黑体" panose="02010609060101010101" pitchFamily="49" charset="-122"/>
              </a:rPr>
              <a:t>/</a:t>
            </a:r>
            <a:r>
              <a:rPr lang="zh-CN" altLang="en-US" sz="3200" b="1">
                <a:solidFill>
                  <a:srgbClr val="000099"/>
                </a:solidFill>
                <a:latin typeface="黑体" panose="02010609060101010101" pitchFamily="49" charset="-122"/>
                <a:ea typeface="黑体" panose="02010609060101010101" pitchFamily="49" charset="-122"/>
              </a:rPr>
              <a:t>冲突检测）</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77"/>
          <p:cNvSpPr txBox="1">
            <a:spLocks noChangeArrowheads="1"/>
          </p:cNvSpPr>
          <p:nvPr/>
        </p:nvSpPr>
        <p:spPr bwMode="auto">
          <a:xfrm>
            <a:off x="0" y="0"/>
            <a:ext cx="9144000" cy="6970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a:p>
            <a:pPr eaLnBrk="1" hangingPunct="1">
              <a:spcBef>
                <a:spcPct val="50000"/>
              </a:spcBef>
              <a:buClrTx/>
              <a:buFontTx/>
              <a:buNone/>
            </a:pPr>
            <a:endParaRPr lang="zh-CN" altLang="en-US" sz="1800"/>
          </a:p>
        </p:txBody>
      </p:sp>
      <p:sp>
        <p:nvSpPr>
          <p:cNvPr id="484354" name="Rectangle 2"/>
          <p:cNvSpPr>
            <a:spLocks noChangeArrowheads="1"/>
          </p:cNvSpPr>
          <p:nvPr/>
        </p:nvSpPr>
        <p:spPr bwMode="auto">
          <a:xfrm>
            <a:off x="5302250" y="5429250"/>
            <a:ext cx="1144588" cy="142875"/>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484355" name="Rectangle 3"/>
          <p:cNvSpPr>
            <a:spLocks noChangeArrowheads="1"/>
          </p:cNvSpPr>
          <p:nvPr/>
        </p:nvSpPr>
        <p:spPr bwMode="auto">
          <a:xfrm>
            <a:off x="2060575" y="5213350"/>
            <a:ext cx="4386263" cy="1428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23557" name="Line 4"/>
          <p:cNvSpPr>
            <a:spLocks noChangeShapeType="1"/>
          </p:cNvSpPr>
          <p:nvPr/>
        </p:nvSpPr>
        <p:spPr bwMode="auto">
          <a:xfrm>
            <a:off x="1908175" y="652463"/>
            <a:ext cx="4660900" cy="0"/>
          </a:xfrm>
          <a:prstGeom prst="line">
            <a:avLst/>
          </a:prstGeom>
          <a:noFill/>
          <a:ln w="38100" cmpd="dbl">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8" name="Line 5"/>
          <p:cNvSpPr>
            <a:spLocks noChangeShapeType="1"/>
          </p:cNvSpPr>
          <p:nvPr/>
        </p:nvSpPr>
        <p:spPr bwMode="auto">
          <a:xfrm>
            <a:off x="1901825" y="363538"/>
            <a:ext cx="4673600"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9" name="Rectangle 6"/>
          <p:cNvSpPr>
            <a:spLocks noChangeArrowheads="1"/>
          </p:cNvSpPr>
          <p:nvPr/>
        </p:nvSpPr>
        <p:spPr bwMode="auto">
          <a:xfrm>
            <a:off x="3770313" y="153988"/>
            <a:ext cx="730250" cy="39528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1 km</a:t>
            </a:r>
          </a:p>
        </p:txBody>
      </p:sp>
      <p:sp>
        <p:nvSpPr>
          <p:cNvPr id="23560" name="Line 7"/>
          <p:cNvSpPr>
            <a:spLocks noChangeShapeType="1"/>
          </p:cNvSpPr>
          <p:nvPr/>
        </p:nvSpPr>
        <p:spPr bwMode="auto">
          <a:xfrm>
            <a:off x="1897063" y="657225"/>
            <a:ext cx="0" cy="1808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1" name="Line 8"/>
          <p:cNvSpPr>
            <a:spLocks noChangeShapeType="1"/>
          </p:cNvSpPr>
          <p:nvPr/>
        </p:nvSpPr>
        <p:spPr bwMode="auto">
          <a:xfrm>
            <a:off x="1901825" y="657225"/>
            <a:ext cx="4648200" cy="868363"/>
          </a:xfrm>
          <a:prstGeom prst="line">
            <a:avLst/>
          </a:prstGeom>
          <a:noFill/>
          <a:ln w="76200">
            <a:solidFill>
              <a:schemeClr val="accent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2" name="Rectangle 9"/>
          <p:cNvSpPr>
            <a:spLocks noChangeArrowheads="1"/>
          </p:cNvSpPr>
          <p:nvPr/>
        </p:nvSpPr>
        <p:spPr bwMode="auto">
          <a:xfrm>
            <a:off x="1641475" y="307975"/>
            <a:ext cx="3508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A</a:t>
            </a:r>
          </a:p>
        </p:txBody>
      </p:sp>
      <p:sp>
        <p:nvSpPr>
          <p:cNvPr id="23563" name="Rectangle 10"/>
          <p:cNvSpPr>
            <a:spLocks noChangeArrowheads="1"/>
          </p:cNvSpPr>
          <p:nvPr/>
        </p:nvSpPr>
        <p:spPr bwMode="auto">
          <a:xfrm>
            <a:off x="6464300" y="307975"/>
            <a:ext cx="3508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a:t>
            </a:r>
          </a:p>
        </p:txBody>
      </p:sp>
      <p:sp>
        <p:nvSpPr>
          <p:cNvPr id="23564" name="Line 11"/>
          <p:cNvSpPr>
            <a:spLocks noChangeShapeType="1"/>
          </p:cNvSpPr>
          <p:nvPr/>
        </p:nvSpPr>
        <p:spPr bwMode="auto">
          <a:xfrm flipH="1">
            <a:off x="1779588" y="1000125"/>
            <a:ext cx="6350" cy="1090613"/>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5" name="Rectangle 12"/>
          <p:cNvSpPr>
            <a:spLocks noChangeArrowheads="1"/>
          </p:cNvSpPr>
          <p:nvPr/>
        </p:nvSpPr>
        <p:spPr bwMode="auto">
          <a:xfrm>
            <a:off x="1560513" y="1331913"/>
            <a:ext cx="2508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2000" i="1">
                <a:solidFill>
                  <a:srgbClr val="333399"/>
                </a:solidFill>
                <a:latin typeface="Arial" panose="020B0604020202020204" pitchFamily="34" charset="0"/>
                <a:ea typeface="黑体" panose="02010609060101010101" pitchFamily="49" charset="-122"/>
              </a:rPr>
              <a:t>t</a:t>
            </a:r>
          </a:p>
        </p:txBody>
      </p:sp>
      <p:sp>
        <p:nvSpPr>
          <p:cNvPr id="23566" name="Line 13"/>
          <p:cNvSpPr>
            <a:spLocks noChangeShapeType="1"/>
          </p:cNvSpPr>
          <p:nvPr/>
        </p:nvSpPr>
        <p:spPr bwMode="auto">
          <a:xfrm>
            <a:off x="6569075" y="646113"/>
            <a:ext cx="0" cy="1484312"/>
          </a:xfrm>
          <a:prstGeom prst="line">
            <a:avLst/>
          </a:prstGeom>
          <a:noFill/>
          <a:ln w="127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7" name="Line 14"/>
          <p:cNvSpPr>
            <a:spLocks noChangeShapeType="1"/>
          </p:cNvSpPr>
          <p:nvPr/>
        </p:nvSpPr>
        <p:spPr bwMode="auto">
          <a:xfrm flipH="1">
            <a:off x="1897063" y="1360488"/>
            <a:ext cx="4670425" cy="879475"/>
          </a:xfrm>
          <a:prstGeom prst="line">
            <a:avLst/>
          </a:prstGeom>
          <a:noFill/>
          <a:ln w="76200">
            <a:solidFill>
              <a:srgbClr val="9966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3568" name="Group 15"/>
          <p:cNvGrpSpPr>
            <a:grpSpLocks/>
          </p:cNvGrpSpPr>
          <p:nvPr/>
        </p:nvGrpSpPr>
        <p:grpSpPr bwMode="auto">
          <a:xfrm>
            <a:off x="5340350" y="652463"/>
            <a:ext cx="965200" cy="793750"/>
            <a:chOff x="3364" y="411"/>
            <a:chExt cx="608" cy="500"/>
          </a:xfrm>
        </p:grpSpPr>
        <p:sp>
          <p:nvSpPr>
            <p:cNvPr id="23628" name="Line 16"/>
            <p:cNvSpPr>
              <a:spLocks noChangeShapeType="1"/>
            </p:cNvSpPr>
            <p:nvPr/>
          </p:nvSpPr>
          <p:spPr bwMode="auto">
            <a:xfrm>
              <a:off x="3755" y="728"/>
              <a:ext cx="112" cy="18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29" name="AutoShape 17"/>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碰撞</a:t>
              </a:r>
            </a:p>
          </p:txBody>
        </p:sp>
      </p:grpSp>
      <p:sp>
        <p:nvSpPr>
          <p:cNvPr id="484370" name="Text Box 18"/>
          <p:cNvSpPr txBox="1">
            <a:spLocks noChangeArrowheads="1"/>
          </p:cNvSpPr>
          <p:nvPr/>
        </p:nvSpPr>
        <p:spPr bwMode="auto">
          <a:xfrm>
            <a:off x="6877050" y="3275013"/>
            <a:ext cx="2201863"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90000"/>
              </a:lnSpc>
              <a:spcBef>
                <a:spcPct val="0"/>
              </a:spcBef>
              <a:buClrTx/>
              <a:buFontTx/>
              <a:buNone/>
            </a:pP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a:t>
            </a:r>
            <a:r>
              <a:rPr kumimoji="1" lang="en-US" altLang="zh-CN" sz="2000">
                <a:solidFill>
                  <a:srgbClr val="333399"/>
                </a:solidFill>
                <a:latin typeface="Tahoma" panose="020B0604030504040204" pitchFamily="34" charset="0"/>
                <a:sym typeface="Symbol" panose="05050102010706020507" pitchFamily="18" charset="2"/>
              </a:rPr>
              <a:t></a:t>
            </a:r>
            <a:r>
              <a:rPr kumimoji="1" lang="en-US" altLang="zh-CN"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sym typeface="Symbol" panose="05050102010706020507" pitchFamily="18" charset="2"/>
              </a:rPr>
              <a:t> </a:t>
            </a:r>
            <a:endParaRPr kumimoji="1" lang="en-US" altLang="zh-CN" sz="2000">
              <a:solidFill>
                <a:srgbClr val="333399"/>
              </a:solidFill>
              <a:latin typeface="Arial" panose="020B0604020202020204" pitchFamily="34" charset="0"/>
              <a:ea typeface="黑体" panose="02010609060101010101" pitchFamily="49" charset="-122"/>
            </a:endParaRPr>
          </a:p>
          <a:p>
            <a:pPr>
              <a:lnSpc>
                <a:spcPct val="9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 </a:t>
            </a:r>
            <a:r>
              <a:rPr kumimoji="1" lang="zh-CN" altLang="en-US" sz="2000">
                <a:solidFill>
                  <a:srgbClr val="333399"/>
                </a:solidFill>
                <a:latin typeface="Arial" panose="020B0604020202020204" pitchFamily="34" charset="0"/>
                <a:ea typeface="黑体" panose="02010609060101010101" pitchFamily="49" charset="-122"/>
              </a:rPr>
              <a:t>检测到</a:t>
            </a:r>
            <a:r>
              <a:rPr kumimoji="1" lang="zh-CN" altLang="en-US" sz="2000">
                <a:solidFill>
                  <a:schemeClr val="hlink"/>
                </a:solidFill>
                <a:latin typeface="Arial" panose="020B0604020202020204" pitchFamily="34" charset="0"/>
                <a:ea typeface="黑体" panose="02010609060101010101" pitchFamily="49" charset="-122"/>
              </a:rPr>
              <a:t>信道空闲</a:t>
            </a:r>
          </a:p>
          <a:p>
            <a:pPr>
              <a:lnSpc>
                <a:spcPct val="9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发送数据</a:t>
            </a:r>
          </a:p>
        </p:txBody>
      </p:sp>
      <p:sp>
        <p:nvSpPr>
          <p:cNvPr id="484371" name="Text Box 19"/>
          <p:cNvSpPr txBox="1">
            <a:spLocks noChangeArrowheads="1"/>
          </p:cNvSpPr>
          <p:nvPr/>
        </p:nvSpPr>
        <p:spPr bwMode="auto">
          <a:xfrm>
            <a:off x="6877050" y="4246563"/>
            <a:ext cx="1417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90000"/>
              </a:lnSpc>
              <a:spcBef>
                <a:spcPct val="0"/>
              </a:spcBef>
              <a:buClrTx/>
              <a:buFontTx/>
              <a:buNone/>
            </a:pP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a:t>
            </a:r>
            <a:r>
              <a:rPr kumimoji="1" lang="en-US" altLang="zh-CN" sz="2000">
                <a:solidFill>
                  <a:srgbClr val="333399"/>
                </a:solidFill>
                <a:latin typeface="Tahoma" panose="020B0604030504040204" pitchFamily="34" charset="0"/>
                <a:sym typeface="Symbol" panose="05050102010706020507" pitchFamily="18" charset="2"/>
              </a:rPr>
              <a:t></a:t>
            </a:r>
            <a:r>
              <a:rPr kumimoji="1" lang="en-US" altLang="zh-CN" sz="2000">
                <a:latin typeface="Tahoma" panose="020B0604030504040204" pitchFamily="34" charset="0"/>
              </a:rPr>
              <a:t> </a:t>
            </a:r>
            <a:r>
              <a:rPr kumimoji="1" lang="en-US" altLang="zh-CN" sz="2000">
                <a:solidFill>
                  <a:srgbClr val="333399"/>
                </a:solidFill>
                <a:latin typeface="Arial" panose="020B0604020202020204" pitchFamily="34" charset="0"/>
                <a:ea typeface="黑体" panose="02010609060101010101" pitchFamily="49" charset="-122"/>
                <a:sym typeface="Symbol" panose="05050102010706020507" pitchFamily="18" charset="2"/>
              </a:rPr>
              <a:t>  / 2</a:t>
            </a:r>
            <a:endParaRPr kumimoji="1" lang="en-US" altLang="zh-CN" sz="2000" baseline="30000">
              <a:solidFill>
                <a:srgbClr val="333399"/>
              </a:solidFill>
              <a:latin typeface="Arial" panose="020B0604020202020204" pitchFamily="34" charset="0"/>
              <a:ea typeface="黑体" panose="02010609060101010101" pitchFamily="49" charset="-122"/>
            </a:endParaRPr>
          </a:p>
          <a:p>
            <a:pPr>
              <a:lnSpc>
                <a:spcPct val="9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发生碰撞</a:t>
            </a:r>
          </a:p>
        </p:txBody>
      </p:sp>
      <p:grpSp>
        <p:nvGrpSpPr>
          <p:cNvPr id="23571" name="Group 20"/>
          <p:cNvGrpSpPr>
            <a:grpSpLocks/>
          </p:cNvGrpSpPr>
          <p:nvPr/>
        </p:nvGrpSpPr>
        <p:grpSpPr bwMode="auto">
          <a:xfrm>
            <a:off x="250825" y="1196975"/>
            <a:ext cx="3960813" cy="1214438"/>
            <a:chOff x="158" y="754"/>
            <a:chExt cx="2495" cy="765"/>
          </a:xfrm>
        </p:grpSpPr>
        <p:sp>
          <p:nvSpPr>
            <p:cNvPr id="23623" name="Text Box 21"/>
            <p:cNvSpPr txBox="1">
              <a:spLocks noChangeArrowheads="1"/>
            </p:cNvSpPr>
            <p:nvPr/>
          </p:nvSpPr>
          <p:spPr bwMode="auto">
            <a:xfrm>
              <a:off x="158" y="1269"/>
              <a:ext cx="7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2</a:t>
              </a:r>
              <a:r>
                <a:rPr kumimoji="1" lang="en-US" altLang="zh-CN" sz="2000">
                  <a:solidFill>
                    <a:srgbClr val="333399"/>
                  </a:solidFill>
                  <a:latin typeface="Arial" panose="020B0604020202020204" pitchFamily="34" charset="0"/>
                  <a:ea typeface="黑体" panose="02010609060101010101" pitchFamily="49" charset="-122"/>
                  <a:sym typeface="Symbol" panose="05050102010706020507" pitchFamily="18" charset="2"/>
                </a:rPr>
                <a:t></a:t>
              </a:r>
              <a:r>
                <a:rPr kumimoji="1" lang="en-US" altLang="zh-CN"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sym typeface="Symbol" panose="05050102010706020507" pitchFamily="18" charset="2"/>
                </a:rPr>
                <a:t> </a:t>
              </a:r>
            </a:p>
          </p:txBody>
        </p:sp>
        <p:sp>
          <p:nvSpPr>
            <p:cNvPr id="23624" name="Line 22"/>
            <p:cNvSpPr>
              <a:spLocks noChangeShapeType="1"/>
            </p:cNvSpPr>
            <p:nvPr/>
          </p:nvSpPr>
          <p:spPr bwMode="auto">
            <a:xfrm>
              <a:off x="913" y="1417"/>
              <a:ext cx="26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3625" name="Group 23"/>
            <p:cNvGrpSpPr>
              <a:grpSpLocks/>
            </p:cNvGrpSpPr>
            <p:nvPr/>
          </p:nvGrpSpPr>
          <p:grpSpPr bwMode="auto">
            <a:xfrm>
              <a:off x="1247" y="754"/>
              <a:ext cx="1406" cy="272"/>
              <a:chOff x="1247" y="754"/>
              <a:chExt cx="1406" cy="272"/>
            </a:xfrm>
          </p:grpSpPr>
          <p:sp>
            <p:nvSpPr>
              <p:cNvPr id="23626" name="AutoShape 24"/>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endParaRPr kumimoji="1" lang="zh-CN" altLang="en-US" sz="2000">
                  <a:solidFill>
                    <a:srgbClr val="333399"/>
                  </a:solidFill>
                  <a:latin typeface="Arial" panose="020B0604020202020204" pitchFamily="34" charset="0"/>
                  <a:ea typeface="黑体" panose="02010609060101010101" pitchFamily="49" charset="-122"/>
                </a:endParaRPr>
              </a:p>
            </p:txBody>
          </p:sp>
          <p:sp>
            <p:nvSpPr>
              <p:cNvPr id="23627" name="Text Box 25"/>
              <p:cNvSpPr txBox="1">
                <a:spLocks noChangeArrowheads="1"/>
              </p:cNvSpPr>
              <p:nvPr/>
            </p:nvSpPr>
            <p:spPr bwMode="auto">
              <a:xfrm>
                <a:off x="1247" y="754"/>
                <a:ext cx="13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A </a:t>
                </a:r>
                <a:r>
                  <a:rPr kumimoji="1" lang="zh-CN" altLang="en-US" sz="2000">
                    <a:solidFill>
                      <a:srgbClr val="333399"/>
                    </a:solidFill>
                    <a:latin typeface="Arial" panose="020B0604020202020204" pitchFamily="34" charset="0"/>
                    <a:ea typeface="黑体" panose="02010609060101010101" pitchFamily="49" charset="-122"/>
                  </a:rPr>
                  <a:t>检测到发生碰撞</a:t>
                </a:r>
              </a:p>
            </p:txBody>
          </p:sp>
        </p:grpSp>
      </p:grpSp>
      <p:grpSp>
        <p:nvGrpSpPr>
          <p:cNvPr id="23572" name="Group 26"/>
          <p:cNvGrpSpPr>
            <a:grpSpLocks/>
          </p:cNvGrpSpPr>
          <p:nvPr/>
        </p:nvGrpSpPr>
        <p:grpSpPr bwMode="auto">
          <a:xfrm>
            <a:off x="6615113" y="533400"/>
            <a:ext cx="1844675" cy="969963"/>
            <a:chOff x="4167" y="336"/>
            <a:chExt cx="1162" cy="611"/>
          </a:xfrm>
        </p:grpSpPr>
        <p:grpSp>
          <p:nvGrpSpPr>
            <p:cNvPr id="23617" name="Group 27"/>
            <p:cNvGrpSpPr>
              <a:grpSpLocks/>
            </p:cNvGrpSpPr>
            <p:nvPr/>
          </p:nvGrpSpPr>
          <p:grpSpPr bwMode="auto">
            <a:xfrm>
              <a:off x="4167" y="697"/>
              <a:ext cx="1027" cy="250"/>
              <a:chOff x="4167" y="697"/>
              <a:chExt cx="1027" cy="250"/>
            </a:xfrm>
          </p:grpSpPr>
          <p:sp>
            <p:nvSpPr>
              <p:cNvPr id="23621" name="Line 28"/>
              <p:cNvSpPr>
                <a:spLocks noChangeShapeType="1"/>
              </p:cNvSpPr>
              <p:nvPr/>
            </p:nvSpPr>
            <p:spPr bwMode="auto">
              <a:xfrm flipH="1">
                <a:off x="4167" y="847"/>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22" name="Text Box 29"/>
              <p:cNvSpPr txBox="1">
                <a:spLocks noChangeArrowheads="1"/>
              </p:cNvSpPr>
              <p:nvPr/>
            </p:nvSpPr>
            <p:spPr bwMode="auto">
              <a:xfrm>
                <a:off x="4411" y="697"/>
                <a:ext cx="78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2000" i="1">
                    <a:solidFill>
                      <a:srgbClr val="333399"/>
                    </a:solidFill>
                    <a:latin typeface="Arial" panose="020B0604020202020204" pitchFamily="34" charset="0"/>
                    <a:ea typeface="黑体" panose="02010609060101010101" pitchFamily="49" charset="-122"/>
                  </a:rPr>
                  <a:t>  </a:t>
                </a: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a:t>
                </a:r>
                <a:r>
                  <a:rPr kumimoji="1" lang="en-US" altLang="zh-CN" sz="2000">
                    <a:solidFill>
                      <a:srgbClr val="333399"/>
                    </a:solidFill>
                    <a:latin typeface="Tahoma" panose="020B0604030504040204" pitchFamily="34" charset="0"/>
                    <a:sym typeface="Symbol" panose="05050102010706020507" pitchFamily="18" charset="2"/>
                  </a:rPr>
                  <a:t></a:t>
                </a:r>
                <a:r>
                  <a:rPr kumimoji="1" lang="en-US" altLang="zh-CN"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sym typeface="Symbol" panose="05050102010706020507" pitchFamily="18" charset="2"/>
                  </a:rPr>
                  <a:t> </a:t>
                </a:r>
                <a:r>
                  <a:rPr kumimoji="1" lang="en-US" altLang="zh-CN" sz="2000" baseline="30000">
                    <a:solidFill>
                      <a:srgbClr val="333399"/>
                    </a:solidFill>
                    <a:latin typeface="Arial" panose="020B0604020202020204" pitchFamily="34" charset="0"/>
                    <a:ea typeface="黑体" panose="02010609060101010101" pitchFamily="49" charset="-122"/>
                  </a:rPr>
                  <a:t> </a:t>
                </a:r>
              </a:p>
            </p:txBody>
          </p:sp>
        </p:grpSp>
        <p:grpSp>
          <p:nvGrpSpPr>
            <p:cNvPr id="23618" name="Group 30"/>
            <p:cNvGrpSpPr>
              <a:grpSpLocks/>
            </p:cNvGrpSpPr>
            <p:nvPr/>
          </p:nvGrpSpPr>
          <p:grpSpPr bwMode="auto">
            <a:xfrm>
              <a:off x="4286" y="336"/>
              <a:ext cx="1043" cy="256"/>
              <a:chOff x="4286" y="336"/>
              <a:chExt cx="1043" cy="256"/>
            </a:xfrm>
          </p:grpSpPr>
          <p:sp>
            <p:nvSpPr>
              <p:cNvPr id="23619" name="AutoShape 31"/>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endParaRPr kumimoji="1" lang="zh-CN" altLang="en-US" sz="2000">
                  <a:solidFill>
                    <a:srgbClr val="333399"/>
                  </a:solidFill>
                  <a:latin typeface="Arial" panose="020B0604020202020204" pitchFamily="34" charset="0"/>
                  <a:ea typeface="黑体" panose="02010609060101010101" pitchFamily="49" charset="-122"/>
                </a:endParaRPr>
              </a:p>
            </p:txBody>
          </p:sp>
          <p:sp>
            <p:nvSpPr>
              <p:cNvPr id="23620" name="Text Box 32"/>
              <p:cNvSpPr txBox="1">
                <a:spLocks noChangeArrowheads="1"/>
              </p:cNvSpPr>
              <p:nvPr/>
            </p:nvSpPr>
            <p:spPr bwMode="auto">
              <a:xfrm>
                <a:off x="4286" y="336"/>
                <a:ext cx="99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rPr>
                  <a:t>B </a:t>
                </a:r>
                <a:r>
                  <a:rPr kumimoji="1" lang="zh-CN" altLang="en-US" sz="2000">
                    <a:solidFill>
                      <a:srgbClr val="333399"/>
                    </a:solidFill>
                    <a:latin typeface="Arial" panose="020B0604020202020204" pitchFamily="34" charset="0"/>
                    <a:ea typeface="黑体" panose="02010609060101010101" pitchFamily="49" charset="-122"/>
                  </a:rPr>
                  <a:t>发送数据</a:t>
                </a:r>
              </a:p>
            </p:txBody>
          </p:sp>
        </p:grpSp>
      </p:grpSp>
      <p:grpSp>
        <p:nvGrpSpPr>
          <p:cNvPr id="23573" name="Group 33"/>
          <p:cNvGrpSpPr>
            <a:grpSpLocks/>
          </p:cNvGrpSpPr>
          <p:nvPr/>
        </p:nvGrpSpPr>
        <p:grpSpPr bwMode="auto">
          <a:xfrm>
            <a:off x="4067175" y="1373188"/>
            <a:ext cx="3725863" cy="1006475"/>
            <a:chOff x="2562" y="865"/>
            <a:chExt cx="2347" cy="634"/>
          </a:xfrm>
        </p:grpSpPr>
        <p:grpSp>
          <p:nvGrpSpPr>
            <p:cNvPr id="23612" name="Group 34"/>
            <p:cNvGrpSpPr>
              <a:grpSpLocks/>
            </p:cNvGrpSpPr>
            <p:nvPr/>
          </p:nvGrpSpPr>
          <p:grpSpPr bwMode="auto">
            <a:xfrm>
              <a:off x="2562" y="1240"/>
              <a:ext cx="1546" cy="259"/>
              <a:chOff x="2562" y="1240"/>
              <a:chExt cx="1546" cy="259"/>
            </a:xfrm>
          </p:grpSpPr>
          <p:sp>
            <p:nvSpPr>
              <p:cNvPr id="23615" name="AutoShape 35"/>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endParaRPr kumimoji="1" lang="zh-CN" altLang="en-US" sz="2000">
                  <a:solidFill>
                    <a:srgbClr val="333399"/>
                  </a:solidFill>
                  <a:latin typeface="Arial" panose="020B0604020202020204" pitchFamily="34" charset="0"/>
                  <a:ea typeface="黑体" panose="02010609060101010101" pitchFamily="49" charset="-122"/>
                </a:endParaRPr>
              </a:p>
            </p:txBody>
          </p:sp>
          <p:sp>
            <p:nvSpPr>
              <p:cNvPr id="23616" name="Text Box 36"/>
              <p:cNvSpPr txBox="1">
                <a:spLocks noChangeArrowheads="1"/>
              </p:cNvSpPr>
              <p:nvPr/>
            </p:nvSpPr>
            <p:spPr bwMode="auto">
              <a:xfrm>
                <a:off x="2562" y="1240"/>
                <a:ext cx="15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 </a:t>
                </a:r>
                <a:r>
                  <a:rPr kumimoji="1" lang="zh-CN" altLang="en-US" sz="2000">
                    <a:solidFill>
                      <a:srgbClr val="333399"/>
                    </a:solidFill>
                    <a:latin typeface="Arial" panose="020B0604020202020204" pitchFamily="34" charset="0"/>
                    <a:ea typeface="黑体" panose="02010609060101010101" pitchFamily="49" charset="-122"/>
                  </a:rPr>
                  <a:t>检测到发生碰撞</a:t>
                </a:r>
              </a:p>
            </p:txBody>
          </p:sp>
        </p:grpSp>
        <p:sp>
          <p:nvSpPr>
            <p:cNvPr id="23613" name="Line 37"/>
            <p:cNvSpPr>
              <a:spLocks noChangeShapeType="1"/>
            </p:cNvSpPr>
            <p:nvPr/>
          </p:nvSpPr>
          <p:spPr bwMode="auto">
            <a:xfrm flipH="1">
              <a:off x="4167" y="964"/>
              <a:ext cx="261"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14" name="Text Box 38"/>
            <p:cNvSpPr txBox="1">
              <a:spLocks noChangeArrowheads="1"/>
            </p:cNvSpPr>
            <p:nvPr/>
          </p:nvSpPr>
          <p:spPr bwMode="auto">
            <a:xfrm>
              <a:off x="4410" y="865"/>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2000" i="1">
                  <a:solidFill>
                    <a:srgbClr val="333399"/>
                  </a:solidFill>
                  <a:latin typeface="Arial" panose="020B0604020202020204" pitchFamily="34" charset="0"/>
                  <a:ea typeface="黑体" panose="02010609060101010101" pitchFamily="49" charset="-122"/>
                </a:rPr>
                <a:t>  </a:t>
              </a: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a:t>
              </a:r>
              <a:r>
                <a:rPr kumimoji="1" lang="en-US" altLang="zh-CN" sz="2000">
                  <a:solidFill>
                    <a:srgbClr val="333399"/>
                  </a:solidFill>
                  <a:latin typeface="Tahoma" panose="020B0604030504040204" pitchFamily="34" charset="0"/>
                  <a:sym typeface="Symbol" panose="05050102010706020507" pitchFamily="18" charset="2"/>
                </a:rPr>
                <a:t></a:t>
              </a:r>
            </a:p>
          </p:txBody>
        </p:sp>
      </p:grpSp>
      <p:sp>
        <p:nvSpPr>
          <p:cNvPr id="484391" name="Rectangle 39"/>
          <p:cNvSpPr>
            <a:spLocks noChangeArrowheads="1"/>
          </p:cNvSpPr>
          <p:nvPr/>
        </p:nvSpPr>
        <p:spPr bwMode="auto">
          <a:xfrm>
            <a:off x="1692275" y="4364038"/>
            <a:ext cx="400050"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A</a:t>
            </a:r>
          </a:p>
        </p:txBody>
      </p:sp>
      <p:sp>
        <p:nvSpPr>
          <p:cNvPr id="484392" name="Rectangle 40"/>
          <p:cNvSpPr>
            <a:spLocks noChangeArrowheads="1"/>
          </p:cNvSpPr>
          <p:nvPr/>
        </p:nvSpPr>
        <p:spPr bwMode="auto">
          <a:xfrm>
            <a:off x="6403975" y="5141913"/>
            <a:ext cx="400050" cy="50165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a:t>
            </a:r>
          </a:p>
        </p:txBody>
      </p:sp>
      <p:grpSp>
        <p:nvGrpSpPr>
          <p:cNvPr id="484393" name="Group 41"/>
          <p:cNvGrpSpPr>
            <a:grpSpLocks/>
          </p:cNvGrpSpPr>
          <p:nvPr/>
        </p:nvGrpSpPr>
        <p:grpSpPr bwMode="auto">
          <a:xfrm>
            <a:off x="2092325" y="4437063"/>
            <a:ext cx="4100513" cy="142875"/>
            <a:chOff x="1318" y="2795"/>
            <a:chExt cx="2583" cy="90"/>
          </a:xfrm>
        </p:grpSpPr>
        <p:sp>
          <p:nvSpPr>
            <p:cNvPr id="23610" name="Rectangle 42"/>
            <p:cNvSpPr>
              <a:spLocks noChangeArrowheads="1"/>
            </p:cNvSpPr>
            <p:nvPr/>
          </p:nvSpPr>
          <p:spPr bwMode="auto">
            <a:xfrm>
              <a:off x="1318" y="2795"/>
              <a:ext cx="2462" cy="9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23611" name="Line 43"/>
            <p:cNvSpPr>
              <a:spLocks noChangeShapeType="1"/>
            </p:cNvSpPr>
            <p:nvPr/>
          </p:nvSpPr>
          <p:spPr bwMode="auto">
            <a:xfrm>
              <a:off x="3780" y="2841"/>
              <a:ext cx="121"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96" name="Group 44"/>
          <p:cNvGrpSpPr>
            <a:grpSpLocks/>
          </p:cNvGrpSpPr>
          <p:nvPr/>
        </p:nvGrpSpPr>
        <p:grpSpPr bwMode="auto">
          <a:xfrm>
            <a:off x="5810250" y="4651375"/>
            <a:ext cx="636588" cy="146050"/>
            <a:chOff x="3660" y="2930"/>
            <a:chExt cx="401" cy="92"/>
          </a:xfrm>
        </p:grpSpPr>
        <p:sp>
          <p:nvSpPr>
            <p:cNvPr id="23608" name="Rectangle 45"/>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23609" name="Line 46"/>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4399" name="Line 47"/>
          <p:cNvSpPr>
            <a:spLocks noChangeShapeType="1"/>
          </p:cNvSpPr>
          <p:nvPr/>
        </p:nvSpPr>
        <p:spPr bwMode="auto">
          <a:xfrm>
            <a:off x="6345238" y="5284788"/>
            <a:ext cx="19050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4400" name="Group 48"/>
          <p:cNvGrpSpPr>
            <a:grpSpLocks/>
          </p:cNvGrpSpPr>
          <p:nvPr/>
        </p:nvGrpSpPr>
        <p:grpSpPr bwMode="auto">
          <a:xfrm>
            <a:off x="1692275" y="5903913"/>
            <a:ext cx="5111750" cy="503237"/>
            <a:chOff x="1066" y="3719"/>
            <a:chExt cx="3220" cy="317"/>
          </a:xfrm>
        </p:grpSpPr>
        <p:sp>
          <p:nvSpPr>
            <p:cNvPr id="23603" name="Rectangle 49"/>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23604" name="Rectangle 50"/>
            <p:cNvSpPr>
              <a:spLocks noChangeArrowheads="1"/>
            </p:cNvSpPr>
            <p:nvPr/>
          </p:nvSpPr>
          <p:spPr bwMode="auto">
            <a:xfrm>
              <a:off x="1298" y="3765"/>
              <a:ext cx="2763" cy="9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23605" name="Rectangle 51"/>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A</a:t>
              </a:r>
            </a:p>
          </p:txBody>
        </p:sp>
        <p:sp>
          <p:nvSpPr>
            <p:cNvPr id="23606" name="Rectangle 52"/>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a:t>
              </a:r>
            </a:p>
          </p:txBody>
        </p:sp>
        <p:sp>
          <p:nvSpPr>
            <p:cNvPr id="23607" name="Line 53"/>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4406" name="Rectangle 54"/>
          <p:cNvSpPr>
            <a:spLocks noChangeArrowheads="1"/>
          </p:cNvSpPr>
          <p:nvPr/>
        </p:nvSpPr>
        <p:spPr bwMode="auto">
          <a:xfrm>
            <a:off x="6319838" y="3817938"/>
            <a:ext cx="127000" cy="146050"/>
          </a:xfrm>
          <a:prstGeom prst="rect">
            <a:avLst/>
          </a:prstGeom>
          <a:solidFill>
            <a:srgbClr val="99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484407" name="Rectangle 55"/>
          <p:cNvSpPr>
            <a:spLocks noChangeArrowheads="1"/>
          </p:cNvSpPr>
          <p:nvPr/>
        </p:nvSpPr>
        <p:spPr bwMode="auto">
          <a:xfrm>
            <a:off x="2092325" y="3602038"/>
            <a:ext cx="3400425" cy="144462"/>
          </a:xfrm>
          <a:prstGeom prst="rect">
            <a:avLst/>
          </a:prstGeom>
          <a:solidFill>
            <a:schemeClr val="accent1"/>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484408" name="Rectangle 56"/>
          <p:cNvSpPr>
            <a:spLocks noChangeArrowheads="1"/>
          </p:cNvSpPr>
          <p:nvPr/>
        </p:nvSpPr>
        <p:spPr bwMode="auto">
          <a:xfrm>
            <a:off x="1692275" y="3530600"/>
            <a:ext cx="400050"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A</a:t>
            </a:r>
          </a:p>
        </p:txBody>
      </p:sp>
      <p:sp>
        <p:nvSpPr>
          <p:cNvPr id="484409" name="Rectangle 57"/>
          <p:cNvSpPr>
            <a:spLocks noChangeArrowheads="1"/>
          </p:cNvSpPr>
          <p:nvPr/>
        </p:nvSpPr>
        <p:spPr bwMode="auto">
          <a:xfrm>
            <a:off x="6403975" y="3530600"/>
            <a:ext cx="400050"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a:t>
            </a:r>
          </a:p>
        </p:txBody>
      </p:sp>
      <p:sp>
        <p:nvSpPr>
          <p:cNvPr id="484410" name="Line 58"/>
          <p:cNvSpPr>
            <a:spLocks noChangeShapeType="1"/>
          </p:cNvSpPr>
          <p:nvPr/>
        </p:nvSpPr>
        <p:spPr bwMode="auto">
          <a:xfrm>
            <a:off x="5492750" y="3675063"/>
            <a:ext cx="19050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1" name="Line 59"/>
          <p:cNvSpPr>
            <a:spLocks noChangeShapeType="1"/>
          </p:cNvSpPr>
          <p:nvPr/>
        </p:nvSpPr>
        <p:spPr bwMode="auto">
          <a:xfrm flipH="1">
            <a:off x="6129338" y="3889375"/>
            <a:ext cx="190500" cy="0"/>
          </a:xfrm>
          <a:prstGeom prst="line">
            <a:avLst/>
          </a:prstGeom>
          <a:noFill/>
          <a:ln w="127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4412" name="Text Box 60"/>
          <p:cNvSpPr txBox="1">
            <a:spLocks noChangeArrowheads="1"/>
          </p:cNvSpPr>
          <p:nvPr/>
        </p:nvSpPr>
        <p:spPr bwMode="auto">
          <a:xfrm>
            <a:off x="293688" y="2374900"/>
            <a:ext cx="1325562" cy="123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lnSpc>
                <a:spcPct val="90000"/>
              </a:lnSpc>
              <a:spcBef>
                <a:spcPct val="0"/>
              </a:spcBef>
              <a:buClrTx/>
              <a:buFontTx/>
              <a:buNone/>
            </a:pPr>
            <a:r>
              <a:rPr kumimoji="1" lang="zh-CN" altLang="en-US" sz="2000" i="1">
                <a:solidFill>
                  <a:srgbClr val="333399"/>
                </a:solidFill>
                <a:latin typeface="Arial" panose="020B0604020202020204" pitchFamily="34" charset="0"/>
                <a:ea typeface="黑体" panose="02010609060101010101" pitchFamily="49" charset="-122"/>
              </a:rPr>
              <a:t> </a:t>
            </a: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0</a:t>
            </a:r>
            <a:endParaRPr kumimoji="1" lang="en-US" altLang="zh-CN" sz="2000" baseline="30000">
              <a:solidFill>
                <a:srgbClr val="333399"/>
              </a:solidFill>
              <a:latin typeface="Arial" panose="020B0604020202020204" pitchFamily="34" charset="0"/>
              <a:ea typeface="黑体" panose="02010609060101010101" pitchFamily="49" charset="-122"/>
            </a:endParaRPr>
          </a:p>
          <a:p>
            <a:pPr algn="ctr">
              <a:lnSpc>
                <a:spcPct val="95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  A </a:t>
            </a:r>
            <a:r>
              <a:rPr kumimoji="1" lang="zh-CN" altLang="en-US" sz="2000">
                <a:solidFill>
                  <a:srgbClr val="333399"/>
                </a:solidFill>
                <a:latin typeface="Arial" panose="020B0604020202020204" pitchFamily="34" charset="0"/>
                <a:ea typeface="黑体" panose="02010609060101010101" pitchFamily="49" charset="-122"/>
              </a:rPr>
              <a:t>检测到</a:t>
            </a:r>
          </a:p>
          <a:p>
            <a:pPr algn="ctr">
              <a:lnSpc>
                <a:spcPct val="95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信道空闲</a:t>
            </a:r>
          </a:p>
          <a:p>
            <a:pPr algn="ctr">
              <a:lnSpc>
                <a:spcPct val="95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发送数据</a:t>
            </a:r>
          </a:p>
        </p:txBody>
      </p:sp>
      <p:grpSp>
        <p:nvGrpSpPr>
          <p:cNvPr id="484413" name="Group 61"/>
          <p:cNvGrpSpPr>
            <a:grpSpLocks/>
          </p:cNvGrpSpPr>
          <p:nvPr/>
        </p:nvGrpSpPr>
        <p:grpSpPr bwMode="auto">
          <a:xfrm>
            <a:off x="1995488" y="2808288"/>
            <a:ext cx="446087" cy="142875"/>
            <a:chOff x="1176" y="1872"/>
            <a:chExt cx="336" cy="96"/>
          </a:xfrm>
        </p:grpSpPr>
        <p:sp>
          <p:nvSpPr>
            <p:cNvPr id="23601" name="Rectangle 62"/>
            <p:cNvSpPr>
              <a:spLocks noChangeArrowheads="1"/>
            </p:cNvSpPr>
            <p:nvPr/>
          </p:nvSpPr>
          <p:spPr bwMode="auto">
            <a:xfrm>
              <a:off x="1176" y="1872"/>
              <a:ext cx="192" cy="96"/>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23602" name="Line 63"/>
            <p:cNvSpPr>
              <a:spLocks noChangeShapeType="1"/>
            </p:cNvSpPr>
            <p:nvPr/>
          </p:nvSpPr>
          <p:spPr bwMode="auto">
            <a:xfrm>
              <a:off x="1368" y="1926"/>
              <a:ext cx="144" cy="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84416" name="Rectangle 64"/>
          <p:cNvSpPr>
            <a:spLocks noChangeArrowheads="1"/>
          </p:cNvSpPr>
          <p:nvPr/>
        </p:nvSpPr>
        <p:spPr bwMode="auto">
          <a:xfrm>
            <a:off x="1692275" y="2736850"/>
            <a:ext cx="400050" cy="503238"/>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A</a:t>
            </a:r>
          </a:p>
        </p:txBody>
      </p:sp>
      <p:sp>
        <p:nvSpPr>
          <p:cNvPr id="484417" name="Rectangle 65"/>
          <p:cNvSpPr>
            <a:spLocks noChangeArrowheads="1"/>
          </p:cNvSpPr>
          <p:nvPr/>
        </p:nvSpPr>
        <p:spPr bwMode="auto">
          <a:xfrm>
            <a:off x="6403975" y="2736850"/>
            <a:ext cx="400050" cy="503238"/>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a:t>
            </a:r>
          </a:p>
        </p:txBody>
      </p:sp>
      <p:sp>
        <p:nvSpPr>
          <p:cNvPr id="23590" name="Text Box 66"/>
          <p:cNvSpPr txBox="1">
            <a:spLocks noChangeArrowheads="1"/>
          </p:cNvSpPr>
          <p:nvPr/>
        </p:nvSpPr>
        <p:spPr bwMode="auto">
          <a:xfrm>
            <a:off x="779463" y="447675"/>
            <a:ext cx="682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0</a:t>
            </a:r>
            <a:endParaRPr kumimoji="1" lang="en-US" altLang="zh-CN" sz="2000" baseline="30000">
              <a:solidFill>
                <a:srgbClr val="333399"/>
              </a:solidFill>
              <a:latin typeface="Arial" panose="020B0604020202020204" pitchFamily="34" charset="0"/>
              <a:ea typeface="黑体" panose="02010609060101010101" pitchFamily="49" charset="-122"/>
            </a:endParaRPr>
          </a:p>
        </p:txBody>
      </p:sp>
      <p:sp>
        <p:nvSpPr>
          <p:cNvPr id="23591" name="Line 67"/>
          <p:cNvSpPr>
            <a:spLocks noChangeShapeType="1"/>
          </p:cNvSpPr>
          <p:nvPr/>
        </p:nvSpPr>
        <p:spPr bwMode="auto">
          <a:xfrm>
            <a:off x="1449388" y="652463"/>
            <a:ext cx="412750"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4420" name="Group 68"/>
          <p:cNvGrpSpPr>
            <a:grpSpLocks/>
          </p:cNvGrpSpPr>
          <p:nvPr/>
        </p:nvGrpSpPr>
        <p:grpSpPr bwMode="auto">
          <a:xfrm>
            <a:off x="4500563" y="4921250"/>
            <a:ext cx="4578350" cy="915988"/>
            <a:chOff x="2835" y="3100"/>
            <a:chExt cx="2884" cy="577"/>
          </a:xfrm>
        </p:grpSpPr>
        <p:sp>
          <p:nvSpPr>
            <p:cNvPr id="23599" name="Text Box 69"/>
            <p:cNvSpPr txBox="1">
              <a:spLocks noChangeArrowheads="1"/>
            </p:cNvSpPr>
            <p:nvPr/>
          </p:nvSpPr>
          <p:spPr bwMode="auto">
            <a:xfrm>
              <a:off x="4332" y="3100"/>
              <a:ext cx="1387"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90000"/>
                </a:lnSpc>
                <a:spcBef>
                  <a:spcPct val="0"/>
                </a:spcBef>
                <a:buClrTx/>
                <a:buFontTx/>
                <a:buNone/>
              </a:pP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a:t>
              </a:r>
              <a:r>
                <a:rPr kumimoji="1" lang="en-US" altLang="zh-CN" sz="2000">
                  <a:solidFill>
                    <a:srgbClr val="333399"/>
                  </a:solidFill>
                  <a:latin typeface="Tahoma" panose="020B0604030504040204" pitchFamily="34" charset="0"/>
                  <a:sym typeface="Symbol" panose="05050102010706020507" pitchFamily="18" charset="2"/>
                </a:rPr>
                <a:t></a:t>
              </a:r>
              <a:endParaRPr kumimoji="1" lang="en-US" altLang="zh-CN" sz="2000" baseline="30000">
                <a:solidFill>
                  <a:srgbClr val="333399"/>
                </a:solidFill>
                <a:latin typeface="Arial" panose="020B0604020202020204" pitchFamily="34" charset="0"/>
                <a:ea typeface="黑体" panose="02010609060101010101" pitchFamily="49" charset="-122"/>
              </a:endParaRPr>
            </a:p>
            <a:p>
              <a:pPr>
                <a:lnSpc>
                  <a:spcPct val="9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 </a:t>
              </a:r>
              <a:r>
                <a:rPr kumimoji="1" lang="zh-CN" altLang="en-US" sz="2000">
                  <a:solidFill>
                    <a:srgbClr val="333399"/>
                  </a:solidFill>
                  <a:latin typeface="Arial" panose="020B0604020202020204" pitchFamily="34" charset="0"/>
                  <a:ea typeface="黑体" panose="02010609060101010101" pitchFamily="49" charset="-122"/>
                </a:rPr>
                <a:t>检测到发生碰撞</a:t>
              </a:r>
            </a:p>
            <a:p>
              <a:pPr>
                <a:lnSpc>
                  <a:spcPct val="9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停止发送</a:t>
              </a:r>
            </a:p>
          </p:txBody>
        </p:sp>
        <p:sp>
          <p:nvSpPr>
            <p:cNvPr id="23600" name="Text Box 70"/>
            <p:cNvSpPr txBox="1">
              <a:spLocks noChangeArrowheads="1"/>
            </p:cNvSpPr>
            <p:nvPr/>
          </p:nvSpPr>
          <p:spPr bwMode="auto">
            <a:xfrm>
              <a:off x="2835" y="3339"/>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000" b="1">
                  <a:solidFill>
                    <a:schemeClr val="hlink"/>
                  </a:solidFill>
                  <a:latin typeface="Tahoma" panose="020B0604030504040204" pitchFamily="34" charset="0"/>
                </a:rPr>
                <a:t>STOP</a:t>
              </a:r>
            </a:p>
          </p:txBody>
        </p:sp>
      </p:grpSp>
      <p:grpSp>
        <p:nvGrpSpPr>
          <p:cNvPr id="484423" name="Group 71"/>
          <p:cNvGrpSpPr>
            <a:grpSpLocks/>
          </p:cNvGrpSpPr>
          <p:nvPr/>
        </p:nvGrpSpPr>
        <p:grpSpPr bwMode="auto">
          <a:xfrm>
            <a:off x="323850" y="5661025"/>
            <a:ext cx="2592388" cy="939800"/>
            <a:chOff x="204" y="3566"/>
            <a:chExt cx="1633" cy="592"/>
          </a:xfrm>
        </p:grpSpPr>
        <p:sp>
          <p:nvSpPr>
            <p:cNvPr id="23597" name="Text Box 72"/>
            <p:cNvSpPr txBox="1">
              <a:spLocks noChangeArrowheads="1"/>
            </p:cNvSpPr>
            <p:nvPr/>
          </p:nvSpPr>
          <p:spPr bwMode="auto">
            <a:xfrm>
              <a:off x="204" y="3581"/>
              <a:ext cx="756"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90000"/>
                </a:lnSpc>
                <a:spcBef>
                  <a:spcPct val="0"/>
                </a:spcBef>
                <a:buClrTx/>
                <a:buFontTx/>
                <a:buNone/>
              </a:pPr>
              <a:r>
                <a:rPr kumimoji="1" lang="en-US" altLang="zh-CN" sz="2000" i="1">
                  <a:solidFill>
                    <a:srgbClr val="333399"/>
                  </a:solidFill>
                  <a:latin typeface="Arial" panose="020B0604020202020204" pitchFamily="34" charset="0"/>
                  <a:ea typeface="黑体" panose="02010609060101010101" pitchFamily="49" charset="-122"/>
                </a:rPr>
                <a:t>t</a:t>
              </a:r>
              <a:r>
                <a:rPr kumimoji="1" lang="en-US" altLang="zh-CN" sz="2000">
                  <a:solidFill>
                    <a:srgbClr val="333399"/>
                  </a:solidFill>
                  <a:latin typeface="Arial" panose="020B0604020202020204" pitchFamily="34" charset="0"/>
                  <a:ea typeface="黑体" panose="02010609060101010101" pitchFamily="49" charset="-122"/>
                </a:rPr>
                <a:t> = 2</a:t>
              </a:r>
              <a:r>
                <a:rPr kumimoji="1" lang="en-US" altLang="zh-CN" sz="2000">
                  <a:solidFill>
                    <a:srgbClr val="333399"/>
                  </a:solidFill>
                  <a:latin typeface="Tahoma" panose="020B0604030504040204" pitchFamily="34" charset="0"/>
                  <a:sym typeface="Symbol" panose="05050102010706020507" pitchFamily="18" charset="2"/>
                </a:rPr>
                <a:t></a:t>
              </a:r>
              <a:r>
                <a:rPr kumimoji="1" lang="en-US" altLang="zh-CN" sz="2000">
                  <a:solidFill>
                    <a:srgbClr val="333399"/>
                  </a:solidFill>
                  <a:latin typeface="Arial" panose="020B0604020202020204" pitchFamily="34" charset="0"/>
                  <a:ea typeface="黑体" panose="02010609060101010101" pitchFamily="49" charset="-122"/>
                </a:rPr>
                <a:t> </a:t>
              </a:r>
              <a:r>
                <a:rPr kumimoji="1" lang="en-US" altLang="zh-CN" sz="2000">
                  <a:solidFill>
                    <a:srgbClr val="333399"/>
                  </a:solidFill>
                  <a:latin typeface="Arial" panose="020B0604020202020204" pitchFamily="34" charset="0"/>
                  <a:ea typeface="黑体" panose="02010609060101010101" pitchFamily="49" charset="-122"/>
                  <a:sym typeface="Symbol" panose="05050102010706020507" pitchFamily="18" charset="2"/>
                </a:rPr>
                <a:t> </a:t>
              </a:r>
              <a:endParaRPr kumimoji="1" lang="en-US" altLang="zh-CN" sz="2000" baseline="30000">
                <a:solidFill>
                  <a:srgbClr val="333399"/>
                </a:solidFill>
                <a:latin typeface="Arial" panose="020B0604020202020204" pitchFamily="34" charset="0"/>
                <a:ea typeface="黑体" panose="02010609060101010101" pitchFamily="49" charset="-122"/>
              </a:endParaRPr>
            </a:p>
            <a:p>
              <a:pPr>
                <a:lnSpc>
                  <a:spcPct val="90000"/>
                </a:lnSpc>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A </a:t>
              </a:r>
              <a:r>
                <a:rPr kumimoji="1" lang="zh-CN" altLang="en-US" sz="2000">
                  <a:solidFill>
                    <a:srgbClr val="333399"/>
                  </a:solidFill>
                  <a:latin typeface="Arial" panose="020B0604020202020204" pitchFamily="34" charset="0"/>
                  <a:ea typeface="黑体" panose="02010609060101010101" pitchFamily="49" charset="-122"/>
                </a:rPr>
                <a:t>检测到</a:t>
              </a:r>
            </a:p>
            <a:p>
              <a:pPr>
                <a:lnSpc>
                  <a:spcPct val="90000"/>
                </a:lnSpc>
                <a:spcBef>
                  <a:spcPct val="0"/>
                </a:spcBef>
                <a:buClrTx/>
                <a:buFontTx/>
                <a:buNone/>
              </a:pPr>
              <a:r>
                <a:rPr kumimoji="1" lang="zh-CN" altLang="en-US" sz="2000">
                  <a:solidFill>
                    <a:srgbClr val="333399"/>
                  </a:solidFill>
                  <a:latin typeface="Arial" panose="020B0604020202020204" pitchFamily="34" charset="0"/>
                  <a:ea typeface="黑体" panose="02010609060101010101" pitchFamily="49" charset="-122"/>
                </a:rPr>
                <a:t>发生碰撞</a:t>
              </a:r>
            </a:p>
          </p:txBody>
        </p:sp>
        <p:sp>
          <p:nvSpPr>
            <p:cNvPr id="23598" name="Text Box 73"/>
            <p:cNvSpPr txBox="1">
              <a:spLocks noChangeArrowheads="1"/>
            </p:cNvSpPr>
            <p:nvPr/>
          </p:nvSpPr>
          <p:spPr bwMode="auto">
            <a:xfrm>
              <a:off x="1294" y="3566"/>
              <a:ext cx="5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en-US" altLang="zh-CN" sz="2000" b="1">
                  <a:solidFill>
                    <a:schemeClr val="hlink"/>
                  </a:solidFill>
                  <a:latin typeface="Tahoma" panose="020B0604030504040204" pitchFamily="34" charset="0"/>
                </a:rPr>
                <a:t>STOP</a:t>
              </a:r>
            </a:p>
          </p:txBody>
        </p:sp>
      </p:grpSp>
      <p:sp>
        <p:nvSpPr>
          <p:cNvPr id="484426" name="Rectangle 74"/>
          <p:cNvSpPr>
            <a:spLocks noChangeArrowheads="1"/>
          </p:cNvSpPr>
          <p:nvPr/>
        </p:nvSpPr>
        <p:spPr bwMode="auto">
          <a:xfrm>
            <a:off x="1692275" y="5141913"/>
            <a:ext cx="400050" cy="501650"/>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A</a:t>
            </a:r>
          </a:p>
        </p:txBody>
      </p:sp>
      <p:sp>
        <p:nvSpPr>
          <p:cNvPr id="484427" name="Rectangle 75"/>
          <p:cNvSpPr>
            <a:spLocks noChangeArrowheads="1"/>
          </p:cNvSpPr>
          <p:nvPr/>
        </p:nvSpPr>
        <p:spPr bwMode="auto">
          <a:xfrm>
            <a:off x="6403975" y="4364038"/>
            <a:ext cx="400050" cy="5048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2000">
                <a:solidFill>
                  <a:srgbClr val="333399"/>
                </a:solidFill>
                <a:latin typeface="Arial" panose="020B0604020202020204" pitchFamily="34" charset="0"/>
                <a:ea typeface="黑体" panose="02010609060101010101" pitchFamily="49" charset="-122"/>
              </a:rPr>
              <a:t>B</a:t>
            </a:r>
          </a:p>
        </p:txBody>
      </p:sp>
      <p:sp>
        <p:nvSpPr>
          <p:cNvPr id="23596" name="Text Box 76"/>
          <p:cNvSpPr txBox="1">
            <a:spLocks noChangeArrowheads="1"/>
          </p:cNvSpPr>
          <p:nvPr/>
        </p:nvSpPr>
        <p:spPr bwMode="auto">
          <a:xfrm>
            <a:off x="6662738" y="1781175"/>
            <a:ext cx="22304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400">
                <a:solidFill>
                  <a:srgbClr val="333399"/>
                </a:solidFill>
                <a:latin typeface="Arial" panose="020B0604020202020204" pitchFamily="34" charset="0"/>
                <a:ea typeface="黑体" panose="02010609060101010101" pitchFamily="49" charset="-122"/>
              </a:rPr>
              <a:t>单程端到端</a:t>
            </a:r>
          </a:p>
          <a:p>
            <a:pPr algn="ctr" eaLnBrk="1" hangingPunct="1">
              <a:spcBef>
                <a:spcPct val="0"/>
              </a:spcBef>
              <a:buClrTx/>
              <a:buFontTx/>
              <a:buNone/>
            </a:pPr>
            <a:r>
              <a:rPr lang="zh-CN" altLang="en-US" sz="2400">
                <a:solidFill>
                  <a:srgbClr val="333399"/>
                </a:solidFill>
                <a:latin typeface="Arial" panose="020B0604020202020204" pitchFamily="34" charset="0"/>
                <a:ea typeface="黑体" panose="02010609060101010101" pitchFamily="49" charset="-122"/>
              </a:rPr>
              <a:t>传播时延记为</a:t>
            </a:r>
            <a:r>
              <a:rPr lang="zh-CN" altLang="en-US" sz="2400" i="1">
                <a:solidFill>
                  <a:srgbClr val="333399"/>
                </a:solidFill>
                <a:latin typeface="Arial" panose="020B0604020202020204" pitchFamily="34" charset="0"/>
                <a:ea typeface="黑体" panose="02010609060101010101" pitchFamily="49" charset="-122"/>
                <a:sym typeface="Symbol" panose="05050102010706020507" pitchFamily="18" charset="2"/>
              </a:rPr>
              <a:t></a:t>
            </a:r>
            <a:r>
              <a:rPr lang="zh-CN" altLang="en-US" sz="2400">
                <a:solidFill>
                  <a:srgbClr val="333399"/>
                </a:solidFill>
                <a:latin typeface="Arial" panose="020B0604020202020204" pitchFamily="34" charset="0"/>
                <a:ea typeface="黑体" panose="02010609060101010101" pitchFamily="49" charset="-122"/>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844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44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44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4417"/>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84412"/>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84413"/>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8440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440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440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440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44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44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4370"/>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84370"/>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84406"/>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84406"/>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grpId="1" nodeType="withEffect">
                                  <p:stCondLst>
                                    <p:cond delay="500"/>
                                  </p:stCondLst>
                                  <p:childTnLst>
                                    <p:anim calcmode="discrete" valueType="str">
                                      <p:cBhvr>
                                        <p:cTn id="40" dur="1000" fill="hold"/>
                                        <p:tgtEl>
                                          <p:spTgt spid="484411"/>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8439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4427"/>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8" fill="hold" nodeType="afterEffect">
                                  <p:stCondLst>
                                    <p:cond delay="0"/>
                                  </p:stCondLst>
                                  <p:childTnLst>
                                    <p:set>
                                      <p:cBhvr>
                                        <p:cTn id="49" dur="1" fill="hold">
                                          <p:stCondLst>
                                            <p:cond delay="0"/>
                                          </p:stCondLst>
                                        </p:cTn>
                                        <p:tgtEl>
                                          <p:spTgt spid="484393"/>
                                        </p:tgtEl>
                                        <p:attrNameLst>
                                          <p:attrName>style.visibility</p:attrName>
                                        </p:attrNameLst>
                                      </p:cBhvr>
                                      <p:to>
                                        <p:strVal val="visible"/>
                                      </p:to>
                                    </p:set>
                                    <p:animEffect transition="in" filter="wipe(left)">
                                      <p:cBhvr>
                                        <p:cTn id="50" dur="7000"/>
                                        <p:tgtEl>
                                          <p:spTgt spid="484393"/>
                                        </p:tgtEl>
                                      </p:cBhvr>
                                    </p:animEffect>
                                  </p:childTnLst>
                                </p:cTn>
                              </p:par>
                              <p:par>
                                <p:cTn id="51" presetID="22" presetClass="entr" presetSubtype="2" fill="hold" nodeType="withEffect">
                                  <p:stCondLst>
                                    <p:cond delay="6000"/>
                                  </p:stCondLst>
                                  <p:childTnLst>
                                    <p:set>
                                      <p:cBhvr>
                                        <p:cTn id="52" dur="1" fill="hold">
                                          <p:stCondLst>
                                            <p:cond delay="0"/>
                                          </p:stCondLst>
                                        </p:cTn>
                                        <p:tgtEl>
                                          <p:spTgt spid="484396"/>
                                        </p:tgtEl>
                                        <p:attrNameLst>
                                          <p:attrName>style.visibility</p:attrName>
                                        </p:attrNameLst>
                                      </p:cBhvr>
                                      <p:to>
                                        <p:strVal val="visible"/>
                                      </p:to>
                                    </p:set>
                                    <p:animEffect transition="in" filter="wipe(right)">
                                      <p:cBhvr>
                                        <p:cTn id="53" dur="1000"/>
                                        <p:tgtEl>
                                          <p:spTgt spid="484396"/>
                                        </p:tgtEl>
                                      </p:cBhvr>
                                    </p:animEffec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0"/>
                                          </p:stCondLst>
                                        </p:cTn>
                                        <p:tgtEl>
                                          <p:spTgt spid="484371"/>
                                        </p:tgtEl>
                                        <p:attrNameLst>
                                          <p:attrName>style.visibility</p:attrName>
                                        </p:attrNameLst>
                                      </p:cBhvr>
                                      <p:to>
                                        <p:strVal val="visible"/>
                                      </p:to>
                                    </p:set>
                                  </p:childTnLst>
                                </p:cTn>
                              </p:par>
                            </p:childTnLst>
                          </p:cTn>
                        </p:par>
                        <p:par>
                          <p:cTn id="57" fill="hold" nodeType="afterGroup">
                            <p:stCondLst>
                              <p:cond delay="7000"/>
                            </p:stCondLst>
                            <p:childTnLst>
                              <p:par>
                                <p:cTn id="58" presetID="35" presetClass="emph" presetSubtype="0" repeatCount="4000" fill="hold" grpId="1" nodeType="afterEffect">
                                  <p:stCondLst>
                                    <p:cond delay="0"/>
                                  </p:stCondLst>
                                  <p:childTnLst>
                                    <p:anim calcmode="discrete" valueType="str">
                                      <p:cBhvr>
                                        <p:cTn id="59" dur="1000" fill="hold"/>
                                        <p:tgtEl>
                                          <p:spTgt spid="484371"/>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84426"/>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484392"/>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484354"/>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84355"/>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84399"/>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484420"/>
                                        </p:tgtEl>
                                        <p:attrNameLst>
                                          <p:attrName>style.visibility</p:attrName>
                                        </p:attrNameLst>
                                      </p:cBhvr>
                                      <p:to>
                                        <p:strVal val="visible"/>
                                      </p:to>
                                    </p:set>
                                  </p:childTnLst>
                                </p:cTn>
                              </p:par>
                            </p:childTnLst>
                          </p:cTn>
                        </p:par>
                        <p:par>
                          <p:cTn id="77" fill="hold" nodeType="afterGroup">
                            <p:stCondLst>
                              <p:cond delay="0"/>
                            </p:stCondLst>
                            <p:childTnLst>
                              <p:par>
                                <p:cTn id="78" presetID="35" presetClass="emph" presetSubtype="0" repeatCount="3000" fill="hold" nodeType="afterEffect">
                                  <p:stCondLst>
                                    <p:cond delay="0"/>
                                  </p:stCondLst>
                                  <p:childTnLst>
                                    <p:anim calcmode="discrete" valueType="str">
                                      <p:cBhvr>
                                        <p:cTn id="79" dur="1000" fill="hold"/>
                                        <p:tgtEl>
                                          <p:spTgt spid="484420"/>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84400"/>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nodeType="afterEffect">
                                  <p:stCondLst>
                                    <p:cond delay="0"/>
                                  </p:stCondLst>
                                  <p:childTnLst>
                                    <p:set>
                                      <p:cBhvr>
                                        <p:cTn id="86" dur="1" fill="hold">
                                          <p:stCondLst>
                                            <p:cond delay="0"/>
                                          </p:stCondLst>
                                        </p:cTn>
                                        <p:tgtEl>
                                          <p:spTgt spid="484423"/>
                                        </p:tgtEl>
                                        <p:attrNameLst>
                                          <p:attrName>style.visibility</p:attrName>
                                        </p:attrNameLst>
                                      </p:cBhvr>
                                      <p:to>
                                        <p:strVal val="visible"/>
                                      </p:to>
                                    </p:set>
                                  </p:childTnLst>
                                </p:cTn>
                              </p:par>
                            </p:childTnLst>
                          </p:cTn>
                        </p:par>
                        <p:par>
                          <p:cTn id="87" fill="hold" nodeType="afterGroup">
                            <p:stCondLst>
                              <p:cond delay="0"/>
                            </p:stCondLst>
                            <p:childTnLst>
                              <p:par>
                                <p:cTn id="88" presetID="35" presetClass="emph" presetSubtype="0" repeatCount="3000" fill="hold" nodeType="afterEffect">
                                  <p:stCondLst>
                                    <p:cond delay="0"/>
                                  </p:stCondLst>
                                  <p:childTnLst>
                                    <p:anim calcmode="discrete" valueType="str">
                                      <p:cBhvr>
                                        <p:cTn id="89" dur="1000" fill="hold"/>
                                        <p:tgtEl>
                                          <p:spTgt spid="48442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4" grpId="0" animBg="1"/>
      <p:bldP spid="484355" grpId="0" animBg="1"/>
      <p:bldP spid="484370" grpId="0"/>
      <p:bldP spid="484370" grpId="1"/>
      <p:bldP spid="484371" grpId="0"/>
      <p:bldP spid="484371" grpId="1"/>
      <p:bldP spid="484391" grpId="0" animBg="1"/>
      <p:bldP spid="484392" grpId="0" animBg="1"/>
      <p:bldP spid="484399" grpId="0" animBg="1"/>
      <p:bldP spid="484406" grpId="0" animBg="1"/>
      <p:bldP spid="484406" grpId="1" animBg="1"/>
      <p:bldP spid="484406" grpId="2" animBg="1"/>
      <p:bldP spid="484407" grpId="0" animBg="1"/>
      <p:bldP spid="484408" grpId="0" animBg="1"/>
      <p:bldP spid="484409" grpId="0" animBg="1"/>
      <p:bldP spid="484410" grpId="0" animBg="1"/>
      <p:bldP spid="484411" grpId="0" animBg="1"/>
      <p:bldP spid="484411" grpId="1" animBg="1"/>
      <p:bldP spid="484412" grpId="0"/>
      <p:bldP spid="484412" grpId="1"/>
      <p:bldP spid="484416" grpId="0" animBg="1"/>
      <p:bldP spid="484417" grpId="0" animBg="1"/>
      <p:bldP spid="484426" grpId="0" animBg="1"/>
      <p:bldP spid="4844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468313" y="1773238"/>
            <a:ext cx="8281987" cy="266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eaLnBrk="1" hangingPunct="1">
              <a:buFont typeface="Wingdings" panose="05000000000000000000" pitchFamily="2" charset="2"/>
              <a:buChar char="u"/>
              <a:defRPr/>
            </a:pPr>
            <a:r>
              <a:rPr lang="zh-CN" altLang="en-US" sz="2400" kern="0" dirty="0">
                <a:solidFill>
                  <a:srgbClr val="CC0000"/>
                </a:solidFill>
                <a:latin typeface="微软雅黑" panose="020B0503020204020204" pitchFamily="34" charset="-122"/>
                <a:ea typeface="微软雅黑" panose="020B0503020204020204" pitchFamily="34" charset="-122"/>
              </a:rPr>
              <a:t>以太网取 </a:t>
            </a:r>
            <a:r>
              <a:rPr lang="en-US" altLang="zh-CN" sz="2400" kern="0" dirty="0">
                <a:solidFill>
                  <a:srgbClr val="CC0000"/>
                </a:solidFill>
                <a:latin typeface="微软雅黑" panose="020B0503020204020204" pitchFamily="34" charset="-122"/>
                <a:ea typeface="微软雅黑" panose="020B0503020204020204" pitchFamily="34" charset="-122"/>
              </a:rPr>
              <a:t>51.2 </a:t>
            </a:r>
            <a:r>
              <a:rPr lang="en-US" altLang="zh-CN" sz="2400" kern="0" dirty="0">
                <a:solidFill>
                  <a:srgbClr val="CC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kern="0" dirty="0">
                <a:solidFill>
                  <a:srgbClr val="CC0000"/>
                </a:solidFill>
                <a:latin typeface="微软雅黑" panose="020B0503020204020204" pitchFamily="34" charset="-122"/>
                <a:ea typeface="微软雅黑" panose="020B0503020204020204" pitchFamily="34" charset="-122"/>
              </a:rPr>
              <a:t>s </a:t>
            </a:r>
            <a:r>
              <a:rPr lang="zh-CN" altLang="en-US" sz="2400" kern="0" dirty="0">
                <a:solidFill>
                  <a:srgbClr val="CC0000"/>
                </a:solidFill>
                <a:latin typeface="微软雅黑" panose="020B0503020204020204" pitchFamily="34" charset="-122"/>
                <a:ea typeface="微软雅黑" panose="020B0503020204020204" pitchFamily="34" charset="-122"/>
              </a:rPr>
              <a:t>（微秒）为争用期的长度。</a:t>
            </a:r>
          </a:p>
          <a:p>
            <a:pPr eaLnBrk="1" hangingPunct="1">
              <a:buFont typeface="Wingdings" panose="05000000000000000000" pitchFamily="2" charset="2"/>
              <a:buChar char="u"/>
              <a:defRPr/>
            </a:pPr>
            <a:r>
              <a:rPr lang="zh-CN" altLang="en-US" sz="2400" kern="0" dirty="0">
                <a:solidFill>
                  <a:srgbClr val="CC0000"/>
                </a:solidFill>
                <a:latin typeface="微软雅黑" panose="020B0503020204020204" pitchFamily="34" charset="-122"/>
                <a:ea typeface="微软雅黑" panose="020B0503020204020204" pitchFamily="34" charset="-122"/>
              </a:rPr>
              <a:t>对于 </a:t>
            </a:r>
            <a:r>
              <a:rPr lang="en-US" altLang="zh-CN" sz="2400" kern="0" dirty="0">
                <a:solidFill>
                  <a:srgbClr val="CC0000"/>
                </a:solidFill>
                <a:latin typeface="微软雅黑" panose="020B0503020204020204" pitchFamily="34" charset="-122"/>
                <a:ea typeface="微软雅黑" panose="020B0503020204020204" pitchFamily="34" charset="-122"/>
              </a:rPr>
              <a:t>10 Mb/s </a:t>
            </a:r>
            <a:r>
              <a:rPr lang="zh-CN" altLang="en-US" sz="2400" kern="0" dirty="0">
                <a:solidFill>
                  <a:srgbClr val="CC0000"/>
                </a:solidFill>
                <a:latin typeface="微软雅黑" panose="020B0503020204020204" pitchFamily="34" charset="-122"/>
                <a:ea typeface="微软雅黑" panose="020B0503020204020204" pitchFamily="34" charset="-122"/>
              </a:rPr>
              <a:t>以太网，在争用期内可发送</a:t>
            </a:r>
            <a:r>
              <a:rPr lang="en-US" altLang="zh-CN" sz="2400" kern="0" dirty="0">
                <a:solidFill>
                  <a:srgbClr val="CC0000"/>
                </a:solidFill>
                <a:latin typeface="微软雅黑" panose="020B0503020204020204" pitchFamily="34" charset="-122"/>
                <a:ea typeface="微软雅黑" panose="020B0503020204020204" pitchFamily="34" charset="-122"/>
              </a:rPr>
              <a:t>10*10</a:t>
            </a:r>
            <a:r>
              <a:rPr lang="en-US" altLang="zh-CN" sz="2400" kern="0" baseline="30000" dirty="0">
                <a:solidFill>
                  <a:srgbClr val="CC0000"/>
                </a:solidFill>
                <a:latin typeface="微软雅黑" panose="020B0503020204020204" pitchFamily="34" charset="-122"/>
                <a:ea typeface="微软雅黑" panose="020B0503020204020204" pitchFamily="34" charset="-122"/>
              </a:rPr>
              <a:t>6</a:t>
            </a:r>
            <a:r>
              <a:rPr lang="en-US" altLang="zh-CN" sz="2400" kern="0" dirty="0">
                <a:solidFill>
                  <a:srgbClr val="CC0000"/>
                </a:solidFill>
                <a:latin typeface="微软雅黑" panose="020B0503020204020204" pitchFamily="34" charset="-122"/>
                <a:ea typeface="微软雅黑" panose="020B0503020204020204" pitchFamily="34" charset="-122"/>
              </a:rPr>
              <a:t>*51.2*10</a:t>
            </a:r>
            <a:r>
              <a:rPr lang="en-US" altLang="zh-CN" sz="2400" kern="0" baseline="30000" dirty="0">
                <a:solidFill>
                  <a:srgbClr val="CC0000"/>
                </a:solidFill>
                <a:latin typeface="微软雅黑" panose="020B0503020204020204" pitchFamily="34" charset="-122"/>
                <a:ea typeface="微软雅黑" panose="020B0503020204020204" pitchFamily="34" charset="-122"/>
              </a:rPr>
              <a:t>-6</a:t>
            </a:r>
            <a:r>
              <a:rPr lang="en-US" altLang="zh-CN" sz="2400" kern="0" dirty="0">
                <a:solidFill>
                  <a:srgbClr val="CC0000"/>
                </a:solidFill>
                <a:latin typeface="微软雅黑" panose="020B0503020204020204" pitchFamily="34" charset="-122"/>
                <a:ea typeface="微软雅黑" panose="020B0503020204020204" pitchFamily="34" charset="-122"/>
              </a:rPr>
              <a:t>=512 bit</a:t>
            </a:r>
            <a:r>
              <a:rPr lang="zh-CN" altLang="en-US" sz="2400" kern="0" dirty="0">
                <a:solidFill>
                  <a:srgbClr val="CC0000"/>
                </a:solidFill>
                <a:latin typeface="微软雅黑" panose="020B0503020204020204" pitchFamily="34" charset="-122"/>
                <a:ea typeface="微软雅黑" panose="020B0503020204020204" pitchFamily="34" charset="-122"/>
              </a:rPr>
              <a:t>，即 </a:t>
            </a:r>
            <a:r>
              <a:rPr lang="en-US" altLang="zh-CN" sz="2400" kern="0" dirty="0">
                <a:solidFill>
                  <a:srgbClr val="CC0000"/>
                </a:solidFill>
                <a:latin typeface="微软雅黑" panose="020B0503020204020204" pitchFamily="34" charset="-122"/>
                <a:ea typeface="微软雅黑" panose="020B0503020204020204" pitchFamily="34" charset="-122"/>
              </a:rPr>
              <a:t>64 </a:t>
            </a:r>
            <a:r>
              <a:rPr lang="zh-CN" altLang="en-US" sz="2400" kern="0" dirty="0">
                <a:solidFill>
                  <a:srgbClr val="CC0000"/>
                </a:solidFill>
                <a:latin typeface="微软雅黑" panose="020B0503020204020204" pitchFamily="34" charset="-122"/>
                <a:ea typeface="微软雅黑" panose="020B0503020204020204" pitchFamily="34" charset="-122"/>
              </a:rPr>
              <a:t>字节。</a:t>
            </a:r>
          </a:p>
          <a:p>
            <a:pPr eaLnBrk="1" hangingPunct="1">
              <a:buFont typeface="Wingdings" panose="05000000000000000000" pitchFamily="2" charset="2"/>
              <a:buChar char="u"/>
              <a:defRPr/>
            </a:pPr>
            <a:r>
              <a:rPr lang="zh-CN" altLang="en-US" sz="2400" kern="0" dirty="0">
                <a:solidFill>
                  <a:srgbClr val="CC0000"/>
                </a:solidFill>
                <a:latin typeface="微软雅黑" panose="020B0503020204020204" pitchFamily="34" charset="-122"/>
                <a:ea typeface="微软雅黑" panose="020B0503020204020204" pitchFamily="34" charset="-122"/>
              </a:rPr>
              <a:t>以太网在发送数据时，若前 </a:t>
            </a:r>
            <a:r>
              <a:rPr lang="en-US" altLang="zh-CN" sz="2400" kern="0" dirty="0">
                <a:solidFill>
                  <a:srgbClr val="CC0000"/>
                </a:solidFill>
                <a:latin typeface="微软雅黑" panose="020B0503020204020204" pitchFamily="34" charset="-122"/>
                <a:ea typeface="微软雅黑" panose="020B0503020204020204" pitchFamily="34" charset="-122"/>
              </a:rPr>
              <a:t>64 </a:t>
            </a:r>
            <a:r>
              <a:rPr lang="zh-CN" altLang="en-US" sz="2400" kern="0" dirty="0">
                <a:solidFill>
                  <a:srgbClr val="CC0000"/>
                </a:solidFill>
                <a:latin typeface="微软雅黑" panose="020B0503020204020204" pitchFamily="34" charset="-122"/>
                <a:ea typeface="微软雅黑" panose="020B0503020204020204" pitchFamily="34" charset="-122"/>
              </a:rPr>
              <a:t>字节没有发生冲突，则后续的数据就不会发生冲突。   </a:t>
            </a:r>
          </a:p>
        </p:txBody>
      </p:sp>
      <p:sp>
        <p:nvSpPr>
          <p:cNvPr id="24579" name="Text Box 3"/>
          <p:cNvSpPr txBox="1">
            <a:spLocks noChangeArrowheads="1"/>
          </p:cNvSpPr>
          <p:nvPr/>
        </p:nvSpPr>
        <p:spPr bwMode="auto">
          <a:xfrm>
            <a:off x="468312" y="1027113"/>
            <a:ext cx="63359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 typeface="Wingdings" panose="05000000000000000000" pitchFamily="2" charset="2"/>
              <a:buNone/>
            </a:pPr>
            <a:r>
              <a:rPr lang="zh-CN" altLang="en-US" sz="2800" b="1" dirty="0">
                <a:solidFill>
                  <a:srgbClr val="000099"/>
                </a:solidFill>
                <a:latin typeface="黑体" panose="02010609060101010101" pitchFamily="49" charset="-122"/>
                <a:ea typeface="黑体" panose="02010609060101010101" pitchFamily="49" charset="-122"/>
              </a:rPr>
              <a:t>边听边发 </a:t>
            </a:r>
            <a:r>
              <a:rPr lang="en-US" altLang="zh-CN" sz="2800" b="1" dirty="0">
                <a:solidFill>
                  <a:srgbClr val="000099"/>
                </a:solidFill>
                <a:latin typeface="黑体" panose="02010609060101010101" pitchFamily="49" charset="-122"/>
                <a:ea typeface="黑体" panose="02010609060101010101" pitchFamily="49" charset="-122"/>
              </a:rPr>
              <a:t>-</a:t>
            </a:r>
            <a:r>
              <a:rPr lang="zh-CN" altLang="en-US" sz="2800" b="1" dirty="0">
                <a:solidFill>
                  <a:srgbClr val="FF0000"/>
                </a:solidFill>
                <a:latin typeface="黑体" panose="02010609060101010101" pitchFamily="49" charset="-122"/>
                <a:ea typeface="黑体" panose="02010609060101010101" pitchFamily="49" charset="-122"/>
              </a:rPr>
              <a:t>争用期</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9" name="Rectangle 3"/>
          <p:cNvSpPr txBox="1">
            <a:spLocks noChangeArrowheads="1"/>
          </p:cNvSpPr>
          <p:nvPr/>
        </p:nvSpPr>
        <p:spPr bwMode="auto">
          <a:xfrm>
            <a:off x="468313" y="4221163"/>
            <a:ext cx="8137525"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微软雅黑" panose="020B0503020204020204" pitchFamily="34" charset="-122"/>
                <a:ea typeface="微软雅黑" panose="020B0503020204020204" pitchFamily="34" charset="-122"/>
              </a:rPr>
              <a:t>如果发生冲突，就一定是在发送的前 </a:t>
            </a:r>
            <a:r>
              <a:rPr lang="en-US" altLang="zh-CN" sz="2400" kern="0" dirty="0">
                <a:latin typeface="微软雅黑" panose="020B0503020204020204" pitchFamily="34" charset="-122"/>
                <a:ea typeface="微软雅黑" panose="020B0503020204020204" pitchFamily="34" charset="-122"/>
              </a:rPr>
              <a:t>64 </a:t>
            </a:r>
            <a:r>
              <a:rPr lang="zh-CN" altLang="en-US" sz="2400" kern="0" dirty="0">
                <a:latin typeface="微软雅黑" panose="020B0503020204020204" pitchFamily="34" charset="-122"/>
                <a:ea typeface="微软雅黑" panose="020B0503020204020204" pitchFamily="34" charset="-122"/>
              </a:rPr>
              <a:t>字节之内。由于一检测到冲突就立即中止发送，这时已经发送出去的数据一定小于 </a:t>
            </a:r>
            <a:r>
              <a:rPr lang="en-US" altLang="zh-CN" sz="2400" kern="0" dirty="0">
                <a:latin typeface="微软雅黑" panose="020B0503020204020204" pitchFamily="34" charset="-122"/>
                <a:ea typeface="微软雅黑" panose="020B0503020204020204" pitchFamily="34" charset="-122"/>
              </a:rPr>
              <a:t>64 </a:t>
            </a:r>
            <a:r>
              <a:rPr lang="zh-CN" altLang="en-US" sz="2400" kern="0" dirty="0">
                <a:latin typeface="微软雅黑" panose="020B0503020204020204" pitchFamily="34" charset="-122"/>
                <a:ea typeface="微软雅黑" panose="020B0503020204020204" pitchFamily="34" charset="-122"/>
              </a:rPr>
              <a:t>字节。</a:t>
            </a:r>
            <a:r>
              <a:rPr lang="zh-CN" altLang="en-US" sz="2400" kern="0" dirty="0">
                <a:solidFill>
                  <a:srgbClr val="FF0000"/>
                </a:solidFill>
                <a:latin typeface="微软雅黑" panose="020B0503020204020204" pitchFamily="34" charset="-122"/>
                <a:ea typeface="微软雅黑" panose="020B0503020204020204" pitchFamily="34" charset="-122"/>
              </a:rPr>
              <a:t>以太网规定了最短有效帧长为 </a:t>
            </a:r>
            <a:r>
              <a:rPr lang="en-US" altLang="zh-CN" sz="2400" kern="0" dirty="0">
                <a:solidFill>
                  <a:srgbClr val="FF0000"/>
                </a:solidFill>
                <a:latin typeface="微软雅黑" panose="020B0503020204020204" pitchFamily="34" charset="-122"/>
                <a:ea typeface="微软雅黑" panose="020B0503020204020204" pitchFamily="34" charset="-122"/>
              </a:rPr>
              <a:t>64 </a:t>
            </a:r>
            <a:r>
              <a:rPr lang="zh-CN" altLang="en-US" sz="2400" kern="0" dirty="0">
                <a:solidFill>
                  <a:srgbClr val="FF0000"/>
                </a:solidFill>
                <a:latin typeface="微软雅黑" panose="020B0503020204020204" pitchFamily="34" charset="-122"/>
                <a:ea typeface="微软雅黑" panose="020B0503020204020204" pitchFamily="34" charset="-122"/>
              </a:rPr>
              <a:t>字节，凡长度小于 </a:t>
            </a:r>
            <a:r>
              <a:rPr lang="en-US" altLang="zh-CN" sz="2400" kern="0" dirty="0">
                <a:solidFill>
                  <a:srgbClr val="FF0000"/>
                </a:solidFill>
                <a:latin typeface="微软雅黑" panose="020B0503020204020204" pitchFamily="34" charset="-122"/>
                <a:ea typeface="微软雅黑" panose="020B0503020204020204" pitchFamily="34" charset="-122"/>
              </a:rPr>
              <a:t>64 </a:t>
            </a:r>
            <a:r>
              <a:rPr lang="zh-CN" altLang="en-US" sz="2400" kern="0" dirty="0">
                <a:solidFill>
                  <a:srgbClr val="FF0000"/>
                </a:solidFill>
                <a:latin typeface="微软雅黑" panose="020B0503020204020204" pitchFamily="34" charset="-122"/>
                <a:ea typeface="微软雅黑" panose="020B0503020204020204" pitchFamily="34" charset="-122"/>
              </a:rPr>
              <a:t>字节的帧都是由于冲突而异常中止的无效帧。</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3"/>
          <p:cNvSpPr txBox="1">
            <a:spLocks noChangeArrowheads="1"/>
          </p:cNvSpPr>
          <p:nvPr/>
        </p:nvSpPr>
        <p:spPr bwMode="auto">
          <a:xfrm>
            <a:off x="539552" y="1732658"/>
            <a:ext cx="82073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 typeface="Wingdings" panose="05000000000000000000" pitchFamily="2" charset="2"/>
              <a:buNone/>
            </a:pPr>
            <a:r>
              <a:rPr lang="en-US" altLang="zh-CN" sz="2800" dirty="0">
                <a:solidFill>
                  <a:srgbClr val="000099"/>
                </a:solidFill>
                <a:latin typeface="微软雅黑" panose="020B0503020204020204" pitchFamily="34" charset="-122"/>
                <a:ea typeface="微软雅黑" panose="020B0503020204020204" pitchFamily="34" charset="-122"/>
              </a:rPr>
              <a:t>CSMA/CD</a:t>
            </a:r>
            <a:r>
              <a:rPr lang="zh-CN" altLang="en-US" sz="2800" dirty="0">
                <a:solidFill>
                  <a:srgbClr val="000099"/>
                </a:solidFill>
                <a:latin typeface="微软雅黑" panose="020B0503020204020204" pitchFamily="34" charset="-122"/>
                <a:ea typeface="微软雅黑" panose="020B0503020204020204" pitchFamily="34" charset="-122"/>
              </a:rPr>
              <a:t>协议下最短帧长计算</a:t>
            </a:r>
            <a:endParaRPr lang="en-US" altLang="zh-CN" sz="2800" dirty="0">
              <a:solidFill>
                <a:srgbClr val="000099"/>
              </a:solidFill>
              <a:latin typeface="微软雅黑" panose="020B0503020204020204" pitchFamily="34" charset="-122"/>
              <a:ea typeface="微软雅黑" panose="020B0503020204020204" pitchFamily="34" charset="-122"/>
            </a:endParaRPr>
          </a:p>
        </p:txBody>
      </p:sp>
      <p:sp>
        <p:nvSpPr>
          <p:cNvPr id="9" name="Rectangle 3"/>
          <p:cNvSpPr txBox="1">
            <a:spLocks noChangeArrowheads="1"/>
          </p:cNvSpPr>
          <p:nvPr/>
        </p:nvSpPr>
        <p:spPr bwMode="auto">
          <a:xfrm>
            <a:off x="1259632" y="2636912"/>
            <a:ext cx="63010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eaLnBrk="1" hangingPunct="1">
              <a:buFont typeface="Wingdings" panose="05000000000000000000" pitchFamily="2" charset="2"/>
              <a:buNone/>
              <a:defRPr/>
            </a:pPr>
            <a:r>
              <a:rPr lang="zh-CN" altLang="en-US" sz="2400" kern="0" dirty="0">
                <a:latin typeface="微软雅黑" panose="020B0503020204020204" pitchFamily="34" charset="-122"/>
                <a:ea typeface="微软雅黑" panose="020B0503020204020204" pitchFamily="34" charset="-122"/>
              </a:rPr>
              <a:t>最短帧长 </a:t>
            </a:r>
            <a:r>
              <a:rPr lang="en-US" altLang="zh-CN" sz="2400" kern="0" dirty="0">
                <a:latin typeface="微软雅黑" panose="020B0503020204020204" pitchFamily="34" charset="-122"/>
                <a:ea typeface="微软雅黑" panose="020B0503020204020204" pitchFamily="34" charset="-122"/>
              </a:rPr>
              <a:t>= </a:t>
            </a:r>
            <a:r>
              <a:rPr lang="zh-CN" altLang="en-US" sz="2400" kern="0" dirty="0">
                <a:latin typeface="微软雅黑" panose="020B0503020204020204" pitchFamily="34" charset="-122"/>
                <a:ea typeface="微软雅黑" panose="020B0503020204020204" pitchFamily="34" charset="-122"/>
              </a:rPr>
              <a:t>总线传播时延</a:t>
            </a:r>
            <a:r>
              <a:rPr lang="en-US" altLang="zh-CN" sz="2400" kern="0" dirty="0">
                <a:latin typeface="微软雅黑" panose="020B0503020204020204" pitchFamily="34" charset="-122"/>
                <a:ea typeface="微软雅黑" panose="020B0503020204020204" pitchFamily="34" charset="-122"/>
              </a:rPr>
              <a:t>*2*</a:t>
            </a:r>
            <a:r>
              <a:rPr lang="zh-CN" altLang="en-US" sz="2400" kern="0" dirty="0">
                <a:latin typeface="微软雅黑" panose="020B0503020204020204" pitchFamily="34" charset="-122"/>
                <a:ea typeface="微软雅黑" panose="020B0503020204020204" pitchFamily="34" charset="-122"/>
              </a:rPr>
              <a:t>数据传输速率</a:t>
            </a:r>
            <a:endParaRPr lang="zh-CN" altLang="en-US" sz="2400" kern="0" dirty="0">
              <a:solidFill>
                <a:srgbClr val="FF0000"/>
              </a:solidFill>
              <a:latin typeface="微软雅黑" panose="020B0503020204020204" pitchFamily="34" charset="-122"/>
              <a:ea typeface="微软雅黑" panose="020B0503020204020204" pitchFamily="34" charset="-122"/>
            </a:endParaRPr>
          </a:p>
        </p:txBody>
      </p:sp>
      <p:sp>
        <p:nvSpPr>
          <p:cNvPr id="4" name="Text Box 3">
            <a:extLst>
              <a:ext uri="{FF2B5EF4-FFF2-40B4-BE49-F238E27FC236}">
                <a16:creationId xmlns:a16="http://schemas.microsoft.com/office/drawing/2014/main" id="{F50D0DB8-4742-4525-9855-26A8A1C96A6D}"/>
              </a:ext>
            </a:extLst>
          </p:cNvPr>
          <p:cNvSpPr txBox="1">
            <a:spLocks noChangeArrowheads="1"/>
          </p:cNvSpPr>
          <p:nvPr/>
        </p:nvSpPr>
        <p:spPr bwMode="auto">
          <a:xfrm>
            <a:off x="460604" y="980728"/>
            <a:ext cx="65516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lang="zh-CN" altLang="en-US" sz="3200" b="1">
                <a:solidFill>
                  <a:srgbClr val="000099"/>
                </a:solidFill>
                <a:latin typeface="黑体" panose="02010609060101010101" pitchFamily="49" charset="-122"/>
                <a:ea typeface="黑体" panose="02010609060101010101" pitchFamily="49" charset="-122"/>
              </a:rPr>
              <a:t>边听边发（碰撞检测</a:t>
            </a:r>
            <a:r>
              <a:rPr lang="en-US" altLang="zh-CN" sz="3200" b="1">
                <a:solidFill>
                  <a:srgbClr val="000099"/>
                </a:solidFill>
                <a:latin typeface="黑体" panose="02010609060101010101" pitchFamily="49" charset="-122"/>
                <a:ea typeface="黑体" panose="02010609060101010101" pitchFamily="49" charset="-122"/>
              </a:rPr>
              <a:t>/</a:t>
            </a:r>
            <a:r>
              <a:rPr lang="zh-CN" altLang="en-US" sz="3200" b="1">
                <a:solidFill>
                  <a:srgbClr val="000099"/>
                </a:solidFill>
                <a:latin typeface="黑体" panose="02010609060101010101" pitchFamily="49" charset="-122"/>
                <a:ea typeface="黑体" panose="02010609060101010101" pitchFamily="49" charset="-122"/>
              </a:rPr>
              <a:t>冲突检测）</a:t>
            </a:r>
          </a:p>
        </p:txBody>
      </p:sp>
    </p:spTree>
    <p:extLst>
      <p:ext uri="{BB962C8B-B14F-4D97-AF65-F5344CB8AC3E}">
        <p14:creationId xmlns:p14="http://schemas.microsoft.com/office/powerpoint/2010/main" val="3011225567"/>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3"/>
          <p:cNvSpPr txBox="1">
            <a:spLocks noChangeArrowheads="1"/>
          </p:cNvSpPr>
          <p:nvPr/>
        </p:nvSpPr>
        <p:spPr bwMode="auto">
          <a:xfrm>
            <a:off x="468313" y="1027113"/>
            <a:ext cx="46799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 typeface="Wingdings" panose="05000000000000000000" pitchFamily="2" charset="2"/>
              <a:buNone/>
            </a:pPr>
            <a:r>
              <a:rPr lang="zh-CN" altLang="en-US" sz="3200" b="1">
                <a:solidFill>
                  <a:srgbClr val="000099"/>
                </a:solidFill>
                <a:latin typeface="黑体" panose="02010609060101010101" pitchFamily="49" charset="-122"/>
                <a:ea typeface="黑体" panose="02010609060101010101" pitchFamily="49" charset="-122"/>
              </a:rPr>
              <a:t>冲突停止</a:t>
            </a:r>
            <a:endParaRPr lang="en-US" altLang="zh-CN" sz="3200" b="1">
              <a:solidFill>
                <a:srgbClr val="000099"/>
              </a:solidFill>
              <a:latin typeface="黑体" panose="02010609060101010101" pitchFamily="49" charset="-122"/>
              <a:ea typeface="黑体" panose="02010609060101010101" pitchFamily="49" charset="-122"/>
            </a:endParaRPr>
          </a:p>
        </p:txBody>
      </p:sp>
      <p:sp>
        <p:nvSpPr>
          <p:cNvPr id="9" name="Rectangle 3"/>
          <p:cNvSpPr txBox="1">
            <a:spLocks noChangeArrowheads="1"/>
          </p:cNvSpPr>
          <p:nvPr/>
        </p:nvSpPr>
        <p:spPr bwMode="auto">
          <a:xfrm>
            <a:off x="500063" y="1916113"/>
            <a:ext cx="8137525"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eaLnBrk="1" hangingPunct="1">
              <a:lnSpc>
                <a:spcPct val="120000"/>
              </a:lnSpc>
              <a:buFont typeface="Wingdings" panose="05000000000000000000" pitchFamily="2" charset="2"/>
              <a:buNone/>
              <a:defRPr/>
            </a:pPr>
            <a:r>
              <a:rPr lang="zh-CN" altLang="en-US" sz="2400" kern="0" dirty="0">
                <a:latin typeface="微软雅黑" panose="020B0503020204020204" pitchFamily="34" charset="-122"/>
                <a:ea typeface="微软雅黑" panose="020B0503020204020204" pitchFamily="34" charset="-122"/>
              </a:rPr>
              <a:t>（</a:t>
            </a:r>
            <a:r>
              <a:rPr lang="en-US" altLang="zh-CN" sz="2400" kern="0" dirty="0">
                <a:latin typeface="微软雅黑" panose="020B0503020204020204" pitchFamily="34" charset="-122"/>
                <a:ea typeface="微软雅黑" panose="020B0503020204020204" pitchFamily="34" charset="-122"/>
              </a:rPr>
              <a:t>1</a:t>
            </a:r>
            <a:r>
              <a:rPr lang="zh-CN" altLang="en-US" sz="2400" kern="0" dirty="0">
                <a:latin typeface="微软雅黑" panose="020B0503020204020204" pitchFamily="34" charset="-122"/>
                <a:ea typeface="微软雅黑" panose="020B0503020204020204" pitchFamily="34" charset="-122"/>
              </a:rPr>
              <a:t>）在争用期</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碰撞窗口）内发送方一直监听信道，发现</a:t>
            </a:r>
            <a:r>
              <a:rPr lang="zh-CN" altLang="en-US" sz="2400" kern="0" dirty="0">
                <a:solidFill>
                  <a:srgbClr val="C00000"/>
                </a:solidFill>
                <a:latin typeface="微软雅黑" panose="020B0503020204020204" pitchFamily="34" charset="-122"/>
                <a:ea typeface="微软雅黑" panose="020B0503020204020204" pitchFamily="34" charset="-122"/>
              </a:rPr>
              <a:t>冲突就立即停止</a:t>
            </a:r>
            <a:r>
              <a:rPr lang="zh-CN" altLang="en-US" sz="2400" kern="0" dirty="0">
                <a:latin typeface="微软雅黑" panose="020B0503020204020204" pitchFamily="34" charset="-122"/>
                <a:ea typeface="微软雅黑" panose="020B0503020204020204" pitchFamily="34" charset="-122"/>
              </a:rPr>
              <a:t>发送，并发送一段干扰信号，</a:t>
            </a:r>
            <a:r>
              <a:rPr lang="zh-CN" altLang="en-US" sz="2400" kern="0" dirty="0">
                <a:solidFill>
                  <a:srgbClr val="C00000"/>
                </a:solidFill>
                <a:latin typeface="微软雅黑" panose="020B0503020204020204" pitchFamily="34" charset="-122"/>
                <a:ea typeface="微软雅黑" panose="020B0503020204020204" pitchFamily="34" charset="-122"/>
              </a:rPr>
              <a:t>加强冲突</a:t>
            </a:r>
            <a:r>
              <a:rPr lang="zh-CN" altLang="en-US" sz="2400" kern="0" dirty="0">
                <a:latin typeface="微软雅黑" panose="020B0503020204020204" pitchFamily="34" charset="-122"/>
                <a:ea typeface="微软雅黑" panose="020B0503020204020204" pitchFamily="34" charset="-122"/>
              </a:rPr>
              <a:t>，让各方都能够检测到冲突的存在；</a:t>
            </a:r>
            <a:endParaRPr lang="en-US" altLang="zh-CN" sz="2400" kern="0" dirty="0">
              <a:latin typeface="微软雅黑" panose="020B0503020204020204" pitchFamily="34" charset="-122"/>
              <a:ea typeface="微软雅黑" panose="020B0503020204020204" pitchFamily="34" charset="-122"/>
            </a:endParaRPr>
          </a:p>
          <a:p>
            <a:pPr marL="0" indent="0" eaLnBrk="1" hangingPunct="1">
              <a:lnSpc>
                <a:spcPct val="120000"/>
              </a:lnSpc>
              <a:buFont typeface="Wingdings" panose="05000000000000000000" pitchFamily="2" charset="2"/>
              <a:buNone/>
              <a:defRPr/>
            </a:pPr>
            <a:r>
              <a:rPr lang="zh-CN" altLang="en-US" sz="2400" kern="0" dirty="0">
                <a:latin typeface="微软雅黑" panose="020B0503020204020204" pitchFamily="34" charset="-122"/>
                <a:ea typeface="微软雅黑" panose="020B0503020204020204" pitchFamily="34" charset="-122"/>
              </a:rPr>
              <a:t>（</a:t>
            </a:r>
            <a:r>
              <a:rPr lang="en-US" altLang="zh-CN" sz="2400" kern="0" dirty="0">
                <a:latin typeface="微软雅黑" panose="020B0503020204020204" pitchFamily="34" charset="-122"/>
                <a:ea typeface="微软雅黑" panose="020B0503020204020204" pitchFamily="34" charset="-122"/>
              </a:rPr>
              <a:t>2</a:t>
            </a:r>
            <a:r>
              <a:rPr lang="zh-CN" altLang="en-US" sz="2400" kern="0" dirty="0">
                <a:latin typeface="微软雅黑" panose="020B0503020204020204" pitchFamily="34" charset="-122"/>
                <a:ea typeface="微软雅黑" panose="020B0503020204020204" pitchFamily="34" charset="-122"/>
              </a:rPr>
              <a:t>）超出争用期后，继续发送，但不监听信道，后继连续发的帧也不监听信道。</a:t>
            </a:r>
            <a:endParaRPr lang="en-US" altLang="zh-CN" sz="2400" kern="0" dirty="0">
              <a:latin typeface="微软雅黑" panose="020B0503020204020204" pitchFamily="34" charset="-122"/>
              <a:ea typeface="微软雅黑" panose="020B0503020204020204" pitchFamily="34" charset="-122"/>
            </a:endParaRPr>
          </a:p>
          <a:p>
            <a:pPr marL="0" indent="0" eaLnBrk="1" hangingPunct="1">
              <a:lnSpc>
                <a:spcPct val="120000"/>
              </a:lnSpc>
              <a:buFont typeface="Wingdings" panose="05000000000000000000" pitchFamily="2" charset="2"/>
              <a:buNone/>
              <a:defRPr/>
            </a:pPr>
            <a:endParaRPr lang="zh-CN" altLang="en-US" sz="2400" kern="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3458" name="Text Box 2"/>
          <p:cNvSpPr>
            <a:spLocks noGrp="1" noChangeArrowheads="1"/>
          </p:cNvSpPr>
          <p:nvPr>
            <p:ph type="title"/>
          </p:nvPr>
        </p:nvSpPr>
        <p:spPr>
          <a:xfrm>
            <a:off x="395288" y="1916113"/>
            <a:ext cx="8610600" cy="2332037"/>
          </a:xfrm>
        </p:spPr>
        <p:txBody>
          <a:bodyPr anchor="ctr"/>
          <a:lstStyle/>
          <a:p>
            <a:pPr eaLnBrk="1" hangingPunct="1">
              <a:lnSpc>
                <a:spcPct val="120000"/>
              </a:lnSpc>
              <a:spcBef>
                <a:spcPct val="50000"/>
              </a:spcBef>
              <a:defRPr/>
            </a:pPr>
            <a:r>
              <a:rPr lang="zh-CN" altLang="en-US" sz="2400" dirty="0">
                <a:solidFill>
                  <a:schemeClr val="tx1"/>
                </a:solidFill>
                <a:latin typeface="微软雅黑" panose="020B0503020204020204" pitchFamily="34" charset="-122"/>
                <a:ea typeface="微软雅黑" panose="020B0503020204020204" pitchFamily="34" charset="-122"/>
              </a:rPr>
              <a:t>一个站在发现冲突后，应立即停止本次发送，然后重新安排发送。有多种重发策略。目前常用的策略有以下</a:t>
            </a:r>
            <a:r>
              <a:rPr lang="en-US" altLang="zh-CN" sz="2400" dirty="0">
                <a:solidFill>
                  <a:schemeClr val="tx1"/>
                </a:solidFill>
                <a:latin typeface="微软雅黑" panose="020B0503020204020204" pitchFamily="34" charset="-122"/>
                <a:ea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rPr>
              <a:t>种：</a:t>
            </a:r>
            <a:br>
              <a:rPr lang="zh-CN" altLang="en-US" sz="2400" dirty="0">
                <a:solidFill>
                  <a:schemeClr val="tx1"/>
                </a:solidFill>
                <a:latin typeface="微软雅黑" panose="020B0503020204020204" pitchFamily="34" charset="-122"/>
                <a:ea typeface="微软雅黑" panose="020B0503020204020204" pitchFamily="34" charset="-122"/>
              </a:rPr>
            </a:br>
            <a:r>
              <a:rPr lang="en-US" altLang="zh-CN" sz="2400" dirty="0">
                <a:solidFill>
                  <a:schemeClr val="tx1"/>
                </a:solidFill>
                <a:latin typeface="微软雅黑" panose="020B0503020204020204" pitchFamily="34" charset="-122"/>
                <a:ea typeface="微软雅黑" panose="020B0503020204020204" pitchFamily="34" charset="-122"/>
              </a:rPr>
              <a:t>(1)</a:t>
            </a:r>
            <a:r>
              <a:rPr lang="zh-CN" altLang="en-US" sz="2400" dirty="0">
                <a:solidFill>
                  <a:srgbClr val="FF0000"/>
                </a:solidFill>
                <a:latin typeface="微软雅黑" panose="020B0503020204020204" pitchFamily="34" charset="-122"/>
                <a:ea typeface="微软雅黑" panose="020B0503020204020204" pitchFamily="34" charset="-122"/>
              </a:rPr>
              <a:t>随机策略</a:t>
            </a:r>
            <a:r>
              <a:rPr lang="zh-CN" altLang="en-US" sz="2400" dirty="0">
                <a:solidFill>
                  <a:schemeClr val="tx1"/>
                </a:solidFill>
                <a:latin typeface="微软雅黑" panose="020B0503020204020204" pitchFamily="34" charset="-122"/>
                <a:ea typeface="微软雅黑" panose="020B0503020204020204" pitchFamily="34" charset="-122"/>
              </a:rPr>
              <a:t>：发送方发现冲突后，推迟一随机时间，再进行重发。</a:t>
            </a:r>
            <a:br>
              <a:rPr lang="zh-CN" altLang="en-US" sz="2400" dirty="0">
                <a:solidFill>
                  <a:schemeClr val="tx1"/>
                </a:solidFill>
                <a:latin typeface="微软雅黑" panose="020B0503020204020204" pitchFamily="34" charset="-122"/>
                <a:ea typeface="微软雅黑" panose="020B0503020204020204" pitchFamily="34" charset="-122"/>
              </a:rPr>
            </a:br>
            <a:r>
              <a:rPr lang="en-US" altLang="zh-CN" sz="2400" dirty="0">
                <a:solidFill>
                  <a:schemeClr val="tx1"/>
                </a:solidFill>
                <a:latin typeface="微软雅黑" panose="020B0503020204020204" pitchFamily="34" charset="-122"/>
                <a:ea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rPr>
              <a:t>采用</a:t>
            </a:r>
            <a:r>
              <a:rPr lang="zh-CN" altLang="en-US" sz="2400" dirty="0">
                <a:solidFill>
                  <a:srgbClr val="FF0000"/>
                </a:solidFill>
                <a:latin typeface="微软雅黑" panose="020B0503020204020204" pitchFamily="34" charset="-122"/>
                <a:ea typeface="微软雅黑" panose="020B0503020204020204" pitchFamily="34" charset="-122"/>
              </a:rPr>
              <a:t>二进制指数退避算法</a:t>
            </a:r>
            <a:r>
              <a:rPr lang="en-US" altLang="zh-CN" sz="2400" dirty="0">
                <a:solidFill>
                  <a:srgbClr val="FF0000"/>
                </a:solidFill>
                <a:latin typeface="微软雅黑" panose="020B0503020204020204" pitchFamily="34" charset="-122"/>
                <a:ea typeface="微软雅黑" panose="020B0503020204020204" pitchFamily="34" charset="-122"/>
              </a:rPr>
              <a:t>BEB</a:t>
            </a:r>
            <a:r>
              <a:rPr lang="zh-CN" altLang="en-US" sz="2400" dirty="0">
                <a:solidFill>
                  <a:schemeClr val="tx1"/>
                </a:solidFill>
                <a:latin typeface="微软雅黑" panose="020B0503020204020204" pitchFamily="34" charset="-122"/>
                <a:ea typeface="微软雅黑" panose="020B0503020204020204" pitchFamily="34" charset="-122"/>
              </a:rPr>
              <a:t>延迟重发。</a:t>
            </a:r>
            <a:br>
              <a:rPr lang="en-US" altLang="zh-CN" sz="2400" dirty="0">
                <a:solidFill>
                  <a:schemeClr val="tx1"/>
                </a:solidFill>
                <a:latin typeface="微软雅黑" panose="020B0503020204020204" pitchFamily="34" charset="-122"/>
                <a:ea typeface="微软雅黑" panose="020B0503020204020204" pitchFamily="34" charset="-122"/>
              </a:rPr>
            </a:b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6627" name="Rectangle 3"/>
          <p:cNvSpPr>
            <a:spLocks noChangeArrowheads="1"/>
          </p:cNvSpPr>
          <p:nvPr/>
        </p:nvSpPr>
        <p:spPr bwMode="auto">
          <a:xfrm>
            <a:off x="539750" y="908050"/>
            <a:ext cx="467995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3200" b="1">
                <a:solidFill>
                  <a:srgbClr val="000099"/>
                </a:solidFill>
                <a:latin typeface="黑体" panose="02010609060101010101" pitchFamily="49" charset="-122"/>
                <a:ea typeface="黑体" panose="02010609060101010101" pitchFamily="49" charset="-122"/>
              </a:rPr>
              <a:t>延迟重发</a:t>
            </a:r>
            <a:endParaRPr lang="zh-CN" altLang="en-US" sz="2000" b="1">
              <a:solidFill>
                <a:srgbClr val="A5002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31800" y="908050"/>
            <a:ext cx="4248150" cy="598488"/>
          </a:xfrm>
        </p:spPr>
        <p:txBody>
          <a:bodyPr/>
          <a:lstStyle/>
          <a:p>
            <a:pPr algn="ctr" eaLnBrk="1" hangingPunct="1"/>
            <a:r>
              <a:rPr lang="zh-CN" altLang="en-US" sz="2800" dirty="0">
                <a:latin typeface="微软雅黑" panose="020B0503020204020204" pitchFamily="34" charset="-122"/>
                <a:ea typeface="微软雅黑" panose="020B0503020204020204" pitchFamily="34" charset="-122"/>
              </a:rPr>
              <a:t>二进制指数类型退避算法</a:t>
            </a:r>
            <a:endParaRPr lang="en-US" altLang="zh-CN" sz="2400" dirty="0">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nvSpPr>
        <p:spPr>
          <a:xfrm>
            <a:off x="251395" y="1664494"/>
            <a:ext cx="8641209" cy="3529012"/>
          </a:xfrm>
          <a:prstGeom prst="rect">
            <a:avLst/>
          </a:prstGeom>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eaLnBrk="1" hangingPunct="1">
              <a:lnSpc>
                <a:spcPct val="120000"/>
              </a:lnSpc>
              <a:buNone/>
              <a:defRPr/>
            </a:pPr>
            <a:r>
              <a:rPr lang="zh-CN" altLang="en-US" sz="2400" kern="0" dirty="0">
                <a:latin typeface="微软雅黑" panose="020B0503020204020204" pitchFamily="34" charset="-122"/>
                <a:ea typeface="微软雅黑" panose="020B0503020204020204" pitchFamily="34" charset="-122"/>
              </a:rPr>
              <a:t>      发生碰撞的站在停止发送数据后，要推迟（退避）一个随机时间才能再发送数据。退避时间计算如下：</a:t>
            </a:r>
          </a:p>
          <a:p>
            <a:pPr lvl="1" eaLnBrk="1" hangingPunct="1">
              <a:lnSpc>
                <a:spcPct val="120000"/>
              </a:lnSpc>
              <a:defRPr/>
            </a:pPr>
            <a:r>
              <a:rPr lang="zh-CN" altLang="en-US" sz="2400" kern="0" dirty="0">
                <a:solidFill>
                  <a:srgbClr val="FF0000"/>
                </a:solidFill>
                <a:latin typeface="微软雅黑" panose="020B0503020204020204" pitchFamily="34" charset="-122"/>
                <a:ea typeface="微软雅黑" panose="020B0503020204020204" pitchFamily="34" charset="-122"/>
              </a:rPr>
              <a:t>基本退避时间</a:t>
            </a:r>
            <a:r>
              <a:rPr lang="zh-CN" altLang="en-US" sz="2400" kern="0" dirty="0">
                <a:solidFill>
                  <a:srgbClr val="333399"/>
                </a:solidFill>
                <a:latin typeface="微软雅黑" panose="020B0503020204020204" pitchFamily="34" charset="-122"/>
                <a:ea typeface="微软雅黑" panose="020B0503020204020204" pitchFamily="34" charset="-122"/>
              </a:rPr>
              <a:t>取争用期 </a:t>
            </a:r>
            <a:r>
              <a:rPr lang="en-US" altLang="zh-CN" sz="2400" kern="0" dirty="0">
                <a:solidFill>
                  <a:srgbClr val="333399"/>
                </a:solidFill>
                <a:latin typeface="微软雅黑" panose="020B0503020204020204" pitchFamily="34" charset="-122"/>
                <a:ea typeface="微软雅黑" panose="020B0503020204020204" pitchFamily="34" charset="-122"/>
              </a:rPr>
              <a:t>2</a:t>
            </a:r>
            <a:r>
              <a:rPr lang="en-US" altLang="zh-CN" sz="2400" i="1" kern="0"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kern="0" dirty="0">
                <a:solidFill>
                  <a:srgbClr val="333399"/>
                </a:solidFill>
                <a:latin typeface="微软雅黑" panose="020B0503020204020204" pitchFamily="34" charset="-122"/>
                <a:ea typeface="微软雅黑" panose="020B0503020204020204" pitchFamily="34" charset="-122"/>
              </a:rPr>
              <a:t>。</a:t>
            </a:r>
          </a:p>
          <a:p>
            <a:pPr lvl="1" eaLnBrk="1" hangingPunct="1">
              <a:lnSpc>
                <a:spcPct val="120000"/>
              </a:lnSpc>
              <a:defRPr/>
            </a:pPr>
            <a:r>
              <a:rPr lang="zh-CN" altLang="en-US" sz="2400" kern="0" dirty="0">
                <a:solidFill>
                  <a:srgbClr val="333399"/>
                </a:solidFill>
                <a:latin typeface="微软雅黑" panose="020B0503020204020204" pitchFamily="34" charset="-122"/>
                <a:ea typeface="微软雅黑" panose="020B0503020204020204" pitchFamily="34" charset="-122"/>
              </a:rPr>
              <a:t>定义重传次数 </a:t>
            </a:r>
            <a:r>
              <a:rPr lang="en-US" altLang="zh-CN" sz="2400" i="1" kern="0" dirty="0">
                <a:solidFill>
                  <a:srgbClr val="333399"/>
                </a:solidFill>
                <a:latin typeface="微软雅黑" panose="020B0503020204020204" pitchFamily="34" charset="-122"/>
                <a:ea typeface="微软雅黑" panose="020B0503020204020204" pitchFamily="34" charset="-122"/>
              </a:rPr>
              <a:t>k</a:t>
            </a:r>
            <a:r>
              <a:rPr lang="en-US" altLang="zh-CN" sz="2400" kern="0" dirty="0">
                <a:solidFill>
                  <a:srgbClr val="333399"/>
                </a:solidFill>
                <a:latin typeface="微软雅黑" panose="020B0503020204020204" pitchFamily="34" charset="-122"/>
                <a:ea typeface="微软雅黑" panose="020B0503020204020204" pitchFamily="34" charset="-122"/>
              </a:rPr>
              <a:t> </a:t>
            </a:r>
            <a:r>
              <a:rPr lang="zh-CN" altLang="en-US" sz="2400" kern="0" dirty="0">
                <a:solidFill>
                  <a:srgbClr val="333399"/>
                </a:solidFill>
                <a:latin typeface="微软雅黑" panose="020B0503020204020204" pitchFamily="34" charset="-122"/>
                <a:ea typeface="微软雅黑" panose="020B0503020204020204" pitchFamily="34" charset="-122"/>
              </a:rPr>
              <a:t>，</a:t>
            </a:r>
            <a:r>
              <a:rPr lang="en-US" altLang="zh-CN" sz="2400" i="1" kern="0" dirty="0">
                <a:solidFill>
                  <a:srgbClr val="333399"/>
                </a:solidFill>
                <a:latin typeface="微软雅黑" panose="020B0503020204020204" pitchFamily="34" charset="-122"/>
                <a:ea typeface="微软雅黑" panose="020B0503020204020204" pitchFamily="34" charset="-122"/>
              </a:rPr>
              <a:t>k </a:t>
            </a:r>
            <a:r>
              <a:rPr lang="en-US" altLang="zh-CN" sz="2400" kern="0"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kern="0" dirty="0">
                <a:solidFill>
                  <a:srgbClr val="333399"/>
                </a:solidFill>
                <a:latin typeface="微软雅黑" panose="020B0503020204020204" pitchFamily="34" charset="-122"/>
                <a:ea typeface="微软雅黑" panose="020B0503020204020204" pitchFamily="34" charset="-122"/>
              </a:rPr>
              <a:t>10</a:t>
            </a:r>
            <a:r>
              <a:rPr lang="zh-CN" altLang="en-US" sz="2400" kern="0" dirty="0">
                <a:solidFill>
                  <a:srgbClr val="333399"/>
                </a:solidFill>
                <a:latin typeface="微软雅黑" panose="020B0503020204020204" pitchFamily="34" charset="-122"/>
                <a:ea typeface="微软雅黑" panose="020B0503020204020204" pitchFamily="34" charset="-122"/>
              </a:rPr>
              <a:t>，即 </a:t>
            </a:r>
            <a:r>
              <a:rPr lang="en-US" altLang="zh-CN" sz="2400" i="1" kern="0" dirty="0">
                <a:solidFill>
                  <a:srgbClr val="333399"/>
                </a:solidFill>
                <a:latin typeface="微软雅黑" panose="020B0503020204020204" pitchFamily="34" charset="-122"/>
                <a:ea typeface="微软雅黑" panose="020B0503020204020204" pitchFamily="34" charset="-122"/>
              </a:rPr>
              <a:t>k</a:t>
            </a:r>
            <a:r>
              <a:rPr lang="en-US" altLang="zh-CN" sz="2400" kern="0" dirty="0">
                <a:solidFill>
                  <a:srgbClr val="333399"/>
                </a:solidFill>
                <a:latin typeface="微软雅黑" panose="020B0503020204020204" pitchFamily="34" charset="-122"/>
                <a:ea typeface="微软雅黑" panose="020B0503020204020204" pitchFamily="34" charset="-122"/>
              </a:rPr>
              <a:t> = Min[</a:t>
            </a:r>
            <a:r>
              <a:rPr lang="zh-CN" altLang="en-US" sz="2400" kern="0" dirty="0">
                <a:solidFill>
                  <a:srgbClr val="333399"/>
                </a:solidFill>
                <a:latin typeface="微软雅黑" panose="020B0503020204020204" pitchFamily="34" charset="-122"/>
                <a:ea typeface="微软雅黑" panose="020B0503020204020204" pitchFamily="34" charset="-122"/>
              </a:rPr>
              <a:t>重传次数</a:t>
            </a:r>
            <a:r>
              <a:rPr lang="en-US" altLang="zh-CN" sz="2400" kern="0" dirty="0">
                <a:solidFill>
                  <a:srgbClr val="333399"/>
                </a:solidFill>
                <a:latin typeface="微软雅黑" panose="020B0503020204020204" pitchFamily="34" charset="-122"/>
                <a:ea typeface="微软雅黑" panose="020B0503020204020204" pitchFamily="34" charset="-122"/>
              </a:rPr>
              <a:t>, 10]</a:t>
            </a:r>
          </a:p>
          <a:p>
            <a:pPr lvl="1" eaLnBrk="1" hangingPunct="1">
              <a:lnSpc>
                <a:spcPct val="120000"/>
              </a:lnSpc>
              <a:defRPr/>
            </a:pPr>
            <a:r>
              <a:rPr lang="zh-CN" altLang="en-US" sz="2400" kern="0" dirty="0">
                <a:solidFill>
                  <a:srgbClr val="333399"/>
                </a:solidFill>
                <a:latin typeface="微软雅黑" panose="020B0503020204020204" pitchFamily="34" charset="-122"/>
                <a:ea typeface="微软雅黑" panose="020B0503020204020204" pitchFamily="34" charset="-122"/>
              </a:rPr>
              <a:t>从整数集合</a:t>
            </a:r>
            <a:r>
              <a:rPr lang="en-US" altLang="zh-CN" sz="2400" kern="0" dirty="0">
                <a:solidFill>
                  <a:srgbClr val="333399"/>
                </a:solidFill>
                <a:latin typeface="微软雅黑" panose="020B0503020204020204" pitchFamily="34" charset="-122"/>
                <a:ea typeface="微软雅黑" panose="020B0503020204020204" pitchFamily="34" charset="-122"/>
              </a:rPr>
              <a:t>[0,1,…, (2</a:t>
            </a:r>
            <a:r>
              <a:rPr lang="en-US" altLang="zh-CN" sz="2400" i="1" kern="0" baseline="30000" dirty="0">
                <a:solidFill>
                  <a:srgbClr val="333399"/>
                </a:solidFill>
                <a:latin typeface="微软雅黑" panose="020B0503020204020204" pitchFamily="34" charset="-122"/>
                <a:ea typeface="微软雅黑" panose="020B0503020204020204" pitchFamily="34" charset="-122"/>
              </a:rPr>
              <a:t>k</a:t>
            </a:r>
            <a:r>
              <a:rPr lang="en-US" altLang="zh-CN" sz="2400" i="1" kern="0" dirty="0">
                <a:solidFill>
                  <a:srgbClr val="333399"/>
                </a:solidFill>
                <a:latin typeface="微软雅黑" panose="020B0503020204020204" pitchFamily="34" charset="-122"/>
                <a:ea typeface="微软雅黑" panose="020B0503020204020204" pitchFamily="34" charset="-122"/>
              </a:rPr>
              <a:t> </a:t>
            </a:r>
            <a:r>
              <a:rPr lang="en-US" altLang="zh-CN" sz="2400" kern="0"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kern="0" dirty="0">
                <a:solidFill>
                  <a:srgbClr val="333399"/>
                </a:solidFill>
                <a:latin typeface="微软雅黑" panose="020B0503020204020204" pitchFamily="34" charset="-122"/>
                <a:ea typeface="微软雅黑" panose="020B0503020204020204" pitchFamily="34" charset="-122"/>
              </a:rPr>
              <a:t>1)]</a:t>
            </a:r>
            <a:r>
              <a:rPr lang="zh-CN" altLang="en-US" sz="2400" kern="0" dirty="0">
                <a:solidFill>
                  <a:srgbClr val="333399"/>
                </a:solidFill>
                <a:latin typeface="微软雅黑" panose="020B0503020204020204" pitchFamily="34" charset="-122"/>
                <a:ea typeface="微软雅黑" panose="020B0503020204020204" pitchFamily="34" charset="-122"/>
              </a:rPr>
              <a:t>中</a:t>
            </a:r>
            <a:r>
              <a:rPr lang="zh-CN" altLang="en-US" sz="2400" kern="0" dirty="0">
                <a:solidFill>
                  <a:srgbClr val="FF0000"/>
                </a:solidFill>
                <a:latin typeface="微软雅黑" panose="020B0503020204020204" pitchFamily="34" charset="-122"/>
                <a:ea typeface="微软雅黑" panose="020B0503020204020204" pitchFamily="34" charset="-122"/>
              </a:rPr>
              <a:t>随机地</a:t>
            </a:r>
            <a:r>
              <a:rPr lang="zh-CN" altLang="en-US" sz="2400" kern="0" dirty="0">
                <a:solidFill>
                  <a:srgbClr val="333399"/>
                </a:solidFill>
                <a:latin typeface="微软雅黑" panose="020B0503020204020204" pitchFamily="34" charset="-122"/>
                <a:ea typeface="微软雅黑" panose="020B0503020204020204" pitchFamily="34" charset="-122"/>
              </a:rPr>
              <a:t>取出一个数，记为 </a:t>
            </a:r>
            <a:r>
              <a:rPr lang="en-US" altLang="zh-CN" sz="2400" i="1" kern="0" dirty="0">
                <a:solidFill>
                  <a:srgbClr val="333399"/>
                </a:solidFill>
                <a:latin typeface="微软雅黑" panose="020B0503020204020204" pitchFamily="34" charset="-122"/>
                <a:ea typeface="微软雅黑" panose="020B0503020204020204" pitchFamily="34" charset="-122"/>
              </a:rPr>
              <a:t>r</a:t>
            </a:r>
            <a:r>
              <a:rPr lang="zh-CN" altLang="en-US" sz="2400" kern="0" dirty="0">
                <a:solidFill>
                  <a:srgbClr val="333399"/>
                </a:solidFill>
                <a:latin typeface="微软雅黑" panose="020B0503020204020204" pitchFamily="34" charset="-122"/>
                <a:ea typeface="微软雅黑" panose="020B0503020204020204" pitchFamily="34" charset="-122"/>
              </a:rPr>
              <a:t>。重传所需的时延就是 </a:t>
            </a:r>
            <a:r>
              <a:rPr lang="en-US" altLang="zh-CN" sz="2400" i="1" kern="0" dirty="0">
                <a:solidFill>
                  <a:srgbClr val="333399"/>
                </a:solidFill>
                <a:latin typeface="微软雅黑" panose="020B0503020204020204" pitchFamily="34" charset="-122"/>
                <a:ea typeface="微软雅黑" panose="020B0503020204020204" pitchFamily="34" charset="-122"/>
              </a:rPr>
              <a:t>r </a:t>
            </a:r>
            <a:r>
              <a:rPr lang="zh-CN" altLang="en-US" sz="2400" kern="0" dirty="0">
                <a:solidFill>
                  <a:srgbClr val="333399"/>
                </a:solidFill>
                <a:latin typeface="微软雅黑" panose="020B0503020204020204" pitchFamily="34" charset="-122"/>
                <a:ea typeface="微软雅黑" panose="020B0503020204020204" pitchFamily="34" charset="-122"/>
              </a:rPr>
              <a:t>倍的基本退避时间，即 </a:t>
            </a:r>
            <a:r>
              <a:rPr lang="en-US" altLang="zh-CN" sz="2400" kern="0" dirty="0">
                <a:solidFill>
                  <a:srgbClr val="333399"/>
                </a:solidFill>
                <a:latin typeface="微软雅黑" panose="020B0503020204020204" pitchFamily="34" charset="-122"/>
                <a:ea typeface="微软雅黑" panose="020B0503020204020204" pitchFamily="34" charset="-122"/>
              </a:rPr>
              <a:t>r*2*</a:t>
            </a:r>
            <a:r>
              <a:rPr lang="en-US" altLang="zh-CN" sz="2400" i="1" kern="0"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2400" kern="0" dirty="0">
                <a:solidFill>
                  <a:srgbClr val="333399"/>
                </a:solidFill>
                <a:latin typeface="微软雅黑" panose="020B0503020204020204" pitchFamily="34" charset="-122"/>
                <a:ea typeface="微软雅黑" panose="020B0503020204020204" pitchFamily="34" charset="-122"/>
              </a:rPr>
              <a:t>。</a:t>
            </a:r>
          </a:p>
          <a:p>
            <a:pPr lvl="1" eaLnBrk="1" hangingPunct="1">
              <a:lnSpc>
                <a:spcPct val="120000"/>
              </a:lnSpc>
              <a:defRPr/>
            </a:pPr>
            <a:r>
              <a:rPr lang="zh-CN" altLang="en-US" sz="2400" kern="0" dirty="0">
                <a:solidFill>
                  <a:srgbClr val="333399"/>
                </a:solidFill>
                <a:latin typeface="微软雅黑" panose="020B0503020204020204" pitchFamily="34" charset="-122"/>
                <a:ea typeface="微软雅黑" panose="020B0503020204020204" pitchFamily="34" charset="-122"/>
              </a:rPr>
              <a:t>当重传达 </a:t>
            </a:r>
            <a:r>
              <a:rPr lang="en-US" altLang="zh-CN" sz="2400" kern="0" dirty="0">
                <a:solidFill>
                  <a:srgbClr val="333399"/>
                </a:solidFill>
                <a:latin typeface="微软雅黑" panose="020B0503020204020204" pitchFamily="34" charset="-122"/>
                <a:ea typeface="微软雅黑" panose="020B0503020204020204" pitchFamily="34" charset="-122"/>
              </a:rPr>
              <a:t>16 </a:t>
            </a:r>
            <a:r>
              <a:rPr lang="zh-CN" altLang="en-US" sz="2400" kern="0" dirty="0">
                <a:solidFill>
                  <a:srgbClr val="333399"/>
                </a:solidFill>
                <a:latin typeface="微软雅黑" panose="020B0503020204020204" pitchFamily="34" charset="-122"/>
                <a:ea typeface="微软雅黑" panose="020B0503020204020204" pitchFamily="34" charset="-122"/>
              </a:rPr>
              <a:t>次仍不能成功时说明网络太拥挤，认为该帧永远无法正确发出，丢弃该帧，并向高层报告。</a:t>
            </a:r>
            <a:r>
              <a:rPr lang="zh-CN" altLang="en-US" sz="2400" kern="0" dirty="0">
                <a:latin typeface="微软雅黑" panose="020B0503020204020204" pitchFamily="34" charset="-122"/>
                <a:ea typeface="微软雅黑" panose="020B0503020204020204" pitchFamily="34" charset="-122"/>
              </a:rPr>
              <a:t> </a:t>
            </a:r>
          </a:p>
        </p:txBody>
      </p:sp>
      <p:sp>
        <p:nvSpPr>
          <p:cNvPr id="5" name="Rectangle 3">
            <a:extLst>
              <a:ext uri="{FF2B5EF4-FFF2-40B4-BE49-F238E27FC236}">
                <a16:creationId xmlns:a16="http://schemas.microsoft.com/office/drawing/2014/main" id="{D57EA0F6-2121-496C-A15A-33574C66818E}"/>
              </a:ext>
            </a:extLst>
          </p:cNvPr>
          <p:cNvSpPr txBox="1">
            <a:spLocks noChangeArrowheads="1"/>
          </p:cNvSpPr>
          <p:nvPr/>
        </p:nvSpPr>
        <p:spPr>
          <a:xfrm>
            <a:off x="0" y="5552022"/>
            <a:ext cx="9124119" cy="1305978"/>
          </a:xfrm>
          <a:prstGeom prst="rect">
            <a:avLst/>
          </a:prstGeom>
          <a:solidFill>
            <a:schemeClr val="bg1"/>
          </a:solidFill>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marL="0" indent="0" eaLnBrk="1" hangingPunct="1">
              <a:lnSpc>
                <a:spcPct val="120000"/>
              </a:lnSpc>
              <a:buNone/>
              <a:defRPr/>
            </a:pPr>
            <a:r>
              <a:rPr lang="zh-CN" altLang="en-US" sz="1800" kern="0" dirty="0">
                <a:latin typeface="微软雅黑" panose="020B0503020204020204" pitchFamily="34" charset="-122"/>
                <a:ea typeface="微软雅黑" panose="020B0503020204020204" pitchFamily="34" charset="-122"/>
              </a:rPr>
              <a:t>假设网卡首次试图传送一帧，且在传送过程中检测到冲突。第</a:t>
            </a:r>
            <a:r>
              <a:rPr lang="en-US" altLang="zh-CN" sz="1800" kern="0" dirty="0">
                <a:latin typeface="微软雅黑" panose="020B0503020204020204" pitchFamily="34" charset="-122"/>
                <a:ea typeface="微软雅黑" panose="020B0503020204020204" pitchFamily="34" charset="-122"/>
              </a:rPr>
              <a:t>1</a:t>
            </a:r>
            <a:r>
              <a:rPr lang="zh-CN" altLang="en-US" sz="1800" kern="0" dirty="0">
                <a:latin typeface="微软雅黑" panose="020B0503020204020204" pitchFamily="34" charset="-122"/>
                <a:ea typeface="微软雅黑" panose="020B0503020204020204" pitchFamily="34" charset="-122"/>
              </a:rPr>
              <a:t>次重传时，</a:t>
            </a:r>
            <a:r>
              <a:rPr lang="en-US" altLang="zh-CN" sz="1800" kern="0" dirty="0">
                <a:latin typeface="微软雅黑" panose="020B0503020204020204" pitchFamily="34" charset="-122"/>
                <a:ea typeface="微软雅黑" panose="020B0503020204020204" pitchFamily="34" charset="-122"/>
              </a:rPr>
              <a:t>k=1</a:t>
            </a:r>
            <a:r>
              <a:rPr lang="zh-CN" altLang="en-US" sz="1800" kern="0" dirty="0">
                <a:latin typeface="微软雅黑" panose="020B0503020204020204" pitchFamily="34" charset="-122"/>
                <a:ea typeface="微软雅黑" panose="020B0503020204020204" pitchFamily="34" charset="-122"/>
              </a:rPr>
              <a:t>，随机数</a:t>
            </a:r>
            <a:r>
              <a:rPr lang="en-US" altLang="zh-CN" sz="1800" kern="0" dirty="0">
                <a:latin typeface="微软雅黑" panose="020B0503020204020204" pitchFamily="34" charset="-122"/>
                <a:ea typeface="微软雅黑" panose="020B0503020204020204" pitchFamily="34" charset="-122"/>
              </a:rPr>
              <a:t>r</a:t>
            </a:r>
            <a:r>
              <a:rPr lang="zh-CN" altLang="en-US" sz="1800" kern="0" dirty="0">
                <a:latin typeface="微软雅黑" panose="020B0503020204020204" pitchFamily="34" charset="-122"/>
                <a:ea typeface="微软雅黑" panose="020B0503020204020204" pitchFamily="34" charset="-122"/>
              </a:rPr>
              <a:t>从整数集合</a:t>
            </a:r>
            <a:r>
              <a:rPr lang="en-US" altLang="zh-CN" sz="1800" kern="0" dirty="0">
                <a:latin typeface="微软雅黑" panose="020B0503020204020204" pitchFamily="34" charset="-122"/>
                <a:ea typeface="微软雅黑" panose="020B0503020204020204" pitchFamily="34" charset="-122"/>
              </a:rPr>
              <a:t>{0,1}</a:t>
            </a:r>
            <a:r>
              <a:rPr lang="zh-CN" altLang="en-US" sz="1800" kern="0" dirty="0">
                <a:latin typeface="微软雅黑" panose="020B0503020204020204" pitchFamily="34" charset="-122"/>
                <a:ea typeface="微软雅黑" panose="020B0503020204020204" pitchFamily="34" charset="-122"/>
              </a:rPr>
              <a:t>中选择，可能的重传推迟时间是</a:t>
            </a:r>
            <a:r>
              <a:rPr lang="en-US" altLang="zh-CN" sz="1800" kern="0" dirty="0">
                <a:latin typeface="微软雅黑" panose="020B0503020204020204" pitchFamily="34" charset="-122"/>
                <a:ea typeface="微软雅黑" panose="020B0503020204020204" pitchFamily="34" charset="-122"/>
              </a:rPr>
              <a:t>0</a:t>
            </a:r>
            <a:r>
              <a:rPr lang="zh-CN" altLang="en-US" sz="1800" kern="0" dirty="0">
                <a:latin typeface="微软雅黑" panose="020B0503020204020204" pitchFamily="34" charset="-122"/>
                <a:ea typeface="微软雅黑" panose="020B0503020204020204" pitchFamily="34" charset="-122"/>
              </a:rPr>
              <a:t>或</a:t>
            </a:r>
            <a:r>
              <a:rPr lang="en-US" altLang="zh-CN" sz="1800" kern="0" dirty="0">
                <a:latin typeface="微软雅黑" panose="020B0503020204020204" pitchFamily="34" charset="-122"/>
                <a:ea typeface="微软雅黑" panose="020B0503020204020204" pitchFamily="34" charset="-122"/>
              </a:rPr>
              <a:t>2</a:t>
            </a:r>
            <a:r>
              <a:rPr lang="en-US" altLang="zh-CN" sz="1800" i="1" kern="0"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  </a:t>
            </a:r>
            <a:r>
              <a:rPr lang="zh-CN" altLang="en-US" sz="1800" kern="0" dirty="0">
                <a:latin typeface="微软雅黑" panose="020B0503020204020204" pitchFamily="34" charset="-122"/>
                <a:ea typeface="微软雅黑" panose="020B0503020204020204" pitchFamily="34" charset="-122"/>
              </a:rPr>
              <a:t>。若再次发生冲突，则第二次重传时，随机数</a:t>
            </a:r>
            <a:r>
              <a:rPr lang="en-US" altLang="zh-CN" sz="1800" kern="0" dirty="0">
                <a:latin typeface="微软雅黑" panose="020B0503020204020204" pitchFamily="34" charset="-122"/>
                <a:ea typeface="微软雅黑" panose="020B0503020204020204" pitchFamily="34" charset="-122"/>
              </a:rPr>
              <a:t>r</a:t>
            </a:r>
            <a:r>
              <a:rPr lang="zh-CN" altLang="en-US" sz="1800" kern="0" dirty="0">
                <a:latin typeface="微软雅黑" panose="020B0503020204020204" pitchFamily="34" charset="-122"/>
                <a:ea typeface="微软雅黑" panose="020B0503020204020204" pitchFamily="34" charset="-122"/>
              </a:rPr>
              <a:t>从整数集合</a:t>
            </a:r>
            <a:r>
              <a:rPr lang="en-US" altLang="zh-CN" sz="1800" kern="0" dirty="0">
                <a:latin typeface="微软雅黑" panose="020B0503020204020204" pitchFamily="34" charset="-122"/>
                <a:ea typeface="微软雅黑" panose="020B0503020204020204" pitchFamily="34" charset="-122"/>
              </a:rPr>
              <a:t>{0,1,2,3}</a:t>
            </a:r>
            <a:r>
              <a:rPr lang="zh-CN" altLang="en-US" sz="1800" kern="0" dirty="0">
                <a:latin typeface="微软雅黑" panose="020B0503020204020204" pitchFamily="34" charset="-122"/>
                <a:ea typeface="微软雅黑" panose="020B0503020204020204" pitchFamily="34" charset="-122"/>
              </a:rPr>
              <a:t>中选择，因此重传推迟时间是在</a:t>
            </a:r>
            <a:r>
              <a:rPr lang="en-US" altLang="zh-CN" sz="1800" kern="0" dirty="0">
                <a:latin typeface="微软雅黑" panose="020B0503020204020204" pitchFamily="34" charset="-122"/>
                <a:ea typeface="微软雅黑" panose="020B0503020204020204" pitchFamily="34" charset="-122"/>
              </a:rPr>
              <a:t>0, 2</a:t>
            </a:r>
            <a:r>
              <a:rPr lang="en-US" altLang="zh-CN" sz="1800" i="1" kern="0"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800" kern="0" dirty="0">
                <a:latin typeface="微软雅黑" panose="020B0503020204020204" pitchFamily="34" charset="-122"/>
                <a:ea typeface="微软雅黑" panose="020B0503020204020204" pitchFamily="34" charset="-122"/>
              </a:rPr>
              <a:t>,   4</a:t>
            </a:r>
            <a:r>
              <a:rPr lang="en-US" altLang="zh-CN" sz="1800" i="1" kern="0"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800" kern="0" dirty="0">
                <a:latin typeface="微软雅黑" panose="020B0503020204020204" pitchFamily="34" charset="-122"/>
                <a:ea typeface="微软雅黑" panose="020B0503020204020204" pitchFamily="34" charset="-122"/>
              </a:rPr>
              <a:t>, 6</a:t>
            </a:r>
            <a:r>
              <a:rPr lang="en-US" altLang="zh-CN" sz="1800" i="1" kern="0" dirty="0">
                <a:solidFill>
                  <a:srgbClr val="333399"/>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1800" kern="0" dirty="0">
                <a:latin typeface="微软雅黑" panose="020B0503020204020204" pitchFamily="34" charset="-122"/>
                <a:ea typeface="微软雅黑" panose="020B0503020204020204" pitchFamily="34" charset="-122"/>
              </a:rPr>
              <a:t>这四个时间中选择的一个，依此类推。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31800" y="908050"/>
            <a:ext cx="4248150" cy="598488"/>
          </a:xfrm>
        </p:spPr>
        <p:txBody>
          <a:bodyPr/>
          <a:lstStyle/>
          <a:p>
            <a:pPr algn="ctr" eaLnBrk="1" hangingPunct="1"/>
            <a:r>
              <a:rPr lang="zh-CN" altLang="en-US" sz="2800" dirty="0">
                <a:latin typeface="微软雅黑" panose="020B0503020204020204" pitchFamily="34" charset="-122"/>
                <a:ea typeface="微软雅黑" panose="020B0503020204020204" pitchFamily="34" charset="-122"/>
              </a:rPr>
              <a:t>二进制指数类型退避算法</a:t>
            </a:r>
            <a:endParaRPr lang="en-US" altLang="zh-CN" sz="24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AE3ABBB-9869-4AD5-A1A6-90AB5FF35CA4}"/>
              </a:ext>
            </a:extLst>
          </p:cNvPr>
          <p:cNvPicPr>
            <a:picLocks noChangeAspect="1"/>
          </p:cNvPicPr>
          <p:nvPr/>
        </p:nvPicPr>
        <p:blipFill>
          <a:blip r:embed="rId2"/>
          <a:stretch>
            <a:fillRect/>
          </a:stretch>
        </p:blipFill>
        <p:spPr>
          <a:xfrm>
            <a:off x="0" y="1772816"/>
            <a:ext cx="9144000" cy="3910263"/>
          </a:xfrm>
          <a:prstGeom prst="rect">
            <a:avLst/>
          </a:prstGeom>
        </p:spPr>
      </p:pic>
    </p:spTree>
    <p:extLst>
      <p:ext uri="{BB962C8B-B14F-4D97-AF65-F5344CB8AC3E}">
        <p14:creationId xmlns:p14="http://schemas.microsoft.com/office/powerpoint/2010/main" val="4210729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2"/>
          <p:cNvSpPr>
            <a:spLocks noGrp="1" noChangeArrowheads="1"/>
          </p:cNvSpPr>
          <p:nvPr>
            <p:ph type="title" idx="4294967295"/>
          </p:nvPr>
        </p:nvSpPr>
        <p:spPr>
          <a:xfrm>
            <a:off x="603250" y="879475"/>
            <a:ext cx="4184650" cy="779463"/>
          </a:xfrm>
        </p:spPr>
        <p:txBody>
          <a:bodyPr lIns="92075" tIns="46038" rIns="92075" bIns="46038" anchor="ctr"/>
          <a:lstStyle/>
          <a:p>
            <a:pPr eaLnBrk="1" hangingPunct="1">
              <a:defRPr/>
            </a:pPr>
            <a:r>
              <a:rPr lang="en-US" altLang="zh-CN" sz="3200" b="1" dirty="0">
                <a:effectLst>
                  <a:outerShdw blurRad="38100" dist="38100" dir="2700000" algn="tl">
                    <a:srgbClr val="C0C0C0"/>
                  </a:outerShdw>
                </a:effectLst>
                <a:latin typeface="黑体" pitchFamily="49" charset="-122"/>
              </a:rPr>
              <a:t>CSMA/CD</a:t>
            </a:r>
            <a:r>
              <a:rPr lang="zh-CN" altLang="en-US" sz="3200" b="1" dirty="0">
                <a:effectLst>
                  <a:outerShdw blurRad="38100" dist="38100" dir="2700000" algn="tl">
                    <a:srgbClr val="C0C0C0"/>
                  </a:outerShdw>
                </a:effectLst>
                <a:latin typeface="黑体" pitchFamily="49" charset="-122"/>
              </a:rPr>
              <a:t>的发送流程图</a:t>
            </a:r>
          </a:p>
        </p:txBody>
      </p:sp>
      <p:sp>
        <p:nvSpPr>
          <p:cNvPr id="28675" name="Freeform 3"/>
          <p:cNvSpPr>
            <a:spLocks/>
          </p:cNvSpPr>
          <p:nvPr/>
        </p:nvSpPr>
        <p:spPr bwMode="auto">
          <a:xfrm>
            <a:off x="3144838" y="2935288"/>
            <a:ext cx="1196975" cy="639762"/>
          </a:xfrm>
          <a:custGeom>
            <a:avLst/>
            <a:gdLst>
              <a:gd name="T0" fmla="*/ 0 w 754"/>
              <a:gd name="T1" fmla="*/ 2147483646 h 403"/>
              <a:gd name="T2" fmla="*/ 2147483646 w 754"/>
              <a:gd name="T3" fmla="*/ 0 h 403"/>
              <a:gd name="T4" fmla="*/ 2147483646 w 754"/>
              <a:gd name="T5" fmla="*/ 2147483646 h 403"/>
              <a:gd name="T6" fmla="*/ 2147483646 w 754"/>
              <a:gd name="T7" fmla="*/ 2147483646 h 403"/>
              <a:gd name="T8" fmla="*/ 0 w 754"/>
              <a:gd name="T9" fmla="*/ 2147483646 h 403"/>
              <a:gd name="T10" fmla="*/ 0 60000 65536"/>
              <a:gd name="T11" fmla="*/ 0 60000 65536"/>
              <a:gd name="T12" fmla="*/ 0 60000 65536"/>
              <a:gd name="T13" fmla="*/ 0 60000 65536"/>
              <a:gd name="T14" fmla="*/ 0 60000 65536"/>
              <a:gd name="T15" fmla="*/ 0 w 754"/>
              <a:gd name="T16" fmla="*/ 0 h 403"/>
              <a:gd name="T17" fmla="*/ 754 w 754"/>
              <a:gd name="T18" fmla="*/ 403 h 403"/>
            </a:gdLst>
            <a:ahLst/>
            <a:cxnLst>
              <a:cxn ang="T10">
                <a:pos x="T0" y="T1"/>
              </a:cxn>
              <a:cxn ang="T11">
                <a:pos x="T2" y="T3"/>
              </a:cxn>
              <a:cxn ang="T12">
                <a:pos x="T4" y="T5"/>
              </a:cxn>
              <a:cxn ang="T13">
                <a:pos x="T6" y="T7"/>
              </a:cxn>
              <a:cxn ang="T14">
                <a:pos x="T8" y="T9"/>
              </a:cxn>
            </a:cxnLst>
            <a:rect l="T15" t="T16" r="T17" b="T18"/>
            <a:pathLst>
              <a:path w="754" h="403">
                <a:moveTo>
                  <a:pt x="0" y="203"/>
                </a:moveTo>
                <a:lnTo>
                  <a:pt x="377" y="0"/>
                </a:lnTo>
                <a:lnTo>
                  <a:pt x="754" y="203"/>
                </a:lnTo>
                <a:lnTo>
                  <a:pt x="377" y="403"/>
                </a:lnTo>
                <a:lnTo>
                  <a:pt x="0" y="203"/>
                </a:lnTo>
                <a:close/>
              </a:path>
            </a:pathLst>
          </a:custGeom>
          <a:solidFill>
            <a:srgbClr val="FFFFFF"/>
          </a:solidFill>
          <a:ln w="4763">
            <a:solidFill>
              <a:srgbClr val="000000"/>
            </a:solidFill>
            <a:round/>
            <a:headEnd/>
            <a:tailEnd/>
          </a:ln>
        </p:spPr>
        <p:txBody>
          <a:bodyPr/>
          <a:lstStyle/>
          <a:p>
            <a:endParaRPr lang="zh-CN" altLang="en-US"/>
          </a:p>
        </p:txBody>
      </p:sp>
      <p:sp>
        <p:nvSpPr>
          <p:cNvPr id="28676" name="Rectangle 4"/>
          <p:cNvSpPr>
            <a:spLocks noChangeArrowheads="1"/>
          </p:cNvSpPr>
          <p:nvPr/>
        </p:nvSpPr>
        <p:spPr bwMode="auto">
          <a:xfrm>
            <a:off x="3349625" y="3101975"/>
            <a:ext cx="920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信道忙？</a:t>
            </a:r>
            <a:endParaRPr kumimoji="1" lang="zh-CN" altLang="en-US" sz="1800" b="1">
              <a:latin typeface="CordiaUPC" panose="020B0304020202020204" pitchFamily="34" charset="-34"/>
            </a:endParaRPr>
          </a:p>
        </p:txBody>
      </p:sp>
      <p:sp>
        <p:nvSpPr>
          <p:cNvPr id="28677" name="Freeform 5"/>
          <p:cNvSpPr>
            <a:spLocks/>
          </p:cNvSpPr>
          <p:nvPr/>
        </p:nvSpPr>
        <p:spPr bwMode="auto">
          <a:xfrm>
            <a:off x="3036888" y="2081213"/>
            <a:ext cx="1398587" cy="433387"/>
          </a:xfrm>
          <a:custGeom>
            <a:avLst/>
            <a:gdLst>
              <a:gd name="T0" fmla="*/ 2147483646 w 749"/>
              <a:gd name="T1" fmla="*/ 2147483646 h 269"/>
              <a:gd name="T2" fmla="*/ 2147483646 w 749"/>
              <a:gd name="T3" fmla="*/ 2147483646 h 269"/>
              <a:gd name="T4" fmla="*/ 2147483646 w 749"/>
              <a:gd name="T5" fmla="*/ 2147483646 h 269"/>
              <a:gd name="T6" fmla="*/ 2147483646 w 749"/>
              <a:gd name="T7" fmla="*/ 2147483646 h 269"/>
              <a:gd name="T8" fmla="*/ 2147483646 w 749"/>
              <a:gd name="T9" fmla="*/ 2147483646 h 269"/>
              <a:gd name="T10" fmla="*/ 2147483646 w 749"/>
              <a:gd name="T11" fmla="*/ 2147483646 h 269"/>
              <a:gd name="T12" fmla="*/ 2147483646 w 749"/>
              <a:gd name="T13" fmla="*/ 2147483646 h 269"/>
              <a:gd name="T14" fmla="*/ 2147483646 w 749"/>
              <a:gd name="T15" fmla="*/ 2147483646 h 269"/>
              <a:gd name="T16" fmla="*/ 2147483646 w 749"/>
              <a:gd name="T17" fmla="*/ 2147483646 h 269"/>
              <a:gd name="T18" fmla="*/ 2147483646 w 749"/>
              <a:gd name="T19" fmla="*/ 2147483646 h 269"/>
              <a:gd name="T20" fmla="*/ 2147483646 w 749"/>
              <a:gd name="T21" fmla="*/ 2147483646 h 269"/>
              <a:gd name="T22" fmla="*/ 2147483646 w 749"/>
              <a:gd name="T23" fmla="*/ 2147483646 h 269"/>
              <a:gd name="T24" fmla="*/ 2147483646 w 749"/>
              <a:gd name="T25" fmla="*/ 2147483646 h 269"/>
              <a:gd name="T26" fmla="*/ 2147483646 w 749"/>
              <a:gd name="T27" fmla="*/ 2147483646 h 269"/>
              <a:gd name="T28" fmla="*/ 2147483646 w 749"/>
              <a:gd name="T29" fmla="*/ 0 h 269"/>
              <a:gd name="T30" fmla="*/ 2147483646 w 749"/>
              <a:gd name="T31" fmla="*/ 0 h 269"/>
              <a:gd name="T32" fmla="*/ 2147483646 w 749"/>
              <a:gd name="T33" fmla="*/ 2147483646 h 269"/>
              <a:gd name="T34" fmla="*/ 2147483646 w 749"/>
              <a:gd name="T35" fmla="*/ 2147483646 h 269"/>
              <a:gd name="T36" fmla="*/ 2147483646 w 749"/>
              <a:gd name="T37" fmla="*/ 2147483646 h 269"/>
              <a:gd name="T38" fmla="*/ 2147483646 w 749"/>
              <a:gd name="T39" fmla="*/ 2147483646 h 269"/>
              <a:gd name="T40" fmla="*/ 2147483646 w 749"/>
              <a:gd name="T41" fmla="*/ 2147483646 h 269"/>
              <a:gd name="T42" fmla="*/ 0 w 749"/>
              <a:gd name="T43" fmla="*/ 2147483646 h 269"/>
              <a:gd name="T44" fmla="*/ 0 w 749"/>
              <a:gd name="T45" fmla="*/ 2147483646 h 269"/>
              <a:gd name="T46" fmla="*/ 2147483646 w 749"/>
              <a:gd name="T47" fmla="*/ 2147483646 h 269"/>
              <a:gd name="T48" fmla="*/ 2147483646 w 749"/>
              <a:gd name="T49" fmla="*/ 2147483646 h 269"/>
              <a:gd name="T50" fmla="*/ 2147483646 w 749"/>
              <a:gd name="T51" fmla="*/ 2147483646 h 269"/>
              <a:gd name="T52" fmla="*/ 2147483646 w 749"/>
              <a:gd name="T53" fmla="*/ 2147483646 h 269"/>
              <a:gd name="T54" fmla="*/ 2147483646 w 749"/>
              <a:gd name="T55" fmla="*/ 2147483646 h 269"/>
              <a:gd name="T56" fmla="*/ 2147483646 w 749"/>
              <a:gd name="T57" fmla="*/ 2147483646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9"/>
              <a:gd name="T88" fmla="*/ 0 h 269"/>
              <a:gd name="T89" fmla="*/ 749 w 749"/>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9" h="269">
                <a:moveTo>
                  <a:pt x="148" y="269"/>
                </a:moveTo>
                <a:lnTo>
                  <a:pt x="601" y="269"/>
                </a:lnTo>
                <a:lnTo>
                  <a:pt x="637" y="264"/>
                </a:lnTo>
                <a:lnTo>
                  <a:pt x="670" y="253"/>
                </a:lnTo>
                <a:lnTo>
                  <a:pt x="700" y="234"/>
                </a:lnTo>
                <a:lnTo>
                  <a:pt x="723" y="212"/>
                </a:lnTo>
                <a:lnTo>
                  <a:pt x="741" y="182"/>
                </a:lnTo>
                <a:lnTo>
                  <a:pt x="749" y="150"/>
                </a:lnTo>
                <a:lnTo>
                  <a:pt x="749" y="118"/>
                </a:lnTo>
                <a:lnTo>
                  <a:pt x="741" y="86"/>
                </a:lnTo>
                <a:lnTo>
                  <a:pt x="723" y="59"/>
                </a:lnTo>
                <a:lnTo>
                  <a:pt x="700" y="34"/>
                </a:lnTo>
                <a:lnTo>
                  <a:pt x="670" y="16"/>
                </a:lnTo>
                <a:lnTo>
                  <a:pt x="637" y="4"/>
                </a:lnTo>
                <a:lnTo>
                  <a:pt x="601" y="0"/>
                </a:lnTo>
                <a:lnTo>
                  <a:pt x="148" y="0"/>
                </a:lnTo>
                <a:lnTo>
                  <a:pt x="112" y="4"/>
                </a:lnTo>
                <a:lnTo>
                  <a:pt x="79" y="16"/>
                </a:lnTo>
                <a:lnTo>
                  <a:pt x="48" y="34"/>
                </a:lnTo>
                <a:lnTo>
                  <a:pt x="25" y="59"/>
                </a:lnTo>
                <a:lnTo>
                  <a:pt x="8" y="86"/>
                </a:lnTo>
                <a:lnTo>
                  <a:pt x="0" y="118"/>
                </a:lnTo>
                <a:lnTo>
                  <a:pt x="0" y="150"/>
                </a:lnTo>
                <a:lnTo>
                  <a:pt x="8" y="182"/>
                </a:lnTo>
                <a:lnTo>
                  <a:pt x="25" y="212"/>
                </a:lnTo>
                <a:lnTo>
                  <a:pt x="48" y="234"/>
                </a:lnTo>
                <a:lnTo>
                  <a:pt x="79" y="253"/>
                </a:lnTo>
                <a:lnTo>
                  <a:pt x="112" y="264"/>
                </a:lnTo>
                <a:lnTo>
                  <a:pt x="148" y="269"/>
                </a:lnTo>
                <a:close/>
              </a:path>
            </a:pathLst>
          </a:custGeom>
          <a:solidFill>
            <a:srgbClr val="FFFFFF"/>
          </a:solidFill>
          <a:ln w="4763">
            <a:solidFill>
              <a:srgbClr val="000000"/>
            </a:solidFill>
            <a:round/>
            <a:headEnd/>
            <a:tailEnd/>
          </a:ln>
        </p:spPr>
        <p:txBody>
          <a:bodyPr/>
          <a:lstStyle/>
          <a:p>
            <a:endParaRPr lang="zh-CN" altLang="en-US"/>
          </a:p>
        </p:txBody>
      </p:sp>
      <p:sp>
        <p:nvSpPr>
          <p:cNvPr id="28678" name="Rectangle 6"/>
          <p:cNvSpPr>
            <a:spLocks noChangeArrowheads="1"/>
          </p:cNvSpPr>
          <p:nvPr/>
        </p:nvSpPr>
        <p:spPr bwMode="auto">
          <a:xfrm>
            <a:off x="3181350" y="2154238"/>
            <a:ext cx="11509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准备发送帧</a:t>
            </a:r>
            <a:endParaRPr kumimoji="1" lang="zh-CN" altLang="en-US" sz="1800" b="1">
              <a:latin typeface="CordiaUPC" panose="020B0304020202020204" pitchFamily="34" charset="-34"/>
            </a:endParaRPr>
          </a:p>
        </p:txBody>
      </p:sp>
      <p:sp>
        <p:nvSpPr>
          <p:cNvPr id="28679" name="Freeform 7"/>
          <p:cNvSpPr>
            <a:spLocks/>
          </p:cNvSpPr>
          <p:nvPr/>
        </p:nvSpPr>
        <p:spPr bwMode="auto">
          <a:xfrm>
            <a:off x="3144838" y="4646613"/>
            <a:ext cx="1196975" cy="641350"/>
          </a:xfrm>
          <a:custGeom>
            <a:avLst/>
            <a:gdLst>
              <a:gd name="T0" fmla="*/ 0 w 754"/>
              <a:gd name="T1" fmla="*/ 2147483646 h 404"/>
              <a:gd name="T2" fmla="*/ 2147483646 w 754"/>
              <a:gd name="T3" fmla="*/ 0 h 404"/>
              <a:gd name="T4" fmla="*/ 2147483646 w 754"/>
              <a:gd name="T5" fmla="*/ 2147483646 h 404"/>
              <a:gd name="T6" fmla="*/ 2147483646 w 754"/>
              <a:gd name="T7" fmla="*/ 2147483646 h 404"/>
              <a:gd name="T8" fmla="*/ 0 w 754"/>
              <a:gd name="T9" fmla="*/ 2147483646 h 404"/>
              <a:gd name="T10" fmla="*/ 0 60000 65536"/>
              <a:gd name="T11" fmla="*/ 0 60000 65536"/>
              <a:gd name="T12" fmla="*/ 0 60000 65536"/>
              <a:gd name="T13" fmla="*/ 0 60000 65536"/>
              <a:gd name="T14" fmla="*/ 0 60000 65536"/>
              <a:gd name="T15" fmla="*/ 0 w 754"/>
              <a:gd name="T16" fmla="*/ 0 h 404"/>
              <a:gd name="T17" fmla="*/ 754 w 754"/>
              <a:gd name="T18" fmla="*/ 404 h 404"/>
            </a:gdLst>
            <a:ahLst/>
            <a:cxnLst>
              <a:cxn ang="T10">
                <a:pos x="T0" y="T1"/>
              </a:cxn>
              <a:cxn ang="T11">
                <a:pos x="T2" y="T3"/>
              </a:cxn>
              <a:cxn ang="T12">
                <a:pos x="T4" y="T5"/>
              </a:cxn>
              <a:cxn ang="T13">
                <a:pos x="T6" y="T7"/>
              </a:cxn>
              <a:cxn ang="T14">
                <a:pos x="T8" y="T9"/>
              </a:cxn>
            </a:cxnLst>
            <a:rect l="T15" t="T16" r="T17" b="T18"/>
            <a:pathLst>
              <a:path w="754" h="404">
                <a:moveTo>
                  <a:pt x="0" y="201"/>
                </a:moveTo>
                <a:lnTo>
                  <a:pt x="377" y="0"/>
                </a:lnTo>
                <a:lnTo>
                  <a:pt x="754" y="201"/>
                </a:lnTo>
                <a:lnTo>
                  <a:pt x="377" y="404"/>
                </a:lnTo>
                <a:lnTo>
                  <a:pt x="0" y="201"/>
                </a:lnTo>
                <a:close/>
              </a:path>
            </a:pathLst>
          </a:custGeom>
          <a:solidFill>
            <a:srgbClr val="FFFFFF"/>
          </a:solidFill>
          <a:ln w="4763">
            <a:solidFill>
              <a:srgbClr val="000000"/>
            </a:solidFill>
            <a:round/>
            <a:headEnd/>
            <a:tailEnd/>
          </a:ln>
        </p:spPr>
        <p:txBody>
          <a:bodyPr/>
          <a:lstStyle/>
          <a:p>
            <a:endParaRPr lang="zh-CN" altLang="en-US"/>
          </a:p>
        </p:txBody>
      </p:sp>
      <p:sp>
        <p:nvSpPr>
          <p:cNvPr id="28680" name="Rectangle 8"/>
          <p:cNvSpPr>
            <a:spLocks noChangeArrowheads="1"/>
          </p:cNvSpPr>
          <p:nvPr/>
        </p:nvSpPr>
        <p:spPr bwMode="auto">
          <a:xfrm>
            <a:off x="3478213" y="4824413"/>
            <a:ext cx="6905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碰撞？</a:t>
            </a:r>
            <a:endParaRPr kumimoji="1" lang="zh-CN" altLang="en-US" sz="1800" b="1">
              <a:latin typeface="CordiaUPC" panose="020B0304020202020204" pitchFamily="34" charset="-34"/>
            </a:endParaRPr>
          </a:p>
        </p:txBody>
      </p:sp>
      <p:sp>
        <p:nvSpPr>
          <p:cNvPr id="28681" name="Freeform 9"/>
          <p:cNvSpPr>
            <a:spLocks/>
          </p:cNvSpPr>
          <p:nvPr/>
        </p:nvSpPr>
        <p:spPr bwMode="auto">
          <a:xfrm>
            <a:off x="1236663" y="4646613"/>
            <a:ext cx="1193800" cy="641350"/>
          </a:xfrm>
          <a:custGeom>
            <a:avLst/>
            <a:gdLst>
              <a:gd name="T0" fmla="*/ 0 w 752"/>
              <a:gd name="T1" fmla="*/ 2147483646 h 404"/>
              <a:gd name="T2" fmla="*/ 2147483646 w 752"/>
              <a:gd name="T3" fmla="*/ 0 h 404"/>
              <a:gd name="T4" fmla="*/ 2147483646 w 752"/>
              <a:gd name="T5" fmla="*/ 2147483646 h 404"/>
              <a:gd name="T6" fmla="*/ 2147483646 w 752"/>
              <a:gd name="T7" fmla="*/ 2147483646 h 404"/>
              <a:gd name="T8" fmla="*/ 0 w 752"/>
              <a:gd name="T9" fmla="*/ 2147483646 h 404"/>
              <a:gd name="T10" fmla="*/ 0 60000 65536"/>
              <a:gd name="T11" fmla="*/ 0 60000 65536"/>
              <a:gd name="T12" fmla="*/ 0 60000 65536"/>
              <a:gd name="T13" fmla="*/ 0 60000 65536"/>
              <a:gd name="T14" fmla="*/ 0 60000 65536"/>
              <a:gd name="T15" fmla="*/ 0 w 752"/>
              <a:gd name="T16" fmla="*/ 0 h 404"/>
              <a:gd name="T17" fmla="*/ 752 w 752"/>
              <a:gd name="T18" fmla="*/ 404 h 404"/>
            </a:gdLst>
            <a:ahLst/>
            <a:cxnLst>
              <a:cxn ang="T10">
                <a:pos x="T0" y="T1"/>
              </a:cxn>
              <a:cxn ang="T11">
                <a:pos x="T2" y="T3"/>
              </a:cxn>
              <a:cxn ang="T12">
                <a:pos x="T4" y="T5"/>
              </a:cxn>
              <a:cxn ang="T13">
                <a:pos x="T6" y="T7"/>
              </a:cxn>
              <a:cxn ang="T14">
                <a:pos x="T8" y="T9"/>
              </a:cxn>
            </a:cxnLst>
            <a:rect l="T15" t="T16" r="T17" b="T18"/>
            <a:pathLst>
              <a:path w="752" h="404">
                <a:moveTo>
                  <a:pt x="0" y="201"/>
                </a:moveTo>
                <a:lnTo>
                  <a:pt x="377" y="0"/>
                </a:lnTo>
                <a:lnTo>
                  <a:pt x="752" y="201"/>
                </a:lnTo>
                <a:lnTo>
                  <a:pt x="377" y="404"/>
                </a:lnTo>
                <a:lnTo>
                  <a:pt x="0" y="201"/>
                </a:lnTo>
                <a:close/>
              </a:path>
            </a:pathLst>
          </a:custGeom>
          <a:solidFill>
            <a:srgbClr val="FFFFFF"/>
          </a:solidFill>
          <a:ln w="4763">
            <a:solidFill>
              <a:srgbClr val="000000"/>
            </a:solidFill>
            <a:round/>
            <a:headEnd/>
            <a:tailEnd/>
          </a:ln>
        </p:spPr>
        <p:txBody>
          <a:bodyPr/>
          <a:lstStyle/>
          <a:p>
            <a:endParaRPr lang="zh-CN" altLang="en-US"/>
          </a:p>
        </p:txBody>
      </p:sp>
      <p:sp>
        <p:nvSpPr>
          <p:cNvPr id="28682" name="Rectangle 10"/>
          <p:cNvSpPr>
            <a:spLocks noChangeArrowheads="1"/>
          </p:cNvSpPr>
          <p:nvPr/>
        </p:nvSpPr>
        <p:spPr bwMode="auto">
          <a:xfrm>
            <a:off x="1436688" y="4811713"/>
            <a:ext cx="9207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发送完？</a:t>
            </a:r>
            <a:endParaRPr kumimoji="1" lang="zh-CN" altLang="en-US" sz="1800" b="1">
              <a:latin typeface="CordiaUPC" panose="020B0304020202020204" pitchFamily="34" charset="-34"/>
            </a:endParaRPr>
          </a:p>
        </p:txBody>
      </p:sp>
      <p:sp>
        <p:nvSpPr>
          <p:cNvPr id="28683" name="Rectangle 11"/>
          <p:cNvSpPr>
            <a:spLocks noChangeArrowheads="1"/>
          </p:cNvSpPr>
          <p:nvPr/>
        </p:nvSpPr>
        <p:spPr bwMode="auto">
          <a:xfrm>
            <a:off x="3144838" y="5715000"/>
            <a:ext cx="1196975" cy="427038"/>
          </a:xfrm>
          <a:prstGeom prst="rect">
            <a:avLst/>
          </a:prstGeom>
          <a:solidFill>
            <a:srgbClr val="FFFFFF"/>
          </a:solidFill>
          <a:ln w="4763">
            <a:solidFill>
              <a:srgbClr val="000000"/>
            </a:solidFill>
            <a:miter lim="800000"/>
            <a:headEnd/>
            <a:tailEnd/>
          </a:ln>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90000"/>
              </a:lnSpc>
              <a:spcBef>
                <a:spcPct val="20000"/>
              </a:spcBef>
            </a:pPr>
            <a:endParaRPr kumimoji="1" lang="zh-CN" altLang="zh-CN" sz="2400" b="1">
              <a:latin typeface="Times New Roman" panose="02020603050405020304" pitchFamily="18" charset="0"/>
              <a:ea typeface="黑体" panose="02010609060101010101" pitchFamily="49" charset="-122"/>
            </a:endParaRPr>
          </a:p>
        </p:txBody>
      </p:sp>
      <p:sp>
        <p:nvSpPr>
          <p:cNvPr id="28684" name="Rectangle 12"/>
          <p:cNvSpPr>
            <a:spLocks noChangeArrowheads="1"/>
          </p:cNvSpPr>
          <p:nvPr/>
        </p:nvSpPr>
        <p:spPr bwMode="auto">
          <a:xfrm>
            <a:off x="3340100" y="5811838"/>
            <a:ext cx="8080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发送</a:t>
            </a:r>
            <a:r>
              <a:rPr kumimoji="1" lang="en-US" altLang="zh-CN" sz="1800" b="1">
                <a:solidFill>
                  <a:srgbClr val="000000"/>
                </a:solidFill>
                <a:latin typeface="宋体" panose="02010600030101010101" pitchFamily="2" charset="-122"/>
              </a:rPr>
              <a:t>Jam</a:t>
            </a:r>
            <a:endParaRPr kumimoji="1" lang="en-US" altLang="zh-CN" sz="1800" b="1">
              <a:latin typeface="CordiaUPC" panose="020B0304020202020204" pitchFamily="34" charset="-34"/>
            </a:endParaRPr>
          </a:p>
        </p:txBody>
      </p:sp>
      <p:sp>
        <p:nvSpPr>
          <p:cNvPr id="28685" name="Freeform 13"/>
          <p:cNvSpPr>
            <a:spLocks/>
          </p:cNvSpPr>
          <p:nvPr/>
        </p:nvSpPr>
        <p:spPr bwMode="auto">
          <a:xfrm>
            <a:off x="5175250" y="4002088"/>
            <a:ext cx="1196975" cy="644525"/>
          </a:xfrm>
          <a:custGeom>
            <a:avLst/>
            <a:gdLst>
              <a:gd name="T0" fmla="*/ 0 w 754"/>
              <a:gd name="T1" fmla="*/ 2147483646 h 406"/>
              <a:gd name="T2" fmla="*/ 2147483646 w 754"/>
              <a:gd name="T3" fmla="*/ 0 h 406"/>
              <a:gd name="T4" fmla="*/ 2147483646 w 754"/>
              <a:gd name="T5" fmla="*/ 2147483646 h 406"/>
              <a:gd name="T6" fmla="*/ 2147483646 w 754"/>
              <a:gd name="T7" fmla="*/ 2147483646 h 406"/>
              <a:gd name="T8" fmla="*/ 0 w 754"/>
              <a:gd name="T9" fmla="*/ 2147483646 h 406"/>
              <a:gd name="T10" fmla="*/ 0 60000 65536"/>
              <a:gd name="T11" fmla="*/ 0 60000 65536"/>
              <a:gd name="T12" fmla="*/ 0 60000 65536"/>
              <a:gd name="T13" fmla="*/ 0 60000 65536"/>
              <a:gd name="T14" fmla="*/ 0 60000 65536"/>
              <a:gd name="T15" fmla="*/ 0 w 754"/>
              <a:gd name="T16" fmla="*/ 0 h 406"/>
              <a:gd name="T17" fmla="*/ 754 w 754"/>
              <a:gd name="T18" fmla="*/ 406 h 406"/>
            </a:gdLst>
            <a:ahLst/>
            <a:cxnLst>
              <a:cxn ang="T10">
                <a:pos x="T0" y="T1"/>
              </a:cxn>
              <a:cxn ang="T11">
                <a:pos x="T2" y="T3"/>
              </a:cxn>
              <a:cxn ang="T12">
                <a:pos x="T4" y="T5"/>
              </a:cxn>
              <a:cxn ang="T13">
                <a:pos x="T6" y="T7"/>
              </a:cxn>
              <a:cxn ang="T14">
                <a:pos x="T8" y="T9"/>
              </a:cxn>
            </a:cxnLst>
            <a:rect l="T15" t="T16" r="T17" b="T18"/>
            <a:pathLst>
              <a:path w="754" h="406">
                <a:moveTo>
                  <a:pt x="0" y="203"/>
                </a:moveTo>
                <a:lnTo>
                  <a:pt x="377" y="0"/>
                </a:lnTo>
                <a:lnTo>
                  <a:pt x="754" y="203"/>
                </a:lnTo>
                <a:lnTo>
                  <a:pt x="377" y="406"/>
                </a:lnTo>
                <a:lnTo>
                  <a:pt x="0" y="203"/>
                </a:lnTo>
                <a:close/>
              </a:path>
            </a:pathLst>
          </a:custGeom>
          <a:solidFill>
            <a:srgbClr val="FFFFFF"/>
          </a:solidFill>
          <a:ln w="4763">
            <a:solidFill>
              <a:srgbClr val="000000"/>
            </a:solidFill>
            <a:round/>
            <a:headEnd/>
            <a:tailEnd/>
          </a:ln>
        </p:spPr>
        <p:txBody>
          <a:bodyPr/>
          <a:lstStyle/>
          <a:p>
            <a:endParaRPr lang="zh-CN" altLang="en-US"/>
          </a:p>
        </p:txBody>
      </p:sp>
      <p:sp>
        <p:nvSpPr>
          <p:cNvPr id="28686" name="Rectangle 14"/>
          <p:cNvSpPr>
            <a:spLocks noChangeArrowheads="1"/>
          </p:cNvSpPr>
          <p:nvPr/>
        </p:nvSpPr>
        <p:spPr bwMode="auto">
          <a:xfrm>
            <a:off x="5411788" y="4168775"/>
            <a:ext cx="723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solidFill>
                  <a:srgbClr val="000000"/>
                </a:solidFill>
                <a:latin typeface="宋体" panose="02010600030101010101" pitchFamily="2" charset="-122"/>
              </a:rPr>
              <a:t>N≥16?</a:t>
            </a:r>
          </a:p>
        </p:txBody>
      </p:sp>
      <p:sp>
        <p:nvSpPr>
          <p:cNvPr id="28687" name="Line 15"/>
          <p:cNvSpPr>
            <a:spLocks noChangeShapeType="1"/>
          </p:cNvSpPr>
          <p:nvPr/>
        </p:nvSpPr>
        <p:spPr bwMode="auto">
          <a:xfrm>
            <a:off x="3743325" y="2508250"/>
            <a:ext cx="1588" cy="354013"/>
          </a:xfrm>
          <a:prstGeom prst="line">
            <a:avLst/>
          </a:prstGeom>
          <a:noFill/>
          <a:ln w="27051">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8" name="Freeform 16"/>
          <p:cNvSpPr>
            <a:spLocks/>
          </p:cNvSpPr>
          <p:nvPr/>
        </p:nvSpPr>
        <p:spPr bwMode="auto">
          <a:xfrm>
            <a:off x="3698875" y="2851150"/>
            <a:ext cx="93663" cy="84138"/>
          </a:xfrm>
          <a:custGeom>
            <a:avLst/>
            <a:gdLst>
              <a:gd name="T0" fmla="*/ 0 w 59"/>
              <a:gd name="T1" fmla="*/ 0 h 53"/>
              <a:gd name="T2" fmla="*/ 2147483646 w 59"/>
              <a:gd name="T3" fmla="*/ 2147483646 h 53"/>
              <a:gd name="T4" fmla="*/ 2147483646 w 59"/>
              <a:gd name="T5" fmla="*/ 0 h 53"/>
              <a:gd name="T6" fmla="*/ 0 w 59"/>
              <a:gd name="T7" fmla="*/ 0 h 53"/>
              <a:gd name="T8" fmla="*/ 0 60000 65536"/>
              <a:gd name="T9" fmla="*/ 0 60000 65536"/>
              <a:gd name="T10" fmla="*/ 0 60000 65536"/>
              <a:gd name="T11" fmla="*/ 0 60000 65536"/>
              <a:gd name="T12" fmla="*/ 0 w 59"/>
              <a:gd name="T13" fmla="*/ 0 h 53"/>
              <a:gd name="T14" fmla="*/ 59 w 59"/>
              <a:gd name="T15" fmla="*/ 53 h 53"/>
            </a:gdLst>
            <a:ahLst/>
            <a:cxnLst>
              <a:cxn ang="T8">
                <a:pos x="T0" y="T1"/>
              </a:cxn>
              <a:cxn ang="T9">
                <a:pos x="T2" y="T3"/>
              </a:cxn>
              <a:cxn ang="T10">
                <a:pos x="T4" y="T5"/>
              </a:cxn>
              <a:cxn ang="T11">
                <a:pos x="T6" y="T7"/>
              </a:cxn>
            </a:cxnLst>
            <a:rect l="T12" t="T13" r="T14" b="T15"/>
            <a:pathLst>
              <a:path w="59" h="53">
                <a:moveTo>
                  <a:pt x="0" y="0"/>
                </a:moveTo>
                <a:lnTo>
                  <a:pt x="28" y="53"/>
                </a:lnTo>
                <a:lnTo>
                  <a:pt x="59" y="0"/>
                </a:lnTo>
                <a:lnTo>
                  <a:pt x="0"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89" name="Line 17"/>
          <p:cNvSpPr>
            <a:spLocks noChangeShapeType="1"/>
          </p:cNvSpPr>
          <p:nvPr/>
        </p:nvSpPr>
        <p:spPr bwMode="auto">
          <a:xfrm>
            <a:off x="3743325" y="5287963"/>
            <a:ext cx="1588" cy="354012"/>
          </a:xfrm>
          <a:prstGeom prst="line">
            <a:avLst/>
          </a:prstGeom>
          <a:noFill/>
          <a:ln w="27051">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0" name="Freeform 18"/>
          <p:cNvSpPr>
            <a:spLocks/>
          </p:cNvSpPr>
          <p:nvPr/>
        </p:nvSpPr>
        <p:spPr bwMode="auto">
          <a:xfrm>
            <a:off x="3698875" y="5630863"/>
            <a:ext cx="93663" cy="84137"/>
          </a:xfrm>
          <a:custGeom>
            <a:avLst/>
            <a:gdLst>
              <a:gd name="T0" fmla="*/ 2147483646 w 59"/>
              <a:gd name="T1" fmla="*/ 0 h 53"/>
              <a:gd name="T2" fmla="*/ 2147483646 w 59"/>
              <a:gd name="T3" fmla="*/ 2147483646 h 53"/>
              <a:gd name="T4" fmla="*/ 0 w 59"/>
              <a:gd name="T5" fmla="*/ 0 h 53"/>
              <a:gd name="T6" fmla="*/ 2147483646 w 59"/>
              <a:gd name="T7" fmla="*/ 0 h 53"/>
              <a:gd name="T8" fmla="*/ 0 60000 65536"/>
              <a:gd name="T9" fmla="*/ 0 60000 65536"/>
              <a:gd name="T10" fmla="*/ 0 60000 65536"/>
              <a:gd name="T11" fmla="*/ 0 60000 65536"/>
              <a:gd name="T12" fmla="*/ 0 w 59"/>
              <a:gd name="T13" fmla="*/ 0 h 53"/>
              <a:gd name="T14" fmla="*/ 59 w 59"/>
              <a:gd name="T15" fmla="*/ 53 h 53"/>
            </a:gdLst>
            <a:ahLst/>
            <a:cxnLst>
              <a:cxn ang="T8">
                <a:pos x="T0" y="T1"/>
              </a:cxn>
              <a:cxn ang="T9">
                <a:pos x="T2" y="T3"/>
              </a:cxn>
              <a:cxn ang="T10">
                <a:pos x="T4" y="T5"/>
              </a:cxn>
              <a:cxn ang="T11">
                <a:pos x="T6" y="T7"/>
              </a:cxn>
            </a:cxnLst>
            <a:rect l="T12" t="T13" r="T14" b="T15"/>
            <a:pathLst>
              <a:path w="59" h="53">
                <a:moveTo>
                  <a:pt x="59" y="0"/>
                </a:moveTo>
                <a:lnTo>
                  <a:pt x="28" y="53"/>
                </a:lnTo>
                <a:lnTo>
                  <a:pt x="0" y="0"/>
                </a:lnTo>
                <a:lnTo>
                  <a:pt x="59"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91" name="Rectangle 19"/>
          <p:cNvSpPr>
            <a:spLocks noChangeArrowheads="1"/>
          </p:cNvSpPr>
          <p:nvPr/>
        </p:nvSpPr>
        <p:spPr bwMode="auto">
          <a:xfrm>
            <a:off x="3773488" y="5273675"/>
            <a:ext cx="3476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latin typeface="宋体" panose="02010600030101010101" pitchFamily="2" charset="-122"/>
              </a:rPr>
              <a:t>Yes</a:t>
            </a:r>
            <a:endParaRPr kumimoji="1" lang="en-US" altLang="zh-CN" sz="1800" b="1">
              <a:latin typeface="CordiaUPC" panose="020B0304020202020204" pitchFamily="34" charset="-34"/>
            </a:endParaRPr>
          </a:p>
        </p:txBody>
      </p:sp>
      <p:sp>
        <p:nvSpPr>
          <p:cNvPr id="28692" name="Line 20"/>
          <p:cNvSpPr>
            <a:spLocks noChangeShapeType="1"/>
          </p:cNvSpPr>
          <p:nvPr/>
        </p:nvSpPr>
        <p:spPr bwMode="auto">
          <a:xfrm flipH="1" flipV="1">
            <a:off x="2509838" y="4967288"/>
            <a:ext cx="654050" cy="1587"/>
          </a:xfrm>
          <a:prstGeom prst="line">
            <a:avLst/>
          </a:prstGeom>
          <a:noFill/>
          <a:ln w="27051">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3" name="Freeform 21"/>
          <p:cNvSpPr>
            <a:spLocks/>
          </p:cNvSpPr>
          <p:nvPr/>
        </p:nvSpPr>
        <p:spPr bwMode="auto">
          <a:xfrm>
            <a:off x="2430463" y="4926013"/>
            <a:ext cx="92075" cy="82550"/>
          </a:xfrm>
          <a:custGeom>
            <a:avLst/>
            <a:gdLst>
              <a:gd name="T0" fmla="*/ 2147483646 w 58"/>
              <a:gd name="T1" fmla="*/ 2147483646 h 52"/>
              <a:gd name="T2" fmla="*/ 0 w 58"/>
              <a:gd name="T3" fmla="*/ 2147483646 h 52"/>
              <a:gd name="T4" fmla="*/ 2147483646 w 58"/>
              <a:gd name="T5" fmla="*/ 0 h 52"/>
              <a:gd name="T6" fmla="*/ 2147483646 w 58"/>
              <a:gd name="T7" fmla="*/ 2147483646 h 52"/>
              <a:gd name="T8" fmla="*/ 0 60000 65536"/>
              <a:gd name="T9" fmla="*/ 0 60000 65536"/>
              <a:gd name="T10" fmla="*/ 0 60000 65536"/>
              <a:gd name="T11" fmla="*/ 0 60000 65536"/>
              <a:gd name="T12" fmla="*/ 0 w 58"/>
              <a:gd name="T13" fmla="*/ 0 h 52"/>
              <a:gd name="T14" fmla="*/ 58 w 58"/>
              <a:gd name="T15" fmla="*/ 52 h 52"/>
            </a:gdLst>
            <a:ahLst/>
            <a:cxnLst>
              <a:cxn ang="T8">
                <a:pos x="T0" y="T1"/>
              </a:cxn>
              <a:cxn ang="T9">
                <a:pos x="T2" y="T3"/>
              </a:cxn>
              <a:cxn ang="T10">
                <a:pos x="T4" y="T5"/>
              </a:cxn>
              <a:cxn ang="T11">
                <a:pos x="T6" y="T7"/>
              </a:cxn>
            </a:cxnLst>
            <a:rect l="T12" t="T13" r="T14" b="T15"/>
            <a:pathLst>
              <a:path w="58" h="52">
                <a:moveTo>
                  <a:pt x="58" y="52"/>
                </a:moveTo>
                <a:lnTo>
                  <a:pt x="0" y="25"/>
                </a:lnTo>
                <a:lnTo>
                  <a:pt x="58" y="0"/>
                </a:lnTo>
                <a:lnTo>
                  <a:pt x="58" y="5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94" name="Rectangle 22"/>
          <p:cNvSpPr>
            <a:spLocks noChangeArrowheads="1"/>
          </p:cNvSpPr>
          <p:nvPr/>
        </p:nvSpPr>
        <p:spPr bwMode="auto">
          <a:xfrm>
            <a:off x="2859088" y="4664075"/>
            <a:ext cx="2317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latin typeface="宋体" panose="02010600030101010101" pitchFamily="2" charset="-122"/>
              </a:rPr>
              <a:t>No</a:t>
            </a:r>
          </a:p>
        </p:txBody>
      </p:sp>
      <p:sp>
        <p:nvSpPr>
          <p:cNvPr id="28695" name="Freeform 23"/>
          <p:cNvSpPr>
            <a:spLocks/>
          </p:cNvSpPr>
          <p:nvPr/>
        </p:nvSpPr>
        <p:spPr bwMode="auto">
          <a:xfrm>
            <a:off x="1835150" y="3789363"/>
            <a:ext cx="1785938" cy="857250"/>
          </a:xfrm>
          <a:custGeom>
            <a:avLst/>
            <a:gdLst>
              <a:gd name="T0" fmla="*/ 0 w 1001"/>
              <a:gd name="T1" fmla="*/ 2147483646 h 540"/>
              <a:gd name="T2" fmla="*/ 0 w 1001"/>
              <a:gd name="T3" fmla="*/ 0 h 540"/>
              <a:gd name="T4" fmla="*/ 2147483646 w 1001"/>
              <a:gd name="T5" fmla="*/ 0 h 540"/>
              <a:gd name="T6" fmla="*/ 0 60000 65536"/>
              <a:gd name="T7" fmla="*/ 0 60000 65536"/>
              <a:gd name="T8" fmla="*/ 0 60000 65536"/>
              <a:gd name="T9" fmla="*/ 0 w 1001"/>
              <a:gd name="T10" fmla="*/ 0 h 540"/>
              <a:gd name="T11" fmla="*/ 1001 w 1001"/>
              <a:gd name="T12" fmla="*/ 540 h 540"/>
            </a:gdLst>
            <a:ahLst/>
            <a:cxnLst>
              <a:cxn ang="T6">
                <a:pos x="T0" y="T1"/>
              </a:cxn>
              <a:cxn ang="T7">
                <a:pos x="T2" y="T3"/>
              </a:cxn>
              <a:cxn ang="T8">
                <a:pos x="T4" y="T5"/>
              </a:cxn>
            </a:cxnLst>
            <a:rect l="T9" t="T10" r="T11" b="T12"/>
            <a:pathLst>
              <a:path w="1001" h="540">
                <a:moveTo>
                  <a:pt x="0" y="540"/>
                </a:moveTo>
                <a:lnTo>
                  <a:pt x="0" y="0"/>
                </a:lnTo>
                <a:lnTo>
                  <a:pt x="1001" y="0"/>
                </a:lnTo>
              </a:path>
            </a:pathLst>
          </a:custGeom>
          <a:noFill/>
          <a:ln w="27051">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696" name="Freeform 24"/>
          <p:cNvSpPr>
            <a:spLocks/>
          </p:cNvSpPr>
          <p:nvPr/>
        </p:nvSpPr>
        <p:spPr bwMode="auto">
          <a:xfrm>
            <a:off x="3603625" y="3749675"/>
            <a:ext cx="92075" cy="82550"/>
          </a:xfrm>
          <a:custGeom>
            <a:avLst/>
            <a:gdLst>
              <a:gd name="T0" fmla="*/ 0 w 58"/>
              <a:gd name="T1" fmla="*/ 0 h 52"/>
              <a:gd name="T2" fmla="*/ 2147483646 w 58"/>
              <a:gd name="T3" fmla="*/ 2147483646 h 52"/>
              <a:gd name="T4" fmla="*/ 0 w 58"/>
              <a:gd name="T5" fmla="*/ 2147483646 h 52"/>
              <a:gd name="T6" fmla="*/ 0 w 58"/>
              <a:gd name="T7" fmla="*/ 0 h 52"/>
              <a:gd name="T8" fmla="*/ 0 60000 65536"/>
              <a:gd name="T9" fmla="*/ 0 60000 65536"/>
              <a:gd name="T10" fmla="*/ 0 60000 65536"/>
              <a:gd name="T11" fmla="*/ 0 60000 65536"/>
              <a:gd name="T12" fmla="*/ 0 w 58"/>
              <a:gd name="T13" fmla="*/ 0 h 52"/>
              <a:gd name="T14" fmla="*/ 58 w 58"/>
              <a:gd name="T15" fmla="*/ 52 h 52"/>
            </a:gdLst>
            <a:ahLst/>
            <a:cxnLst>
              <a:cxn ang="T8">
                <a:pos x="T0" y="T1"/>
              </a:cxn>
              <a:cxn ang="T9">
                <a:pos x="T2" y="T3"/>
              </a:cxn>
              <a:cxn ang="T10">
                <a:pos x="T4" y="T5"/>
              </a:cxn>
              <a:cxn ang="T11">
                <a:pos x="T6" y="T7"/>
              </a:cxn>
            </a:cxnLst>
            <a:rect l="T12" t="T13" r="T14" b="T15"/>
            <a:pathLst>
              <a:path w="58" h="52">
                <a:moveTo>
                  <a:pt x="0" y="0"/>
                </a:moveTo>
                <a:lnTo>
                  <a:pt x="58" y="25"/>
                </a:lnTo>
                <a:lnTo>
                  <a:pt x="0" y="52"/>
                </a:lnTo>
                <a:lnTo>
                  <a:pt x="0"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97" name="Rectangle 25"/>
          <p:cNvSpPr>
            <a:spLocks noChangeArrowheads="1"/>
          </p:cNvSpPr>
          <p:nvPr/>
        </p:nvSpPr>
        <p:spPr bwMode="auto">
          <a:xfrm>
            <a:off x="1893888" y="4346575"/>
            <a:ext cx="2317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latin typeface="宋体" panose="02010600030101010101" pitchFamily="2" charset="-122"/>
              </a:rPr>
              <a:t>No</a:t>
            </a:r>
          </a:p>
        </p:txBody>
      </p:sp>
      <p:sp>
        <p:nvSpPr>
          <p:cNvPr id="28698" name="Line 26"/>
          <p:cNvSpPr>
            <a:spLocks noChangeShapeType="1"/>
          </p:cNvSpPr>
          <p:nvPr/>
        </p:nvSpPr>
        <p:spPr bwMode="auto">
          <a:xfrm>
            <a:off x="1835150" y="5287963"/>
            <a:ext cx="1588" cy="354012"/>
          </a:xfrm>
          <a:prstGeom prst="line">
            <a:avLst/>
          </a:prstGeom>
          <a:noFill/>
          <a:ln w="4826">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99" name="Freeform 27"/>
          <p:cNvSpPr>
            <a:spLocks/>
          </p:cNvSpPr>
          <p:nvPr/>
        </p:nvSpPr>
        <p:spPr bwMode="auto">
          <a:xfrm>
            <a:off x="1787525" y="5630863"/>
            <a:ext cx="92075" cy="84137"/>
          </a:xfrm>
          <a:custGeom>
            <a:avLst/>
            <a:gdLst>
              <a:gd name="T0" fmla="*/ 2147483646 w 58"/>
              <a:gd name="T1" fmla="*/ 0 h 53"/>
              <a:gd name="T2" fmla="*/ 2147483646 w 58"/>
              <a:gd name="T3" fmla="*/ 2147483646 h 53"/>
              <a:gd name="T4" fmla="*/ 0 w 58"/>
              <a:gd name="T5" fmla="*/ 0 h 53"/>
              <a:gd name="T6" fmla="*/ 2147483646 w 58"/>
              <a:gd name="T7" fmla="*/ 0 h 53"/>
              <a:gd name="T8" fmla="*/ 0 60000 65536"/>
              <a:gd name="T9" fmla="*/ 0 60000 65536"/>
              <a:gd name="T10" fmla="*/ 0 60000 65536"/>
              <a:gd name="T11" fmla="*/ 0 60000 65536"/>
              <a:gd name="T12" fmla="*/ 0 w 58"/>
              <a:gd name="T13" fmla="*/ 0 h 53"/>
              <a:gd name="T14" fmla="*/ 58 w 58"/>
              <a:gd name="T15" fmla="*/ 53 h 53"/>
            </a:gdLst>
            <a:ahLst/>
            <a:cxnLst>
              <a:cxn ang="T8">
                <a:pos x="T0" y="T1"/>
              </a:cxn>
              <a:cxn ang="T9">
                <a:pos x="T2" y="T3"/>
              </a:cxn>
              <a:cxn ang="T10">
                <a:pos x="T4" y="T5"/>
              </a:cxn>
              <a:cxn ang="T11">
                <a:pos x="T6" y="T7"/>
              </a:cxn>
            </a:cxnLst>
            <a:rect l="T12" t="T13" r="T14" b="T15"/>
            <a:pathLst>
              <a:path w="58" h="53">
                <a:moveTo>
                  <a:pt x="58" y="0"/>
                </a:moveTo>
                <a:lnTo>
                  <a:pt x="30" y="53"/>
                </a:lnTo>
                <a:lnTo>
                  <a:pt x="0" y="0"/>
                </a:lnTo>
                <a:lnTo>
                  <a:pt x="58"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00" name="Rectangle 28"/>
          <p:cNvSpPr>
            <a:spLocks noChangeArrowheads="1"/>
          </p:cNvSpPr>
          <p:nvPr/>
        </p:nvSpPr>
        <p:spPr bwMode="auto">
          <a:xfrm>
            <a:off x="1868488" y="5286375"/>
            <a:ext cx="3476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latin typeface="宋体" panose="02010600030101010101" pitchFamily="2" charset="-122"/>
              </a:rPr>
              <a:t>Yes</a:t>
            </a:r>
          </a:p>
        </p:txBody>
      </p:sp>
      <p:sp>
        <p:nvSpPr>
          <p:cNvPr id="28701" name="Freeform 29"/>
          <p:cNvSpPr>
            <a:spLocks/>
          </p:cNvSpPr>
          <p:nvPr/>
        </p:nvSpPr>
        <p:spPr bwMode="auto">
          <a:xfrm>
            <a:off x="1236663" y="5715000"/>
            <a:ext cx="1193800" cy="427038"/>
          </a:xfrm>
          <a:custGeom>
            <a:avLst/>
            <a:gdLst>
              <a:gd name="T0" fmla="*/ 2147483646 w 752"/>
              <a:gd name="T1" fmla="*/ 2147483646 h 269"/>
              <a:gd name="T2" fmla="*/ 2147483646 w 752"/>
              <a:gd name="T3" fmla="*/ 2147483646 h 269"/>
              <a:gd name="T4" fmla="*/ 2147483646 w 752"/>
              <a:gd name="T5" fmla="*/ 2147483646 h 269"/>
              <a:gd name="T6" fmla="*/ 2147483646 w 752"/>
              <a:gd name="T7" fmla="*/ 2147483646 h 269"/>
              <a:gd name="T8" fmla="*/ 2147483646 w 752"/>
              <a:gd name="T9" fmla="*/ 2147483646 h 269"/>
              <a:gd name="T10" fmla="*/ 2147483646 w 752"/>
              <a:gd name="T11" fmla="*/ 2147483646 h 269"/>
              <a:gd name="T12" fmla="*/ 2147483646 w 752"/>
              <a:gd name="T13" fmla="*/ 2147483646 h 269"/>
              <a:gd name="T14" fmla="*/ 2147483646 w 752"/>
              <a:gd name="T15" fmla="*/ 2147483646 h 269"/>
              <a:gd name="T16" fmla="*/ 2147483646 w 752"/>
              <a:gd name="T17" fmla="*/ 2147483646 h 269"/>
              <a:gd name="T18" fmla="*/ 2147483646 w 752"/>
              <a:gd name="T19" fmla="*/ 2147483646 h 269"/>
              <a:gd name="T20" fmla="*/ 2147483646 w 752"/>
              <a:gd name="T21" fmla="*/ 2147483646 h 269"/>
              <a:gd name="T22" fmla="*/ 2147483646 w 752"/>
              <a:gd name="T23" fmla="*/ 2147483646 h 269"/>
              <a:gd name="T24" fmla="*/ 2147483646 w 752"/>
              <a:gd name="T25" fmla="*/ 2147483646 h 269"/>
              <a:gd name="T26" fmla="*/ 2147483646 w 752"/>
              <a:gd name="T27" fmla="*/ 2147483646 h 269"/>
              <a:gd name="T28" fmla="*/ 2147483646 w 752"/>
              <a:gd name="T29" fmla="*/ 0 h 269"/>
              <a:gd name="T30" fmla="*/ 2147483646 w 752"/>
              <a:gd name="T31" fmla="*/ 0 h 269"/>
              <a:gd name="T32" fmla="*/ 2147483646 w 752"/>
              <a:gd name="T33" fmla="*/ 2147483646 h 269"/>
              <a:gd name="T34" fmla="*/ 2147483646 w 752"/>
              <a:gd name="T35" fmla="*/ 2147483646 h 269"/>
              <a:gd name="T36" fmla="*/ 2147483646 w 752"/>
              <a:gd name="T37" fmla="*/ 2147483646 h 269"/>
              <a:gd name="T38" fmla="*/ 2147483646 w 752"/>
              <a:gd name="T39" fmla="*/ 2147483646 h 269"/>
              <a:gd name="T40" fmla="*/ 2147483646 w 752"/>
              <a:gd name="T41" fmla="*/ 2147483646 h 269"/>
              <a:gd name="T42" fmla="*/ 0 w 752"/>
              <a:gd name="T43" fmla="*/ 2147483646 h 269"/>
              <a:gd name="T44" fmla="*/ 0 w 752"/>
              <a:gd name="T45" fmla="*/ 2147483646 h 269"/>
              <a:gd name="T46" fmla="*/ 2147483646 w 752"/>
              <a:gd name="T47" fmla="*/ 2147483646 h 269"/>
              <a:gd name="T48" fmla="*/ 2147483646 w 752"/>
              <a:gd name="T49" fmla="*/ 2147483646 h 269"/>
              <a:gd name="T50" fmla="*/ 2147483646 w 752"/>
              <a:gd name="T51" fmla="*/ 2147483646 h 269"/>
              <a:gd name="T52" fmla="*/ 2147483646 w 752"/>
              <a:gd name="T53" fmla="*/ 2147483646 h 269"/>
              <a:gd name="T54" fmla="*/ 2147483646 w 752"/>
              <a:gd name="T55" fmla="*/ 2147483646 h 269"/>
              <a:gd name="T56" fmla="*/ 2147483646 w 752"/>
              <a:gd name="T57" fmla="*/ 2147483646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52"/>
              <a:gd name="T88" fmla="*/ 0 h 269"/>
              <a:gd name="T89" fmla="*/ 752 w 75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52" h="269">
                <a:moveTo>
                  <a:pt x="150" y="269"/>
                </a:moveTo>
                <a:lnTo>
                  <a:pt x="601" y="269"/>
                </a:lnTo>
                <a:lnTo>
                  <a:pt x="637" y="264"/>
                </a:lnTo>
                <a:lnTo>
                  <a:pt x="673" y="253"/>
                </a:lnTo>
                <a:lnTo>
                  <a:pt x="701" y="235"/>
                </a:lnTo>
                <a:lnTo>
                  <a:pt x="726" y="212"/>
                </a:lnTo>
                <a:lnTo>
                  <a:pt x="741" y="182"/>
                </a:lnTo>
                <a:lnTo>
                  <a:pt x="752" y="150"/>
                </a:lnTo>
                <a:lnTo>
                  <a:pt x="752" y="118"/>
                </a:lnTo>
                <a:lnTo>
                  <a:pt x="741" y="86"/>
                </a:lnTo>
                <a:lnTo>
                  <a:pt x="726" y="57"/>
                </a:lnTo>
                <a:lnTo>
                  <a:pt x="701" y="34"/>
                </a:lnTo>
                <a:lnTo>
                  <a:pt x="673" y="16"/>
                </a:lnTo>
                <a:lnTo>
                  <a:pt x="637" y="4"/>
                </a:lnTo>
                <a:lnTo>
                  <a:pt x="601" y="0"/>
                </a:lnTo>
                <a:lnTo>
                  <a:pt x="150" y="0"/>
                </a:lnTo>
                <a:lnTo>
                  <a:pt x="115" y="4"/>
                </a:lnTo>
                <a:lnTo>
                  <a:pt x="82" y="16"/>
                </a:lnTo>
                <a:lnTo>
                  <a:pt x="51" y="34"/>
                </a:lnTo>
                <a:lnTo>
                  <a:pt x="26" y="57"/>
                </a:lnTo>
                <a:lnTo>
                  <a:pt x="10" y="86"/>
                </a:lnTo>
                <a:lnTo>
                  <a:pt x="0" y="118"/>
                </a:lnTo>
                <a:lnTo>
                  <a:pt x="0" y="150"/>
                </a:lnTo>
                <a:lnTo>
                  <a:pt x="10" y="182"/>
                </a:lnTo>
                <a:lnTo>
                  <a:pt x="26" y="212"/>
                </a:lnTo>
                <a:lnTo>
                  <a:pt x="51" y="235"/>
                </a:lnTo>
                <a:lnTo>
                  <a:pt x="82" y="253"/>
                </a:lnTo>
                <a:lnTo>
                  <a:pt x="115" y="264"/>
                </a:lnTo>
                <a:lnTo>
                  <a:pt x="150" y="269"/>
                </a:lnTo>
                <a:close/>
              </a:path>
            </a:pathLst>
          </a:custGeom>
          <a:solidFill>
            <a:srgbClr val="FFFFFF"/>
          </a:solidFill>
          <a:ln w="4763">
            <a:solidFill>
              <a:srgbClr val="000000"/>
            </a:solidFill>
            <a:round/>
            <a:headEnd/>
            <a:tailEnd/>
          </a:ln>
        </p:spPr>
        <p:txBody>
          <a:bodyPr/>
          <a:lstStyle/>
          <a:p>
            <a:endParaRPr lang="zh-CN" altLang="en-US"/>
          </a:p>
        </p:txBody>
      </p:sp>
      <p:sp>
        <p:nvSpPr>
          <p:cNvPr id="28702" name="Rectangle 30"/>
          <p:cNvSpPr>
            <a:spLocks noChangeArrowheads="1"/>
          </p:cNvSpPr>
          <p:nvPr/>
        </p:nvSpPr>
        <p:spPr bwMode="auto">
          <a:xfrm>
            <a:off x="1385888" y="5786438"/>
            <a:ext cx="9207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发送成功</a:t>
            </a:r>
            <a:endParaRPr kumimoji="1" lang="zh-CN" altLang="en-US" sz="1800" b="1">
              <a:latin typeface="CordiaUPC" panose="020B0304020202020204" pitchFamily="34" charset="-34"/>
            </a:endParaRPr>
          </a:p>
        </p:txBody>
      </p:sp>
      <p:sp>
        <p:nvSpPr>
          <p:cNvPr id="28703" name="Freeform 31"/>
          <p:cNvSpPr>
            <a:spLocks/>
          </p:cNvSpPr>
          <p:nvPr/>
        </p:nvSpPr>
        <p:spPr bwMode="auto">
          <a:xfrm>
            <a:off x="3743325" y="5754688"/>
            <a:ext cx="2030413" cy="514350"/>
          </a:xfrm>
          <a:custGeom>
            <a:avLst/>
            <a:gdLst>
              <a:gd name="T0" fmla="*/ 0 w 1279"/>
              <a:gd name="T1" fmla="*/ 2147483646 h 324"/>
              <a:gd name="T2" fmla="*/ 0 w 1279"/>
              <a:gd name="T3" fmla="*/ 2147483646 h 324"/>
              <a:gd name="T4" fmla="*/ 2147483646 w 1279"/>
              <a:gd name="T5" fmla="*/ 2147483646 h 324"/>
              <a:gd name="T6" fmla="*/ 2147483646 w 1279"/>
              <a:gd name="T7" fmla="*/ 0 h 324"/>
              <a:gd name="T8" fmla="*/ 0 60000 65536"/>
              <a:gd name="T9" fmla="*/ 0 60000 65536"/>
              <a:gd name="T10" fmla="*/ 0 60000 65536"/>
              <a:gd name="T11" fmla="*/ 0 60000 65536"/>
              <a:gd name="T12" fmla="*/ 0 w 1279"/>
              <a:gd name="T13" fmla="*/ 0 h 324"/>
              <a:gd name="T14" fmla="*/ 1279 w 1279"/>
              <a:gd name="T15" fmla="*/ 324 h 324"/>
            </a:gdLst>
            <a:ahLst/>
            <a:cxnLst>
              <a:cxn ang="T8">
                <a:pos x="T0" y="T1"/>
              </a:cxn>
              <a:cxn ang="T9">
                <a:pos x="T2" y="T3"/>
              </a:cxn>
              <a:cxn ang="T10">
                <a:pos x="T4" y="T5"/>
              </a:cxn>
              <a:cxn ang="T11">
                <a:pos x="T6" y="T7"/>
              </a:cxn>
            </a:cxnLst>
            <a:rect l="T12" t="T13" r="T14" b="T15"/>
            <a:pathLst>
              <a:path w="1279" h="324">
                <a:moveTo>
                  <a:pt x="0" y="224"/>
                </a:moveTo>
                <a:lnTo>
                  <a:pt x="0" y="324"/>
                </a:lnTo>
                <a:lnTo>
                  <a:pt x="1279" y="324"/>
                </a:lnTo>
                <a:lnTo>
                  <a:pt x="1279" y="0"/>
                </a:lnTo>
              </a:path>
            </a:pathLst>
          </a:custGeom>
          <a:noFill/>
          <a:ln w="27051">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04" name="Freeform 32"/>
          <p:cNvSpPr>
            <a:spLocks/>
          </p:cNvSpPr>
          <p:nvPr/>
        </p:nvSpPr>
        <p:spPr bwMode="auto">
          <a:xfrm>
            <a:off x="5729288" y="5715000"/>
            <a:ext cx="93662" cy="82550"/>
          </a:xfrm>
          <a:custGeom>
            <a:avLst/>
            <a:gdLst>
              <a:gd name="T0" fmla="*/ 0 w 59"/>
              <a:gd name="T1" fmla="*/ 2147483646 h 52"/>
              <a:gd name="T2" fmla="*/ 2147483646 w 59"/>
              <a:gd name="T3" fmla="*/ 0 h 52"/>
              <a:gd name="T4" fmla="*/ 2147483646 w 59"/>
              <a:gd name="T5" fmla="*/ 2147483646 h 52"/>
              <a:gd name="T6" fmla="*/ 0 w 59"/>
              <a:gd name="T7" fmla="*/ 2147483646 h 52"/>
              <a:gd name="T8" fmla="*/ 0 60000 65536"/>
              <a:gd name="T9" fmla="*/ 0 60000 65536"/>
              <a:gd name="T10" fmla="*/ 0 60000 65536"/>
              <a:gd name="T11" fmla="*/ 0 60000 65536"/>
              <a:gd name="T12" fmla="*/ 0 w 59"/>
              <a:gd name="T13" fmla="*/ 0 h 52"/>
              <a:gd name="T14" fmla="*/ 59 w 59"/>
              <a:gd name="T15" fmla="*/ 52 h 52"/>
            </a:gdLst>
            <a:ahLst/>
            <a:cxnLst>
              <a:cxn ang="T8">
                <a:pos x="T0" y="T1"/>
              </a:cxn>
              <a:cxn ang="T9">
                <a:pos x="T2" y="T3"/>
              </a:cxn>
              <a:cxn ang="T10">
                <a:pos x="T4" y="T5"/>
              </a:cxn>
              <a:cxn ang="T11">
                <a:pos x="T6" y="T7"/>
              </a:cxn>
            </a:cxnLst>
            <a:rect l="T12" t="T13" r="T14" b="T15"/>
            <a:pathLst>
              <a:path w="59" h="52">
                <a:moveTo>
                  <a:pt x="0" y="52"/>
                </a:moveTo>
                <a:lnTo>
                  <a:pt x="28" y="0"/>
                </a:lnTo>
                <a:lnTo>
                  <a:pt x="59" y="52"/>
                </a:lnTo>
                <a:lnTo>
                  <a:pt x="0" y="5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05" name="Freeform 33"/>
          <p:cNvSpPr>
            <a:spLocks/>
          </p:cNvSpPr>
          <p:nvPr/>
        </p:nvSpPr>
        <p:spPr bwMode="auto">
          <a:xfrm>
            <a:off x="6372225" y="4324350"/>
            <a:ext cx="715963" cy="463550"/>
          </a:xfrm>
          <a:custGeom>
            <a:avLst/>
            <a:gdLst>
              <a:gd name="T0" fmla="*/ 0 w 451"/>
              <a:gd name="T1" fmla="*/ 0 h 292"/>
              <a:gd name="T2" fmla="*/ 2147483646 w 451"/>
              <a:gd name="T3" fmla="*/ 0 h 292"/>
              <a:gd name="T4" fmla="*/ 2147483646 w 451"/>
              <a:gd name="T5" fmla="*/ 2147483646 h 292"/>
              <a:gd name="T6" fmla="*/ 0 60000 65536"/>
              <a:gd name="T7" fmla="*/ 0 60000 65536"/>
              <a:gd name="T8" fmla="*/ 0 60000 65536"/>
              <a:gd name="T9" fmla="*/ 0 w 451"/>
              <a:gd name="T10" fmla="*/ 0 h 292"/>
              <a:gd name="T11" fmla="*/ 451 w 451"/>
              <a:gd name="T12" fmla="*/ 292 h 292"/>
            </a:gdLst>
            <a:ahLst/>
            <a:cxnLst>
              <a:cxn ang="T6">
                <a:pos x="T0" y="T1"/>
              </a:cxn>
              <a:cxn ang="T7">
                <a:pos x="T2" y="T3"/>
              </a:cxn>
              <a:cxn ang="T8">
                <a:pos x="T4" y="T5"/>
              </a:cxn>
            </a:cxnLst>
            <a:rect l="T9" t="T10" r="T11" b="T12"/>
            <a:pathLst>
              <a:path w="451" h="292">
                <a:moveTo>
                  <a:pt x="0" y="0"/>
                </a:moveTo>
                <a:lnTo>
                  <a:pt x="451" y="0"/>
                </a:lnTo>
                <a:lnTo>
                  <a:pt x="451" y="292"/>
                </a:lnTo>
              </a:path>
            </a:pathLst>
          </a:custGeom>
          <a:noFill/>
          <a:ln w="27051">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06" name="Freeform 34"/>
          <p:cNvSpPr>
            <a:spLocks/>
          </p:cNvSpPr>
          <p:nvPr/>
        </p:nvSpPr>
        <p:spPr bwMode="auto">
          <a:xfrm>
            <a:off x="7038975" y="4776788"/>
            <a:ext cx="93663" cy="84137"/>
          </a:xfrm>
          <a:custGeom>
            <a:avLst/>
            <a:gdLst>
              <a:gd name="T0" fmla="*/ 2147483646 w 59"/>
              <a:gd name="T1" fmla="*/ 0 h 53"/>
              <a:gd name="T2" fmla="*/ 2147483646 w 59"/>
              <a:gd name="T3" fmla="*/ 2147483646 h 53"/>
              <a:gd name="T4" fmla="*/ 0 w 59"/>
              <a:gd name="T5" fmla="*/ 0 h 53"/>
              <a:gd name="T6" fmla="*/ 2147483646 w 59"/>
              <a:gd name="T7" fmla="*/ 0 h 53"/>
              <a:gd name="T8" fmla="*/ 0 60000 65536"/>
              <a:gd name="T9" fmla="*/ 0 60000 65536"/>
              <a:gd name="T10" fmla="*/ 0 60000 65536"/>
              <a:gd name="T11" fmla="*/ 0 60000 65536"/>
              <a:gd name="T12" fmla="*/ 0 w 59"/>
              <a:gd name="T13" fmla="*/ 0 h 53"/>
              <a:gd name="T14" fmla="*/ 59 w 59"/>
              <a:gd name="T15" fmla="*/ 53 h 53"/>
            </a:gdLst>
            <a:ahLst/>
            <a:cxnLst>
              <a:cxn ang="T8">
                <a:pos x="T0" y="T1"/>
              </a:cxn>
              <a:cxn ang="T9">
                <a:pos x="T2" y="T3"/>
              </a:cxn>
              <a:cxn ang="T10">
                <a:pos x="T4" y="T5"/>
              </a:cxn>
              <a:cxn ang="T11">
                <a:pos x="T6" y="T7"/>
              </a:cxn>
            </a:cxnLst>
            <a:rect l="T12" t="T13" r="T14" b="T15"/>
            <a:pathLst>
              <a:path w="59" h="53">
                <a:moveTo>
                  <a:pt x="59" y="0"/>
                </a:moveTo>
                <a:lnTo>
                  <a:pt x="31" y="53"/>
                </a:lnTo>
                <a:lnTo>
                  <a:pt x="0" y="0"/>
                </a:lnTo>
                <a:lnTo>
                  <a:pt x="59"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07" name="Rectangle 35"/>
          <p:cNvSpPr>
            <a:spLocks noChangeArrowheads="1"/>
          </p:cNvSpPr>
          <p:nvPr/>
        </p:nvSpPr>
        <p:spPr bwMode="auto">
          <a:xfrm>
            <a:off x="6440488" y="4029075"/>
            <a:ext cx="3476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latin typeface="宋体" panose="02010600030101010101" pitchFamily="2" charset="-122"/>
              </a:rPr>
              <a:t>Yes</a:t>
            </a:r>
            <a:endParaRPr kumimoji="1" lang="en-US" altLang="zh-CN" sz="1800" b="1">
              <a:latin typeface="CordiaUPC" panose="020B0304020202020204" pitchFamily="34" charset="-34"/>
            </a:endParaRPr>
          </a:p>
        </p:txBody>
      </p:sp>
      <p:sp>
        <p:nvSpPr>
          <p:cNvPr id="28708" name="Freeform 36"/>
          <p:cNvSpPr>
            <a:spLocks/>
          </p:cNvSpPr>
          <p:nvPr/>
        </p:nvSpPr>
        <p:spPr bwMode="auto">
          <a:xfrm>
            <a:off x="6494463" y="4860925"/>
            <a:ext cx="1187450" cy="427038"/>
          </a:xfrm>
          <a:custGeom>
            <a:avLst/>
            <a:gdLst>
              <a:gd name="T0" fmla="*/ 2147483646 w 748"/>
              <a:gd name="T1" fmla="*/ 2147483646 h 269"/>
              <a:gd name="T2" fmla="*/ 2147483646 w 748"/>
              <a:gd name="T3" fmla="*/ 2147483646 h 269"/>
              <a:gd name="T4" fmla="*/ 2147483646 w 748"/>
              <a:gd name="T5" fmla="*/ 2147483646 h 269"/>
              <a:gd name="T6" fmla="*/ 2147483646 w 748"/>
              <a:gd name="T7" fmla="*/ 2147483646 h 269"/>
              <a:gd name="T8" fmla="*/ 2147483646 w 748"/>
              <a:gd name="T9" fmla="*/ 2147483646 h 269"/>
              <a:gd name="T10" fmla="*/ 2147483646 w 748"/>
              <a:gd name="T11" fmla="*/ 2147483646 h 269"/>
              <a:gd name="T12" fmla="*/ 2147483646 w 748"/>
              <a:gd name="T13" fmla="*/ 2147483646 h 269"/>
              <a:gd name="T14" fmla="*/ 2147483646 w 748"/>
              <a:gd name="T15" fmla="*/ 2147483646 h 269"/>
              <a:gd name="T16" fmla="*/ 2147483646 w 748"/>
              <a:gd name="T17" fmla="*/ 2147483646 h 269"/>
              <a:gd name="T18" fmla="*/ 2147483646 w 748"/>
              <a:gd name="T19" fmla="*/ 2147483646 h 269"/>
              <a:gd name="T20" fmla="*/ 2147483646 w 748"/>
              <a:gd name="T21" fmla="*/ 2147483646 h 269"/>
              <a:gd name="T22" fmla="*/ 2147483646 w 748"/>
              <a:gd name="T23" fmla="*/ 2147483646 h 269"/>
              <a:gd name="T24" fmla="*/ 2147483646 w 748"/>
              <a:gd name="T25" fmla="*/ 2147483646 h 269"/>
              <a:gd name="T26" fmla="*/ 2147483646 w 748"/>
              <a:gd name="T27" fmla="*/ 2147483646 h 269"/>
              <a:gd name="T28" fmla="*/ 2147483646 w 748"/>
              <a:gd name="T29" fmla="*/ 0 h 269"/>
              <a:gd name="T30" fmla="*/ 2147483646 w 748"/>
              <a:gd name="T31" fmla="*/ 0 h 269"/>
              <a:gd name="T32" fmla="*/ 2147483646 w 748"/>
              <a:gd name="T33" fmla="*/ 2147483646 h 269"/>
              <a:gd name="T34" fmla="*/ 2147483646 w 748"/>
              <a:gd name="T35" fmla="*/ 2147483646 h 269"/>
              <a:gd name="T36" fmla="*/ 2147483646 w 748"/>
              <a:gd name="T37" fmla="*/ 2147483646 h 269"/>
              <a:gd name="T38" fmla="*/ 2147483646 w 748"/>
              <a:gd name="T39" fmla="*/ 2147483646 h 269"/>
              <a:gd name="T40" fmla="*/ 2147483646 w 748"/>
              <a:gd name="T41" fmla="*/ 2147483646 h 269"/>
              <a:gd name="T42" fmla="*/ 0 w 748"/>
              <a:gd name="T43" fmla="*/ 2147483646 h 269"/>
              <a:gd name="T44" fmla="*/ 0 w 748"/>
              <a:gd name="T45" fmla="*/ 2147483646 h 269"/>
              <a:gd name="T46" fmla="*/ 2147483646 w 748"/>
              <a:gd name="T47" fmla="*/ 2147483646 h 269"/>
              <a:gd name="T48" fmla="*/ 2147483646 w 748"/>
              <a:gd name="T49" fmla="*/ 2147483646 h 269"/>
              <a:gd name="T50" fmla="*/ 2147483646 w 748"/>
              <a:gd name="T51" fmla="*/ 2147483646 h 269"/>
              <a:gd name="T52" fmla="*/ 2147483646 w 748"/>
              <a:gd name="T53" fmla="*/ 2147483646 h 269"/>
              <a:gd name="T54" fmla="*/ 2147483646 w 748"/>
              <a:gd name="T55" fmla="*/ 2147483646 h 269"/>
              <a:gd name="T56" fmla="*/ 2147483646 w 748"/>
              <a:gd name="T57" fmla="*/ 2147483646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8"/>
              <a:gd name="T88" fmla="*/ 0 h 269"/>
              <a:gd name="T89" fmla="*/ 748 w 748"/>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8" h="269">
                <a:moveTo>
                  <a:pt x="147" y="269"/>
                </a:moveTo>
                <a:lnTo>
                  <a:pt x="598" y="269"/>
                </a:lnTo>
                <a:lnTo>
                  <a:pt x="636" y="264"/>
                </a:lnTo>
                <a:lnTo>
                  <a:pt x="670" y="253"/>
                </a:lnTo>
                <a:lnTo>
                  <a:pt x="700" y="235"/>
                </a:lnTo>
                <a:lnTo>
                  <a:pt x="723" y="209"/>
                </a:lnTo>
                <a:lnTo>
                  <a:pt x="741" y="182"/>
                </a:lnTo>
                <a:lnTo>
                  <a:pt x="748" y="150"/>
                </a:lnTo>
                <a:lnTo>
                  <a:pt x="748" y="118"/>
                </a:lnTo>
                <a:lnTo>
                  <a:pt x="741" y="86"/>
                </a:lnTo>
                <a:lnTo>
                  <a:pt x="723" y="57"/>
                </a:lnTo>
                <a:lnTo>
                  <a:pt x="700" y="34"/>
                </a:lnTo>
                <a:lnTo>
                  <a:pt x="670" y="13"/>
                </a:lnTo>
                <a:lnTo>
                  <a:pt x="636" y="2"/>
                </a:lnTo>
                <a:lnTo>
                  <a:pt x="598" y="0"/>
                </a:lnTo>
                <a:lnTo>
                  <a:pt x="147" y="0"/>
                </a:lnTo>
                <a:lnTo>
                  <a:pt x="112" y="2"/>
                </a:lnTo>
                <a:lnTo>
                  <a:pt x="79" y="13"/>
                </a:lnTo>
                <a:lnTo>
                  <a:pt x="48" y="34"/>
                </a:lnTo>
                <a:lnTo>
                  <a:pt x="25" y="57"/>
                </a:lnTo>
                <a:lnTo>
                  <a:pt x="7" y="86"/>
                </a:lnTo>
                <a:lnTo>
                  <a:pt x="0" y="118"/>
                </a:lnTo>
                <a:lnTo>
                  <a:pt x="0" y="150"/>
                </a:lnTo>
                <a:lnTo>
                  <a:pt x="7" y="182"/>
                </a:lnTo>
                <a:lnTo>
                  <a:pt x="25" y="209"/>
                </a:lnTo>
                <a:lnTo>
                  <a:pt x="48" y="235"/>
                </a:lnTo>
                <a:lnTo>
                  <a:pt x="79" y="253"/>
                </a:lnTo>
                <a:lnTo>
                  <a:pt x="112" y="264"/>
                </a:lnTo>
                <a:lnTo>
                  <a:pt x="147" y="269"/>
                </a:lnTo>
                <a:close/>
              </a:path>
            </a:pathLst>
          </a:custGeom>
          <a:solidFill>
            <a:srgbClr val="FFFFFF"/>
          </a:solidFill>
          <a:ln w="4763">
            <a:solidFill>
              <a:srgbClr val="000000"/>
            </a:solidFill>
            <a:round/>
            <a:headEnd/>
            <a:tailEnd/>
          </a:ln>
        </p:spPr>
        <p:txBody>
          <a:bodyPr/>
          <a:lstStyle/>
          <a:p>
            <a:endParaRPr lang="zh-CN" altLang="en-US"/>
          </a:p>
        </p:txBody>
      </p:sp>
      <p:sp>
        <p:nvSpPr>
          <p:cNvPr id="28709" name="Rectangle 37"/>
          <p:cNvSpPr>
            <a:spLocks noChangeArrowheads="1"/>
          </p:cNvSpPr>
          <p:nvPr/>
        </p:nvSpPr>
        <p:spPr bwMode="auto">
          <a:xfrm>
            <a:off x="6643688" y="4943475"/>
            <a:ext cx="920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发送失败</a:t>
            </a:r>
            <a:endParaRPr kumimoji="1" lang="zh-CN" altLang="en-US" sz="1800" b="1">
              <a:latin typeface="CordiaUPC" panose="020B0304020202020204" pitchFamily="34" charset="-34"/>
            </a:endParaRPr>
          </a:p>
        </p:txBody>
      </p:sp>
      <p:grpSp>
        <p:nvGrpSpPr>
          <p:cNvPr id="28710" name="Group 38"/>
          <p:cNvGrpSpPr>
            <a:grpSpLocks/>
          </p:cNvGrpSpPr>
          <p:nvPr/>
        </p:nvGrpSpPr>
        <p:grpSpPr bwMode="auto">
          <a:xfrm>
            <a:off x="5746750" y="3521075"/>
            <a:ext cx="76200" cy="482600"/>
            <a:chOff x="3520" y="2168"/>
            <a:chExt cx="59" cy="136"/>
          </a:xfrm>
        </p:grpSpPr>
        <p:sp>
          <p:nvSpPr>
            <p:cNvPr id="28733" name="Line 39"/>
            <p:cNvSpPr>
              <a:spLocks noChangeShapeType="1"/>
            </p:cNvSpPr>
            <p:nvPr/>
          </p:nvSpPr>
          <p:spPr bwMode="auto">
            <a:xfrm flipH="1" flipV="1">
              <a:off x="3552" y="2208"/>
              <a:ext cx="0" cy="96"/>
            </a:xfrm>
            <a:prstGeom prst="line">
              <a:avLst/>
            </a:prstGeom>
            <a:noFill/>
            <a:ln w="27051">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4" name="Freeform 40"/>
            <p:cNvSpPr>
              <a:spLocks/>
            </p:cNvSpPr>
            <p:nvPr/>
          </p:nvSpPr>
          <p:spPr bwMode="auto">
            <a:xfrm>
              <a:off x="3520" y="2168"/>
              <a:ext cx="59" cy="53"/>
            </a:xfrm>
            <a:custGeom>
              <a:avLst/>
              <a:gdLst>
                <a:gd name="T0" fmla="*/ 0 w 59"/>
                <a:gd name="T1" fmla="*/ 53 h 53"/>
                <a:gd name="T2" fmla="*/ 28 w 59"/>
                <a:gd name="T3" fmla="*/ 0 h 53"/>
                <a:gd name="T4" fmla="*/ 59 w 59"/>
                <a:gd name="T5" fmla="*/ 53 h 53"/>
                <a:gd name="T6" fmla="*/ 0 w 59"/>
                <a:gd name="T7" fmla="*/ 53 h 53"/>
                <a:gd name="T8" fmla="*/ 0 60000 65536"/>
                <a:gd name="T9" fmla="*/ 0 60000 65536"/>
                <a:gd name="T10" fmla="*/ 0 60000 65536"/>
                <a:gd name="T11" fmla="*/ 0 60000 65536"/>
                <a:gd name="T12" fmla="*/ 0 w 59"/>
                <a:gd name="T13" fmla="*/ 0 h 53"/>
                <a:gd name="T14" fmla="*/ 59 w 59"/>
                <a:gd name="T15" fmla="*/ 53 h 53"/>
              </a:gdLst>
              <a:ahLst/>
              <a:cxnLst>
                <a:cxn ang="T8">
                  <a:pos x="T0" y="T1"/>
                </a:cxn>
                <a:cxn ang="T9">
                  <a:pos x="T2" y="T3"/>
                </a:cxn>
                <a:cxn ang="T10">
                  <a:pos x="T4" y="T5"/>
                </a:cxn>
                <a:cxn ang="T11">
                  <a:pos x="T6" y="T7"/>
                </a:cxn>
              </a:cxnLst>
              <a:rect l="T12" t="T13" r="T14" b="T15"/>
              <a:pathLst>
                <a:path w="59" h="53">
                  <a:moveTo>
                    <a:pt x="0" y="53"/>
                  </a:moveTo>
                  <a:lnTo>
                    <a:pt x="28" y="0"/>
                  </a:lnTo>
                  <a:lnTo>
                    <a:pt x="59" y="53"/>
                  </a:lnTo>
                  <a:lnTo>
                    <a:pt x="0" y="5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8711" name="Rectangle 41"/>
          <p:cNvSpPr>
            <a:spLocks noChangeArrowheads="1"/>
          </p:cNvSpPr>
          <p:nvPr/>
        </p:nvSpPr>
        <p:spPr bwMode="auto">
          <a:xfrm>
            <a:off x="5907088" y="3673475"/>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latin typeface="宋体" panose="02010600030101010101" pitchFamily="2" charset="-122"/>
              </a:rPr>
              <a:t>No</a:t>
            </a:r>
            <a:endParaRPr kumimoji="1" lang="en-US" altLang="zh-CN" sz="1800" b="1">
              <a:latin typeface="CordiaUPC" panose="020B0304020202020204" pitchFamily="34" charset="-34"/>
            </a:endParaRPr>
          </a:p>
        </p:txBody>
      </p:sp>
      <p:sp>
        <p:nvSpPr>
          <p:cNvPr id="28712" name="Rectangle 42"/>
          <p:cNvSpPr>
            <a:spLocks noChangeArrowheads="1"/>
          </p:cNvSpPr>
          <p:nvPr/>
        </p:nvSpPr>
        <p:spPr bwMode="auto">
          <a:xfrm>
            <a:off x="4916488" y="3063875"/>
            <a:ext cx="1752600" cy="457200"/>
          </a:xfrm>
          <a:prstGeom prst="rect">
            <a:avLst/>
          </a:prstGeom>
          <a:solidFill>
            <a:srgbClr val="FFFFFF"/>
          </a:solidFill>
          <a:ln w="4763">
            <a:solidFill>
              <a:srgbClr val="000000"/>
            </a:solidFill>
            <a:miter lim="800000"/>
            <a:headEnd/>
            <a:tailEnd/>
          </a:ln>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90000"/>
              </a:lnSpc>
              <a:spcBef>
                <a:spcPct val="20000"/>
              </a:spcBef>
            </a:pPr>
            <a:endParaRPr kumimoji="1" lang="zh-CN" altLang="zh-CN" sz="2400" b="1">
              <a:latin typeface="Times New Roman" panose="02020603050405020304" pitchFamily="18" charset="0"/>
              <a:ea typeface="黑体" panose="02010609060101010101" pitchFamily="49" charset="-122"/>
            </a:endParaRPr>
          </a:p>
        </p:txBody>
      </p:sp>
      <p:sp>
        <p:nvSpPr>
          <p:cNvPr id="28713" name="Rectangle 43"/>
          <p:cNvSpPr>
            <a:spLocks noChangeArrowheads="1"/>
          </p:cNvSpPr>
          <p:nvPr/>
        </p:nvSpPr>
        <p:spPr bwMode="auto">
          <a:xfrm>
            <a:off x="5145088" y="3140075"/>
            <a:ext cx="1381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延迟随机时间</a:t>
            </a:r>
            <a:endParaRPr kumimoji="1" lang="zh-CN" altLang="en-US" sz="1800" b="1">
              <a:latin typeface="CordiaUPC" panose="020B0304020202020204" pitchFamily="34" charset="-34"/>
            </a:endParaRPr>
          </a:p>
        </p:txBody>
      </p:sp>
      <p:sp>
        <p:nvSpPr>
          <p:cNvPr id="28714" name="Freeform 44"/>
          <p:cNvSpPr>
            <a:spLocks/>
          </p:cNvSpPr>
          <p:nvPr/>
        </p:nvSpPr>
        <p:spPr bwMode="auto">
          <a:xfrm>
            <a:off x="3824288" y="2720975"/>
            <a:ext cx="1930400" cy="342900"/>
          </a:xfrm>
          <a:custGeom>
            <a:avLst/>
            <a:gdLst>
              <a:gd name="T0" fmla="*/ 2147483646 w 1228"/>
              <a:gd name="T1" fmla="*/ 2147483646 h 135"/>
              <a:gd name="T2" fmla="*/ 2147483646 w 1228"/>
              <a:gd name="T3" fmla="*/ 0 h 135"/>
              <a:gd name="T4" fmla="*/ 0 w 1228"/>
              <a:gd name="T5" fmla="*/ 0 h 135"/>
              <a:gd name="T6" fmla="*/ 0 60000 65536"/>
              <a:gd name="T7" fmla="*/ 0 60000 65536"/>
              <a:gd name="T8" fmla="*/ 0 60000 65536"/>
              <a:gd name="T9" fmla="*/ 0 w 1228"/>
              <a:gd name="T10" fmla="*/ 0 h 135"/>
              <a:gd name="T11" fmla="*/ 1228 w 1228"/>
              <a:gd name="T12" fmla="*/ 135 h 135"/>
            </a:gdLst>
            <a:ahLst/>
            <a:cxnLst>
              <a:cxn ang="T6">
                <a:pos x="T0" y="T1"/>
              </a:cxn>
              <a:cxn ang="T7">
                <a:pos x="T2" y="T3"/>
              </a:cxn>
              <a:cxn ang="T8">
                <a:pos x="T4" y="T5"/>
              </a:cxn>
            </a:cxnLst>
            <a:rect l="T9" t="T10" r="T11" b="T12"/>
            <a:pathLst>
              <a:path w="1228" h="135">
                <a:moveTo>
                  <a:pt x="1228" y="135"/>
                </a:moveTo>
                <a:lnTo>
                  <a:pt x="1228" y="0"/>
                </a:lnTo>
                <a:lnTo>
                  <a:pt x="0" y="0"/>
                </a:lnTo>
              </a:path>
            </a:pathLst>
          </a:custGeom>
          <a:noFill/>
          <a:ln w="27051">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15" name="Freeform 45"/>
          <p:cNvSpPr>
            <a:spLocks/>
          </p:cNvSpPr>
          <p:nvPr/>
        </p:nvSpPr>
        <p:spPr bwMode="auto">
          <a:xfrm>
            <a:off x="3743325" y="2681288"/>
            <a:ext cx="93663" cy="82550"/>
          </a:xfrm>
          <a:custGeom>
            <a:avLst/>
            <a:gdLst>
              <a:gd name="T0" fmla="*/ 2147483646 w 59"/>
              <a:gd name="T1" fmla="*/ 2147483646 h 52"/>
              <a:gd name="T2" fmla="*/ 0 w 59"/>
              <a:gd name="T3" fmla="*/ 2147483646 h 52"/>
              <a:gd name="T4" fmla="*/ 2147483646 w 59"/>
              <a:gd name="T5" fmla="*/ 0 h 52"/>
              <a:gd name="T6" fmla="*/ 2147483646 w 59"/>
              <a:gd name="T7" fmla="*/ 2147483646 h 52"/>
              <a:gd name="T8" fmla="*/ 0 60000 65536"/>
              <a:gd name="T9" fmla="*/ 0 60000 65536"/>
              <a:gd name="T10" fmla="*/ 0 60000 65536"/>
              <a:gd name="T11" fmla="*/ 0 60000 65536"/>
              <a:gd name="T12" fmla="*/ 0 w 59"/>
              <a:gd name="T13" fmla="*/ 0 h 52"/>
              <a:gd name="T14" fmla="*/ 59 w 59"/>
              <a:gd name="T15" fmla="*/ 52 h 52"/>
            </a:gdLst>
            <a:ahLst/>
            <a:cxnLst>
              <a:cxn ang="T8">
                <a:pos x="T0" y="T1"/>
              </a:cxn>
              <a:cxn ang="T9">
                <a:pos x="T2" y="T3"/>
              </a:cxn>
              <a:cxn ang="T10">
                <a:pos x="T4" y="T5"/>
              </a:cxn>
              <a:cxn ang="T11">
                <a:pos x="T6" y="T7"/>
              </a:cxn>
            </a:cxnLst>
            <a:rect l="T12" t="T13" r="T14" b="T15"/>
            <a:pathLst>
              <a:path w="59" h="52">
                <a:moveTo>
                  <a:pt x="59" y="52"/>
                </a:moveTo>
                <a:lnTo>
                  <a:pt x="0" y="25"/>
                </a:lnTo>
                <a:lnTo>
                  <a:pt x="59" y="0"/>
                </a:lnTo>
                <a:lnTo>
                  <a:pt x="59" y="52"/>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16" name="Line 46"/>
          <p:cNvSpPr>
            <a:spLocks noChangeShapeType="1"/>
          </p:cNvSpPr>
          <p:nvPr/>
        </p:nvSpPr>
        <p:spPr bwMode="auto">
          <a:xfrm>
            <a:off x="3754438" y="3594100"/>
            <a:ext cx="1587" cy="355600"/>
          </a:xfrm>
          <a:prstGeom prst="line">
            <a:avLst/>
          </a:prstGeom>
          <a:noFill/>
          <a:ln w="27051">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7" name="Freeform 47"/>
          <p:cNvSpPr>
            <a:spLocks/>
          </p:cNvSpPr>
          <p:nvPr/>
        </p:nvSpPr>
        <p:spPr bwMode="auto">
          <a:xfrm>
            <a:off x="3698875" y="3919538"/>
            <a:ext cx="93663" cy="82550"/>
          </a:xfrm>
          <a:custGeom>
            <a:avLst/>
            <a:gdLst>
              <a:gd name="T0" fmla="*/ 2147483646 w 59"/>
              <a:gd name="T1" fmla="*/ 0 h 52"/>
              <a:gd name="T2" fmla="*/ 2147483646 w 59"/>
              <a:gd name="T3" fmla="*/ 2147483646 h 52"/>
              <a:gd name="T4" fmla="*/ 0 w 59"/>
              <a:gd name="T5" fmla="*/ 0 h 52"/>
              <a:gd name="T6" fmla="*/ 2147483646 w 59"/>
              <a:gd name="T7" fmla="*/ 0 h 52"/>
              <a:gd name="T8" fmla="*/ 0 60000 65536"/>
              <a:gd name="T9" fmla="*/ 0 60000 65536"/>
              <a:gd name="T10" fmla="*/ 0 60000 65536"/>
              <a:gd name="T11" fmla="*/ 0 60000 65536"/>
              <a:gd name="T12" fmla="*/ 0 w 59"/>
              <a:gd name="T13" fmla="*/ 0 h 52"/>
              <a:gd name="T14" fmla="*/ 59 w 59"/>
              <a:gd name="T15" fmla="*/ 52 h 52"/>
            </a:gdLst>
            <a:ahLst/>
            <a:cxnLst>
              <a:cxn ang="T8">
                <a:pos x="T0" y="T1"/>
              </a:cxn>
              <a:cxn ang="T9">
                <a:pos x="T2" y="T3"/>
              </a:cxn>
              <a:cxn ang="T10">
                <a:pos x="T4" y="T5"/>
              </a:cxn>
              <a:cxn ang="T11">
                <a:pos x="T6" y="T7"/>
              </a:cxn>
            </a:cxnLst>
            <a:rect l="T12" t="T13" r="T14" b="T15"/>
            <a:pathLst>
              <a:path w="59" h="52">
                <a:moveTo>
                  <a:pt x="59" y="0"/>
                </a:moveTo>
                <a:lnTo>
                  <a:pt x="28" y="52"/>
                </a:lnTo>
                <a:lnTo>
                  <a:pt x="0" y="0"/>
                </a:lnTo>
                <a:lnTo>
                  <a:pt x="59"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18" name="Rectangle 48"/>
          <p:cNvSpPr>
            <a:spLocks noChangeArrowheads="1"/>
          </p:cNvSpPr>
          <p:nvPr/>
        </p:nvSpPr>
        <p:spPr bwMode="auto">
          <a:xfrm>
            <a:off x="3925888" y="3597275"/>
            <a:ext cx="2317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latin typeface="宋体" panose="02010600030101010101" pitchFamily="2" charset="-122"/>
              </a:rPr>
              <a:t>No</a:t>
            </a:r>
          </a:p>
        </p:txBody>
      </p:sp>
      <p:sp>
        <p:nvSpPr>
          <p:cNvPr id="28719" name="Freeform 49"/>
          <p:cNvSpPr>
            <a:spLocks/>
          </p:cNvSpPr>
          <p:nvPr/>
        </p:nvSpPr>
        <p:spPr bwMode="auto">
          <a:xfrm>
            <a:off x="2967038" y="2720975"/>
            <a:ext cx="695325" cy="536575"/>
          </a:xfrm>
          <a:custGeom>
            <a:avLst/>
            <a:gdLst>
              <a:gd name="T0" fmla="*/ 2147483646 w 438"/>
              <a:gd name="T1" fmla="*/ 2147483646 h 338"/>
              <a:gd name="T2" fmla="*/ 0 w 438"/>
              <a:gd name="T3" fmla="*/ 2147483646 h 338"/>
              <a:gd name="T4" fmla="*/ 0 w 438"/>
              <a:gd name="T5" fmla="*/ 0 h 338"/>
              <a:gd name="T6" fmla="*/ 2147483646 w 438"/>
              <a:gd name="T7" fmla="*/ 0 h 338"/>
              <a:gd name="T8" fmla="*/ 0 60000 65536"/>
              <a:gd name="T9" fmla="*/ 0 60000 65536"/>
              <a:gd name="T10" fmla="*/ 0 60000 65536"/>
              <a:gd name="T11" fmla="*/ 0 60000 65536"/>
              <a:gd name="T12" fmla="*/ 0 w 438"/>
              <a:gd name="T13" fmla="*/ 0 h 338"/>
              <a:gd name="T14" fmla="*/ 438 w 438"/>
              <a:gd name="T15" fmla="*/ 338 h 338"/>
            </a:gdLst>
            <a:ahLst/>
            <a:cxnLst>
              <a:cxn ang="T8">
                <a:pos x="T0" y="T1"/>
              </a:cxn>
              <a:cxn ang="T9">
                <a:pos x="T2" y="T3"/>
              </a:cxn>
              <a:cxn ang="T10">
                <a:pos x="T4" y="T5"/>
              </a:cxn>
              <a:cxn ang="T11">
                <a:pos x="T6" y="T7"/>
              </a:cxn>
            </a:cxnLst>
            <a:rect l="T12" t="T13" r="T14" b="T15"/>
            <a:pathLst>
              <a:path w="438" h="338">
                <a:moveTo>
                  <a:pt x="112" y="338"/>
                </a:moveTo>
                <a:lnTo>
                  <a:pt x="0" y="338"/>
                </a:lnTo>
                <a:lnTo>
                  <a:pt x="0" y="0"/>
                </a:lnTo>
                <a:lnTo>
                  <a:pt x="438" y="0"/>
                </a:lnTo>
              </a:path>
            </a:pathLst>
          </a:custGeom>
          <a:noFill/>
          <a:ln w="27051">
            <a:solidFill>
              <a:srgbClr val="8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0" name="Freeform 50"/>
          <p:cNvSpPr>
            <a:spLocks/>
          </p:cNvSpPr>
          <p:nvPr/>
        </p:nvSpPr>
        <p:spPr bwMode="auto">
          <a:xfrm>
            <a:off x="3651250" y="2681288"/>
            <a:ext cx="92075" cy="82550"/>
          </a:xfrm>
          <a:custGeom>
            <a:avLst/>
            <a:gdLst>
              <a:gd name="T0" fmla="*/ 0 w 58"/>
              <a:gd name="T1" fmla="*/ 0 h 52"/>
              <a:gd name="T2" fmla="*/ 2147483646 w 58"/>
              <a:gd name="T3" fmla="*/ 2147483646 h 52"/>
              <a:gd name="T4" fmla="*/ 0 w 58"/>
              <a:gd name="T5" fmla="*/ 2147483646 h 52"/>
              <a:gd name="T6" fmla="*/ 0 w 58"/>
              <a:gd name="T7" fmla="*/ 0 h 52"/>
              <a:gd name="T8" fmla="*/ 0 60000 65536"/>
              <a:gd name="T9" fmla="*/ 0 60000 65536"/>
              <a:gd name="T10" fmla="*/ 0 60000 65536"/>
              <a:gd name="T11" fmla="*/ 0 60000 65536"/>
              <a:gd name="T12" fmla="*/ 0 w 58"/>
              <a:gd name="T13" fmla="*/ 0 h 52"/>
              <a:gd name="T14" fmla="*/ 58 w 58"/>
              <a:gd name="T15" fmla="*/ 52 h 52"/>
            </a:gdLst>
            <a:ahLst/>
            <a:cxnLst>
              <a:cxn ang="T8">
                <a:pos x="T0" y="T1"/>
              </a:cxn>
              <a:cxn ang="T9">
                <a:pos x="T2" y="T3"/>
              </a:cxn>
              <a:cxn ang="T10">
                <a:pos x="T4" y="T5"/>
              </a:cxn>
              <a:cxn ang="T11">
                <a:pos x="T6" y="T7"/>
              </a:cxn>
            </a:cxnLst>
            <a:rect l="T12" t="T13" r="T14" b="T15"/>
            <a:pathLst>
              <a:path w="58" h="52">
                <a:moveTo>
                  <a:pt x="0" y="0"/>
                </a:moveTo>
                <a:lnTo>
                  <a:pt x="58" y="25"/>
                </a:lnTo>
                <a:lnTo>
                  <a:pt x="0" y="52"/>
                </a:lnTo>
                <a:lnTo>
                  <a:pt x="0"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21" name="Rectangle 51"/>
          <p:cNvSpPr>
            <a:spLocks noChangeArrowheads="1"/>
          </p:cNvSpPr>
          <p:nvPr/>
        </p:nvSpPr>
        <p:spPr bwMode="auto">
          <a:xfrm>
            <a:off x="2566988" y="3000375"/>
            <a:ext cx="3476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en-US" altLang="zh-CN" sz="1800" b="1">
                <a:latin typeface="宋体" panose="02010600030101010101" pitchFamily="2" charset="-122"/>
              </a:rPr>
              <a:t>Yes</a:t>
            </a:r>
            <a:endParaRPr kumimoji="1" lang="en-US" altLang="zh-CN" sz="1800" b="1">
              <a:latin typeface="CordiaUPC" panose="020B0304020202020204" pitchFamily="34" charset="-34"/>
            </a:endParaRPr>
          </a:p>
        </p:txBody>
      </p:sp>
      <p:sp>
        <p:nvSpPr>
          <p:cNvPr id="28722" name="Rectangle 52"/>
          <p:cNvSpPr>
            <a:spLocks noChangeArrowheads="1"/>
          </p:cNvSpPr>
          <p:nvPr/>
        </p:nvSpPr>
        <p:spPr bwMode="auto">
          <a:xfrm>
            <a:off x="3181350" y="4025900"/>
            <a:ext cx="1196975" cy="431800"/>
          </a:xfrm>
          <a:prstGeom prst="rect">
            <a:avLst/>
          </a:prstGeom>
          <a:solidFill>
            <a:srgbClr val="FFFFFF"/>
          </a:solidFill>
          <a:ln w="4763">
            <a:solidFill>
              <a:srgbClr val="000000"/>
            </a:solidFill>
            <a:miter lim="800000"/>
            <a:headEnd/>
            <a:tailEnd/>
          </a:ln>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90000"/>
              </a:lnSpc>
              <a:spcBef>
                <a:spcPct val="20000"/>
              </a:spcBef>
            </a:pPr>
            <a:endParaRPr kumimoji="1" lang="zh-CN" altLang="zh-CN" sz="2400" b="1">
              <a:latin typeface="Times New Roman" panose="02020603050405020304" pitchFamily="18" charset="0"/>
              <a:ea typeface="黑体" panose="02010609060101010101" pitchFamily="49" charset="-122"/>
            </a:endParaRPr>
          </a:p>
        </p:txBody>
      </p:sp>
      <p:sp>
        <p:nvSpPr>
          <p:cNvPr id="28723" name="Rectangle 53"/>
          <p:cNvSpPr>
            <a:spLocks noChangeArrowheads="1"/>
          </p:cNvSpPr>
          <p:nvPr/>
        </p:nvSpPr>
        <p:spPr bwMode="auto">
          <a:xfrm>
            <a:off x="3425825" y="4111625"/>
            <a:ext cx="690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latin typeface="宋体" panose="02010600030101010101" pitchFamily="2" charset="-122"/>
              </a:rPr>
              <a:t>发送帧</a:t>
            </a:r>
            <a:endParaRPr kumimoji="1" lang="zh-CN" altLang="en-US" sz="1800" b="1">
              <a:latin typeface="CordiaUPC" panose="020B0304020202020204" pitchFamily="34" charset="-34"/>
            </a:endParaRPr>
          </a:p>
        </p:txBody>
      </p:sp>
      <p:sp>
        <p:nvSpPr>
          <p:cNvPr id="28724" name="Line 54"/>
          <p:cNvSpPr>
            <a:spLocks noChangeShapeType="1"/>
          </p:cNvSpPr>
          <p:nvPr/>
        </p:nvSpPr>
        <p:spPr bwMode="auto">
          <a:xfrm>
            <a:off x="3743325" y="4433888"/>
            <a:ext cx="1588" cy="141287"/>
          </a:xfrm>
          <a:prstGeom prst="line">
            <a:avLst/>
          </a:prstGeom>
          <a:noFill/>
          <a:ln w="27051">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5" name="Freeform 55"/>
          <p:cNvSpPr>
            <a:spLocks/>
          </p:cNvSpPr>
          <p:nvPr/>
        </p:nvSpPr>
        <p:spPr bwMode="auto">
          <a:xfrm>
            <a:off x="3698875" y="4564063"/>
            <a:ext cx="93663" cy="82550"/>
          </a:xfrm>
          <a:custGeom>
            <a:avLst/>
            <a:gdLst>
              <a:gd name="T0" fmla="*/ 0 w 59"/>
              <a:gd name="T1" fmla="*/ 0 h 52"/>
              <a:gd name="T2" fmla="*/ 2147483646 w 59"/>
              <a:gd name="T3" fmla="*/ 2147483646 h 52"/>
              <a:gd name="T4" fmla="*/ 2147483646 w 59"/>
              <a:gd name="T5" fmla="*/ 0 h 52"/>
              <a:gd name="T6" fmla="*/ 0 w 59"/>
              <a:gd name="T7" fmla="*/ 0 h 52"/>
              <a:gd name="T8" fmla="*/ 0 60000 65536"/>
              <a:gd name="T9" fmla="*/ 0 60000 65536"/>
              <a:gd name="T10" fmla="*/ 0 60000 65536"/>
              <a:gd name="T11" fmla="*/ 0 60000 65536"/>
              <a:gd name="T12" fmla="*/ 0 w 59"/>
              <a:gd name="T13" fmla="*/ 0 h 52"/>
              <a:gd name="T14" fmla="*/ 59 w 59"/>
              <a:gd name="T15" fmla="*/ 52 h 52"/>
            </a:gdLst>
            <a:ahLst/>
            <a:cxnLst>
              <a:cxn ang="T8">
                <a:pos x="T0" y="T1"/>
              </a:cxn>
              <a:cxn ang="T9">
                <a:pos x="T2" y="T3"/>
              </a:cxn>
              <a:cxn ang="T10">
                <a:pos x="T4" y="T5"/>
              </a:cxn>
              <a:cxn ang="T11">
                <a:pos x="T6" y="T7"/>
              </a:cxn>
            </a:cxnLst>
            <a:rect l="T12" t="T13" r="T14" b="T15"/>
            <a:pathLst>
              <a:path w="59" h="52">
                <a:moveTo>
                  <a:pt x="0" y="0"/>
                </a:moveTo>
                <a:lnTo>
                  <a:pt x="28" y="52"/>
                </a:lnTo>
                <a:lnTo>
                  <a:pt x="59" y="0"/>
                </a:lnTo>
                <a:lnTo>
                  <a:pt x="0" y="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26" name="Rectangle 56"/>
          <p:cNvSpPr>
            <a:spLocks noChangeArrowheads="1"/>
          </p:cNvSpPr>
          <p:nvPr/>
        </p:nvSpPr>
        <p:spPr bwMode="auto">
          <a:xfrm>
            <a:off x="5073650" y="5322888"/>
            <a:ext cx="1417638" cy="427037"/>
          </a:xfrm>
          <a:prstGeom prst="rect">
            <a:avLst/>
          </a:prstGeom>
          <a:solidFill>
            <a:srgbClr val="FFFFFF"/>
          </a:solidFill>
          <a:ln w="4763">
            <a:solidFill>
              <a:srgbClr val="000000"/>
            </a:solidFill>
            <a:miter lim="800000"/>
            <a:headEnd/>
            <a:tailEnd/>
          </a:ln>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eaLnBrk="1" hangingPunct="1">
              <a:lnSpc>
                <a:spcPct val="90000"/>
              </a:lnSpc>
              <a:spcBef>
                <a:spcPct val="20000"/>
              </a:spcBef>
            </a:pPr>
            <a:endParaRPr kumimoji="1" lang="zh-CN" altLang="zh-CN" sz="2400" b="1">
              <a:latin typeface="Times New Roman" panose="02020603050405020304" pitchFamily="18" charset="0"/>
              <a:ea typeface="黑体" panose="02010609060101010101" pitchFamily="49" charset="-122"/>
            </a:endParaRPr>
          </a:p>
        </p:txBody>
      </p:sp>
      <p:sp>
        <p:nvSpPr>
          <p:cNvPr id="28727" name="Rectangle 57"/>
          <p:cNvSpPr>
            <a:spLocks noChangeArrowheads="1"/>
          </p:cNvSpPr>
          <p:nvPr/>
        </p:nvSpPr>
        <p:spPr bwMode="auto">
          <a:xfrm>
            <a:off x="5160963" y="5322888"/>
            <a:ext cx="12684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sz="1800" b="1">
                <a:solidFill>
                  <a:srgbClr val="000000"/>
                </a:solidFill>
                <a:latin typeface="宋体" panose="02010600030101010101" pitchFamily="2" charset="-122"/>
              </a:rPr>
              <a:t>碰撞次数</a:t>
            </a:r>
            <a:r>
              <a:rPr kumimoji="1" lang="en-US" altLang="zh-CN" sz="1800" b="1">
                <a:solidFill>
                  <a:srgbClr val="000000"/>
                </a:solidFill>
                <a:latin typeface="宋体" panose="02010600030101010101" pitchFamily="2" charset="-122"/>
              </a:rPr>
              <a:t>N+1</a:t>
            </a:r>
            <a:endParaRPr kumimoji="1" lang="en-US" altLang="zh-CN" sz="1800" b="1">
              <a:latin typeface="CordiaUPC" panose="020B0304020202020204" pitchFamily="34" charset="-34"/>
            </a:endParaRPr>
          </a:p>
        </p:txBody>
      </p:sp>
      <p:sp>
        <p:nvSpPr>
          <p:cNvPr id="28728" name="Line 58"/>
          <p:cNvSpPr>
            <a:spLocks noChangeShapeType="1"/>
          </p:cNvSpPr>
          <p:nvPr/>
        </p:nvSpPr>
        <p:spPr bwMode="auto">
          <a:xfrm flipV="1">
            <a:off x="5773738" y="4719638"/>
            <a:ext cx="1587" cy="568325"/>
          </a:xfrm>
          <a:prstGeom prst="line">
            <a:avLst/>
          </a:prstGeom>
          <a:noFill/>
          <a:ln w="27051">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9" name="Freeform 59"/>
          <p:cNvSpPr>
            <a:spLocks/>
          </p:cNvSpPr>
          <p:nvPr/>
        </p:nvSpPr>
        <p:spPr bwMode="auto">
          <a:xfrm>
            <a:off x="5729288" y="4646613"/>
            <a:ext cx="93662" cy="84137"/>
          </a:xfrm>
          <a:custGeom>
            <a:avLst/>
            <a:gdLst>
              <a:gd name="T0" fmla="*/ 0 w 59"/>
              <a:gd name="T1" fmla="*/ 2147483646 h 53"/>
              <a:gd name="T2" fmla="*/ 2147483646 w 59"/>
              <a:gd name="T3" fmla="*/ 0 h 53"/>
              <a:gd name="T4" fmla="*/ 2147483646 w 59"/>
              <a:gd name="T5" fmla="*/ 2147483646 h 53"/>
              <a:gd name="T6" fmla="*/ 0 w 59"/>
              <a:gd name="T7" fmla="*/ 2147483646 h 53"/>
              <a:gd name="T8" fmla="*/ 0 60000 65536"/>
              <a:gd name="T9" fmla="*/ 0 60000 65536"/>
              <a:gd name="T10" fmla="*/ 0 60000 65536"/>
              <a:gd name="T11" fmla="*/ 0 60000 65536"/>
              <a:gd name="T12" fmla="*/ 0 w 59"/>
              <a:gd name="T13" fmla="*/ 0 h 53"/>
              <a:gd name="T14" fmla="*/ 59 w 59"/>
              <a:gd name="T15" fmla="*/ 53 h 53"/>
            </a:gdLst>
            <a:ahLst/>
            <a:cxnLst>
              <a:cxn ang="T8">
                <a:pos x="T0" y="T1"/>
              </a:cxn>
              <a:cxn ang="T9">
                <a:pos x="T2" y="T3"/>
              </a:cxn>
              <a:cxn ang="T10">
                <a:pos x="T4" y="T5"/>
              </a:cxn>
              <a:cxn ang="T11">
                <a:pos x="T6" y="T7"/>
              </a:cxn>
            </a:cxnLst>
            <a:rect l="T12" t="T13" r="T14" b="T15"/>
            <a:pathLst>
              <a:path w="59" h="53">
                <a:moveTo>
                  <a:pt x="0" y="53"/>
                </a:moveTo>
                <a:lnTo>
                  <a:pt x="28" y="0"/>
                </a:lnTo>
                <a:lnTo>
                  <a:pt x="59" y="53"/>
                </a:lnTo>
                <a:lnTo>
                  <a:pt x="0" y="5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63" name="组合 62"/>
          <p:cNvGrpSpPr>
            <a:grpSpLocks/>
          </p:cNvGrpSpPr>
          <p:nvPr/>
        </p:nvGrpSpPr>
        <p:grpSpPr bwMode="auto">
          <a:xfrm>
            <a:off x="4692650" y="2473325"/>
            <a:ext cx="3717925" cy="3538538"/>
            <a:chOff x="5004048" y="2092786"/>
            <a:chExt cx="3717126" cy="3538077"/>
          </a:xfrm>
        </p:grpSpPr>
        <p:sp>
          <p:nvSpPr>
            <p:cNvPr id="28731" name="矩形 1"/>
            <p:cNvSpPr>
              <a:spLocks noChangeArrowheads="1"/>
            </p:cNvSpPr>
            <p:nvPr/>
          </p:nvSpPr>
          <p:spPr bwMode="auto">
            <a:xfrm>
              <a:off x="5004048" y="2481263"/>
              <a:ext cx="2160240" cy="3149600"/>
            </a:xfrm>
            <a:prstGeom prst="rect">
              <a:avLst/>
            </a:prstGeom>
            <a:solidFill>
              <a:srgbClr val="FF0000">
                <a:alpha val="18823"/>
              </a:srgbClr>
            </a:solidFill>
            <a:ln w="9525" algn="ctr">
              <a:solidFill>
                <a:srgbClr val="FF0000"/>
              </a:solidFill>
              <a:prstDash val="dashDot"/>
              <a:round/>
              <a:headEnd/>
              <a:tailEnd/>
            </a:ln>
          </p:spPr>
          <p:txBody>
            <a:bodyPr wrap="none"/>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28732" name="TextBox 2"/>
            <p:cNvSpPr txBox="1">
              <a:spLocks noChangeArrowheads="1"/>
            </p:cNvSpPr>
            <p:nvPr/>
          </p:nvSpPr>
          <p:spPr bwMode="auto">
            <a:xfrm>
              <a:off x="6228184" y="2092786"/>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FF0000"/>
                  </a:solidFill>
                  <a:latin typeface="Arial" panose="020B0604020202020204" pitchFamily="34" charset="0"/>
                  <a:ea typeface="黑体" panose="02010609060101010101" pitchFamily="49" charset="-122"/>
                </a:rPr>
                <a:t>二进制指数退避算法</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74675" y="692150"/>
            <a:ext cx="3709988" cy="828675"/>
          </a:xfrm>
        </p:spPr>
        <p:txBody>
          <a:bodyPr/>
          <a:lstStyle/>
          <a:p>
            <a:pPr eaLnBrk="1" hangingPunct="1"/>
            <a:r>
              <a:rPr kumimoji="1" lang="zh-CN" altLang="en-US" sz="2800" b="1" dirty="0">
                <a:solidFill>
                  <a:srgbClr val="0000CC"/>
                </a:solidFill>
                <a:latin typeface="黑体" panose="02010609060101010101" pitchFamily="49" charset="-122"/>
                <a:ea typeface="黑体" panose="02010609060101010101" pitchFamily="49" charset="-122"/>
              </a:rPr>
              <a:t>以太网提供的服务</a:t>
            </a:r>
            <a:r>
              <a:rPr lang="zh-CN" altLang="en-US" sz="2800" dirty="0"/>
              <a:t> </a:t>
            </a:r>
          </a:p>
        </p:txBody>
      </p:sp>
      <p:sp>
        <p:nvSpPr>
          <p:cNvPr id="16387" name="Rectangle 3"/>
          <p:cNvSpPr>
            <a:spLocks noGrp="1" noChangeArrowheads="1"/>
          </p:cNvSpPr>
          <p:nvPr>
            <p:ph type="body" idx="1"/>
          </p:nvPr>
        </p:nvSpPr>
        <p:spPr>
          <a:xfrm>
            <a:off x="555625" y="1916113"/>
            <a:ext cx="8337550" cy="2541587"/>
          </a:xfrm>
        </p:spPr>
        <p:txBody>
          <a:bodyPr/>
          <a:lstStyle/>
          <a:p>
            <a:pPr eaLnBrk="1" hangingPunct="1">
              <a:lnSpc>
                <a:spcPct val="120000"/>
              </a:lnSpc>
              <a:buFont typeface="Wingdings" panose="05000000000000000000" pitchFamily="2" charset="2"/>
              <a:buChar char="l"/>
            </a:pPr>
            <a:r>
              <a:rPr lang="zh-CN" altLang="en-US" sz="2800" b="1">
                <a:latin typeface="黑体" panose="02010609060101010101" pitchFamily="49" charset="-122"/>
                <a:ea typeface="黑体" panose="02010609060101010101" pitchFamily="49" charset="-122"/>
              </a:rPr>
              <a:t>以太网提供的服务是</a:t>
            </a:r>
            <a:r>
              <a:rPr lang="zh-CN" altLang="en-US" sz="2800" b="1">
                <a:solidFill>
                  <a:srgbClr val="FF0000"/>
                </a:solidFill>
                <a:latin typeface="黑体" panose="02010609060101010101" pitchFamily="49" charset="-122"/>
                <a:ea typeface="黑体" panose="02010609060101010101" pitchFamily="49" charset="-122"/>
              </a:rPr>
              <a:t>不可靠</a:t>
            </a:r>
            <a:r>
              <a:rPr lang="zh-CN" altLang="en-US" sz="2800" b="1">
                <a:latin typeface="黑体" panose="02010609060101010101" pitchFamily="49" charset="-122"/>
                <a:ea typeface="黑体" panose="02010609060101010101" pitchFamily="49" charset="-122"/>
              </a:rPr>
              <a:t>的交付，即</a:t>
            </a:r>
            <a:r>
              <a:rPr lang="zh-CN" altLang="en-US" sz="2800" b="1">
                <a:solidFill>
                  <a:srgbClr val="FF0000"/>
                </a:solidFill>
                <a:latin typeface="黑体" panose="02010609060101010101" pitchFamily="49" charset="-122"/>
                <a:ea typeface="黑体" panose="02010609060101010101" pitchFamily="49" charset="-122"/>
              </a:rPr>
              <a:t>尽最大努力的交付</a:t>
            </a:r>
            <a:endParaRPr lang="en-US" altLang="zh-CN" sz="2800" b="1">
              <a:solidFill>
                <a:srgbClr val="FF0000"/>
              </a:solidFill>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r>
              <a:rPr lang="zh-CN" altLang="en-US" sz="2800"/>
              <a:t>当目的站收到有差错的数据帧时就丢弃此帧，其他什么也不做。差错的纠正由高层来决定。</a:t>
            </a:r>
          </a:p>
          <a:p>
            <a:pPr eaLnBrk="1" hangingPunct="1">
              <a:lnSpc>
                <a:spcPct val="120000"/>
              </a:lnSpc>
              <a:buFont typeface="Wingdings" panose="05000000000000000000" pitchFamily="2" charset="2"/>
              <a:buChar char="l"/>
            </a:pPr>
            <a:r>
              <a:rPr lang="zh-CN" altLang="en-US" sz="2800"/>
              <a:t>如果高层发现丢失了一些数据而进行重传，但以太网并不知道这是一个重传的帧，而是当作一个新的数据帧来发送。  </a:t>
            </a:r>
          </a:p>
        </p:txBody>
      </p:sp>
    </p:spTree>
    <p:extLst>
      <p:ext uri="{BB962C8B-B14F-4D97-AF65-F5344CB8AC3E}">
        <p14:creationId xmlns:p14="http://schemas.microsoft.com/office/powerpoint/2010/main" val="3496158913"/>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kumimoji="1" lang="zh-CN" altLang="en-US" sz="2800" b="1">
                <a:solidFill>
                  <a:srgbClr val="0000CC"/>
                </a:solidFill>
                <a:latin typeface="黑体" panose="02010609060101010101" pitchFamily="49" charset="-122"/>
                <a:ea typeface="黑体" panose="02010609060101010101" pitchFamily="49" charset="-122"/>
              </a:rPr>
              <a:t>以太网采取了两种重要的措施</a:t>
            </a:r>
            <a:r>
              <a:rPr lang="zh-CN" altLang="en-US" sz="3200"/>
              <a:t> </a:t>
            </a:r>
          </a:p>
        </p:txBody>
      </p:sp>
      <p:sp>
        <p:nvSpPr>
          <p:cNvPr id="17411" name="Rectangle 3"/>
          <p:cNvSpPr>
            <a:spLocks noGrp="1" noChangeArrowheads="1"/>
          </p:cNvSpPr>
          <p:nvPr>
            <p:ph type="body" idx="1"/>
          </p:nvPr>
        </p:nvSpPr>
        <p:spPr>
          <a:xfrm>
            <a:off x="539750" y="1773238"/>
            <a:ext cx="8135938" cy="2087810"/>
          </a:xfrm>
        </p:spPr>
        <p:txBody>
          <a:bodyPr/>
          <a:lstStyle/>
          <a:p>
            <a:pPr eaLnBrk="1" hangingPunct="1">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采用无连接的工作方式，即不必先建立连接就可以直接发送数据。 </a:t>
            </a:r>
          </a:p>
          <a:p>
            <a:pPr eaLnBrk="1" hangingPunct="1">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对发送的数据帧不进行编号，也不要求对方发回确认。</a:t>
            </a:r>
          </a:p>
          <a:p>
            <a:pPr lvl="1" eaLnBrk="1" hangingPunct="1">
              <a:buFont typeface="Wingdings" panose="05000000000000000000" pitchFamily="2" charset="2"/>
              <a:buNone/>
            </a:pPr>
            <a:r>
              <a:rPr lang="zh-CN" altLang="en-US" sz="2400" dirty="0">
                <a:solidFill>
                  <a:srgbClr val="333399"/>
                </a:solidFill>
                <a:latin typeface="微软雅黑" panose="020B0503020204020204" pitchFamily="34" charset="-122"/>
                <a:ea typeface="微软雅黑" panose="020B0503020204020204" pitchFamily="34" charset="-122"/>
              </a:rPr>
              <a:t>   这样做的理由是局域网信道的质量很好，因信道质量产生差错的概率是很小的。</a:t>
            </a:r>
            <a:r>
              <a:rPr lang="zh-CN" altLang="en-US" sz="2400" dirty="0">
                <a:latin typeface="微软雅黑" panose="020B0503020204020204" pitchFamily="34" charset="-122"/>
                <a:ea typeface="微软雅黑" panose="020B0503020204020204" pitchFamily="34" charset="-122"/>
              </a:rPr>
              <a:t> </a:t>
            </a:r>
          </a:p>
        </p:txBody>
      </p:sp>
      <p:sp>
        <p:nvSpPr>
          <p:cNvPr id="5" name="文本框 4">
            <a:extLst>
              <a:ext uri="{FF2B5EF4-FFF2-40B4-BE49-F238E27FC236}">
                <a16:creationId xmlns:a16="http://schemas.microsoft.com/office/drawing/2014/main" id="{D7064629-97EE-4360-9732-8C026AAF9884}"/>
              </a:ext>
            </a:extLst>
          </p:cNvPr>
          <p:cNvSpPr txBox="1"/>
          <p:nvPr/>
        </p:nvSpPr>
        <p:spPr>
          <a:xfrm>
            <a:off x="574674" y="4509120"/>
            <a:ext cx="8245797" cy="939360"/>
          </a:xfrm>
          <a:prstGeom prst="rect">
            <a:avLst/>
          </a:prstGeom>
          <a:noFill/>
        </p:spPr>
        <p:txBody>
          <a:bodyPr wrap="square">
            <a:spAutoFit/>
          </a:bodyPr>
          <a:lstStyle/>
          <a:p>
            <a:pPr>
              <a:lnSpc>
                <a:spcPct val="120000"/>
              </a:lnSpc>
            </a:pPr>
            <a:r>
              <a:rPr lang="zh-CN" altLang="en-US" sz="2400" dirty="0">
                <a:solidFill>
                  <a:srgbClr val="FF0000"/>
                </a:solidFill>
                <a:latin typeface="微软雅黑" panose="020B0503020204020204" pitchFamily="34" charset="-122"/>
                <a:ea typeface="微软雅黑" panose="020B0503020204020204" pitchFamily="34" charset="-122"/>
              </a:rPr>
              <a:t>以太网的链路层向网络层提供</a:t>
            </a:r>
            <a:r>
              <a:rPr lang="zh-CN" altLang="en-US" sz="2400" dirty="0">
                <a:solidFill>
                  <a:srgbClr val="0070C0"/>
                </a:solidFill>
                <a:latin typeface="微软雅黑" panose="020B0503020204020204" pitchFamily="34" charset="-122"/>
                <a:ea typeface="微软雅黑" panose="020B0503020204020204" pitchFamily="34" charset="-122"/>
              </a:rPr>
              <a:t>无确认的无连接不可靠服务</a:t>
            </a:r>
            <a:r>
              <a:rPr lang="zh-CN" altLang="en-US" sz="2400" dirty="0">
                <a:solidFill>
                  <a:srgbClr val="FF0000"/>
                </a:solidFill>
                <a:latin typeface="微软雅黑" panose="020B0503020204020204" pitchFamily="34" charset="-122"/>
                <a:ea typeface="微软雅黑" panose="020B0503020204020204" pitchFamily="34" charset="-122"/>
              </a:rPr>
              <a:t>，但是保证无差错的接收。</a:t>
            </a:r>
            <a:endParaRPr lang="zh-CN" altLang="en-US" sz="2400" dirty="0">
              <a:solidFill>
                <a:srgbClr val="FF0000"/>
              </a:solidFill>
            </a:endParaRPr>
          </a:p>
        </p:txBody>
      </p:sp>
    </p:spTree>
    <p:extLst>
      <p:ext uri="{BB962C8B-B14F-4D97-AF65-F5344CB8AC3E}">
        <p14:creationId xmlns:p14="http://schemas.microsoft.com/office/powerpoint/2010/main" val="3993000042"/>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BDDED9-E6EB-4646-9FD9-7F52402CA0E5}"/>
              </a:ext>
            </a:extLst>
          </p:cNvPr>
          <p:cNvSpPr>
            <a:spLocks noGrp="1"/>
          </p:cNvSpPr>
          <p:nvPr>
            <p:ph type="title"/>
          </p:nvPr>
        </p:nvSpPr>
        <p:spPr/>
        <p:txBody>
          <a:bodyPr/>
          <a:lstStyle/>
          <a:p>
            <a:endParaRPr lang="zh-CN" altLang="en-US"/>
          </a:p>
        </p:txBody>
      </p:sp>
      <p:sp>
        <p:nvSpPr>
          <p:cNvPr id="8" name="文本框 7">
            <a:extLst>
              <a:ext uri="{FF2B5EF4-FFF2-40B4-BE49-F238E27FC236}">
                <a16:creationId xmlns:a16="http://schemas.microsoft.com/office/drawing/2014/main" id="{6FE12397-F58E-4271-9650-71EFF07AF0D0}"/>
              </a:ext>
            </a:extLst>
          </p:cNvPr>
          <p:cNvSpPr txBox="1"/>
          <p:nvPr/>
        </p:nvSpPr>
        <p:spPr>
          <a:xfrm>
            <a:off x="215008" y="1412776"/>
            <a:ext cx="8928992" cy="1785104"/>
          </a:xfrm>
          <a:prstGeom prst="rect">
            <a:avLst/>
          </a:prstGeom>
          <a:solidFill>
            <a:schemeClr val="bg1"/>
          </a:solidFill>
        </p:spPr>
        <p:txBody>
          <a:bodyPr wrap="square">
            <a:spAutoFit/>
          </a:bodyPr>
          <a:lstStyle/>
          <a:p>
            <a:pPr algn="just">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下列关于</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CSMA/CD</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协议的叙述中，错误的是</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A.</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边发送数据帧，边检测是否发生冲突</a:t>
            </a:r>
          </a:p>
          <a:p>
            <a:pPr algn="just">
              <a:tabLst>
                <a:tab pos="457200" algn="l"/>
              </a:tabLst>
            </a:pPr>
            <a:r>
              <a:rPr lang="en-US" altLang="zh-CN" sz="22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B.</a:t>
            </a:r>
            <a:r>
              <a:rPr lang="zh-CN" altLang="zh-CN" sz="22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适用于无线网络，以实现无线链路共享</a:t>
            </a:r>
          </a:p>
          <a:p>
            <a:pPr algn="just">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C.</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需要根据网络跨距和数据传输速率限定最小帧长</a:t>
            </a:r>
          </a:p>
          <a:p>
            <a:pPr algn="just">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D.</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当信号传播延迟趋近</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0</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时，信道利用率趋近</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100%</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32E4AB6A-C6E6-4D68-A0B8-D8E29BEA999C}"/>
              </a:ext>
            </a:extLst>
          </p:cNvPr>
          <p:cNvSpPr txBox="1"/>
          <p:nvPr/>
        </p:nvSpPr>
        <p:spPr>
          <a:xfrm>
            <a:off x="160748" y="3573016"/>
            <a:ext cx="8659723" cy="2123658"/>
          </a:xfrm>
          <a:prstGeom prst="rect">
            <a:avLst/>
          </a:prstGeom>
          <a:noFill/>
        </p:spPr>
        <p:txBody>
          <a:bodyPr wrap="square">
            <a:spAutoFit/>
          </a:bodyPr>
          <a:lstStyle/>
          <a:p>
            <a:pPr algn="just">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假设一个采用</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CSMA/CD</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协议的</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100Mb/s</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局域网，最小帧长是</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128B</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，则在一个冲突域内两个站点之间的单向传播时延最多是</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A.2.56us</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tabLst>
                <a:tab pos="457200" algn="l"/>
              </a:tabLst>
            </a:pPr>
            <a:r>
              <a:rPr lang="en-US" altLang="zh-CN" sz="22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B.5.12us</a:t>
            </a:r>
            <a:endParaRPr lang="zh-CN" altLang="zh-CN" sz="22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C.10.24us</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D.20.48us</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7C8BEF15-CA39-4545-B5A4-3EE225F12B82}"/>
              </a:ext>
            </a:extLst>
          </p:cNvPr>
          <p:cNvSpPr txBox="1"/>
          <p:nvPr/>
        </p:nvSpPr>
        <p:spPr>
          <a:xfrm>
            <a:off x="6012160" y="6041032"/>
            <a:ext cx="2952328" cy="400110"/>
          </a:xfrm>
          <a:prstGeom prst="rect">
            <a:avLst/>
          </a:prstGeom>
          <a:noFill/>
        </p:spPr>
        <p:txBody>
          <a:bodyPr wrap="square">
            <a:spAutoFit/>
          </a:bodyPr>
          <a:lstStyle/>
          <a:p>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128*8/(100*10^6) = 2t</a:t>
            </a:r>
            <a:endParaRPr lang="zh-CN" altLang="en-US" dirty="0"/>
          </a:p>
        </p:txBody>
      </p:sp>
    </p:spTree>
    <p:extLst>
      <p:ext uri="{BB962C8B-B14F-4D97-AF65-F5344CB8AC3E}">
        <p14:creationId xmlns:p14="http://schemas.microsoft.com/office/powerpoint/2010/main" val="355132618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3BDDED9-E6EB-4646-9FD9-7F52402CA0E5}"/>
              </a:ext>
            </a:extLst>
          </p:cNvPr>
          <p:cNvSpPr>
            <a:spLocks noGrp="1"/>
          </p:cNvSpPr>
          <p:nvPr>
            <p:ph type="title"/>
          </p:nvPr>
        </p:nvSpPr>
        <p:spPr/>
        <p:txBody>
          <a:bodyPr/>
          <a:lstStyle/>
          <a:p>
            <a:endParaRPr lang="zh-CN" altLang="en-US"/>
          </a:p>
        </p:txBody>
      </p:sp>
      <p:sp>
        <p:nvSpPr>
          <p:cNvPr id="4" name="文本框 3">
            <a:extLst>
              <a:ext uri="{FF2B5EF4-FFF2-40B4-BE49-F238E27FC236}">
                <a16:creationId xmlns:a16="http://schemas.microsoft.com/office/drawing/2014/main" id="{CA58D625-4AA3-4A1E-9D29-1F23C0F09DDA}"/>
              </a:ext>
            </a:extLst>
          </p:cNvPr>
          <p:cNvSpPr txBox="1"/>
          <p:nvPr/>
        </p:nvSpPr>
        <p:spPr>
          <a:xfrm>
            <a:off x="189317" y="980728"/>
            <a:ext cx="8818406" cy="2901756"/>
          </a:xfrm>
          <a:prstGeom prst="rect">
            <a:avLst/>
          </a:prstGeom>
          <a:solidFill>
            <a:schemeClr val="bg1"/>
          </a:solidFill>
        </p:spPr>
        <p:txBody>
          <a:bodyPr wrap="square">
            <a:spAutoFit/>
          </a:bodyPr>
          <a:lstStyle/>
          <a:p>
            <a:pPr algn="just">
              <a:lnSpc>
                <a:spcPct val="120000"/>
              </a:lnSpc>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已知</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10BaseT</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以太网的争用时间片为</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51.2us</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。若网卡在发送某帧时发生了连续</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次冲突，则基于二进制指数退进算法确定的再次尝试重发该帧前等待的最长时间是</a:t>
            </a: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0000"/>
              </a:lnSpc>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A. 51.2us</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0000"/>
              </a:lnSpc>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B.204.8us</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0000"/>
              </a:lnSpc>
              <a:tabLst>
                <a:tab pos="457200" algn="l"/>
              </a:tabLst>
            </a:pPr>
            <a:r>
              <a:rPr lang="en-US" altLang="zh-CN" sz="22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C. 768us</a:t>
            </a:r>
            <a:endParaRPr lang="zh-CN" altLang="zh-CN" sz="22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0000"/>
              </a:lnSpc>
              <a:tabLst>
                <a:tab pos="457200" algn="l"/>
              </a:tabLst>
            </a:pPr>
            <a:r>
              <a:rPr lang="en-US"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rPr>
              <a:t>D.819.2us</a:t>
            </a:r>
            <a:endParaRPr lang="zh-CN" altLang="zh-CN" sz="2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879C1B5F-1738-4731-95C6-7993ECE496F3}"/>
              </a:ext>
            </a:extLst>
          </p:cNvPr>
          <p:cNvSpPr txBox="1"/>
          <p:nvPr/>
        </p:nvSpPr>
        <p:spPr>
          <a:xfrm>
            <a:off x="3923928" y="2852936"/>
            <a:ext cx="5299819" cy="954107"/>
          </a:xfrm>
          <a:prstGeom prst="rect">
            <a:avLst/>
          </a:prstGeom>
          <a:noFill/>
        </p:spPr>
        <p:txBody>
          <a:bodyPr wrap="square">
            <a:spAutoFit/>
          </a:bodyPr>
          <a:lstStyle/>
          <a:p>
            <a:r>
              <a:rPr lang="zh-CN" altLang="en-US" sz="1800" kern="0" dirty="0">
                <a:latin typeface="微软雅黑" panose="020B0503020204020204" pitchFamily="34" charset="-122"/>
                <a:ea typeface="微软雅黑" panose="020B0503020204020204" pitchFamily="34" charset="-122"/>
              </a:rPr>
              <a:t>从整数集合</a:t>
            </a:r>
            <a:r>
              <a:rPr lang="en-US" altLang="zh-CN" sz="1800" kern="0" dirty="0">
                <a:latin typeface="微软雅黑" panose="020B0503020204020204" pitchFamily="34" charset="-122"/>
                <a:ea typeface="微软雅黑" panose="020B0503020204020204" pitchFamily="34" charset="-122"/>
              </a:rPr>
              <a:t>[0,1,…, (2</a:t>
            </a:r>
            <a:r>
              <a:rPr lang="en-US" altLang="zh-CN" sz="1800" i="1" kern="0" baseline="30000" dirty="0">
                <a:latin typeface="微软雅黑" panose="020B0503020204020204" pitchFamily="34" charset="-122"/>
                <a:ea typeface="微软雅黑" panose="020B0503020204020204" pitchFamily="34" charset="-122"/>
              </a:rPr>
              <a:t>4</a:t>
            </a:r>
            <a:r>
              <a:rPr lang="en-US" altLang="zh-CN" sz="1800" i="1" kern="0" dirty="0">
                <a:latin typeface="微软雅黑" panose="020B0503020204020204" pitchFamily="34" charset="-122"/>
                <a:ea typeface="微软雅黑" panose="020B0503020204020204" pitchFamily="34" charset="-122"/>
              </a:rPr>
              <a:t> </a:t>
            </a:r>
            <a:r>
              <a:rPr lang="en-US" altLang="zh-CN" sz="1800" kern="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1800" kern="0" dirty="0">
                <a:latin typeface="微软雅黑" panose="020B0503020204020204" pitchFamily="34" charset="-122"/>
                <a:ea typeface="微软雅黑" panose="020B0503020204020204" pitchFamily="34" charset="-122"/>
              </a:rPr>
              <a:t>1)]</a:t>
            </a:r>
            <a:r>
              <a:rPr lang="zh-CN" altLang="en-US" sz="1800" kern="0" dirty="0">
                <a:latin typeface="微软雅黑" panose="020B0503020204020204" pitchFamily="34" charset="-122"/>
                <a:ea typeface="微软雅黑" panose="020B0503020204020204" pitchFamily="34" charset="-122"/>
              </a:rPr>
              <a:t>中随机地取出一个数，记为 </a:t>
            </a:r>
            <a:r>
              <a:rPr lang="en-US" altLang="zh-CN" sz="1800" i="1" kern="0" dirty="0">
                <a:latin typeface="微软雅黑" panose="020B0503020204020204" pitchFamily="34" charset="-122"/>
                <a:ea typeface="微软雅黑" panose="020B0503020204020204" pitchFamily="34" charset="-122"/>
              </a:rPr>
              <a:t>r</a:t>
            </a:r>
            <a:r>
              <a:rPr lang="zh-CN" altLang="en-US" sz="1800" kern="0" dirty="0">
                <a:latin typeface="微软雅黑" panose="020B0503020204020204" pitchFamily="34" charset="-122"/>
                <a:ea typeface="微软雅黑" panose="020B0503020204020204" pitchFamily="34" charset="-122"/>
              </a:rPr>
              <a:t>。重传所需的时延就是 </a:t>
            </a:r>
            <a:r>
              <a:rPr lang="en-US" altLang="zh-CN" sz="1800" i="1" kern="0" dirty="0">
                <a:latin typeface="微软雅黑" panose="020B0503020204020204" pitchFamily="34" charset="-122"/>
                <a:ea typeface="微软雅黑" panose="020B0503020204020204" pitchFamily="34" charset="-122"/>
              </a:rPr>
              <a:t>r </a:t>
            </a:r>
            <a:r>
              <a:rPr lang="zh-CN" altLang="en-US" sz="1800" kern="0" dirty="0">
                <a:latin typeface="微软雅黑" panose="020B0503020204020204" pitchFamily="34" charset="-122"/>
                <a:ea typeface="微软雅黑" panose="020B0503020204020204" pitchFamily="34" charset="-122"/>
              </a:rPr>
              <a:t>倍的基本退避时间，即 </a:t>
            </a:r>
            <a:r>
              <a:rPr lang="en-US" altLang="zh-CN" sz="1800" kern="0" dirty="0">
                <a:latin typeface="微软雅黑" panose="020B0503020204020204" pitchFamily="34" charset="-122"/>
                <a:ea typeface="微软雅黑" panose="020B0503020204020204" pitchFamily="34" charset="-122"/>
              </a:rPr>
              <a:t>r*</a:t>
            </a:r>
            <a:r>
              <a:rPr lang="zh-CN" altLang="en-US" sz="1800" kern="0" dirty="0">
                <a:latin typeface="微软雅黑" panose="020B0503020204020204" pitchFamily="34" charset="-122"/>
                <a:ea typeface="微软雅黑" panose="020B0503020204020204" pitchFamily="34" charset="-122"/>
              </a:rPr>
              <a:t>争用期</a:t>
            </a:r>
            <a:r>
              <a:rPr lang="en-US" altLang="zh-CN" sz="1800" i="1" kern="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1800" i="1" kern="0" dirty="0">
                <a:latin typeface="微软雅黑" panose="020B0503020204020204" pitchFamily="34" charset="-122"/>
                <a:ea typeface="微软雅黑" panose="020B0503020204020204" pitchFamily="34" charset="-122"/>
                <a:sym typeface="Symbol" panose="05050102010706020507" pitchFamily="18" charset="2"/>
              </a:rPr>
              <a:t>；最大为</a:t>
            </a:r>
            <a:r>
              <a:rPr lang="en-US" altLang="zh-CN" sz="1800" i="1" kern="0" dirty="0">
                <a:latin typeface="微软雅黑" panose="020B0503020204020204" pitchFamily="34" charset="-122"/>
                <a:ea typeface="微软雅黑" panose="020B0503020204020204" pitchFamily="34" charset="-122"/>
                <a:sym typeface="Symbol" panose="05050102010706020507" pitchFamily="18" charset="2"/>
              </a:rPr>
              <a:t>15*51.2=768us</a:t>
            </a:r>
            <a:endParaRPr lang="zh-CN" altLang="en-US" sz="1800" dirty="0"/>
          </a:p>
        </p:txBody>
      </p:sp>
      <p:sp>
        <p:nvSpPr>
          <p:cNvPr id="7" name="文本框 6">
            <a:extLst>
              <a:ext uri="{FF2B5EF4-FFF2-40B4-BE49-F238E27FC236}">
                <a16:creationId xmlns:a16="http://schemas.microsoft.com/office/drawing/2014/main" id="{AEF86CD5-269C-4F5D-9614-2279DF2C58F1}"/>
              </a:ext>
            </a:extLst>
          </p:cNvPr>
          <p:cNvSpPr txBox="1"/>
          <p:nvPr/>
        </p:nvSpPr>
        <p:spPr>
          <a:xfrm>
            <a:off x="189317" y="4221088"/>
            <a:ext cx="8371370" cy="2246769"/>
          </a:xfrm>
          <a:prstGeom prst="rect">
            <a:avLst/>
          </a:prstGeom>
          <a:solidFill>
            <a:schemeClr val="bg1"/>
          </a:solidFill>
        </p:spPr>
        <p:txBody>
          <a:bodyPr wrap="square">
            <a:spAutoFit/>
          </a:bodyPr>
          <a:lstStyle/>
          <a:p>
            <a:pPr algn="just">
              <a:tabLst>
                <a:tab pos="457200" algn="l"/>
              </a:tabLst>
            </a:pP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、在以太网中，当数据传输速率提高时，帧的发送时间相应地缩短，这样可能会影响到冲突的检测。为了能有效地检测冲突，可以使用的解决方案有</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tabLst>
                <a:tab pos="457200" algn="l"/>
              </a:tabLst>
            </a:pP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A.</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减少电缆介质的长度或减少最短帧长 </a:t>
            </a:r>
          </a:p>
          <a:p>
            <a:pPr algn="just">
              <a:tabLst>
                <a:tab pos="457200" algn="l"/>
              </a:tabLst>
            </a:pPr>
            <a:r>
              <a:rPr lang="en-US" altLang="zh-CN" sz="20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B.</a:t>
            </a:r>
            <a:r>
              <a:rPr lang="zh-CN" altLang="zh-CN" sz="20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减少电缆介质的长度或增加最短帧长</a:t>
            </a:r>
          </a:p>
          <a:p>
            <a:pPr algn="just">
              <a:tabLst>
                <a:tab pos="457200" algn="l"/>
              </a:tabLst>
            </a:pP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C.</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增加电缆介质的长度或减少最短帧长</a:t>
            </a:r>
          </a:p>
          <a:p>
            <a:pPr algn="just">
              <a:tabLst>
                <a:tab pos="457200" algn="l"/>
              </a:tabLst>
            </a:pP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D.</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增加电缆介质的长度或增加最短帧长</a:t>
            </a:r>
          </a:p>
        </p:txBody>
      </p:sp>
    </p:spTree>
    <p:extLst>
      <p:ext uri="{BB962C8B-B14F-4D97-AF65-F5344CB8AC3E}">
        <p14:creationId xmlns:p14="http://schemas.microsoft.com/office/powerpoint/2010/main" val="132548445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E51433D-0371-4278-BED2-B2F180590034}"/>
              </a:ext>
            </a:extLst>
          </p:cNvPr>
          <p:cNvSpPr txBox="1"/>
          <p:nvPr/>
        </p:nvSpPr>
        <p:spPr>
          <a:xfrm>
            <a:off x="314306" y="1196752"/>
            <a:ext cx="8515387" cy="2123658"/>
          </a:xfrm>
          <a:prstGeom prst="rect">
            <a:avLst/>
          </a:prstGeom>
          <a:solidFill>
            <a:schemeClr val="bg1"/>
          </a:solidFill>
        </p:spPr>
        <p:txBody>
          <a:bodyPr wrap="square">
            <a:spAutoFit/>
          </a:bodyPr>
          <a:lstStyle/>
          <a:p>
            <a:pPr marL="133350" indent="-133350" algn="just">
              <a:tabLst>
                <a:tab pos="457200" algn="l"/>
              </a:tabLst>
            </a:pP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、长度为</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10km</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、数据传输速率为</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10Mb/s</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CSMA/CD</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以太网，信号传播速率为</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200m/us.</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那么该网络的最小帧长为</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tabLst>
                <a:tab pos="457200" algn="l"/>
              </a:tabLst>
            </a:pP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A.20bit</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tabLst>
                <a:tab pos="457200" algn="l"/>
              </a:tabLst>
            </a:pP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B.200bi</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tabLst>
                <a:tab pos="457200" algn="l"/>
              </a:tabLst>
            </a:pP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C.100bit</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tabLst>
                <a:tab pos="457200" algn="l"/>
              </a:tabLst>
            </a:pPr>
            <a:r>
              <a:rPr lang="en-US"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D.1000bit</a:t>
            </a:r>
            <a:endParaRPr lang="zh-CN"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0B9A3024-F395-43E5-BB48-004D44672132}"/>
              </a:ext>
            </a:extLst>
          </p:cNvPr>
          <p:cNvSpPr txBox="1"/>
          <p:nvPr/>
        </p:nvSpPr>
        <p:spPr>
          <a:xfrm>
            <a:off x="4499992" y="2708920"/>
            <a:ext cx="4572000" cy="400110"/>
          </a:xfrm>
          <a:prstGeom prst="rect">
            <a:avLst/>
          </a:prstGeom>
          <a:noFill/>
        </p:spPr>
        <p:txBody>
          <a:bodyPr wrap="square">
            <a:spAutoFit/>
          </a:bodyPr>
          <a:lstStyle/>
          <a:p>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x/(10*10^6) * 10^6= 2* 10*10^3/200</a:t>
            </a:r>
            <a:endParaRPr lang="zh-CN" altLang="en-US" dirty="0"/>
          </a:p>
        </p:txBody>
      </p:sp>
    </p:spTree>
    <p:extLst>
      <p:ext uri="{BB962C8B-B14F-4D97-AF65-F5344CB8AC3E}">
        <p14:creationId xmlns:p14="http://schemas.microsoft.com/office/powerpoint/2010/main" val="3622114109"/>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899592" y="2348880"/>
            <a:ext cx="8001000" cy="1216025"/>
          </a:xfrm>
        </p:spPr>
        <p:txBody>
          <a:bodyPr/>
          <a:lstStyle/>
          <a:p>
            <a:pPr eaLnBrk="1" hangingPunct="1"/>
            <a:r>
              <a:rPr lang="en-US" altLang="zh-CN" sz="3200" b="1" dirty="0">
                <a:solidFill>
                  <a:srgbClr val="333399"/>
                </a:solidFill>
                <a:latin typeface="黑体" panose="02010609060101010101" pitchFamily="49" charset="-122"/>
                <a:ea typeface="黑体" panose="02010609060101010101" pitchFamily="49" charset="-122"/>
              </a:rPr>
              <a:t>DIX Ethernet V2 </a:t>
            </a:r>
            <a:r>
              <a:rPr lang="zh-CN" altLang="en-US" sz="3200" b="1" dirty="0">
                <a:solidFill>
                  <a:srgbClr val="000099"/>
                </a:solidFill>
                <a:latin typeface="黑体" panose="02010609060101010101" pitchFamily="49" charset="-122"/>
                <a:ea typeface="黑体" panose="02010609060101010101" pitchFamily="49" charset="-122"/>
              </a:rPr>
              <a:t>以太网 </a:t>
            </a:r>
            <a:r>
              <a:rPr lang="en-US" altLang="zh-CN" sz="3200" b="1" dirty="0">
                <a:solidFill>
                  <a:srgbClr val="000099"/>
                </a:solidFill>
                <a:latin typeface="黑体" panose="02010609060101010101" pitchFamily="49" charset="-122"/>
                <a:ea typeface="黑体" panose="02010609060101010101" pitchFamily="49" charset="-122"/>
              </a:rPr>
              <a:t>MAC </a:t>
            </a:r>
            <a:r>
              <a:rPr lang="zh-CN" altLang="en-US" sz="3200" b="1" dirty="0">
                <a:solidFill>
                  <a:srgbClr val="000099"/>
                </a:solidFill>
                <a:latin typeface="黑体" panose="02010609060101010101" pitchFamily="49" charset="-122"/>
                <a:ea typeface="黑体" panose="02010609060101010101" pitchFamily="49" charset="-122"/>
              </a:rPr>
              <a:t>帧格式</a:t>
            </a:r>
            <a:r>
              <a:rPr lang="zh-CN" altLang="en-US" dirty="0"/>
              <a:t> </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Line 3"/>
          <p:cNvSpPr>
            <a:spLocks noChangeShapeType="1"/>
          </p:cNvSpPr>
          <p:nvPr/>
        </p:nvSpPr>
        <p:spPr bwMode="auto">
          <a:xfrm>
            <a:off x="80243" y="3842122"/>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3" name="Rectangle 4"/>
          <p:cNvSpPr>
            <a:spLocks noChangeArrowheads="1"/>
          </p:cNvSpPr>
          <p:nvPr/>
        </p:nvSpPr>
        <p:spPr bwMode="auto">
          <a:xfrm>
            <a:off x="1482006" y="4077072"/>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0724" name="Rectangle 5"/>
          <p:cNvSpPr>
            <a:spLocks noChangeArrowheads="1"/>
          </p:cNvSpPr>
          <p:nvPr/>
        </p:nvSpPr>
        <p:spPr bwMode="auto">
          <a:xfrm>
            <a:off x="1475656" y="4077072"/>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0725" name="Rectangle 6"/>
          <p:cNvSpPr>
            <a:spLocks noChangeArrowheads="1"/>
          </p:cNvSpPr>
          <p:nvPr/>
        </p:nvSpPr>
        <p:spPr bwMode="auto">
          <a:xfrm>
            <a:off x="4183931" y="4181847"/>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帧</a:t>
            </a:r>
          </a:p>
        </p:txBody>
      </p:sp>
      <p:sp>
        <p:nvSpPr>
          <p:cNvPr id="30726" name="Rectangle 13"/>
          <p:cNvSpPr>
            <a:spLocks noChangeArrowheads="1"/>
          </p:cNvSpPr>
          <p:nvPr/>
        </p:nvSpPr>
        <p:spPr bwMode="auto">
          <a:xfrm>
            <a:off x="8171731" y="4161209"/>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物理层</a:t>
            </a:r>
          </a:p>
        </p:txBody>
      </p:sp>
      <p:sp>
        <p:nvSpPr>
          <p:cNvPr id="30727" name="Rectangle 26"/>
          <p:cNvSpPr>
            <a:spLocks noChangeArrowheads="1"/>
          </p:cNvSpPr>
          <p:nvPr/>
        </p:nvSpPr>
        <p:spPr bwMode="auto">
          <a:xfrm>
            <a:off x="8141568" y="3232522"/>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层</a:t>
            </a:r>
          </a:p>
        </p:txBody>
      </p:sp>
      <p:sp>
        <p:nvSpPr>
          <p:cNvPr id="30728" name="Line 27"/>
          <p:cNvSpPr>
            <a:spLocks noChangeShapeType="1"/>
          </p:cNvSpPr>
          <p:nvPr/>
        </p:nvSpPr>
        <p:spPr bwMode="auto">
          <a:xfrm flipH="1">
            <a:off x="1474068" y="3567484"/>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9" name="Line 28"/>
          <p:cNvSpPr>
            <a:spLocks noChangeShapeType="1"/>
          </p:cNvSpPr>
          <p:nvPr/>
        </p:nvSpPr>
        <p:spPr bwMode="auto">
          <a:xfrm>
            <a:off x="7884393" y="3638922"/>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41" name="Rectangle 47"/>
          <p:cNvSpPr>
            <a:spLocks noChangeArrowheads="1"/>
          </p:cNvSpPr>
          <p:nvPr/>
        </p:nvSpPr>
        <p:spPr bwMode="auto">
          <a:xfrm>
            <a:off x="8276506" y="2318122"/>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层</a:t>
            </a:r>
          </a:p>
        </p:txBody>
      </p:sp>
      <p:sp>
        <p:nvSpPr>
          <p:cNvPr id="30742" name="Line 48"/>
          <p:cNvSpPr>
            <a:spLocks noChangeShapeType="1"/>
          </p:cNvSpPr>
          <p:nvPr/>
        </p:nvSpPr>
        <p:spPr bwMode="auto">
          <a:xfrm>
            <a:off x="8124106" y="2851522"/>
            <a:ext cx="820737" cy="11112"/>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02843" name="Group 59"/>
          <p:cNvGrpSpPr>
            <a:grpSpLocks/>
          </p:cNvGrpSpPr>
          <p:nvPr/>
        </p:nvGrpSpPr>
        <p:grpSpPr bwMode="auto">
          <a:xfrm>
            <a:off x="-72157" y="3129334"/>
            <a:ext cx="1524000" cy="479425"/>
            <a:chOff x="0" y="2383"/>
            <a:chExt cx="960" cy="302"/>
          </a:xfrm>
        </p:grpSpPr>
        <p:sp>
          <p:nvSpPr>
            <p:cNvPr id="30769" name="Rectangle 60"/>
            <p:cNvSpPr>
              <a:spLocks noChangeArrowheads="1"/>
            </p:cNvSpPr>
            <p:nvPr/>
          </p:nvSpPr>
          <p:spPr bwMode="auto">
            <a:xfrm>
              <a:off x="0" y="2383"/>
              <a:ext cx="68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80000"/>
                </a:lnSpc>
                <a:spcBef>
                  <a:spcPct val="0"/>
                </a:spcBef>
                <a:buClrTx/>
                <a:buFontTx/>
                <a:buNone/>
              </a:pPr>
              <a:r>
                <a:rPr kumimoji="1" lang="zh-CN" altLang="en-US" sz="1600" dirty="0">
                  <a:solidFill>
                    <a:srgbClr val="333399"/>
                  </a:solidFill>
                  <a:latin typeface="Times New Roman" panose="02020603050405020304" pitchFamily="18" charset="0"/>
                </a:rPr>
                <a:t>以太网 </a:t>
              </a:r>
              <a:r>
                <a:rPr kumimoji="1" lang="en-US" altLang="zh-CN" sz="1600" dirty="0">
                  <a:solidFill>
                    <a:srgbClr val="333399"/>
                  </a:solidFill>
                  <a:latin typeface="Times New Roman" panose="02020603050405020304" pitchFamily="18" charset="0"/>
                </a:rPr>
                <a:t>V2</a:t>
              </a:r>
            </a:p>
            <a:p>
              <a:pPr>
                <a:lnSpc>
                  <a:spcPct val="80000"/>
                </a:lnSpc>
                <a:spcBef>
                  <a:spcPct val="0"/>
                </a:spcBef>
                <a:buClrTx/>
                <a:buFontTx/>
                <a:buNone/>
              </a:pPr>
              <a:r>
                <a:rPr kumimoji="1" lang="en-US" altLang="zh-CN" sz="1600" dirty="0">
                  <a:solidFill>
                    <a:srgbClr val="333399"/>
                  </a:solidFill>
                  <a:latin typeface="Times New Roman" panose="02020603050405020304" pitchFamily="18" charset="0"/>
                </a:rPr>
                <a:t>  MAC </a:t>
              </a:r>
              <a:r>
                <a:rPr kumimoji="1" lang="zh-CN" altLang="en-US" sz="1600" dirty="0">
                  <a:solidFill>
                    <a:srgbClr val="333399"/>
                  </a:solidFill>
                  <a:latin typeface="Times New Roman" panose="02020603050405020304" pitchFamily="18" charset="0"/>
                </a:rPr>
                <a:t>帧</a:t>
              </a:r>
            </a:p>
          </p:txBody>
        </p:sp>
        <p:sp>
          <p:nvSpPr>
            <p:cNvPr id="30770" name="AutoShape 61"/>
            <p:cNvSpPr>
              <a:spLocks noChangeArrowheads="1"/>
            </p:cNvSpPr>
            <p:nvPr/>
          </p:nvSpPr>
          <p:spPr bwMode="auto">
            <a:xfrm>
              <a:off x="624" y="2496"/>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grpSp>
        <p:nvGrpSpPr>
          <p:cNvPr id="502847" name="Group 63"/>
          <p:cNvGrpSpPr>
            <a:grpSpLocks/>
          </p:cNvGrpSpPr>
          <p:nvPr/>
        </p:nvGrpSpPr>
        <p:grpSpPr bwMode="auto">
          <a:xfrm>
            <a:off x="974006" y="2810247"/>
            <a:ext cx="6929437" cy="1412875"/>
            <a:chOff x="659" y="2182"/>
            <a:chExt cx="4365" cy="890"/>
          </a:xfrm>
        </p:grpSpPr>
        <p:sp>
          <p:nvSpPr>
            <p:cNvPr id="30751" name="AutoShape 64"/>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nvGrpSpPr>
            <p:cNvPr id="30752" name="Group 65"/>
            <p:cNvGrpSpPr>
              <a:grpSpLocks/>
            </p:cNvGrpSpPr>
            <p:nvPr/>
          </p:nvGrpSpPr>
          <p:grpSpPr bwMode="auto">
            <a:xfrm>
              <a:off x="659" y="2182"/>
              <a:ext cx="4365" cy="506"/>
              <a:chOff x="659" y="2182"/>
              <a:chExt cx="4365" cy="506"/>
            </a:xfrm>
          </p:grpSpPr>
          <p:sp>
            <p:nvSpPr>
              <p:cNvPr id="30753" name="Rectangle 66"/>
              <p:cNvSpPr>
                <a:spLocks noChangeArrowheads="1"/>
              </p:cNvSpPr>
              <p:nvPr/>
            </p:nvSpPr>
            <p:spPr bwMode="auto">
              <a:xfrm>
                <a:off x="974" y="2400"/>
                <a:ext cx="4045" cy="288"/>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0754" name="Line 67"/>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5" name="Line 68"/>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6" name="Line 69"/>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7" name="Line 70"/>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8" name="Rectangle 71"/>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目的地址</a:t>
                </a:r>
              </a:p>
            </p:txBody>
          </p:sp>
          <p:sp>
            <p:nvSpPr>
              <p:cNvPr id="30759" name="Rectangle 72"/>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源地址</a:t>
                </a:r>
              </a:p>
            </p:txBody>
          </p:sp>
          <p:sp>
            <p:nvSpPr>
              <p:cNvPr id="30760" name="Rectangle 73"/>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类型</a:t>
                </a:r>
              </a:p>
            </p:txBody>
          </p:sp>
          <p:sp>
            <p:nvSpPr>
              <p:cNvPr id="30761" name="Rectangle 74"/>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数        据</a:t>
                </a:r>
              </a:p>
            </p:txBody>
          </p:sp>
          <p:sp>
            <p:nvSpPr>
              <p:cNvPr id="30762" name="Rectangle 75"/>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FCS</a:t>
                </a:r>
              </a:p>
            </p:txBody>
          </p:sp>
          <p:sp>
            <p:nvSpPr>
              <p:cNvPr id="30763" name="Rectangle 76"/>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0764" name="Rectangle 77"/>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0765" name="Rectangle 78"/>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2</a:t>
                </a:r>
              </a:p>
            </p:txBody>
          </p:sp>
          <p:sp>
            <p:nvSpPr>
              <p:cNvPr id="30766" name="Rectangle 79"/>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a:t>
                </a:r>
              </a:p>
            </p:txBody>
          </p:sp>
          <p:sp>
            <p:nvSpPr>
              <p:cNvPr id="30767" name="Rectangle 80"/>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字节</a:t>
                </a:r>
              </a:p>
            </p:txBody>
          </p:sp>
          <p:sp>
            <p:nvSpPr>
              <p:cNvPr id="30768" name="Text Box 81"/>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46 ~ 1500</a:t>
                </a:r>
              </a:p>
            </p:txBody>
          </p:sp>
        </p:grpSp>
      </p:grpSp>
      <p:sp>
        <p:nvSpPr>
          <p:cNvPr id="502891" name="Line 107"/>
          <p:cNvSpPr>
            <a:spLocks noChangeShapeType="1"/>
          </p:cNvSpPr>
          <p:nvPr/>
        </p:nvSpPr>
        <p:spPr bwMode="auto">
          <a:xfrm flipH="1">
            <a:off x="1475656" y="2318121"/>
            <a:ext cx="0" cy="82708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892" name="Line 108"/>
          <p:cNvSpPr>
            <a:spLocks noChangeShapeType="1"/>
          </p:cNvSpPr>
          <p:nvPr/>
        </p:nvSpPr>
        <p:spPr bwMode="auto">
          <a:xfrm>
            <a:off x="7887572" y="2312839"/>
            <a:ext cx="7934" cy="822845"/>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02893" name="Group 109"/>
          <p:cNvGrpSpPr>
            <a:grpSpLocks/>
          </p:cNvGrpSpPr>
          <p:nvPr/>
        </p:nvGrpSpPr>
        <p:grpSpPr bwMode="auto">
          <a:xfrm>
            <a:off x="4237906" y="2318122"/>
            <a:ext cx="3124200" cy="990600"/>
            <a:chOff x="2715" y="1872"/>
            <a:chExt cx="1968" cy="624"/>
          </a:xfrm>
        </p:grpSpPr>
        <p:sp>
          <p:nvSpPr>
            <p:cNvPr id="30749" name="AutoShape 110"/>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0750" name="Rectangle 111"/>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数据报</a:t>
              </a:r>
            </a:p>
          </p:txBody>
        </p:sp>
      </p:grpSp>
      <p:sp>
        <p:nvSpPr>
          <p:cNvPr id="112" name="Rectangle 40"/>
          <p:cNvSpPr txBox="1">
            <a:spLocks noChangeArrowheads="1"/>
          </p:cNvSpPr>
          <p:nvPr/>
        </p:nvSpPr>
        <p:spPr>
          <a:xfrm>
            <a:off x="501650" y="998538"/>
            <a:ext cx="7793038" cy="768350"/>
          </a:xfrm>
          <a:prstGeom prst="rect">
            <a:avLst/>
          </a:prstGeom>
          <a:noFill/>
        </p:spPr>
        <p:txBody>
          <a:bodyP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en-US" altLang="zh-CN" sz="3200" b="1" dirty="0">
                <a:solidFill>
                  <a:srgbClr val="333399"/>
                </a:solidFill>
                <a:latin typeface="黑体" panose="02010609060101010101" pitchFamily="49" charset="-122"/>
                <a:ea typeface="黑体" panose="02010609060101010101" pitchFamily="49" charset="-122"/>
              </a:rPr>
              <a:t>DIX Ethernet V2</a:t>
            </a:r>
            <a:r>
              <a:rPr lang="en-US" altLang="zh-CN" sz="3200" b="1" kern="0" dirty="0">
                <a:solidFill>
                  <a:srgbClr val="000099"/>
                </a:solidFill>
                <a:latin typeface="黑体" panose="02010609060101010101" pitchFamily="49" charset="-122"/>
                <a:ea typeface="黑体" panose="02010609060101010101" pitchFamily="49" charset="-122"/>
              </a:rPr>
              <a:t> </a:t>
            </a:r>
            <a:r>
              <a:rPr lang="zh-CN" altLang="en-US" sz="3200" b="1" kern="0" dirty="0">
                <a:solidFill>
                  <a:srgbClr val="000099"/>
                </a:solidFill>
                <a:latin typeface="黑体" panose="02010609060101010101" pitchFamily="49" charset="-122"/>
                <a:ea typeface="黑体" panose="02010609060101010101" pitchFamily="49" charset="-122"/>
              </a:rPr>
              <a:t>的 </a:t>
            </a:r>
            <a:r>
              <a:rPr lang="en-US" altLang="zh-CN" sz="3200" b="1" kern="0" dirty="0">
                <a:solidFill>
                  <a:srgbClr val="000099"/>
                </a:solidFill>
                <a:latin typeface="黑体" panose="02010609060101010101" pitchFamily="49" charset="-122"/>
                <a:ea typeface="黑体" panose="02010609060101010101" pitchFamily="49" charset="-122"/>
              </a:rPr>
              <a:t>MAC </a:t>
            </a:r>
            <a:r>
              <a:rPr lang="zh-CN" altLang="en-US" sz="3200" b="1" kern="0" dirty="0">
                <a:solidFill>
                  <a:srgbClr val="000099"/>
                </a:solidFill>
                <a:latin typeface="黑体" panose="02010609060101010101" pitchFamily="49" charset="-122"/>
                <a:ea typeface="黑体" panose="02010609060101010101" pitchFamily="49" charset="-122"/>
              </a:rPr>
              <a:t>帧格式</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withEffect">
                                  <p:stCondLst>
                                    <p:cond delay="0"/>
                                  </p:stCondLst>
                                  <p:childTnLst>
                                    <p:animEffect transition="out" filter="fade">
                                      <p:cBhvr>
                                        <p:cTn id="6" dur="2000"/>
                                        <p:tgtEl>
                                          <p:spTgt spid="502891"/>
                                        </p:tgtEl>
                                      </p:cBhvr>
                                    </p:animEffect>
                                    <p:set>
                                      <p:cBhvr>
                                        <p:cTn id="7" dur="1" fill="hold">
                                          <p:stCondLst>
                                            <p:cond delay="1999"/>
                                          </p:stCondLst>
                                        </p:cTn>
                                        <p:tgtEl>
                                          <p:spTgt spid="502891"/>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2000"/>
                                        <p:tgtEl>
                                          <p:spTgt spid="502892"/>
                                        </p:tgtEl>
                                      </p:cBhvr>
                                    </p:animEffect>
                                    <p:set>
                                      <p:cBhvr>
                                        <p:cTn id="10" dur="1" fill="hold">
                                          <p:stCondLst>
                                            <p:cond delay="1999"/>
                                          </p:stCondLst>
                                        </p:cTn>
                                        <p:tgtEl>
                                          <p:spTgt spid="502892"/>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502893"/>
                                        </p:tgtEl>
                                        <p:attrNameLst>
                                          <p:attrName>style.visibility</p:attrName>
                                        </p:attrNameLst>
                                      </p:cBhvr>
                                      <p:tavLst>
                                        <p:tav tm="0">
                                          <p:val>
                                            <p:strVal val="hidden"/>
                                          </p:val>
                                        </p:tav>
                                        <p:tav tm="50000">
                                          <p:val>
                                            <p:strVal val="visible"/>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repeatCount="4000" fill="hold" nodeType="clickEffect">
                                  <p:stCondLst>
                                    <p:cond delay="0"/>
                                  </p:stCondLst>
                                  <p:childTnLst>
                                    <p:anim calcmode="discrete" valueType="str">
                                      <p:cBhvr>
                                        <p:cTn id="18" dur="500" fill="hold"/>
                                        <p:tgtEl>
                                          <p:spTgt spid="502843"/>
                                        </p:tgtEl>
                                        <p:attrNameLst>
                                          <p:attrName>style.visibility</p:attrName>
                                        </p:attrNameLst>
                                      </p:cBhvr>
                                      <p:tavLst>
                                        <p:tav tm="0">
                                          <p:val>
                                            <p:strVal val="hidden"/>
                                          </p:val>
                                        </p:tav>
                                        <p:tav tm="50000">
                                          <p:val>
                                            <p:strVal val="visible"/>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5" presetClass="emph" presetSubtype="0" repeatCount="4000" fill="hold" nodeType="clickEffect">
                                  <p:stCondLst>
                                    <p:cond delay="0"/>
                                  </p:stCondLst>
                                  <p:childTnLst>
                                    <p:anim calcmode="discrete" valueType="str">
                                      <p:cBhvr>
                                        <p:cTn id="22" dur="500" fill="hold"/>
                                        <p:tgtEl>
                                          <p:spTgt spid="50284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891" grpId="0" animBg="1"/>
      <p:bldP spid="50289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Line 2"/>
          <p:cNvSpPr>
            <a:spLocks noChangeShapeType="1"/>
          </p:cNvSpPr>
          <p:nvPr/>
        </p:nvSpPr>
        <p:spPr bwMode="auto">
          <a:xfrm>
            <a:off x="152400" y="4495800"/>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7" name="Rectangle 3"/>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1748" name="Rectangle 4"/>
          <p:cNvSpPr>
            <a:spLocks noChangeArrowheads="1"/>
          </p:cNvSpPr>
          <p:nvPr/>
        </p:nvSpPr>
        <p:spPr bwMode="auto">
          <a:xfrm>
            <a:off x="1547813" y="4730750"/>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1749" name="Rectangle 5"/>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帧</a:t>
            </a:r>
          </a:p>
        </p:txBody>
      </p:sp>
      <p:sp>
        <p:nvSpPr>
          <p:cNvPr id="31750" name="Rectangle 6"/>
          <p:cNvSpPr>
            <a:spLocks noChangeArrowheads="1"/>
          </p:cNvSpPr>
          <p:nvPr/>
        </p:nvSpPr>
        <p:spPr bwMode="auto">
          <a:xfrm>
            <a:off x="8243888" y="481488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物理层</a:t>
            </a:r>
          </a:p>
        </p:txBody>
      </p:sp>
      <p:sp>
        <p:nvSpPr>
          <p:cNvPr id="31751" name="Rectangle 7"/>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层</a:t>
            </a:r>
          </a:p>
        </p:txBody>
      </p:sp>
      <p:sp>
        <p:nvSpPr>
          <p:cNvPr id="31752" name="Line 8"/>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3" name="Line 9"/>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4" name="Rectangle 10"/>
          <p:cNvSpPr>
            <a:spLocks noChangeArrowheads="1"/>
          </p:cNvSpPr>
          <p:nvPr/>
        </p:nvSpPr>
        <p:spPr bwMode="auto">
          <a:xfrm>
            <a:off x="8348663" y="2971800"/>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层</a:t>
            </a:r>
          </a:p>
        </p:txBody>
      </p:sp>
      <p:sp>
        <p:nvSpPr>
          <p:cNvPr id="31755" name="Line 11"/>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756" name="Group 12"/>
          <p:cNvGrpSpPr>
            <a:grpSpLocks/>
          </p:cNvGrpSpPr>
          <p:nvPr/>
        </p:nvGrpSpPr>
        <p:grpSpPr bwMode="auto">
          <a:xfrm>
            <a:off x="0" y="3783013"/>
            <a:ext cx="1524000" cy="479425"/>
            <a:chOff x="0" y="2383"/>
            <a:chExt cx="960" cy="302"/>
          </a:xfrm>
        </p:grpSpPr>
        <p:sp>
          <p:nvSpPr>
            <p:cNvPr id="31781" name="Rectangle 13"/>
            <p:cNvSpPr>
              <a:spLocks noChangeArrowheads="1"/>
            </p:cNvSpPr>
            <p:nvPr/>
          </p:nvSpPr>
          <p:spPr bwMode="auto">
            <a:xfrm>
              <a:off x="0" y="2383"/>
              <a:ext cx="68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80000"/>
                </a:lnSpc>
                <a:spcBef>
                  <a:spcPct val="0"/>
                </a:spcBef>
                <a:buClrTx/>
                <a:buFontTx/>
                <a:buNone/>
              </a:pPr>
              <a:r>
                <a:rPr kumimoji="1" lang="zh-CN" altLang="en-US" sz="1600">
                  <a:solidFill>
                    <a:srgbClr val="333399"/>
                  </a:solidFill>
                  <a:latin typeface="Times New Roman" panose="02020603050405020304" pitchFamily="18" charset="0"/>
                </a:rPr>
                <a:t>以太网 </a:t>
              </a:r>
              <a:r>
                <a:rPr kumimoji="1" lang="en-US" altLang="zh-CN" sz="1600">
                  <a:solidFill>
                    <a:srgbClr val="333399"/>
                  </a:solidFill>
                  <a:latin typeface="Times New Roman" panose="02020603050405020304" pitchFamily="18" charset="0"/>
                </a:rPr>
                <a:t>V2</a:t>
              </a:r>
            </a:p>
            <a:p>
              <a:pPr>
                <a:lnSpc>
                  <a:spcPct val="80000"/>
                </a:lnSpc>
                <a:spcBef>
                  <a:spcPct val="0"/>
                </a:spcBef>
                <a:buClrTx/>
                <a:buFontTx/>
                <a:buNone/>
              </a:pPr>
              <a:r>
                <a:rPr kumimoji="1" lang="en-US" altLang="zh-CN" sz="1600">
                  <a:solidFill>
                    <a:srgbClr val="333399"/>
                  </a:solidFill>
                  <a:latin typeface="Times New Roman" panose="02020603050405020304" pitchFamily="18" charset="0"/>
                </a:rPr>
                <a:t>  MAC </a:t>
              </a:r>
              <a:r>
                <a:rPr kumimoji="1" lang="zh-CN" altLang="en-US" sz="1600">
                  <a:solidFill>
                    <a:srgbClr val="333399"/>
                  </a:solidFill>
                  <a:latin typeface="Times New Roman" panose="02020603050405020304" pitchFamily="18" charset="0"/>
                </a:rPr>
                <a:t>帧</a:t>
              </a:r>
            </a:p>
          </p:txBody>
        </p:sp>
        <p:sp>
          <p:nvSpPr>
            <p:cNvPr id="31782" name="AutoShape 14"/>
            <p:cNvSpPr>
              <a:spLocks noChangeArrowheads="1"/>
            </p:cNvSpPr>
            <p:nvPr/>
          </p:nvSpPr>
          <p:spPr bwMode="auto">
            <a:xfrm>
              <a:off x="624" y="2496"/>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grpSp>
        <p:nvGrpSpPr>
          <p:cNvPr id="31757" name="Group 15"/>
          <p:cNvGrpSpPr>
            <a:grpSpLocks/>
          </p:cNvGrpSpPr>
          <p:nvPr/>
        </p:nvGrpSpPr>
        <p:grpSpPr bwMode="auto">
          <a:xfrm>
            <a:off x="1046163" y="3463925"/>
            <a:ext cx="6929437" cy="1412875"/>
            <a:chOff x="659" y="2182"/>
            <a:chExt cx="4365" cy="890"/>
          </a:xfrm>
        </p:grpSpPr>
        <p:sp>
          <p:nvSpPr>
            <p:cNvPr id="31763"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nvGrpSpPr>
            <p:cNvPr id="31764" name="Group 17"/>
            <p:cNvGrpSpPr>
              <a:grpSpLocks/>
            </p:cNvGrpSpPr>
            <p:nvPr/>
          </p:nvGrpSpPr>
          <p:grpSpPr bwMode="auto">
            <a:xfrm>
              <a:off x="659" y="2182"/>
              <a:ext cx="4365" cy="506"/>
              <a:chOff x="659" y="2182"/>
              <a:chExt cx="4365" cy="506"/>
            </a:xfrm>
          </p:grpSpPr>
          <p:sp>
            <p:nvSpPr>
              <p:cNvPr id="31765" name="Rectangle 18"/>
              <p:cNvSpPr>
                <a:spLocks noChangeArrowheads="1"/>
              </p:cNvSpPr>
              <p:nvPr/>
            </p:nvSpPr>
            <p:spPr bwMode="auto">
              <a:xfrm>
                <a:off x="974" y="2400"/>
                <a:ext cx="4045" cy="288"/>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1766"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7"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8"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9"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0"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目的地址</a:t>
                </a:r>
              </a:p>
            </p:txBody>
          </p:sp>
          <p:sp>
            <p:nvSpPr>
              <p:cNvPr id="31771"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源地址</a:t>
                </a:r>
              </a:p>
            </p:txBody>
          </p:sp>
          <p:sp>
            <p:nvSpPr>
              <p:cNvPr id="31772"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类型</a:t>
                </a:r>
              </a:p>
            </p:txBody>
          </p:sp>
          <p:sp>
            <p:nvSpPr>
              <p:cNvPr id="31773"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数        据</a:t>
                </a:r>
              </a:p>
            </p:txBody>
          </p:sp>
          <p:sp>
            <p:nvSpPr>
              <p:cNvPr id="31774"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FCS</a:t>
                </a:r>
              </a:p>
            </p:txBody>
          </p:sp>
          <p:sp>
            <p:nvSpPr>
              <p:cNvPr id="31775"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1776"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1777"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2</a:t>
                </a:r>
              </a:p>
            </p:txBody>
          </p:sp>
          <p:sp>
            <p:nvSpPr>
              <p:cNvPr id="31778"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a:t>
                </a:r>
              </a:p>
            </p:txBody>
          </p:sp>
          <p:sp>
            <p:nvSpPr>
              <p:cNvPr id="31779"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字节</a:t>
                </a:r>
              </a:p>
            </p:txBody>
          </p:sp>
          <p:sp>
            <p:nvSpPr>
              <p:cNvPr id="31780"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46 ~ 1500</a:t>
                </a:r>
              </a:p>
            </p:txBody>
          </p:sp>
        </p:grpSp>
      </p:grpSp>
      <p:grpSp>
        <p:nvGrpSpPr>
          <p:cNvPr id="31758" name="Group 34"/>
          <p:cNvGrpSpPr>
            <a:grpSpLocks/>
          </p:cNvGrpSpPr>
          <p:nvPr/>
        </p:nvGrpSpPr>
        <p:grpSpPr bwMode="auto">
          <a:xfrm>
            <a:off x="4310063" y="2971800"/>
            <a:ext cx="3124200" cy="990600"/>
            <a:chOff x="2715" y="1872"/>
            <a:chExt cx="1968" cy="624"/>
          </a:xfrm>
        </p:grpSpPr>
        <p:sp>
          <p:nvSpPr>
            <p:cNvPr id="31761"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1762" name="Rectangle 36"/>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数据报</a:t>
              </a:r>
            </a:p>
          </p:txBody>
        </p:sp>
      </p:grpSp>
      <p:sp>
        <p:nvSpPr>
          <p:cNvPr id="31759" name="Rectangle 37"/>
          <p:cNvSpPr>
            <a:spLocks noGrp="1" noChangeArrowheads="1"/>
          </p:cNvSpPr>
          <p:nvPr>
            <p:ph type="title"/>
          </p:nvPr>
        </p:nvSpPr>
        <p:spPr>
          <a:xfrm>
            <a:off x="539750" y="765175"/>
            <a:ext cx="7793038" cy="768350"/>
          </a:xfrm>
        </p:spPr>
        <p:txBody>
          <a:bodyPr/>
          <a:lstStyle/>
          <a:p>
            <a:pPr eaLnBrk="1" hangingPunct="1"/>
            <a:r>
              <a:rPr lang="en-US" altLang="zh-CN" sz="3200" b="1">
                <a:solidFill>
                  <a:srgbClr val="333399"/>
                </a:solidFill>
                <a:latin typeface="黑体" panose="02010609060101010101" pitchFamily="49" charset="-122"/>
                <a:ea typeface="黑体" panose="02010609060101010101" pitchFamily="49" charset="-122"/>
              </a:rPr>
              <a:t>DIX Ethernet V2</a:t>
            </a:r>
            <a:r>
              <a:rPr lang="zh-CN" altLang="en-US" sz="3200" b="1">
                <a:solidFill>
                  <a:srgbClr val="000099"/>
                </a:solidFill>
                <a:latin typeface="黑体" panose="02010609060101010101" pitchFamily="49" charset="-122"/>
                <a:ea typeface="黑体" panose="02010609060101010101" pitchFamily="49" charset="-122"/>
              </a:rPr>
              <a:t>的 </a:t>
            </a:r>
            <a:r>
              <a:rPr lang="en-US" altLang="zh-CN" sz="3200" b="1">
                <a:solidFill>
                  <a:srgbClr val="000099"/>
                </a:solidFill>
                <a:latin typeface="黑体" panose="02010609060101010101" pitchFamily="49" charset="-122"/>
                <a:ea typeface="黑体" panose="02010609060101010101" pitchFamily="49" charset="-122"/>
              </a:rPr>
              <a:t>MAC </a:t>
            </a:r>
            <a:r>
              <a:rPr lang="zh-CN" altLang="en-US" sz="3200" b="1">
                <a:solidFill>
                  <a:srgbClr val="000099"/>
                </a:solidFill>
                <a:latin typeface="黑体" panose="02010609060101010101" pitchFamily="49" charset="-122"/>
                <a:ea typeface="黑体" panose="02010609060101010101" pitchFamily="49" charset="-122"/>
              </a:rPr>
              <a:t>帧格式</a:t>
            </a:r>
          </a:p>
        </p:txBody>
      </p:sp>
      <p:sp>
        <p:nvSpPr>
          <p:cNvPr id="31760" name="AutoShape 38"/>
          <p:cNvSpPr>
            <a:spLocks noChangeArrowheads="1"/>
          </p:cNvSpPr>
          <p:nvPr/>
        </p:nvSpPr>
        <p:spPr bwMode="auto">
          <a:xfrm>
            <a:off x="2843213" y="2133600"/>
            <a:ext cx="3384550" cy="504825"/>
          </a:xfrm>
          <a:prstGeom prst="wedgeRoundRectCallout">
            <a:avLst>
              <a:gd name="adj1" fmla="val -75375"/>
              <a:gd name="adj2" fmla="val 30691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400">
                <a:solidFill>
                  <a:srgbClr val="333399"/>
                </a:solidFill>
                <a:latin typeface="Arial" panose="020B0604020202020204" pitchFamily="34" charset="0"/>
                <a:ea typeface="黑体" panose="02010609060101010101" pitchFamily="49" charset="-122"/>
              </a:rPr>
              <a:t>目的地址字段 </a:t>
            </a:r>
            <a:r>
              <a:rPr lang="en-US" altLang="zh-CN" sz="2400">
                <a:solidFill>
                  <a:srgbClr val="333399"/>
                </a:solidFill>
                <a:latin typeface="Arial" panose="020B0604020202020204" pitchFamily="34" charset="0"/>
                <a:ea typeface="黑体" panose="02010609060101010101" pitchFamily="49" charset="-122"/>
              </a:rPr>
              <a:t>6 </a:t>
            </a:r>
            <a:r>
              <a:rPr lang="zh-CN" altLang="en-US" sz="2400">
                <a:solidFill>
                  <a:srgbClr val="333399"/>
                </a:solidFill>
                <a:latin typeface="Arial" panose="020B0604020202020204" pitchFamily="34" charset="0"/>
                <a:ea typeface="黑体" panose="02010609060101010101" pitchFamily="49" charset="-122"/>
              </a:rPr>
              <a:t>字节</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2"/>
          <p:cNvSpPr>
            <a:spLocks noChangeShapeType="1"/>
          </p:cNvSpPr>
          <p:nvPr/>
        </p:nvSpPr>
        <p:spPr bwMode="auto">
          <a:xfrm>
            <a:off x="152400" y="4495800"/>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1" name="Rectangle 3"/>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2772" name="Rectangle 4"/>
          <p:cNvSpPr>
            <a:spLocks noChangeArrowheads="1"/>
          </p:cNvSpPr>
          <p:nvPr/>
        </p:nvSpPr>
        <p:spPr bwMode="auto">
          <a:xfrm>
            <a:off x="1547813" y="4730750"/>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2773" name="Rectangle 5"/>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帧</a:t>
            </a:r>
          </a:p>
        </p:txBody>
      </p:sp>
      <p:sp>
        <p:nvSpPr>
          <p:cNvPr id="32774" name="Rectangle 6"/>
          <p:cNvSpPr>
            <a:spLocks noChangeArrowheads="1"/>
          </p:cNvSpPr>
          <p:nvPr/>
        </p:nvSpPr>
        <p:spPr bwMode="auto">
          <a:xfrm>
            <a:off x="8243888" y="4814888"/>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物理层</a:t>
            </a:r>
          </a:p>
        </p:txBody>
      </p:sp>
      <p:sp>
        <p:nvSpPr>
          <p:cNvPr id="32775" name="Rectangle 7"/>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层</a:t>
            </a:r>
          </a:p>
        </p:txBody>
      </p:sp>
      <p:sp>
        <p:nvSpPr>
          <p:cNvPr id="32776" name="Line 8"/>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7" name="Line 9"/>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8" name="Rectangle 10"/>
          <p:cNvSpPr>
            <a:spLocks noChangeArrowheads="1"/>
          </p:cNvSpPr>
          <p:nvPr/>
        </p:nvSpPr>
        <p:spPr bwMode="auto">
          <a:xfrm>
            <a:off x="8348663" y="2971800"/>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层</a:t>
            </a:r>
          </a:p>
        </p:txBody>
      </p:sp>
      <p:sp>
        <p:nvSpPr>
          <p:cNvPr id="32779" name="Line 11"/>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2780" name="Group 12"/>
          <p:cNvGrpSpPr>
            <a:grpSpLocks/>
          </p:cNvGrpSpPr>
          <p:nvPr/>
        </p:nvGrpSpPr>
        <p:grpSpPr bwMode="auto">
          <a:xfrm>
            <a:off x="0" y="3783013"/>
            <a:ext cx="1524000" cy="479425"/>
            <a:chOff x="0" y="2383"/>
            <a:chExt cx="960" cy="302"/>
          </a:xfrm>
        </p:grpSpPr>
        <p:sp>
          <p:nvSpPr>
            <p:cNvPr id="32805" name="Rectangle 13"/>
            <p:cNvSpPr>
              <a:spLocks noChangeArrowheads="1"/>
            </p:cNvSpPr>
            <p:nvPr/>
          </p:nvSpPr>
          <p:spPr bwMode="auto">
            <a:xfrm>
              <a:off x="0" y="2383"/>
              <a:ext cx="68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80000"/>
                </a:lnSpc>
                <a:spcBef>
                  <a:spcPct val="0"/>
                </a:spcBef>
                <a:buClrTx/>
                <a:buFontTx/>
                <a:buNone/>
              </a:pPr>
              <a:r>
                <a:rPr kumimoji="1" lang="zh-CN" altLang="en-US" sz="1600">
                  <a:solidFill>
                    <a:srgbClr val="333399"/>
                  </a:solidFill>
                  <a:latin typeface="Times New Roman" panose="02020603050405020304" pitchFamily="18" charset="0"/>
                </a:rPr>
                <a:t>以太网 </a:t>
              </a:r>
              <a:r>
                <a:rPr kumimoji="1" lang="en-US" altLang="zh-CN" sz="1600">
                  <a:solidFill>
                    <a:srgbClr val="333399"/>
                  </a:solidFill>
                  <a:latin typeface="Times New Roman" panose="02020603050405020304" pitchFamily="18" charset="0"/>
                </a:rPr>
                <a:t>V2</a:t>
              </a:r>
            </a:p>
            <a:p>
              <a:pPr>
                <a:lnSpc>
                  <a:spcPct val="80000"/>
                </a:lnSpc>
                <a:spcBef>
                  <a:spcPct val="0"/>
                </a:spcBef>
                <a:buClrTx/>
                <a:buFontTx/>
                <a:buNone/>
              </a:pPr>
              <a:r>
                <a:rPr kumimoji="1" lang="en-US" altLang="zh-CN" sz="1600">
                  <a:solidFill>
                    <a:srgbClr val="333399"/>
                  </a:solidFill>
                  <a:latin typeface="Times New Roman" panose="02020603050405020304" pitchFamily="18" charset="0"/>
                </a:rPr>
                <a:t>  MAC </a:t>
              </a:r>
              <a:r>
                <a:rPr kumimoji="1" lang="zh-CN" altLang="en-US" sz="1600">
                  <a:solidFill>
                    <a:srgbClr val="333399"/>
                  </a:solidFill>
                  <a:latin typeface="Times New Roman" panose="02020603050405020304" pitchFamily="18" charset="0"/>
                </a:rPr>
                <a:t>帧</a:t>
              </a:r>
            </a:p>
          </p:txBody>
        </p:sp>
        <p:sp>
          <p:nvSpPr>
            <p:cNvPr id="32806" name="AutoShape 14"/>
            <p:cNvSpPr>
              <a:spLocks noChangeArrowheads="1"/>
            </p:cNvSpPr>
            <p:nvPr/>
          </p:nvSpPr>
          <p:spPr bwMode="auto">
            <a:xfrm>
              <a:off x="624" y="2496"/>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grpSp>
        <p:nvGrpSpPr>
          <p:cNvPr id="32781" name="Group 15"/>
          <p:cNvGrpSpPr>
            <a:grpSpLocks/>
          </p:cNvGrpSpPr>
          <p:nvPr/>
        </p:nvGrpSpPr>
        <p:grpSpPr bwMode="auto">
          <a:xfrm>
            <a:off x="1046163" y="3463925"/>
            <a:ext cx="6929437" cy="1412875"/>
            <a:chOff x="659" y="2182"/>
            <a:chExt cx="4365" cy="890"/>
          </a:xfrm>
        </p:grpSpPr>
        <p:sp>
          <p:nvSpPr>
            <p:cNvPr id="32787"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nvGrpSpPr>
            <p:cNvPr id="32788" name="Group 17"/>
            <p:cNvGrpSpPr>
              <a:grpSpLocks/>
            </p:cNvGrpSpPr>
            <p:nvPr/>
          </p:nvGrpSpPr>
          <p:grpSpPr bwMode="auto">
            <a:xfrm>
              <a:off x="659" y="2182"/>
              <a:ext cx="4365" cy="506"/>
              <a:chOff x="659" y="2182"/>
              <a:chExt cx="4365" cy="506"/>
            </a:xfrm>
          </p:grpSpPr>
          <p:sp>
            <p:nvSpPr>
              <p:cNvPr id="32789" name="Rectangle 18"/>
              <p:cNvSpPr>
                <a:spLocks noChangeArrowheads="1"/>
              </p:cNvSpPr>
              <p:nvPr/>
            </p:nvSpPr>
            <p:spPr bwMode="auto">
              <a:xfrm>
                <a:off x="974" y="2400"/>
                <a:ext cx="4045" cy="288"/>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2790"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1"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2"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3"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4"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目的地址</a:t>
                </a:r>
              </a:p>
            </p:txBody>
          </p:sp>
          <p:sp>
            <p:nvSpPr>
              <p:cNvPr id="32795"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源地址</a:t>
                </a:r>
              </a:p>
            </p:txBody>
          </p:sp>
          <p:sp>
            <p:nvSpPr>
              <p:cNvPr id="32796"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类型</a:t>
                </a:r>
              </a:p>
            </p:txBody>
          </p:sp>
          <p:sp>
            <p:nvSpPr>
              <p:cNvPr id="32797"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数        据</a:t>
                </a:r>
              </a:p>
            </p:txBody>
          </p:sp>
          <p:sp>
            <p:nvSpPr>
              <p:cNvPr id="32798"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FCS</a:t>
                </a:r>
              </a:p>
            </p:txBody>
          </p:sp>
          <p:sp>
            <p:nvSpPr>
              <p:cNvPr id="32799"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2800"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2801"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2</a:t>
                </a:r>
              </a:p>
            </p:txBody>
          </p:sp>
          <p:sp>
            <p:nvSpPr>
              <p:cNvPr id="32802"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a:t>
                </a:r>
              </a:p>
            </p:txBody>
          </p:sp>
          <p:sp>
            <p:nvSpPr>
              <p:cNvPr id="32803"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字节</a:t>
                </a:r>
              </a:p>
            </p:txBody>
          </p:sp>
          <p:sp>
            <p:nvSpPr>
              <p:cNvPr id="32804"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46 ~ 1500</a:t>
                </a:r>
              </a:p>
            </p:txBody>
          </p:sp>
        </p:grpSp>
      </p:grpSp>
      <p:grpSp>
        <p:nvGrpSpPr>
          <p:cNvPr id="32782" name="Group 34"/>
          <p:cNvGrpSpPr>
            <a:grpSpLocks/>
          </p:cNvGrpSpPr>
          <p:nvPr/>
        </p:nvGrpSpPr>
        <p:grpSpPr bwMode="auto">
          <a:xfrm>
            <a:off x="4310063" y="2971800"/>
            <a:ext cx="3124200" cy="990600"/>
            <a:chOff x="2715" y="1872"/>
            <a:chExt cx="1968" cy="624"/>
          </a:xfrm>
        </p:grpSpPr>
        <p:sp>
          <p:nvSpPr>
            <p:cNvPr id="32785"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2786" name="Rectangle 36"/>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数据报</a:t>
              </a:r>
            </a:p>
          </p:txBody>
        </p:sp>
      </p:grpSp>
      <p:sp>
        <p:nvSpPr>
          <p:cNvPr id="32783" name="AutoShape 38"/>
          <p:cNvSpPr>
            <a:spLocks noChangeArrowheads="1"/>
          </p:cNvSpPr>
          <p:nvPr/>
        </p:nvSpPr>
        <p:spPr bwMode="auto">
          <a:xfrm>
            <a:off x="2843213" y="2133600"/>
            <a:ext cx="2952750" cy="504825"/>
          </a:xfrm>
          <a:prstGeom prst="wedgeRoundRectCallout">
            <a:avLst>
              <a:gd name="adj1" fmla="val -43278"/>
              <a:gd name="adj2" fmla="val 314153"/>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400">
                <a:solidFill>
                  <a:srgbClr val="333399"/>
                </a:solidFill>
                <a:latin typeface="Arial" panose="020B0604020202020204" pitchFamily="34" charset="0"/>
                <a:ea typeface="黑体" panose="02010609060101010101" pitchFamily="49" charset="-122"/>
              </a:rPr>
              <a:t>源地址字段 </a:t>
            </a:r>
            <a:r>
              <a:rPr lang="en-US" altLang="zh-CN" sz="2400">
                <a:solidFill>
                  <a:srgbClr val="333399"/>
                </a:solidFill>
                <a:latin typeface="Arial" panose="020B0604020202020204" pitchFamily="34" charset="0"/>
                <a:ea typeface="黑体" panose="02010609060101010101" pitchFamily="49" charset="-122"/>
              </a:rPr>
              <a:t>6 </a:t>
            </a:r>
            <a:r>
              <a:rPr lang="zh-CN" altLang="en-US" sz="2400">
                <a:solidFill>
                  <a:srgbClr val="333399"/>
                </a:solidFill>
                <a:latin typeface="Arial" panose="020B0604020202020204" pitchFamily="34" charset="0"/>
                <a:ea typeface="黑体" panose="02010609060101010101" pitchFamily="49" charset="-122"/>
              </a:rPr>
              <a:t>字节</a:t>
            </a:r>
          </a:p>
        </p:txBody>
      </p:sp>
      <p:sp>
        <p:nvSpPr>
          <p:cNvPr id="32784" name="Rectangle 40"/>
          <p:cNvSpPr>
            <a:spLocks noGrp="1" noChangeArrowheads="1"/>
          </p:cNvSpPr>
          <p:nvPr>
            <p:ph type="title"/>
          </p:nvPr>
        </p:nvSpPr>
        <p:spPr>
          <a:xfrm>
            <a:off x="539750" y="765175"/>
            <a:ext cx="7793038" cy="768350"/>
          </a:xfrm>
          <a:noFill/>
        </p:spPr>
        <p:txBody>
          <a:bodyPr/>
          <a:lstStyle/>
          <a:p>
            <a:pPr eaLnBrk="1" hangingPunct="1"/>
            <a:r>
              <a:rPr lang="en-US" altLang="zh-CN" sz="3200" b="1">
                <a:solidFill>
                  <a:srgbClr val="333399"/>
                </a:solidFill>
                <a:latin typeface="黑体" panose="02010609060101010101" pitchFamily="49" charset="-122"/>
                <a:ea typeface="黑体" panose="02010609060101010101" pitchFamily="49" charset="-122"/>
              </a:rPr>
              <a:t>DIX Ethernet V2 </a:t>
            </a:r>
            <a:r>
              <a:rPr lang="zh-CN" altLang="en-US" sz="3200" b="1">
                <a:solidFill>
                  <a:srgbClr val="000099"/>
                </a:solidFill>
                <a:latin typeface="黑体" panose="02010609060101010101" pitchFamily="49" charset="-122"/>
                <a:ea typeface="黑体" panose="02010609060101010101" pitchFamily="49" charset="-122"/>
              </a:rPr>
              <a:t>的 </a:t>
            </a:r>
            <a:r>
              <a:rPr lang="en-US" altLang="zh-CN" sz="3200" b="1">
                <a:solidFill>
                  <a:srgbClr val="000099"/>
                </a:solidFill>
                <a:latin typeface="黑体" panose="02010609060101010101" pitchFamily="49" charset="-122"/>
                <a:ea typeface="黑体" panose="02010609060101010101" pitchFamily="49" charset="-122"/>
              </a:rPr>
              <a:t>MAC </a:t>
            </a:r>
            <a:r>
              <a:rPr lang="zh-CN" altLang="en-US" sz="3200" b="1">
                <a:solidFill>
                  <a:srgbClr val="000099"/>
                </a:solidFill>
                <a:latin typeface="黑体" panose="02010609060101010101" pitchFamily="49" charset="-122"/>
                <a:ea typeface="黑体" panose="02010609060101010101" pitchFamily="49" charset="-122"/>
              </a:rPr>
              <a:t>帧格式</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Line 2"/>
          <p:cNvSpPr>
            <a:spLocks noChangeShapeType="1"/>
          </p:cNvSpPr>
          <p:nvPr/>
        </p:nvSpPr>
        <p:spPr bwMode="auto">
          <a:xfrm>
            <a:off x="152400" y="5291138"/>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795" name="Rectangle 3"/>
          <p:cNvSpPr>
            <a:spLocks noChangeArrowheads="1"/>
          </p:cNvSpPr>
          <p:nvPr/>
        </p:nvSpPr>
        <p:spPr bwMode="auto">
          <a:xfrm>
            <a:off x="1554163" y="5526088"/>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3796" name="Rectangle 4"/>
          <p:cNvSpPr>
            <a:spLocks noChangeArrowheads="1"/>
          </p:cNvSpPr>
          <p:nvPr/>
        </p:nvSpPr>
        <p:spPr bwMode="auto">
          <a:xfrm>
            <a:off x="1547813" y="5526088"/>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3797" name="Rectangle 5"/>
          <p:cNvSpPr>
            <a:spLocks noChangeArrowheads="1"/>
          </p:cNvSpPr>
          <p:nvPr/>
        </p:nvSpPr>
        <p:spPr bwMode="auto">
          <a:xfrm>
            <a:off x="4256088" y="5630863"/>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帧</a:t>
            </a:r>
          </a:p>
        </p:txBody>
      </p:sp>
      <p:sp>
        <p:nvSpPr>
          <p:cNvPr id="33798" name="Rectangle 6"/>
          <p:cNvSpPr>
            <a:spLocks noChangeArrowheads="1"/>
          </p:cNvSpPr>
          <p:nvPr/>
        </p:nvSpPr>
        <p:spPr bwMode="auto">
          <a:xfrm>
            <a:off x="8243888" y="5610225"/>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物理层</a:t>
            </a:r>
          </a:p>
        </p:txBody>
      </p:sp>
      <p:sp>
        <p:nvSpPr>
          <p:cNvPr id="33799" name="Rectangle 7"/>
          <p:cNvSpPr>
            <a:spLocks noChangeArrowheads="1"/>
          </p:cNvSpPr>
          <p:nvPr/>
        </p:nvSpPr>
        <p:spPr bwMode="auto">
          <a:xfrm>
            <a:off x="8213725" y="4681538"/>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层</a:t>
            </a:r>
          </a:p>
        </p:txBody>
      </p:sp>
      <p:sp>
        <p:nvSpPr>
          <p:cNvPr id="33800" name="Line 8"/>
          <p:cNvSpPr>
            <a:spLocks noChangeShapeType="1"/>
          </p:cNvSpPr>
          <p:nvPr/>
        </p:nvSpPr>
        <p:spPr bwMode="auto">
          <a:xfrm flipH="1">
            <a:off x="1546225" y="5016500"/>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1" name="Line 9"/>
          <p:cNvSpPr>
            <a:spLocks noChangeShapeType="1"/>
          </p:cNvSpPr>
          <p:nvPr/>
        </p:nvSpPr>
        <p:spPr bwMode="auto">
          <a:xfrm>
            <a:off x="7956550" y="5087938"/>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02" name="Rectangle 10"/>
          <p:cNvSpPr>
            <a:spLocks noChangeArrowheads="1"/>
          </p:cNvSpPr>
          <p:nvPr/>
        </p:nvSpPr>
        <p:spPr bwMode="auto">
          <a:xfrm>
            <a:off x="8348663" y="3767138"/>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层</a:t>
            </a:r>
          </a:p>
        </p:txBody>
      </p:sp>
      <p:sp>
        <p:nvSpPr>
          <p:cNvPr id="33803" name="Line 11"/>
          <p:cNvSpPr>
            <a:spLocks noChangeShapeType="1"/>
          </p:cNvSpPr>
          <p:nvPr/>
        </p:nvSpPr>
        <p:spPr bwMode="auto">
          <a:xfrm>
            <a:off x="8196263" y="4300538"/>
            <a:ext cx="820737" cy="11112"/>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04" name="Group 12"/>
          <p:cNvGrpSpPr>
            <a:grpSpLocks/>
          </p:cNvGrpSpPr>
          <p:nvPr/>
        </p:nvGrpSpPr>
        <p:grpSpPr bwMode="auto">
          <a:xfrm>
            <a:off x="0" y="4578350"/>
            <a:ext cx="1524000" cy="479425"/>
            <a:chOff x="0" y="2383"/>
            <a:chExt cx="960" cy="302"/>
          </a:xfrm>
        </p:grpSpPr>
        <p:sp>
          <p:nvSpPr>
            <p:cNvPr id="33830" name="Rectangle 13"/>
            <p:cNvSpPr>
              <a:spLocks noChangeArrowheads="1"/>
            </p:cNvSpPr>
            <p:nvPr/>
          </p:nvSpPr>
          <p:spPr bwMode="auto">
            <a:xfrm>
              <a:off x="0" y="2383"/>
              <a:ext cx="68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80000"/>
                </a:lnSpc>
                <a:spcBef>
                  <a:spcPct val="0"/>
                </a:spcBef>
                <a:buClrTx/>
                <a:buFontTx/>
                <a:buNone/>
              </a:pPr>
              <a:r>
                <a:rPr kumimoji="1" lang="zh-CN" altLang="en-US" sz="1600">
                  <a:solidFill>
                    <a:srgbClr val="333399"/>
                  </a:solidFill>
                  <a:latin typeface="Times New Roman" panose="02020603050405020304" pitchFamily="18" charset="0"/>
                </a:rPr>
                <a:t>以太网 </a:t>
              </a:r>
              <a:r>
                <a:rPr kumimoji="1" lang="en-US" altLang="zh-CN" sz="1600">
                  <a:solidFill>
                    <a:srgbClr val="333399"/>
                  </a:solidFill>
                  <a:latin typeface="Times New Roman" panose="02020603050405020304" pitchFamily="18" charset="0"/>
                </a:rPr>
                <a:t>V2</a:t>
              </a:r>
            </a:p>
            <a:p>
              <a:pPr>
                <a:lnSpc>
                  <a:spcPct val="80000"/>
                </a:lnSpc>
                <a:spcBef>
                  <a:spcPct val="0"/>
                </a:spcBef>
                <a:buClrTx/>
                <a:buFontTx/>
                <a:buNone/>
              </a:pPr>
              <a:r>
                <a:rPr kumimoji="1" lang="en-US" altLang="zh-CN" sz="1600">
                  <a:solidFill>
                    <a:srgbClr val="333399"/>
                  </a:solidFill>
                  <a:latin typeface="Times New Roman" panose="02020603050405020304" pitchFamily="18" charset="0"/>
                </a:rPr>
                <a:t>  MAC </a:t>
              </a:r>
              <a:r>
                <a:rPr kumimoji="1" lang="zh-CN" altLang="en-US" sz="1600">
                  <a:solidFill>
                    <a:srgbClr val="333399"/>
                  </a:solidFill>
                  <a:latin typeface="Times New Roman" panose="02020603050405020304" pitchFamily="18" charset="0"/>
                </a:rPr>
                <a:t>帧</a:t>
              </a:r>
            </a:p>
          </p:txBody>
        </p:sp>
        <p:sp>
          <p:nvSpPr>
            <p:cNvPr id="33831" name="AutoShape 14"/>
            <p:cNvSpPr>
              <a:spLocks noChangeArrowheads="1"/>
            </p:cNvSpPr>
            <p:nvPr/>
          </p:nvSpPr>
          <p:spPr bwMode="auto">
            <a:xfrm>
              <a:off x="624" y="2496"/>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grpSp>
        <p:nvGrpSpPr>
          <p:cNvPr id="33805" name="Group 15"/>
          <p:cNvGrpSpPr>
            <a:grpSpLocks/>
          </p:cNvGrpSpPr>
          <p:nvPr/>
        </p:nvGrpSpPr>
        <p:grpSpPr bwMode="auto">
          <a:xfrm>
            <a:off x="1046163" y="4259263"/>
            <a:ext cx="6929437" cy="1412875"/>
            <a:chOff x="659" y="2182"/>
            <a:chExt cx="4365" cy="890"/>
          </a:xfrm>
        </p:grpSpPr>
        <p:sp>
          <p:nvSpPr>
            <p:cNvPr id="33812"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nvGrpSpPr>
            <p:cNvPr id="33813" name="Group 17"/>
            <p:cNvGrpSpPr>
              <a:grpSpLocks/>
            </p:cNvGrpSpPr>
            <p:nvPr/>
          </p:nvGrpSpPr>
          <p:grpSpPr bwMode="auto">
            <a:xfrm>
              <a:off x="659" y="2182"/>
              <a:ext cx="4365" cy="506"/>
              <a:chOff x="659" y="2182"/>
              <a:chExt cx="4365" cy="506"/>
            </a:xfrm>
          </p:grpSpPr>
          <p:sp>
            <p:nvSpPr>
              <p:cNvPr id="33814" name="Rectangle 18"/>
              <p:cNvSpPr>
                <a:spLocks noChangeArrowheads="1"/>
              </p:cNvSpPr>
              <p:nvPr/>
            </p:nvSpPr>
            <p:spPr bwMode="auto">
              <a:xfrm>
                <a:off x="974" y="2400"/>
                <a:ext cx="4045" cy="288"/>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3815"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6"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7"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8"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9"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目的地址</a:t>
                </a:r>
              </a:p>
            </p:txBody>
          </p:sp>
          <p:sp>
            <p:nvSpPr>
              <p:cNvPr id="33820"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源地址</a:t>
                </a:r>
              </a:p>
            </p:txBody>
          </p:sp>
          <p:sp>
            <p:nvSpPr>
              <p:cNvPr id="33821"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类型</a:t>
                </a:r>
              </a:p>
            </p:txBody>
          </p:sp>
          <p:sp>
            <p:nvSpPr>
              <p:cNvPr id="33822"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数        据</a:t>
                </a:r>
              </a:p>
            </p:txBody>
          </p:sp>
          <p:sp>
            <p:nvSpPr>
              <p:cNvPr id="33823"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FCS</a:t>
                </a:r>
              </a:p>
            </p:txBody>
          </p:sp>
          <p:sp>
            <p:nvSpPr>
              <p:cNvPr id="33824"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3825"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3826"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2</a:t>
                </a:r>
              </a:p>
            </p:txBody>
          </p:sp>
          <p:sp>
            <p:nvSpPr>
              <p:cNvPr id="33827"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a:t>
                </a:r>
              </a:p>
            </p:txBody>
          </p:sp>
          <p:sp>
            <p:nvSpPr>
              <p:cNvPr id="33828"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字节</a:t>
                </a:r>
              </a:p>
            </p:txBody>
          </p:sp>
          <p:sp>
            <p:nvSpPr>
              <p:cNvPr id="33829"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46 ~ 1500</a:t>
                </a:r>
              </a:p>
            </p:txBody>
          </p:sp>
        </p:grpSp>
      </p:grpSp>
      <p:grpSp>
        <p:nvGrpSpPr>
          <p:cNvPr id="33806" name="Group 34"/>
          <p:cNvGrpSpPr>
            <a:grpSpLocks/>
          </p:cNvGrpSpPr>
          <p:nvPr/>
        </p:nvGrpSpPr>
        <p:grpSpPr bwMode="auto">
          <a:xfrm>
            <a:off x="4310063" y="3767138"/>
            <a:ext cx="3124200" cy="990600"/>
            <a:chOff x="2715" y="1872"/>
            <a:chExt cx="1968" cy="624"/>
          </a:xfrm>
        </p:grpSpPr>
        <p:sp>
          <p:nvSpPr>
            <p:cNvPr id="33810"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3811" name="Rectangle 36"/>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数据报</a:t>
              </a:r>
            </a:p>
          </p:txBody>
        </p:sp>
      </p:grpSp>
      <p:sp>
        <p:nvSpPr>
          <p:cNvPr id="33807" name="AutoShape 38"/>
          <p:cNvSpPr>
            <a:spLocks noChangeArrowheads="1"/>
          </p:cNvSpPr>
          <p:nvPr/>
        </p:nvSpPr>
        <p:spPr bwMode="auto">
          <a:xfrm>
            <a:off x="2987675" y="2928938"/>
            <a:ext cx="2735263" cy="504825"/>
          </a:xfrm>
          <a:prstGeom prst="wedgeRoundRectCallout">
            <a:avLst>
              <a:gd name="adj1" fmla="val -23130"/>
              <a:gd name="adj2" fmla="val 31038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400">
                <a:solidFill>
                  <a:srgbClr val="333399"/>
                </a:solidFill>
                <a:latin typeface="Arial" panose="020B0604020202020204" pitchFamily="34" charset="0"/>
                <a:ea typeface="黑体" panose="02010609060101010101" pitchFamily="49" charset="-122"/>
              </a:rPr>
              <a:t>类型字段 </a:t>
            </a:r>
            <a:r>
              <a:rPr lang="en-US" altLang="zh-CN" sz="2400">
                <a:solidFill>
                  <a:srgbClr val="333399"/>
                </a:solidFill>
                <a:latin typeface="Arial" panose="020B0604020202020204" pitchFamily="34" charset="0"/>
                <a:ea typeface="黑体" panose="02010609060101010101" pitchFamily="49" charset="-122"/>
              </a:rPr>
              <a:t>2 </a:t>
            </a:r>
            <a:r>
              <a:rPr lang="zh-CN" altLang="en-US" sz="2400">
                <a:solidFill>
                  <a:srgbClr val="333399"/>
                </a:solidFill>
                <a:latin typeface="Arial" panose="020B0604020202020204" pitchFamily="34" charset="0"/>
                <a:ea typeface="黑体" panose="02010609060101010101" pitchFamily="49" charset="-122"/>
              </a:rPr>
              <a:t>字节</a:t>
            </a:r>
          </a:p>
        </p:txBody>
      </p:sp>
      <p:sp>
        <p:nvSpPr>
          <p:cNvPr id="33808" name="Text Box 39"/>
          <p:cNvSpPr txBox="1">
            <a:spLocks noChangeArrowheads="1"/>
          </p:cNvSpPr>
          <p:nvPr/>
        </p:nvSpPr>
        <p:spPr bwMode="auto">
          <a:xfrm>
            <a:off x="708025" y="1919288"/>
            <a:ext cx="7829550" cy="831850"/>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400">
                <a:solidFill>
                  <a:srgbClr val="333399"/>
                </a:solidFill>
                <a:latin typeface="Arial" panose="020B0604020202020204" pitchFamily="34" charset="0"/>
                <a:ea typeface="黑体" panose="02010609060101010101" pitchFamily="49" charset="-122"/>
              </a:rPr>
              <a:t>类型字段用来标志</a:t>
            </a:r>
            <a:r>
              <a:rPr lang="zh-CN" altLang="en-US" sz="2400">
                <a:solidFill>
                  <a:srgbClr val="FF0000"/>
                </a:solidFill>
                <a:latin typeface="Arial" panose="020B0604020202020204" pitchFamily="34" charset="0"/>
                <a:ea typeface="黑体" panose="02010609060101010101" pitchFamily="49" charset="-122"/>
              </a:rPr>
              <a:t>上一层</a:t>
            </a:r>
            <a:r>
              <a:rPr lang="zh-CN" altLang="en-US" sz="2400">
                <a:solidFill>
                  <a:srgbClr val="333399"/>
                </a:solidFill>
                <a:latin typeface="Arial" panose="020B0604020202020204" pitchFamily="34" charset="0"/>
                <a:ea typeface="黑体" panose="02010609060101010101" pitchFamily="49" charset="-122"/>
              </a:rPr>
              <a:t>使用的是什么协议，</a:t>
            </a:r>
          </a:p>
          <a:p>
            <a:pPr algn="ctr" eaLnBrk="1" hangingPunct="1">
              <a:spcBef>
                <a:spcPct val="0"/>
              </a:spcBef>
              <a:buClrTx/>
              <a:buFontTx/>
              <a:buNone/>
            </a:pPr>
            <a:r>
              <a:rPr lang="zh-CN" altLang="en-US" sz="2400">
                <a:solidFill>
                  <a:srgbClr val="333399"/>
                </a:solidFill>
                <a:latin typeface="Arial" panose="020B0604020202020204" pitchFamily="34" charset="0"/>
                <a:ea typeface="黑体" panose="02010609060101010101" pitchFamily="49" charset="-122"/>
              </a:rPr>
              <a:t>以便把收到的 </a:t>
            </a:r>
            <a:r>
              <a:rPr lang="en-US" altLang="zh-CN" sz="2400">
                <a:solidFill>
                  <a:srgbClr val="333399"/>
                </a:solidFill>
                <a:latin typeface="Arial" panose="020B0604020202020204" pitchFamily="34" charset="0"/>
                <a:ea typeface="黑体" panose="02010609060101010101" pitchFamily="49" charset="-122"/>
              </a:rPr>
              <a:t>MAC </a:t>
            </a:r>
            <a:r>
              <a:rPr lang="zh-CN" altLang="en-US" sz="2400">
                <a:solidFill>
                  <a:srgbClr val="333399"/>
                </a:solidFill>
                <a:latin typeface="Arial" panose="020B0604020202020204" pitchFamily="34" charset="0"/>
                <a:ea typeface="黑体" panose="02010609060101010101" pitchFamily="49" charset="-122"/>
              </a:rPr>
              <a:t>帧的数据上交给上一层的这个协议。 </a:t>
            </a:r>
          </a:p>
        </p:txBody>
      </p:sp>
      <p:sp>
        <p:nvSpPr>
          <p:cNvPr id="33809" name="Rectangle 41"/>
          <p:cNvSpPr>
            <a:spLocks noGrp="1" noChangeArrowheads="1"/>
          </p:cNvSpPr>
          <p:nvPr>
            <p:ph type="title"/>
          </p:nvPr>
        </p:nvSpPr>
        <p:spPr>
          <a:xfrm>
            <a:off x="539750" y="765175"/>
            <a:ext cx="7793038" cy="768350"/>
          </a:xfrm>
          <a:noFill/>
        </p:spPr>
        <p:txBody>
          <a:bodyPr/>
          <a:lstStyle/>
          <a:p>
            <a:pPr eaLnBrk="1" hangingPunct="1"/>
            <a:r>
              <a:rPr lang="en-US" altLang="zh-CN" sz="3200" b="1">
                <a:solidFill>
                  <a:srgbClr val="333399"/>
                </a:solidFill>
                <a:latin typeface="黑体" panose="02010609060101010101" pitchFamily="49" charset="-122"/>
                <a:ea typeface="黑体" panose="02010609060101010101" pitchFamily="49" charset="-122"/>
              </a:rPr>
              <a:t>DIX Ethernet V2 </a:t>
            </a:r>
            <a:r>
              <a:rPr lang="zh-CN" altLang="en-US" sz="3200" b="1">
                <a:solidFill>
                  <a:srgbClr val="000099"/>
                </a:solidFill>
                <a:latin typeface="黑体" panose="02010609060101010101" pitchFamily="49" charset="-122"/>
                <a:ea typeface="黑体" panose="02010609060101010101" pitchFamily="49" charset="-122"/>
              </a:rPr>
              <a:t>的 </a:t>
            </a:r>
            <a:r>
              <a:rPr lang="en-US" altLang="zh-CN" sz="3200" b="1">
                <a:solidFill>
                  <a:srgbClr val="000099"/>
                </a:solidFill>
                <a:latin typeface="黑体" panose="02010609060101010101" pitchFamily="49" charset="-122"/>
                <a:ea typeface="黑体" panose="02010609060101010101" pitchFamily="49" charset="-122"/>
              </a:rPr>
              <a:t>MAC </a:t>
            </a:r>
            <a:r>
              <a:rPr lang="zh-CN" altLang="en-US" sz="3200" b="1">
                <a:solidFill>
                  <a:srgbClr val="000099"/>
                </a:solidFill>
                <a:latin typeface="黑体" panose="02010609060101010101" pitchFamily="49" charset="-122"/>
                <a:ea typeface="黑体" panose="02010609060101010101" pitchFamily="49" charset="-122"/>
              </a:rPr>
              <a:t>帧格式</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1"/>
          <p:cNvSpPr>
            <a:spLocks noGrp="1" noChangeArrowheads="1"/>
          </p:cNvSpPr>
          <p:nvPr>
            <p:ph type="title"/>
          </p:nvPr>
        </p:nvSpPr>
        <p:spPr>
          <a:xfrm>
            <a:off x="539750" y="765175"/>
            <a:ext cx="7793038" cy="768350"/>
          </a:xfrm>
          <a:noFill/>
        </p:spPr>
        <p:txBody>
          <a:bodyPr/>
          <a:lstStyle/>
          <a:p>
            <a:pPr eaLnBrk="1" hangingPunct="1"/>
            <a:r>
              <a:rPr lang="en-US" altLang="zh-CN" sz="3200" b="1">
                <a:solidFill>
                  <a:srgbClr val="333399"/>
                </a:solidFill>
                <a:latin typeface="黑体" panose="02010609060101010101" pitchFamily="49" charset="-122"/>
                <a:ea typeface="黑体" panose="02010609060101010101" pitchFamily="49" charset="-122"/>
              </a:rPr>
              <a:t>DIX Ethernet V2 </a:t>
            </a:r>
            <a:r>
              <a:rPr lang="zh-CN" altLang="en-US" sz="3200" b="1">
                <a:solidFill>
                  <a:srgbClr val="000099"/>
                </a:solidFill>
                <a:latin typeface="黑体" panose="02010609060101010101" pitchFamily="49" charset="-122"/>
                <a:ea typeface="黑体" panose="02010609060101010101" pitchFamily="49" charset="-122"/>
              </a:rPr>
              <a:t>的 </a:t>
            </a:r>
            <a:r>
              <a:rPr lang="en-US" altLang="zh-CN" sz="3200" b="1">
                <a:solidFill>
                  <a:srgbClr val="000099"/>
                </a:solidFill>
                <a:latin typeface="黑体" panose="02010609060101010101" pitchFamily="49" charset="-122"/>
                <a:ea typeface="黑体" panose="02010609060101010101" pitchFamily="49" charset="-122"/>
              </a:rPr>
              <a:t>MAC </a:t>
            </a:r>
            <a:r>
              <a:rPr lang="zh-CN" altLang="en-US" sz="3200" b="1">
                <a:solidFill>
                  <a:srgbClr val="000099"/>
                </a:solidFill>
                <a:latin typeface="黑体" panose="02010609060101010101" pitchFamily="49" charset="-122"/>
                <a:ea typeface="黑体" panose="02010609060101010101" pitchFamily="49" charset="-122"/>
              </a:rPr>
              <a:t>帧格式</a:t>
            </a:r>
          </a:p>
        </p:txBody>
      </p:sp>
      <p:pic>
        <p:nvPicPr>
          <p:cNvPr id="34819"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284984"/>
            <a:ext cx="8602663"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23850" y="2060575"/>
            <a:ext cx="8008938" cy="461963"/>
          </a:xfrm>
          <a:prstGeom prst="rect">
            <a:avLst/>
          </a:prstGeom>
        </p:spPr>
        <p:txBody>
          <a:bodyPr>
            <a:spAutoFit/>
          </a:bodyPr>
          <a:lstStyle/>
          <a:p>
            <a:pPr>
              <a:defRPr/>
            </a:pPr>
            <a:r>
              <a:rPr lang="en-US" altLang="zh-CN" sz="2400" b="1" dirty="0">
                <a:solidFill>
                  <a:srgbClr val="000099"/>
                </a:solidFill>
                <a:latin typeface="+mn-ea"/>
                <a:ea typeface="+mn-ea"/>
              </a:rPr>
              <a:t>IP</a:t>
            </a:r>
            <a:r>
              <a:rPr lang="zh-CN" altLang="en-US" sz="2400" b="1" dirty="0">
                <a:solidFill>
                  <a:srgbClr val="000099"/>
                </a:solidFill>
                <a:latin typeface="+mn-ea"/>
                <a:ea typeface="+mn-ea"/>
              </a:rPr>
              <a:t>数据包，</a:t>
            </a:r>
            <a:r>
              <a:rPr lang="en-US" altLang="zh-CN" sz="2400" b="1" dirty="0">
                <a:solidFill>
                  <a:srgbClr val="000099"/>
                </a:solidFill>
                <a:latin typeface="+mn-ea"/>
                <a:ea typeface="+mn-ea"/>
              </a:rPr>
              <a:t>ARP,RARP</a:t>
            </a:r>
            <a:r>
              <a:rPr lang="zh-CN" altLang="en-US" sz="2400" b="1" dirty="0">
                <a:solidFill>
                  <a:srgbClr val="000099"/>
                </a:solidFill>
                <a:latin typeface="+mn-ea"/>
                <a:ea typeface="+mn-ea"/>
              </a:rPr>
              <a:t>数据包都会交由链路层传递。</a:t>
            </a:r>
            <a:endParaRPr lang="zh-CN" altLang="en-US" sz="2400" dirty="0">
              <a:latin typeface="+mn-ea"/>
              <a:ea typeface="+mn-ea"/>
            </a:endParaRPr>
          </a:p>
        </p:txBody>
      </p:sp>
      <p:sp>
        <p:nvSpPr>
          <p:cNvPr id="5" name="AutoShape 38">
            <a:extLst>
              <a:ext uri="{FF2B5EF4-FFF2-40B4-BE49-F238E27FC236}">
                <a16:creationId xmlns:a16="http://schemas.microsoft.com/office/drawing/2014/main" id="{1FE0E869-4631-4F8B-B132-430013AD1507}"/>
              </a:ext>
            </a:extLst>
          </p:cNvPr>
          <p:cNvSpPr>
            <a:spLocks noChangeArrowheads="1"/>
          </p:cNvSpPr>
          <p:nvPr/>
        </p:nvSpPr>
        <p:spPr bwMode="auto">
          <a:xfrm>
            <a:off x="323850" y="2645973"/>
            <a:ext cx="2735263" cy="504825"/>
          </a:xfrm>
          <a:prstGeom prst="wedgeRoundRectCallout">
            <a:avLst>
              <a:gd name="adj1" fmla="val 27197"/>
              <a:gd name="adj2" fmla="val 93809"/>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400" dirty="0">
                <a:solidFill>
                  <a:srgbClr val="333399"/>
                </a:solidFill>
                <a:latin typeface="Arial" panose="020B0604020202020204" pitchFamily="34" charset="0"/>
                <a:ea typeface="黑体" panose="02010609060101010101" pitchFamily="49" charset="-122"/>
              </a:rPr>
              <a:t>类型字段 </a:t>
            </a:r>
            <a:r>
              <a:rPr lang="en-US" altLang="zh-CN" sz="2400" dirty="0">
                <a:solidFill>
                  <a:srgbClr val="333399"/>
                </a:solidFill>
                <a:latin typeface="Arial" panose="020B0604020202020204" pitchFamily="34" charset="0"/>
                <a:ea typeface="黑体" panose="02010609060101010101" pitchFamily="49" charset="-122"/>
              </a:rPr>
              <a:t>2 </a:t>
            </a:r>
            <a:r>
              <a:rPr lang="zh-CN" altLang="en-US" sz="2400" dirty="0">
                <a:solidFill>
                  <a:srgbClr val="333399"/>
                </a:solidFill>
                <a:latin typeface="Arial" panose="020B0604020202020204" pitchFamily="34" charset="0"/>
                <a:ea typeface="黑体" panose="02010609060101010101" pitchFamily="49" charset="-122"/>
              </a:rPr>
              <a:t>字节</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Line 2"/>
          <p:cNvSpPr>
            <a:spLocks noChangeShapeType="1"/>
          </p:cNvSpPr>
          <p:nvPr/>
        </p:nvSpPr>
        <p:spPr bwMode="auto">
          <a:xfrm>
            <a:off x="122988" y="4135016"/>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3" name="Rectangle 3"/>
          <p:cNvSpPr>
            <a:spLocks noChangeArrowheads="1"/>
          </p:cNvSpPr>
          <p:nvPr/>
        </p:nvSpPr>
        <p:spPr bwMode="auto">
          <a:xfrm>
            <a:off x="1524751" y="4369966"/>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5844" name="Rectangle 4"/>
          <p:cNvSpPr>
            <a:spLocks noChangeArrowheads="1"/>
          </p:cNvSpPr>
          <p:nvPr/>
        </p:nvSpPr>
        <p:spPr bwMode="auto">
          <a:xfrm>
            <a:off x="1518401" y="4369966"/>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5845" name="Rectangle 5"/>
          <p:cNvSpPr>
            <a:spLocks noChangeArrowheads="1"/>
          </p:cNvSpPr>
          <p:nvPr/>
        </p:nvSpPr>
        <p:spPr bwMode="auto">
          <a:xfrm>
            <a:off x="4226676" y="4474741"/>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帧</a:t>
            </a:r>
          </a:p>
        </p:txBody>
      </p:sp>
      <p:sp>
        <p:nvSpPr>
          <p:cNvPr id="35846" name="Rectangle 6"/>
          <p:cNvSpPr>
            <a:spLocks noChangeArrowheads="1"/>
          </p:cNvSpPr>
          <p:nvPr/>
        </p:nvSpPr>
        <p:spPr bwMode="auto">
          <a:xfrm>
            <a:off x="8214476" y="4454104"/>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物理层</a:t>
            </a:r>
          </a:p>
        </p:txBody>
      </p:sp>
      <p:sp>
        <p:nvSpPr>
          <p:cNvPr id="35847" name="Rectangle 7"/>
          <p:cNvSpPr>
            <a:spLocks noChangeArrowheads="1"/>
          </p:cNvSpPr>
          <p:nvPr/>
        </p:nvSpPr>
        <p:spPr bwMode="auto">
          <a:xfrm>
            <a:off x="8184313" y="3525416"/>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层</a:t>
            </a:r>
          </a:p>
        </p:txBody>
      </p:sp>
      <p:sp>
        <p:nvSpPr>
          <p:cNvPr id="35848" name="Line 8"/>
          <p:cNvSpPr>
            <a:spLocks noChangeShapeType="1"/>
          </p:cNvSpPr>
          <p:nvPr/>
        </p:nvSpPr>
        <p:spPr bwMode="auto">
          <a:xfrm flipH="1">
            <a:off x="1516813" y="3860379"/>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9" name="Line 9"/>
          <p:cNvSpPr>
            <a:spLocks noChangeShapeType="1"/>
          </p:cNvSpPr>
          <p:nvPr/>
        </p:nvSpPr>
        <p:spPr bwMode="auto">
          <a:xfrm>
            <a:off x="7927138" y="3931816"/>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0" name="Rectangle 10"/>
          <p:cNvSpPr>
            <a:spLocks noChangeArrowheads="1"/>
          </p:cNvSpPr>
          <p:nvPr/>
        </p:nvSpPr>
        <p:spPr bwMode="auto">
          <a:xfrm>
            <a:off x="8319251" y="2611016"/>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层</a:t>
            </a:r>
          </a:p>
        </p:txBody>
      </p:sp>
      <p:sp>
        <p:nvSpPr>
          <p:cNvPr id="35851" name="Line 11"/>
          <p:cNvSpPr>
            <a:spLocks noChangeShapeType="1"/>
          </p:cNvSpPr>
          <p:nvPr/>
        </p:nvSpPr>
        <p:spPr bwMode="auto">
          <a:xfrm>
            <a:off x="8166851" y="3144416"/>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52" name="Group 12"/>
          <p:cNvGrpSpPr>
            <a:grpSpLocks/>
          </p:cNvGrpSpPr>
          <p:nvPr/>
        </p:nvGrpSpPr>
        <p:grpSpPr bwMode="auto">
          <a:xfrm>
            <a:off x="-29412" y="3422229"/>
            <a:ext cx="1524000" cy="479425"/>
            <a:chOff x="0" y="2383"/>
            <a:chExt cx="960" cy="302"/>
          </a:xfrm>
        </p:grpSpPr>
        <p:sp>
          <p:nvSpPr>
            <p:cNvPr id="35878" name="Rectangle 13"/>
            <p:cNvSpPr>
              <a:spLocks noChangeArrowheads="1"/>
            </p:cNvSpPr>
            <p:nvPr/>
          </p:nvSpPr>
          <p:spPr bwMode="auto">
            <a:xfrm>
              <a:off x="0" y="2383"/>
              <a:ext cx="68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80000"/>
                </a:lnSpc>
                <a:spcBef>
                  <a:spcPct val="0"/>
                </a:spcBef>
                <a:buClrTx/>
                <a:buFontTx/>
                <a:buNone/>
              </a:pPr>
              <a:r>
                <a:rPr kumimoji="1" lang="zh-CN" altLang="en-US" sz="1600">
                  <a:solidFill>
                    <a:srgbClr val="333399"/>
                  </a:solidFill>
                  <a:latin typeface="Times New Roman" panose="02020603050405020304" pitchFamily="18" charset="0"/>
                </a:rPr>
                <a:t>以太网 </a:t>
              </a:r>
              <a:r>
                <a:rPr kumimoji="1" lang="en-US" altLang="zh-CN" sz="1600">
                  <a:solidFill>
                    <a:srgbClr val="333399"/>
                  </a:solidFill>
                  <a:latin typeface="Times New Roman" panose="02020603050405020304" pitchFamily="18" charset="0"/>
                </a:rPr>
                <a:t>V2</a:t>
              </a:r>
            </a:p>
            <a:p>
              <a:pPr>
                <a:lnSpc>
                  <a:spcPct val="80000"/>
                </a:lnSpc>
                <a:spcBef>
                  <a:spcPct val="0"/>
                </a:spcBef>
                <a:buClrTx/>
                <a:buFontTx/>
                <a:buNone/>
              </a:pPr>
              <a:r>
                <a:rPr kumimoji="1" lang="en-US" altLang="zh-CN" sz="1600">
                  <a:solidFill>
                    <a:srgbClr val="333399"/>
                  </a:solidFill>
                  <a:latin typeface="Times New Roman" panose="02020603050405020304" pitchFamily="18" charset="0"/>
                </a:rPr>
                <a:t>  MAC </a:t>
              </a:r>
              <a:r>
                <a:rPr kumimoji="1" lang="zh-CN" altLang="en-US" sz="1600">
                  <a:solidFill>
                    <a:srgbClr val="333399"/>
                  </a:solidFill>
                  <a:latin typeface="Times New Roman" panose="02020603050405020304" pitchFamily="18" charset="0"/>
                </a:rPr>
                <a:t>帧</a:t>
              </a:r>
            </a:p>
          </p:txBody>
        </p:sp>
        <p:sp>
          <p:nvSpPr>
            <p:cNvPr id="35879" name="AutoShape 14"/>
            <p:cNvSpPr>
              <a:spLocks noChangeArrowheads="1"/>
            </p:cNvSpPr>
            <p:nvPr/>
          </p:nvSpPr>
          <p:spPr bwMode="auto">
            <a:xfrm>
              <a:off x="624" y="2496"/>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grpSp>
        <p:nvGrpSpPr>
          <p:cNvPr id="35853" name="Group 15"/>
          <p:cNvGrpSpPr>
            <a:grpSpLocks/>
          </p:cNvGrpSpPr>
          <p:nvPr/>
        </p:nvGrpSpPr>
        <p:grpSpPr bwMode="auto">
          <a:xfrm>
            <a:off x="1016751" y="3103141"/>
            <a:ext cx="6929437" cy="1412875"/>
            <a:chOff x="659" y="2182"/>
            <a:chExt cx="4365" cy="890"/>
          </a:xfrm>
        </p:grpSpPr>
        <p:sp>
          <p:nvSpPr>
            <p:cNvPr id="35860"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nvGrpSpPr>
            <p:cNvPr id="35861" name="Group 17"/>
            <p:cNvGrpSpPr>
              <a:grpSpLocks/>
            </p:cNvGrpSpPr>
            <p:nvPr/>
          </p:nvGrpSpPr>
          <p:grpSpPr bwMode="auto">
            <a:xfrm>
              <a:off x="659" y="2182"/>
              <a:ext cx="4365" cy="506"/>
              <a:chOff x="659" y="2182"/>
              <a:chExt cx="4365" cy="506"/>
            </a:xfrm>
          </p:grpSpPr>
          <p:sp>
            <p:nvSpPr>
              <p:cNvPr id="35862" name="Rectangle 18"/>
              <p:cNvSpPr>
                <a:spLocks noChangeArrowheads="1"/>
              </p:cNvSpPr>
              <p:nvPr/>
            </p:nvSpPr>
            <p:spPr bwMode="auto">
              <a:xfrm>
                <a:off x="974" y="2400"/>
                <a:ext cx="4045" cy="288"/>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5863"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4"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5"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6"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7"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目的地址</a:t>
                </a:r>
              </a:p>
            </p:txBody>
          </p:sp>
          <p:sp>
            <p:nvSpPr>
              <p:cNvPr id="35868"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源地址</a:t>
                </a:r>
              </a:p>
            </p:txBody>
          </p:sp>
          <p:sp>
            <p:nvSpPr>
              <p:cNvPr id="35869"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类型</a:t>
                </a:r>
              </a:p>
            </p:txBody>
          </p:sp>
          <p:sp>
            <p:nvSpPr>
              <p:cNvPr id="35870"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数        据</a:t>
                </a:r>
              </a:p>
            </p:txBody>
          </p:sp>
          <p:sp>
            <p:nvSpPr>
              <p:cNvPr id="35871"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FCS</a:t>
                </a:r>
              </a:p>
            </p:txBody>
          </p:sp>
          <p:sp>
            <p:nvSpPr>
              <p:cNvPr id="35872"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5873"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5874"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2</a:t>
                </a:r>
              </a:p>
            </p:txBody>
          </p:sp>
          <p:sp>
            <p:nvSpPr>
              <p:cNvPr id="35875"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a:t>
                </a:r>
              </a:p>
            </p:txBody>
          </p:sp>
          <p:sp>
            <p:nvSpPr>
              <p:cNvPr id="35876"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字节</a:t>
                </a:r>
              </a:p>
            </p:txBody>
          </p:sp>
          <p:sp>
            <p:nvSpPr>
              <p:cNvPr id="35877" name="Text Box 33"/>
              <p:cNvSpPr txBox="1">
                <a:spLocks noChangeArrowheads="1"/>
              </p:cNvSpPr>
              <p:nvPr/>
            </p:nvSpPr>
            <p:spPr bwMode="auto">
              <a:xfrm>
                <a:off x="3777" y="2185"/>
                <a:ext cx="6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46 ~ 1500</a:t>
                </a:r>
              </a:p>
            </p:txBody>
          </p:sp>
        </p:grpSp>
      </p:grpSp>
      <p:grpSp>
        <p:nvGrpSpPr>
          <p:cNvPr id="35854" name="Group 34"/>
          <p:cNvGrpSpPr>
            <a:grpSpLocks/>
          </p:cNvGrpSpPr>
          <p:nvPr/>
        </p:nvGrpSpPr>
        <p:grpSpPr bwMode="auto">
          <a:xfrm>
            <a:off x="4280651" y="2611016"/>
            <a:ext cx="3124200" cy="990600"/>
            <a:chOff x="2715" y="1872"/>
            <a:chExt cx="1968" cy="624"/>
          </a:xfrm>
        </p:grpSpPr>
        <p:sp>
          <p:nvSpPr>
            <p:cNvPr id="35858" name="AutoShape 35"/>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5859" name="Rectangle 36"/>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数据报</a:t>
              </a:r>
            </a:p>
          </p:txBody>
        </p:sp>
      </p:grpSp>
      <p:sp>
        <p:nvSpPr>
          <p:cNvPr id="35855" name="AutoShape 38"/>
          <p:cNvSpPr>
            <a:spLocks noChangeArrowheads="1"/>
          </p:cNvSpPr>
          <p:nvPr/>
        </p:nvSpPr>
        <p:spPr bwMode="auto">
          <a:xfrm>
            <a:off x="2526463" y="1772816"/>
            <a:ext cx="3671888" cy="504825"/>
          </a:xfrm>
          <a:prstGeom prst="wedgeRoundRectCallout">
            <a:avLst>
              <a:gd name="adj1" fmla="val 12042"/>
              <a:gd name="adj2" fmla="val 31038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zh-CN" altLang="en-US" sz="2400" dirty="0">
                <a:solidFill>
                  <a:srgbClr val="333399"/>
                </a:solidFill>
                <a:latin typeface="Arial" panose="020B0604020202020204" pitchFamily="34" charset="0"/>
                <a:ea typeface="黑体" panose="02010609060101010101" pitchFamily="49" charset="-122"/>
              </a:rPr>
              <a:t>数据字段 </a:t>
            </a:r>
            <a:r>
              <a:rPr kumimoji="1" lang="en-US" altLang="zh-CN" sz="2000" dirty="0">
                <a:solidFill>
                  <a:srgbClr val="333399"/>
                </a:solidFill>
                <a:latin typeface="Arial" panose="020B0604020202020204" pitchFamily="34" charset="0"/>
              </a:rPr>
              <a:t>46 ~ 1500</a:t>
            </a:r>
            <a:r>
              <a:rPr lang="en-US" altLang="zh-CN" sz="2400" dirty="0">
                <a:solidFill>
                  <a:srgbClr val="333399"/>
                </a:solidFill>
                <a:latin typeface="Arial" panose="020B0604020202020204" pitchFamily="34" charset="0"/>
                <a:ea typeface="黑体" panose="02010609060101010101" pitchFamily="49" charset="-122"/>
              </a:rPr>
              <a:t> </a:t>
            </a:r>
            <a:r>
              <a:rPr lang="zh-CN" altLang="en-US" sz="2400" dirty="0">
                <a:solidFill>
                  <a:srgbClr val="333399"/>
                </a:solidFill>
                <a:latin typeface="Arial" panose="020B0604020202020204" pitchFamily="34" charset="0"/>
                <a:ea typeface="黑体" panose="02010609060101010101" pitchFamily="49" charset="-122"/>
              </a:rPr>
              <a:t>字节</a:t>
            </a:r>
          </a:p>
        </p:txBody>
      </p:sp>
      <p:sp>
        <p:nvSpPr>
          <p:cNvPr id="35857" name="Rectangle 41"/>
          <p:cNvSpPr>
            <a:spLocks noGrp="1" noChangeArrowheads="1"/>
          </p:cNvSpPr>
          <p:nvPr>
            <p:ph type="title"/>
          </p:nvPr>
        </p:nvSpPr>
        <p:spPr>
          <a:xfrm>
            <a:off x="539750" y="765175"/>
            <a:ext cx="6192838" cy="768350"/>
          </a:xfrm>
          <a:noFill/>
        </p:spPr>
        <p:txBody>
          <a:bodyPr/>
          <a:lstStyle/>
          <a:p>
            <a:pPr eaLnBrk="1" hangingPunct="1"/>
            <a:r>
              <a:rPr lang="en-US" altLang="zh-CN" sz="2800" b="1">
                <a:solidFill>
                  <a:srgbClr val="333399"/>
                </a:solidFill>
                <a:latin typeface="黑体" panose="02010609060101010101" pitchFamily="49" charset="-122"/>
                <a:ea typeface="黑体" panose="02010609060101010101" pitchFamily="49" charset="-122"/>
              </a:rPr>
              <a:t>DIX Ethernet V2</a:t>
            </a:r>
            <a:r>
              <a:rPr lang="en-US" altLang="zh-CN" sz="3000" b="1">
                <a:solidFill>
                  <a:srgbClr val="000099"/>
                </a:solidFill>
                <a:latin typeface="黑体" panose="02010609060101010101" pitchFamily="49" charset="-122"/>
                <a:ea typeface="黑体" panose="02010609060101010101" pitchFamily="49" charset="-122"/>
              </a:rPr>
              <a:t>2 </a:t>
            </a:r>
            <a:r>
              <a:rPr lang="zh-CN" altLang="en-US" sz="3000" b="1">
                <a:solidFill>
                  <a:srgbClr val="000099"/>
                </a:solidFill>
                <a:latin typeface="黑体" panose="02010609060101010101" pitchFamily="49" charset="-122"/>
                <a:ea typeface="黑体" panose="02010609060101010101" pitchFamily="49" charset="-122"/>
              </a:rPr>
              <a:t>的 </a:t>
            </a:r>
            <a:r>
              <a:rPr lang="en-US" altLang="zh-CN" sz="3000" b="1">
                <a:solidFill>
                  <a:srgbClr val="000099"/>
                </a:solidFill>
                <a:latin typeface="黑体" panose="02010609060101010101" pitchFamily="49" charset="-122"/>
                <a:ea typeface="黑体" panose="02010609060101010101" pitchFamily="49" charset="-122"/>
              </a:rPr>
              <a:t>MAC </a:t>
            </a:r>
            <a:r>
              <a:rPr lang="zh-CN" altLang="en-US" sz="3000" b="1">
                <a:solidFill>
                  <a:srgbClr val="000099"/>
                </a:solidFill>
                <a:latin typeface="黑体" panose="02010609060101010101" pitchFamily="49" charset="-122"/>
                <a:ea typeface="黑体" panose="02010609060101010101" pitchFamily="49" charset="-122"/>
              </a:rPr>
              <a:t>帧格式</a:t>
            </a:r>
          </a:p>
        </p:txBody>
      </p:sp>
      <p:sp>
        <p:nvSpPr>
          <p:cNvPr id="42" name="Text Box 40">
            <a:extLst>
              <a:ext uri="{FF2B5EF4-FFF2-40B4-BE49-F238E27FC236}">
                <a16:creationId xmlns:a16="http://schemas.microsoft.com/office/drawing/2014/main" id="{CBC72791-336A-4ECF-96BC-032D14476A27}"/>
              </a:ext>
            </a:extLst>
          </p:cNvPr>
          <p:cNvSpPr txBox="1">
            <a:spLocks noChangeArrowheads="1"/>
          </p:cNvSpPr>
          <p:nvPr/>
        </p:nvSpPr>
        <p:spPr bwMode="auto">
          <a:xfrm>
            <a:off x="338931" y="5199930"/>
            <a:ext cx="8805069" cy="1377878"/>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342900" indent="-342900" eaLnBrk="1" hangingPunct="1">
              <a:lnSpc>
                <a:spcPct val="120000"/>
              </a:lnSpc>
              <a:spcBef>
                <a:spcPct val="0"/>
              </a:spcBef>
              <a:buClrTx/>
              <a:buFont typeface="Wingdings" panose="05000000000000000000" pitchFamily="2" charset="2"/>
              <a:buChar char="l"/>
            </a:pPr>
            <a:r>
              <a:rPr lang="zh-CN" altLang="en-US" sz="2400" dirty="0">
                <a:solidFill>
                  <a:srgbClr val="333399"/>
                </a:solidFill>
                <a:latin typeface="Arial" panose="020B0604020202020204" pitchFamily="34" charset="0"/>
                <a:ea typeface="黑体" panose="02010609060101010101" pitchFamily="49" charset="-122"/>
              </a:rPr>
              <a:t>上层传下来的数据包长度不会超过</a:t>
            </a:r>
            <a:r>
              <a:rPr lang="en-US" altLang="zh-CN" sz="2400" dirty="0">
                <a:solidFill>
                  <a:srgbClr val="333399"/>
                </a:solidFill>
                <a:latin typeface="Arial" panose="020B0604020202020204" pitchFamily="34" charset="0"/>
                <a:ea typeface="黑体" panose="02010609060101010101" pitchFamily="49" charset="-122"/>
              </a:rPr>
              <a:t>1500</a:t>
            </a:r>
            <a:r>
              <a:rPr lang="zh-CN" altLang="en-US" sz="2400" dirty="0">
                <a:solidFill>
                  <a:srgbClr val="333399"/>
                </a:solidFill>
                <a:latin typeface="Arial" panose="020B0604020202020204" pitchFamily="34" charset="0"/>
                <a:ea typeface="黑体" panose="02010609060101010101" pitchFamily="49" charset="-122"/>
              </a:rPr>
              <a:t>字节；</a:t>
            </a:r>
            <a:endParaRPr lang="en-US" altLang="zh-CN" sz="2400" dirty="0">
              <a:solidFill>
                <a:srgbClr val="333399"/>
              </a:solidFill>
              <a:latin typeface="Arial" panose="020B0604020202020204" pitchFamily="34" charset="0"/>
              <a:ea typeface="黑体" panose="02010609060101010101" pitchFamily="49" charset="-122"/>
            </a:endParaRPr>
          </a:p>
          <a:p>
            <a:pPr marL="342900" indent="-342900" eaLnBrk="1" hangingPunct="1">
              <a:lnSpc>
                <a:spcPct val="120000"/>
              </a:lnSpc>
              <a:spcBef>
                <a:spcPct val="0"/>
              </a:spcBef>
              <a:buClrTx/>
              <a:buFont typeface="Wingdings" panose="05000000000000000000" pitchFamily="2" charset="2"/>
              <a:buChar char="l"/>
            </a:pPr>
            <a:r>
              <a:rPr lang="zh-CN" altLang="en-US" sz="2400" dirty="0">
                <a:solidFill>
                  <a:srgbClr val="333399"/>
                </a:solidFill>
                <a:latin typeface="Arial" panose="020B0604020202020204" pitchFamily="34" charset="0"/>
                <a:ea typeface="黑体" panose="02010609060101010101" pitchFamily="49" charset="-122"/>
              </a:rPr>
              <a:t>上层传下来的数据包小于</a:t>
            </a:r>
            <a:r>
              <a:rPr lang="en-US" altLang="zh-CN" sz="2400" dirty="0">
                <a:solidFill>
                  <a:srgbClr val="333399"/>
                </a:solidFill>
                <a:latin typeface="Arial" panose="020B0604020202020204" pitchFamily="34" charset="0"/>
                <a:ea typeface="黑体" panose="02010609060101010101" pitchFamily="49" charset="-122"/>
              </a:rPr>
              <a:t>46 </a:t>
            </a:r>
            <a:r>
              <a:rPr lang="zh-CN" altLang="en-US" sz="2400" dirty="0">
                <a:solidFill>
                  <a:srgbClr val="333399"/>
                </a:solidFill>
                <a:latin typeface="Arial" panose="020B0604020202020204" pitchFamily="34" charset="0"/>
                <a:ea typeface="黑体" panose="02010609060101010101" pitchFamily="49" charset="-122"/>
              </a:rPr>
              <a:t>字节时，在数据字段后面加入整数字节的填充字段，保证以太网的 </a:t>
            </a:r>
            <a:r>
              <a:rPr lang="en-US" altLang="zh-CN" sz="2400" dirty="0">
                <a:solidFill>
                  <a:srgbClr val="333399"/>
                </a:solidFill>
                <a:latin typeface="Arial" panose="020B0604020202020204" pitchFamily="34" charset="0"/>
                <a:ea typeface="黑体" panose="02010609060101010101" pitchFamily="49" charset="-122"/>
              </a:rPr>
              <a:t>MAC </a:t>
            </a:r>
            <a:r>
              <a:rPr lang="zh-CN" altLang="en-US" sz="2400" dirty="0">
                <a:solidFill>
                  <a:srgbClr val="333399"/>
                </a:solidFill>
                <a:latin typeface="Arial" panose="020B0604020202020204" pitchFamily="34" charset="0"/>
                <a:ea typeface="黑体" panose="02010609060101010101" pitchFamily="49" charset="-122"/>
              </a:rPr>
              <a:t>帧长不小于 </a:t>
            </a:r>
            <a:r>
              <a:rPr lang="en-US" altLang="zh-CN" sz="2400" dirty="0">
                <a:solidFill>
                  <a:srgbClr val="333399"/>
                </a:solidFill>
                <a:latin typeface="Arial" panose="020B0604020202020204" pitchFamily="34" charset="0"/>
                <a:ea typeface="黑体" panose="02010609060101010101" pitchFamily="49" charset="-122"/>
              </a:rPr>
              <a:t>64 </a:t>
            </a:r>
            <a:r>
              <a:rPr lang="zh-CN" altLang="en-US" sz="2400" dirty="0">
                <a:solidFill>
                  <a:srgbClr val="333399"/>
                </a:solidFill>
                <a:latin typeface="Arial" panose="020B0604020202020204" pitchFamily="34" charset="0"/>
                <a:ea typeface="黑体" panose="02010609060101010101" pitchFamily="49" charset="-122"/>
              </a:rPr>
              <a:t>字节。 </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2"/>
          <p:cNvSpPr>
            <a:spLocks noChangeShapeType="1"/>
          </p:cNvSpPr>
          <p:nvPr/>
        </p:nvSpPr>
        <p:spPr bwMode="auto">
          <a:xfrm>
            <a:off x="150270" y="3284984"/>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7" name="Rectangle 3"/>
          <p:cNvSpPr>
            <a:spLocks noChangeArrowheads="1"/>
          </p:cNvSpPr>
          <p:nvPr/>
        </p:nvSpPr>
        <p:spPr bwMode="auto">
          <a:xfrm>
            <a:off x="1552033" y="3519934"/>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6868" name="Rectangle 4"/>
          <p:cNvSpPr>
            <a:spLocks noChangeArrowheads="1"/>
          </p:cNvSpPr>
          <p:nvPr/>
        </p:nvSpPr>
        <p:spPr bwMode="auto">
          <a:xfrm>
            <a:off x="1545683" y="3519934"/>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6869" name="Rectangle 5"/>
          <p:cNvSpPr>
            <a:spLocks noChangeArrowheads="1"/>
          </p:cNvSpPr>
          <p:nvPr/>
        </p:nvSpPr>
        <p:spPr bwMode="auto">
          <a:xfrm>
            <a:off x="4253958" y="3624709"/>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帧</a:t>
            </a:r>
          </a:p>
        </p:txBody>
      </p:sp>
      <p:sp>
        <p:nvSpPr>
          <p:cNvPr id="36870" name="Rectangle 6"/>
          <p:cNvSpPr>
            <a:spLocks noChangeArrowheads="1"/>
          </p:cNvSpPr>
          <p:nvPr/>
        </p:nvSpPr>
        <p:spPr bwMode="auto">
          <a:xfrm>
            <a:off x="8241758" y="3604072"/>
            <a:ext cx="7905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物理层</a:t>
            </a:r>
          </a:p>
        </p:txBody>
      </p:sp>
      <p:sp>
        <p:nvSpPr>
          <p:cNvPr id="36871" name="Rectangle 7"/>
          <p:cNvSpPr>
            <a:spLocks noChangeArrowheads="1"/>
          </p:cNvSpPr>
          <p:nvPr/>
        </p:nvSpPr>
        <p:spPr bwMode="auto">
          <a:xfrm>
            <a:off x="8211595" y="2675384"/>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MAC </a:t>
            </a:r>
            <a:r>
              <a:rPr kumimoji="1" lang="zh-CN" altLang="en-US" sz="1600">
                <a:solidFill>
                  <a:srgbClr val="333399"/>
                </a:solidFill>
                <a:latin typeface="Times New Roman" panose="02020603050405020304" pitchFamily="18" charset="0"/>
              </a:rPr>
              <a:t>层</a:t>
            </a:r>
          </a:p>
        </p:txBody>
      </p:sp>
      <p:sp>
        <p:nvSpPr>
          <p:cNvPr id="36872" name="Line 8"/>
          <p:cNvSpPr>
            <a:spLocks noChangeShapeType="1"/>
          </p:cNvSpPr>
          <p:nvPr/>
        </p:nvSpPr>
        <p:spPr bwMode="auto">
          <a:xfrm flipH="1">
            <a:off x="1544095" y="3010347"/>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3" name="Line 9"/>
          <p:cNvSpPr>
            <a:spLocks noChangeShapeType="1"/>
          </p:cNvSpPr>
          <p:nvPr/>
        </p:nvSpPr>
        <p:spPr bwMode="auto">
          <a:xfrm>
            <a:off x="7954420" y="3081784"/>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4" name="Rectangle 10"/>
          <p:cNvSpPr>
            <a:spLocks noChangeArrowheads="1"/>
          </p:cNvSpPr>
          <p:nvPr/>
        </p:nvSpPr>
        <p:spPr bwMode="auto">
          <a:xfrm>
            <a:off x="8346533" y="1760984"/>
            <a:ext cx="61595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IP </a:t>
            </a:r>
            <a:r>
              <a:rPr kumimoji="1" lang="zh-CN" altLang="en-US" sz="1600">
                <a:solidFill>
                  <a:srgbClr val="333399"/>
                </a:solidFill>
                <a:latin typeface="Times New Roman" panose="02020603050405020304" pitchFamily="18" charset="0"/>
              </a:rPr>
              <a:t>层</a:t>
            </a:r>
          </a:p>
        </p:txBody>
      </p:sp>
      <p:sp>
        <p:nvSpPr>
          <p:cNvPr id="36875" name="Line 11"/>
          <p:cNvSpPr>
            <a:spLocks noChangeShapeType="1"/>
          </p:cNvSpPr>
          <p:nvPr/>
        </p:nvSpPr>
        <p:spPr bwMode="auto">
          <a:xfrm>
            <a:off x="8194133" y="2294384"/>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876" name="Group 12"/>
          <p:cNvGrpSpPr>
            <a:grpSpLocks/>
          </p:cNvGrpSpPr>
          <p:nvPr/>
        </p:nvGrpSpPr>
        <p:grpSpPr bwMode="auto">
          <a:xfrm>
            <a:off x="-2130" y="2572197"/>
            <a:ext cx="1524000" cy="479425"/>
            <a:chOff x="0" y="2383"/>
            <a:chExt cx="960" cy="302"/>
          </a:xfrm>
        </p:grpSpPr>
        <p:sp>
          <p:nvSpPr>
            <p:cNvPr id="36903" name="Rectangle 13"/>
            <p:cNvSpPr>
              <a:spLocks noChangeArrowheads="1"/>
            </p:cNvSpPr>
            <p:nvPr/>
          </p:nvSpPr>
          <p:spPr bwMode="auto">
            <a:xfrm>
              <a:off x="0" y="2383"/>
              <a:ext cx="68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nSpc>
                  <a:spcPct val="80000"/>
                </a:lnSpc>
                <a:spcBef>
                  <a:spcPct val="0"/>
                </a:spcBef>
                <a:buClrTx/>
                <a:buFontTx/>
                <a:buNone/>
              </a:pPr>
              <a:r>
                <a:rPr kumimoji="1" lang="zh-CN" altLang="en-US" sz="1600">
                  <a:solidFill>
                    <a:srgbClr val="333399"/>
                  </a:solidFill>
                  <a:latin typeface="Times New Roman" panose="02020603050405020304" pitchFamily="18" charset="0"/>
                </a:rPr>
                <a:t>以太网 </a:t>
              </a:r>
              <a:r>
                <a:rPr kumimoji="1" lang="en-US" altLang="zh-CN" sz="1600">
                  <a:solidFill>
                    <a:srgbClr val="333399"/>
                  </a:solidFill>
                  <a:latin typeface="Times New Roman" panose="02020603050405020304" pitchFamily="18" charset="0"/>
                </a:rPr>
                <a:t>V2</a:t>
              </a:r>
            </a:p>
            <a:p>
              <a:pPr>
                <a:lnSpc>
                  <a:spcPct val="80000"/>
                </a:lnSpc>
                <a:spcBef>
                  <a:spcPct val="0"/>
                </a:spcBef>
                <a:buClrTx/>
                <a:buFontTx/>
                <a:buNone/>
              </a:pPr>
              <a:r>
                <a:rPr kumimoji="1" lang="en-US" altLang="zh-CN" sz="1600">
                  <a:solidFill>
                    <a:srgbClr val="333399"/>
                  </a:solidFill>
                  <a:latin typeface="Times New Roman" panose="02020603050405020304" pitchFamily="18" charset="0"/>
                </a:rPr>
                <a:t>  MAC </a:t>
              </a:r>
              <a:r>
                <a:rPr kumimoji="1" lang="zh-CN" altLang="en-US" sz="1600">
                  <a:solidFill>
                    <a:srgbClr val="333399"/>
                  </a:solidFill>
                  <a:latin typeface="Times New Roman" panose="02020603050405020304" pitchFamily="18" charset="0"/>
                </a:rPr>
                <a:t>帧</a:t>
              </a:r>
            </a:p>
          </p:txBody>
        </p:sp>
        <p:sp>
          <p:nvSpPr>
            <p:cNvPr id="36904" name="AutoShape 14"/>
            <p:cNvSpPr>
              <a:spLocks noChangeArrowheads="1"/>
            </p:cNvSpPr>
            <p:nvPr/>
          </p:nvSpPr>
          <p:spPr bwMode="auto">
            <a:xfrm>
              <a:off x="624" y="2496"/>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grpSp>
        <p:nvGrpSpPr>
          <p:cNvPr id="36877" name="Group 15"/>
          <p:cNvGrpSpPr>
            <a:grpSpLocks/>
          </p:cNvGrpSpPr>
          <p:nvPr/>
        </p:nvGrpSpPr>
        <p:grpSpPr bwMode="auto">
          <a:xfrm>
            <a:off x="1044033" y="2253109"/>
            <a:ext cx="6929437" cy="1412875"/>
            <a:chOff x="659" y="2182"/>
            <a:chExt cx="4365" cy="890"/>
          </a:xfrm>
        </p:grpSpPr>
        <p:sp>
          <p:nvSpPr>
            <p:cNvPr id="36885" name="AutoShape 16"/>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grpSp>
          <p:nvGrpSpPr>
            <p:cNvPr id="36886" name="Group 17"/>
            <p:cNvGrpSpPr>
              <a:grpSpLocks/>
            </p:cNvGrpSpPr>
            <p:nvPr/>
          </p:nvGrpSpPr>
          <p:grpSpPr bwMode="auto">
            <a:xfrm>
              <a:off x="659" y="2182"/>
              <a:ext cx="4365" cy="506"/>
              <a:chOff x="659" y="2182"/>
              <a:chExt cx="4365" cy="506"/>
            </a:xfrm>
          </p:grpSpPr>
          <p:sp>
            <p:nvSpPr>
              <p:cNvPr id="36887" name="Rectangle 18"/>
              <p:cNvSpPr>
                <a:spLocks noChangeArrowheads="1"/>
              </p:cNvSpPr>
              <p:nvPr/>
            </p:nvSpPr>
            <p:spPr bwMode="auto">
              <a:xfrm>
                <a:off x="974" y="2400"/>
                <a:ext cx="4045" cy="288"/>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36888" name="Line 19"/>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9" name="Line 20"/>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Line 21"/>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1" name="Line 22"/>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2" name="Rectangle 23"/>
              <p:cNvSpPr>
                <a:spLocks noChangeArrowheads="1"/>
              </p:cNvSpPr>
              <p:nvPr/>
            </p:nvSpPr>
            <p:spPr bwMode="auto">
              <a:xfrm>
                <a:off x="963"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目的地址</a:t>
                </a:r>
              </a:p>
            </p:txBody>
          </p:sp>
          <p:sp>
            <p:nvSpPr>
              <p:cNvPr id="36893" name="Rectangle 24"/>
              <p:cNvSpPr>
                <a:spLocks noChangeArrowheads="1"/>
              </p:cNvSpPr>
              <p:nvPr/>
            </p:nvSpPr>
            <p:spPr bwMode="auto">
              <a:xfrm>
                <a:off x="1609" y="2445"/>
                <a:ext cx="4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源地址</a:t>
                </a:r>
              </a:p>
            </p:txBody>
          </p:sp>
          <p:sp>
            <p:nvSpPr>
              <p:cNvPr id="36894" name="Rectangle 25"/>
              <p:cNvSpPr>
                <a:spLocks noChangeArrowheads="1"/>
              </p:cNvSpPr>
              <p:nvPr/>
            </p:nvSpPr>
            <p:spPr bwMode="auto">
              <a:xfrm>
                <a:off x="2241" y="2445"/>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类型</a:t>
                </a:r>
              </a:p>
            </p:txBody>
          </p:sp>
          <p:sp>
            <p:nvSpPr>
              <p:cNvPr id="36895" name="Rectangle 26"/>
              <p:cNvSpPr>
                <a:spLocks noChangeArrowheads="1"/>
              </p:cNvSpPr>
              <p:nvPr/>
            </p:nvSpPr>
            <p:spPr bwMode="auto">
              <a:xfrm>
                <a:off x="3406" y="2445"/>
                <a:ext cx="6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数        据</a:t>
                </a:r>
              </a:p>
            </p:txBody>
          </p:sp>
          <p:sp>
            <p:nvSpPr>
              <p:cNvPr id="36896" name="Rectangle 27"/>
              <p:cNvSpPr>
                <a:spLocks noChangeArrowheads="1"/>
              </p:cNvSpPr>
              <p:nvPr/>
            </p:nvSpPr>
            <p:spPr bwMode="auto">
              <a:xfrm>
                <a:off x="4683" y="2445"/>
                <a:ext cx="34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FCS</a:t>
                </a:r>
              </a:p>
            </p:txBody>
          </p:sp>
          <p:sp>
            <p:nvSpPr>
              <p:cNvPr id="36897" name="Rectangle 28"/>
              <p:cNvSpPr>
                <a:spLocks noChangeArrowheads="1"/>
              </p:cNvSpPr>
              <p:nvPr/>
            </p:nvSpPr>
            <p:spPr bwMode="auto">
              <a:xfrm>
                <a:off x="1193"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6898" name="Rectangle 29"/>
              <p:cNvSpPr>
                <a:spLocks noChangeArrowheads="1"/>
              </p:cNvSpPr>
              <p:nvPr/>
            </p:nvSpPr>
            <p:spPr bwMode="auto">
              <a:xfrm>
                <a:off x="1810"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6</a:t>
                </a:r>
              </a:p>
            </p:txBody>
          </p:sp>
          <p:sp>
            <p:nvSpPr>
              <p:cNvPr id="36899" name="Rectangle 30"/>
              <p:cNvSpPr>
                <a:spLocks noChangeArrowheads="1"/>
              </p:cNvSpPr>
              <p:nvPr/>
            </p:nvSpPr>
            <p:spPr bwMode="auto">
              <a:xfrm>
                <a:off x="2379"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2</a:t>
                </a:r>
              </a:p>
            </p:txBody>
          </p:sp>
          <p:sp>
            <p:nvSpPr>
              <p:cNvPr id="36900" name="Rectangle 31"/>
              <p:cNvSpPr>
                <a:spLocks noChangeArrowheads="1"/>
              </p:cNvSpPr>
              <p:nvPr/>
            </p:nvSpPr>
            <p:spPr bwMode="auto">
              <a:xfrm>
                <a:off x="4786" y="2205"/>
                <a:ext cx="17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en-US" altLang="zh-CN" sz="1600">
                    <a:solidFill>
                      <a:srgbClr val="333399"/>
                    </a:solidFill>
                    <a:latin typeface="Times New Roman" panose="02020603050405020304" pitchFamily="18" charset="0"/>
                  </a:rPr>
                  <a:t>4</a:t>
                </a:r>
              </a:p>
            </p:txBody>
          </p:sp>
          <p:sp>
            <p:nvSpPr>
              <p:cNvPr id="36901" name="Rectangle 32"/>
              <p:cNvSpPr>
                <a:spLocks noChangeArrowheads="1"/>
              </p:cNvSpPr>
              <p:nvPr/>
            </p:nvSpPr>
            <p:spPr bwMode="auto">
              <a:xfrm>
                <a:off x="659" y="2182"/>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r>
                  <a:rPr kumimoji="1" lang="zh-CN" altLang="en-US" sz="1600">
                    <a:solidFill>
                      <a:srgbClr val="333399"/>
                    </a:solidFill>
                    <a:latin typeface="Times New Roman" panose="02020603050405020304" pitchFamily="18" charset="0"/>
                  </a:rPr>
                  <a:t>字节</a:t>
                </a:r>
              </a:p>
            </p:txBody>
          </p:sp>
          <p:sp>
            <p:nvSpPr>
              <p:cNvPr id="36902" name="Text Box 33"/>
              <p:cNvSpPr txBox="1">
                <a:spLocks noChangeArrowheads="1"/>
              </p:cNvSpPr>
              <p:nvPr/>
            </p:nvSpPr>
            <p:spPr bwMode="auto">
              <a:xfrm>
                <a:off x="3777" y="2185"/>
                <a:ext cx="11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0"/>
                  </a:spcBef>
                  <a:buClrTx/>
                  <a:buFontTx/>
                  <a:buNone/>
                </a:pPr>
                <a:endParaRPr kumimoji="1" lang="en-US" altLang="zh-CN" sz="1600" dirty="0">
                  <a:solidFill>
                    <a:srgbClr val="333399"/>
                  </a:solidFill>
                  <a:latin typeface="Times New Roman" panose="02020603050405020304" pitchFamily="18" charset="0"/>
                </a:endParaRPr>
              </a:p>
            </p:txBody>
          </p:sp>
        </p:grpSp>
      </p:grpSp>
      <p:sp>
        <p:nvSpPr>
          <p:cNvPr id="36879" name="AutoShape 38"/>
          <p:cNvSpPr>
            <a:spLocks noChangeArrowheads="1"/>
          </p:cNvSpPr>
          <p:nvPr/>
        </p:nvSpPr>
        <p:spPr bwMode="auto">
          <a:xfrm>
            <a:off x="4569870" y="1745108"/>
            <a:ext cx="2735262" cy="504825"/>
          </a:xfrm>
          <a:prstGeom prst="wedgeRoundRectCallout">
            <a:avLst>
              <a:gd name="adj1" fmla="val 58133"/>
              <a:gd name="adj2" fmla="val 114482"/>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FontTx/>
              <a:buNone/>
            </a:pPr>
            <a:r>
              <a:rPr lang="en-US" altLang="zh-CN" sz="2400">
                <a:solidFill>
                  <a:srgbClr val="333399"/>
                </a:solidFill>
                <a:latin typeface="Arial" panose="020B0604020202020204" pitchFamily="34" charset="0"/>
                <a:ea typeface="黑体" panose="02010609060101010101" pitchFamily="49" charset="-122"/>
              </a:rPr>
              <a:t>FCS </a:t>
            </a:r>
            <a:r>
              <a:rPr lang="zh-CN" altLang="en-US" sz="2400">
                <a:solidFill>
                  <a:srgbClr val="333399"/>
                </a:solidFill>
                <a:latin typeface="Arial" panose="020B0604020202020204" pitchFamily="34" charset="0"/>
                <a:ea typeface="黑体" panose="02010609060101010101" pitchFamily="49" charset="-122"/>
              </a:rPr>
              <a:t>字段 </a:t>
            </a:r>
            <a:r>
              <a:rPr kumimoji="1" lang="en-US" altLang="zh-CN" sz="2000">
                <a:solidFill>
                  <a:srgbClr val="333399"/>
                </a:solidFill>
                <a:latin typeface="Arial" panose="020B0604020202020204" pitchFamily="34" charset="0"/>
              </a:rPr>
              <a:t>4</a:t>
            </a:r>
            <a:r>
              <a:rPr lang="en-US" altLang="zh-CN" sz="2400">
                <a:solidFill>
                  <a:srgbClr val="333399"/>
                </a:solidFill>
                <a:latin typeface="Arial" panose="020B0604020202020204" pitchFamily="34" charset="0"/>
                <a:ea typeface="黑体" panose="02010609060101010101" pitchFamily="49" charset="-122"/>
              </a:rPr>
              <a:t> </a:t>
            </a:r>
            <a:r>
              <a:rPr lang="zh-CN" altLang="en-US" sz="2400">
                <a:solidFill>
                  <a:srgbClr val="333399"/>
                </a:solidFill>
                <a:latin typeface="Arial" panose="020B0604020202020204" pitchFamily="34" charset="0"/>
                <a:ea typeface="黑体" panose="02010609060101010101" pitchFamily="49" charset="-122"/>
              </a:rPr>
              <a:t>字节</a:t>
            </a:r>
          </a:p>
        </p:txBody>
      </p:sp>
      <p:sp>
        <p:nvSpPr>
          <p:cNvPr id="36882" name="Rectangle 41"/>
          <p:cNvSpPr>
            <a:spLocks noGrp="1" noChangeArrowheads="1"/>
          </p:cNvSpPr>
          <p:nvPr>
            <p:ph type="title"/>
          </p:nvPr>
        </p:nvSpPr>
        <p:spPr>
          <a:xfrm>
            <a:off x="617848" y="1002506"/>
            <a:ext cx="4098167" cy="514350"/>
          </a:xfrm>
          <a:noFill/>
        </p:spPr>
        <p:txBody>
          <a:bodyPr/>
          <a:lstStyle/>
          <a:p>
            <a:pPr eaLnBrk="1" hangingPunct="1"/>
            <a:r>
              <a:rPr lang="en-US" altLang="zh-CN" sz="2800" b="1" dirty="0">
                <a:solidFill>
                  <a:srgbClr val="000099"/>
                </a:solidFill>
                <a:latin typeface="黑体" panose="02010609060101010101" pitchFamily="49" charset="-122"/>
                <a:ea typeface="黑体" panose="02010609060101010101" pitchFamily="49" charset="-122"/>
              </a:rPr>
              <a:t>DIX</a:t>
            </a:r>
            <a:r>
              <a:rPr lang="zh-CN" altLang="en-US" sz="2800" b="1" dirty="0">
                <a:solidFill>
                  <a:srgbClr val="000099"/>
                </a:solidFill>
                <a:latin typeface="黑体" panose="02010609060101010101" pitchFamily="49" charset="-122"/>
                <a:ea typeface="黑体" panose="02010609060101010101" pitchFamily="49" charset="-122"/>
              </a:rPr>
              <a:t> </a:t>
            </a:r>
            <a:r>
              <a:rPr lang="en-US" altLang="zh-CN" sz="2800" b="1" dirty="0">
                <a:solidFill>
                  <a:srgbClr val="000099"/>
                </a:solidFill>
                <a:latin typeface="黑体" panose="02010609060101010101" pitchFamily="49" charset="-122"/>
                <a:ea typeface="黑体" panose="02010609060101010101" pitchFamily="49" charset="-122"/>
              </a:rPr>
              <a:t>V2 </a:t>
            </a:r>
            <a:r>
              <a:rPr lang="zh-CN" altLang="en-US" sz="2800" b="1" dirty="0">
                <a:solidFill>
                  <a:srgbClr val="000099"/>
                </a:solidFill>
                <a:latin typeface="黑体" panose="02010609060101010101" pitchFamily="49" charset="-122"/>
                <a:ea typeface="黑体" panose="02010609060101010101" pitchFamily="49" charset="-122"/>
              </a:rPr>
              <a:t>的 </a:t>
            </a:r>
            <a:r>
              <a:rPr lang="en-US" altLang="zh-CN" sz="2800" b="1" dirty="0">
                <a:solidFill>
                  <a:srgbClr val="000099"/>
                </a:solidFill>
                <a:latin typeface="黑体" panose="02010609060101010101" pitchFamily="49" charset="-122"/>
                <a:ea typeface="黑体" panose="02010609060101010101" pitchFamily="49" charset="-122"/>
              </a:rPr>
              <a:t>MAC </a:t>
            </a:r>
            <a:r>
              <a:rPr lang="zh-CN" altLang="en-US" sz="2800" b="1" dirty="0">
                <a:solidFill>
                  <a:srgbClr val="000099"/>
                </a:solidFill>
                <a:latin typeface="黑体" panose="02010609060101010101" pitchFamily="49" charset="-122"/>
                <a:ea typeface="黑体" panose="02010609060101010101" pitchFamily="49" charset="-122"/>
              </a:rPr>
              <a:t>帧格式</a:t>
            </a:r>
          </a:p>
        </p:txBody>
      </p:sp>
      <p:sp>
        <p:nvSpPr>
          <p:cNvPr id="41" name="Text Box 40">
            <a:extLst>
              <a:ext uri="{FF2B5EF4-FFF2-40B4-BE49-F238E27FC236}">
                <a16:creationId xmlns:a16="http://schemas.microsoft.com/office/drawing/2014/main" id="{DCEBA297-0C42-4466-A0A6-AD5A0CC7BEEB}"/>
              </a:ext>
            </a:extLst>
          </p:cNvPr>
          <p:cNvSpPr txBox="1">
            <a:spLocks noChangeArrowheads="1"/>
          </p:cNvSpPr>
          <p:nvPr/>
        </p:nvSpPr>
        <p:spPr bwMode="auto">
          <a:xfrm>
            <a:off x="247876" y="4504184"/>
            <a:ext cx="8805069" cy="491481"/>
          </a:xfrm>
          <a:prstGeom prst="rect">
            <a:avLst/>
          </a:prstGeom>
          <a:solidFill>
            <a:srgbClr val="CCEC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342900" indent="-342900" eaLnBrk="1" hangingPunct="1">
              <a:lnSpc>
                <a:spcPct val="120000"/>
              </a:lnSpc>
              <a:spcBef>
                <a:spcPct val="0"/>
              </a:spcBef>
              <a:buClrTx/>
              <a:buFont typeface="Wingdings" panose="05000000000000000000" pitchFamily="2" charset="2"/>
              <a:buChar char="l"/>
            </a:pPr>
            <a:r>
              <a:rPr lang="zh-CN" altLang="en-US" sz="2400" dirty="0">
                <a:solidFill>
                  <a:srgbClr val="333399"/>
                </a:solidFill>
                <a:latin typeface="Arial" panose="020B0604020202020204" pitchFamily="34" charset="0"/>
                <a:ea typeface="黑体" panose="02010609060101010101" pitchFamily="49" charset="-122"/>
              </a:rPr>
              <a:t>校验码校验部分包括：目的地址、源地址、类型和数据部分。</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xfrm>
            <a:off x="611188" y="1844675"/>
            <a:ext cx="7850187" cy="4257675"/>
          </a:xfrm>
        </p:spPr>
        <p:txBody>
          <a:bodyPr/>
          <a:lstStyle/>
          <a:p>
            <a:pPr eaLnBrk="1" hangingPunct="1">
              <a:buFont typeface="Wingdings" panose="05000000000000000000" pitchFamily="2" charset="2"/>
              <a:buChar char="l"/>
              <a:defRPr/>
            </a:pPr>
            <a:r>
              <a:rPr lang="zh-CN" altLang="en-US" sz="2600" dirty="0">
                <a:latin typeface="微软雅黑" panose="020B0503020204020204" pitchFamily="34" charset="-122"/>
                <a:ea typeface="微软雅黑" panose="020B0503020204020204" pitchFamily="34" charset="-122"/>
              </a:rPr>
              <a:t>帧的长度不是整数个字节；</a:t>
            </a:r>
          </a:p>
          <a:p>
            <a:pPr eaLnBrk="1" hangingPunct="1">
              <a:buFont typeface="Wingdings" panose="05000000000000000000" pitchFamily="2" charset="2"/>
              <a:buChar char="l"/>
              <a:defRPr/>
            </a:pPr>
            <a:r>
              <a:rPr lang="zh-CN" altLang="en-US" sz="2600" dirty="0">
                <a:latin typeface="微软雅黑" panose="020B0503020204020204" pitchFamily="34" charset="-122"/>
                <a:ea typeface="微软雅黑" panose="020B0503020204020204" pitchFamily="34" charset="-122"/>
              </a:rPr>
              <a:t>用收到的帧检验序列 </a:t>
            </a:r>
            <a:r>
              <a:rPr lang="en-US" altLang="zh-CN" sz="2600" dirty="0">
                <a:latin typeface="微软雅黑" panose="020B0503020204020204" pitchFamily="34" charset="-122"/>
                <a:ea typeface="微软雅黑" panose="020B0503020204020204" pitchFamily="34" charset="-122"/>
              </a:rPr>
              <a:t>FCS </a:t>
            </a:r>
            <a:r>
              <a:rPr lang="zh-CN" altLang="en-US" sz="2600" dirty="0">
                <a:latin typeface="微软雅黑" panose="020B0503020204020204" pitchFamily="34" charset="-122"/>
                <a:ea typeface="微软雅黑" panose="020B0503020204020204" pitchFamily="34" charset="-122"/>
              </a:rPr>
              <a:t>查出有差错；</a:t>
            </a:r>
          </a:p>
          <a:p>
            <a:pPr eaLnBrk="1" hangingPunct="1">
              <a:buFont typeface="Wingdings" panose="05000000000000000000" pitchFamily="2" charset="2"/>
              <a:buChar char="l"/>
              <a:defRPr/>
            </a:pPr>
            <a:r>
              <a:rPr lang="zh-CN" altLang="en-US" sz="2600" dirty="0">
                <a:latin typeface="微软雅黑" panose="020B0503020204020204" pitchFamily="34" charset="-122"/>
                <a:ea typeface="微软雅黑" panose="020B0503020204020204" pitchFamily="34" charset="-122"/>
              </a:rPr>
              <a:t>数据字段的长度不在 </a:t>
            </a:r>
            <a:r>
              <a:rPr lang="en-US" altLang="zh-CN" sz="2600" dirty="0">
                <a:latin typeface="微软雅黑" panose="020B0503020204020204" pitchFamily="34" charset="-122"/>
                <a:ea typeface="微软雅黑" panose="020B0503020204020204" pitchFamily="34" charset="-122"/>
              </a:rPr>
              <a:t>46 - 1500 </a:t>
            </a:r>
            <a:r>
              <a:rPr lang="zh-CN" altLang="en-US" sz="2600" dirty="0">
                <a:latin typeface="微软雅黑" panose="020B0503020204020204" pitchFamily="34" charset="-122"/>
                <a:ea typeface="微软雅黑" panose="020B0503020204020204" pitchFamily="34" charset="-122"/>
              </a:rPr>
              <a:t>字节之间。</a:t>
            </a:r>
          </a:p>
          <a:p>
            <a:pPr eaLnBrk="1" hangingPunct="1">
              <a:buFont typeface="Wingdings" panose="05000000000000000000" pitchFamily="2" charset="2"/>
              <a:buChar char="l"/>
              <a:defRPr/>
            </a:pPr>
            <a:r>
              <a:rPr lang="en-US" altLang="zh-CN" sz="2600" dirty="0">
                <a:latin typeface="微软雅黑" panose="020B0503020204020204" pitchFamily="34" charset="-122"/>
                <a:ea typeface="微软雅黑" panose="020B0503020204020204" pitchFamily="34" charset="-122"/>
              </a:rPr>
              <a:t>MAC </a:t>
            </a:r>
            <a:r>
              <a:rPr lang="zh-CN" altLang="en-US" sz="2600" dirty="0">
                <a:latin typeface="微软雅黑" panose="020B0503020204020204" pitchFamily="34" charset="-122"/>
                <a:ea typeface="微软雅黑" panose="020B0503020204020204" pitchFamily="34" charset="-122"/>
              </a:rPr>
              <a:t>帧长度不在 </a:t>
            </a:r>
            <a:r>
              <a:rPr lang="en-US" altLang="zh-CN" sz="2600" dirty="0">
                <a:latin typeface="微软雅黑" panose="020B0503020204020204" pitchFamily="34" charset="-122"/>
                <a:ea typeface="微软雅黑" panose="020B0503020204020204" pitchFamily="34" charset="-122"/>
              </a:rPr>
              <a:t>64 -1518 </a:t>
            </a:r>
            <a:r>
              <a:rPr lang="zh-CN" altLang="en-US" sz="2600" dirty="0">
                <a:latin typeface="微软雅黑" panose="020B0503020204020204" pitchFamily="34" charset="-122"/>
                <a:ea typeface="微软雅黑" panose="020B0503020204020204" pitchFamily="34" charset="-122"/>
              </a:rPr>
              <a:t>字节之间。</a:t>
            </a:r>
          </a:p>
          <a:p>
            <a:pPr marL="0" indent="0" eaLnBrk="1" hangingPunct="1">
              <a:buFont typeface="Wingdings" panose="05000000000000000000" pitchFamily="2" charset="2"/>
              <a:buNone/>
              <a:defRPr/>
            </a:pPr>
            <a:endParaRPr lang="en-US" altLang="zh-CN" sz="2600" dirty="0">
              <a:latin typeface="微软雅黑" panose="020B0503020204020204" pitchFamily="34" charset="-122"/>
              <a:ea typeface="微软雅黑" panose="020B0503020204020204" pitchFamily="34" charset="-122"/>
            </a:endParaRPr>
          </a:p>
          <a:p>
            <a:pPr marL="0" indent="0" eaLnBrk="1" hangingPunct="1">
              <a:buFont typeface="Wingdings" panose="05000000000000000000" pitchFamily="2" charset="2"/>
              <a:buNone/>
              <a:defRPr/>
            </a:pPr>
            <a:r>
              <a:rPr lang="zh-CN" altLang="en-US" sz="2600" dirty="0">
                <a:latin typeface="微软雅黑" panose="020B0503020204020204" pitchFamily="34" charset="-122"/>
                <a:ea typeface="微软雅黑" panose="020B0503020204020204" pitchFamily="34" charset="-122"/>
              </a:rPr>
              <a:t>对于检查出的无效 </a:t>
            </a:r>
            <a:r>
              <a:rPr lang="en-US" altLang="zh-CN" sz="2600" dirty="0">
                <a:latin typeface="微软雅黑" panose="020B0503020204020204" pitchFamily="34" charset="-122"/>
                <a:ea typeface="微软雅黑" panose="020B0503020204020204" pitchFamily="34" charset="-122"/>
              </a:rPr>
              <a:t>MAC </a:t>
            </a:r>
            <a:r>
              <a:rPr lang="zh-CN" altLang="en-US" sz="2600" dirty="0">
                <a:latin typeface="微软雅黑" panose="020B0503020204020204" pitchFamily="34" charset="-122"/>
                <a:ea typeface="微软雅黑" panose="020B0503020204020204" pitchFamily="34" charset="-122"/>
              </a:rPr>
              <a:t>帧就简单地丢弃。以太网不负责重传丢弃的帧。 </a:t>
            </a:r>
          </a:p>
        </p:txBody>
      </p:sp>
      <p:sp>
        <p:nvSpPr>
          <p:cNvPr id="38915" name="Rectangle 3"/>
          <p:cNvSpPr>
            <a:spLocks noGrp="1" noChangeArrowheads="1"/>
          </p:cNvSpPr>
          <p:nvPr>
            <p:ph type="title"/>
          </p:nvPr>
        </p:nvSpPr>
        <p:spPr>
          <a:xfrm>
            <a:off x="574675" y="836613"/>
            <a:ext cx="5292725" cy="684212"/>
          </a:xfrm>
        </p:spPr>
        <p:txBody>
          <a:bodyPr/>
          <a:lstStyle/>
          <a:p>
            <a:pPr eaLnBrk="1" hangingPunct="1"/>
            <a:r>
              <a:rPr lang="zh-CN" altLang="en-US" sz="3000" b="1">
                <a:solidFill>
                  <a:srgbClr val="000099"/>
                </a:solidFill>
                <a:latin typeface="黑体" panose="02010609060101010101" pitchFamily="49" charset="-122"/>
                <a:ea typeface="黑体" panose="02010609060101010101" pitchFamily="49" charset="-122"/>
              </a:rPr>
              <a:t>无效</a:t>
            </a:r>
            <a:r>
              <a:rPr lang="en-US" altLang="zh-CN" sz="3000" b="1">
                <a:solidFill>
                  <a:srgbClr val="000099"/>
                </a:solidFill>
                <a:latin typeface="黑体" panose="02010609060101010101" pitchFamily="49" charset="-122"/>
                <a:ea typeface="黑体" panose="02010609060101010101" pitchFamily="49" charset="-122"/>
              </a:rPr>
              <a:t>DIX V2</a:t>
            </a:r>
            <a:r>
              <a:rPr lang="zh-CN" altLang="en-US" sz="3000" b="1">
                <a:solidFill>
                  <a:srgbClr val="000099"/>
                </a:solidFill>
                <a:latin typeface="黑体" panose="02010609060101010101" pitchFamily="49" charset="-122"/>
                <a:ea typeface="黑体" panose="02010609060101010101" pitchFamily="49" charset="-122"/>
              </a:rPr>
              <a:t> </a:t>
            </a:r>
            <a:r>
              <a:rPr lang="en-US" altLang="zh-CN" sz="3000" b="1">
                <a:solidFill>
                  <a:srgbClr val="000099"/>
                </a:solidFill>
                <a:latin typeface="黑体" panose="02010609060101010101" pitchFamily="49" charset="-122"/>
                <a:ea typeface="黑体" panose="02010609060101010101" pitchFamily="49" charset="-122"/>
              </a:rPr>
              <a:t>MAC </a:t>
            </a:r>
            <a:r>
              <a:rPr lang="zh-CN" altLang="en-US" sz="3000" b="1">
                <a:solidFill>
                  <a:srgbClr val="000099"/>
                </a:solidFill>
                <a:latin typeface="黑体" panose="02010609060101010101" pitchFamily="49" charset="-122"/>
                <a:ea typeface="黑体" panose="02010609060101010101" pitchFamily="49" charset="-122"/>
              </a:rPr>
              <a:t>帧</a:t>
            </a:r>
            <a:r>
              <a:rPr lang="zh-CN" altLang="en-US" sz="3000"/>
              <a:t> </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55576" y="3140968"/>
            <a:ext cx="7632848" cy="360040"/>
          </a:xfrm>
        </p:spPr>
        <p:txBody>
          <a:bodyPr/>
          <a:lstStyle/>
          <a:p>
            <a:pPr algn="ctr" eaLnBrk="1" hangingPunct="1"/>
            <a:r>
              <a:rPr lang="zh-CN" altLang="en-US" sz="2800" dirty="0">
                <a:solidFill>
                  <a:schemeClr val="tx1"/>
                </a:solidFill>
                <a:latin typeface="微软雅黑" panose="020B0503020204020204" pitchFamily="34" charset="-122"/>
                <a:ea typeface="微软雅黑" panose="020B0503020204020204" pitchFamily="34" charset="-122"/>
              </a:rPr>
              <a:t>使用集线器和双绞线的共享式以太网 </a:t>
            </a:r>
            <a:r>
              <a:rPr lang="en-US" altLang="zh-CN" sz="2800" dirty="0">
                <a:solidFill>
                  <a:schemeClr val="tx1"/>
                </a:solidFill>
                <a:latin typeface="微软雅黑" panose="020B0503020204020204" pitchFamily="34" charset="-122"/>
                <a:ea typeface="微软雅黑" panose="020B0503020204020204" pitchFamily="34" charset="-122"/>
              </a:rPr>
              <a:t>10Base-T</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67544" y="1032856"/>
            <a:ext cx="7014624" cy="527050"/>
          </a:xfrm>
        </p:spPr>
        <p:txBody>
          <a:bodyPr/>
          <a:lstStyle/>
          <a:p>
            <a:pPr eaLnBrk="1" hangingPunct="1"/>
            <a:r>
              <a:rPr lang="zh-CN" altLang="en-US" sz="2800" dirty="0">
                <a:solidFill>
                  <a:srgbClr val="2A10E8"/>
                </a:solidFill>
                <a:latin typeface="微软雅黑" panose="020B0503020204020204" pitchFamily="34" charset="-122"/>
                <a:ea typeface="微软雅黑" panose="020B0503020204020204" pitchFamily="34" charset="-122"/>
              </a:rPr>
              <a:t>使用集线器和双绞线的以太网</a:t>
            </a:r>
            <a:r>
              <a:rPr lang="en-US" altLang="zh-CN" sz="2800" dirty="0">
                <a:solidFill>
                  <a:srgbClr val="2A10E8"/>
                </a:solidFill>
                <a:latin typeface="微软雅黑" panose="020B0503020204020204" pitchFamily="34" charset="-122"/>
                <a:ea typeface="微软雅黑" panose="020B0503020204020204" pitchFamily="34" charset="-122"/>
              </a:rPr>
              <a:t>10Base-T</a:t>
            </a:r>
            <a:endParaRPr lang="zh-CN" altLang="en-US" sz="2800" dirty="0">
              <a:solidFill>
                <a:srgbClr val="2A10E8"/>
              </a:solidFill>
              <a:latin typeface="微软雅黑" panose="020B0503020204020204" pitchFamily="34" charset="-122"/>
              <a:ea typeface="微软雅黑" panose="020B0503020204020204" pitchFamily="34" charset="-122"/>
            </a:endParaRPr>
          </a:p>
        </p:txBody>
      </p:sp>
      <p:sp>
        <p:nvSpPr>
          <p:cNvPr id="41987" name="Rectangle 3"/>
          <p:cNvSpPr>
            <a:spLocks noGrp="1" noChangeArrowheads="1"/>
          </p:cNvSpPr>
          <p:nvPr>
            <p:ph type="body" idx="1"/>
          </p:nvPr>
        </p:nvSpPr>
        <p:spPr>
          <a:xfrm>
            <a:off x="250825" y="1916113"/>
            <a:ext cx="4608513" cy="1289050"/>
          </a:xfrm>
        </p:spPr>
        <p:txBody>
          <a:bodyPr/>
          <a:lstStyle/>
          <a:p>
            <a:pPr marL="0" indent="0" eaLnBrk="1" hangingPunct="1">
              <a:buFont typeface="Wingdings" panose="05000000000000000000" pitchFamily="2" charset="2"/>
              <a:buNone/>
            </a:pPr>
            <a:r>
              <a:rPr lang="zh-CN" altLang="en-US" sz="2600" dirty="0">
                <a:solidFill>
                  <a:srgbClr val="0070C0"/>
                </a:solidFill>
                <a:latin typeface="微软雅黑" panose="020B0503020204020204" pitchFamily="34" charset="-122"/>
                <a:ea typeface="微软雅黑" panose="020B0503020204020204" pitchFamily="34" charset="-122"/>
              </a:rPr>
              <a:t>传统以太网最初是使用粗同轴电缆，</a:t>
            </a:r>
            <a:r>
              <a:rPr lang="zh-CN" altLang="en-US" sz="2600" dirty="0">
                <a:latin typeface="微软雅黑" panose="020B0503020204020204" pitchFamily="34" charset="-122"/>
                <a:ea typeface="微软雅黑" panose="020B0503020204020204" pitchFamily="34" charset="-122"/>
              </a:rPr>
              <a:t>后来演进到使用比较便宜的细同轴电缆。</a:t>
            </a:r>
            <a:endParaRPr lang="en-US" altLang="zh-CN" sz="2600" dirty="0">
              <a:latin typeface="微软雅黑" panose="020B0503020204020204" pitchFamily="34" charset="-122"/>
              <a:ea typeface="微软雅黑" panose="020B0503020204020204" pitchFamily="34" charset="-122"/>
            </a:endParaRPr>
          </a:p>
        </p:txBody>
      </p:sp>
      <p:sp>
        <p:nvSpPr>
          <p:cNvPr id="2" name="矩形 1"/>
          <p:cNvSpPr/>
          <p:nvPr/>
        </p:nvSpPr>
        <p:spPr>
          <a:xfrm>
            <a:off x="215900" y="3881438"/>
            <a:ext cx="4727575"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Clr>
                <a:schemeClr val="accent2"/>
              </a:buClr>
              <a:buFont typeface="Wingdings" panose="05000000000000000000" pitchFamily="2" charset="2"/>
              <a:buNone/>
              <a:defRPr/>
            </a:pPr>
            <a:r>
              <a:rPr lang="zh-CN" altLang="en-US" sz="2600" dirty="0">
                <a:latin typeface="微软雅黑" panose="020B0503020204020204" pitchFamily="34" charset="-122"/>
                <a:ea typeface="微软雅黑" panose="020B0503020204020204" pitchFamily="34" charset="-122"/>
              </a:rPr>
              <a:t>最后发展为使用更便宜和更灵活的双绞线。这种以太网在</a:t>
            </a:r>
            <a:r>
              <a:rPr lang="zh-CN" altLang="en-US" sz="2600" dirty="0">
                <a:solidFill>
                  <a:srgbClr val="FF0000"/>
                </a:solidFill>
                <a:latin typeface="微软雅黑" panose="020B0503020204020204" pitchFamily="34" charset="-122"/>
                <a:ea typeface="微软雅黑" panose="020B0503020204020204" pitchFamily="34" charset="-122"/>
              </a:rPr>
              <a:t>物理上是星形拓扑</a:t>
            </a:r>
            <a:r>
              <a:rPr lang="zh-CN" altLang="en-US" sz="2600" dirty="0">
                <a:latin typeface="微软雅黑" panose="020B0503020204020204" pitchFamily="34" charset="-122"/>
                <a:ea typeface="微软雅黑" panose="020B0503020204020204" pitchFamily="34" charset="-122"/>
              </a:rPr>
              <a:t>，在星形的中心则增加了一种可靠性非常高的设备，叫做集线器</a:t>
            </a:r>
            <a:r>
              <a:rPr lang="en-US" altLang="zh-CN" sz="2600" dirty="0">
                <a:latin typeface="微软雅黑" panose="020B0503020204020204" pitchFamily="34" charset="-122"/>
                <a:ea typeface="微软雅黑" panose="020B0503020204020204" pitchFamily="34" charset="-122"/>
              </a:rPr>
              <a:t>(hub) </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 </a:t>
            </a:r>
          </a:p>
        </p:txBody>
      </p:sp>
      <p:pic>
        <p:nvPicPr>
          <p:cNvPr id="4198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1755775"/>
            <a:ext cx="41910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矩形 4"/>
          <p:cNvSpPr>
            <a:spLocks noChangeArrowheads="1"/>
          </p:cNvSpPr>
          <p:nvPr/>
        </p:nvSpPr>
        <p:spPr bwMode="auto">
          <a:xfrm>
            <a:off x="5692775" y="3614738"/>
            <a:ext cx="22367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1600" b="1"/>
              <a:t>同轴电缆连接的以太网</a:t>
            </a:r>
          </a:p>
        </p:txBody>
      </p:sp>
      <p:sp>
        <p:nvSpPr>
          <p:cNvPr id="41991" name="矩形 8"/>
          <p:cNvSpPr>
            <a:spLocks noChangeArrowheads="1"/>
          </p:cNvSpPr>
          <p:nvPr/>
        </p:nvSpPr>
        <p:spPr bwMode="auto">
          <a:xfrm>
            <a:off x="5511800" y="6210300"/>
            <a:ext cx="28733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1600" b="1"/>
              <a:t>集线器和双绞线连接的以太网</a:t>
            </a:r>
          </a:p>
        </p:txBody>
      </p:sp>
      <p:grpSp>
        <p:nvGrpSpPr>
          <p:cNvPr id="10" name="组合 9"/>
          <p:cNvGrpSpPr/>
          <p:nvPr/>
        </p:nvGrpSpPr>
        <p:grpSpPr>
          <a:xfrm>
            <a:off x="4860031" y="4125212"/>
            <a:ext cx="3809307" cy="1926270"/>
            <a:chOff x="827088" y="1974850"/>
            <a:chExt cx="6697662" cy="3830638"/>
          </a:xfrm>
          <a:solidFill>
            <a:schemeClr val="bg1"/>
          </a:solidFill>
        </p:grpSpPr>
        <p:sp>
          <p:nvSpPr>
            <p:cNvPr id="11" name="Text Box 5"/>
            <p:cNvSpPr txBox="1">
              <a:spLocks noChangeArrowheads="1"/>
            </p:cNvSpPr>
            <p:nvPr/>
          </p:nvSpPr>
          <p:spPr bwMode="auto">
            <a:xfrm>
              <a:off x="3563938" y="3068636"/>
              <a:ext cx="1271688" cy="61205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333399"/>
                  </a:solidFill>
                  <a:latin typeface="Arial" panose="020B0604020202020204" pitchFamily="34" charset="0"/>
                  <a:ea typeface="黑体" panose="02010609060101010101" pitchFamily="49" charset="-122"/>
                </a:defRPr>
              </a:lvl1pPr>
              <a:lvl2pPr marL="742950" indent="-285750">
                <a:defRPr kumimoji="1" sz="2000">
                  <a:solidFill>
                    <a:srgbClr val="333399"/>
                  </a:solidFill>
                  <a:latin typeface="Arial" panose="020B0604020202020204" pitchFamily="34" charset="0"/>
                  <a:ea typeface="黑体" panose="02010609060101010101" pitchFamily="49" charset="-122"/>
                </a:defRPr>
              </a:lvl2pPr>
              <a:lvl3pPr marL="1143000" indent="-228600">
                <a:defRPr kumimoji="1" sz="2000">
                  <a:solidFill>
                    <a:srgbClr val="333399"/>
                  </a:solidFill>
                  <a:latin typeface="Arial" panose="020B0604020202020204" pitchFamily="34" charset="0"/>
                  <a:ea typeface="黑体" panose="02010609060101010101" pitchFamily="49" charset="-122"/>
                </a:defRPr>
              </a:lvl3pPr>
              <a:lvl4pPr marL="1600200" indent="-228600">
                <a:defRPr kumimoji="1" sz="2000">
                  <a:solidFill>
                    <a:srgbClr val="333399"/>
                  </a:solidFill>
                  <a:latin typeface="Arial" panose="020B0604020202020204" pitchFamily="34" charset="0"/>
                  <a:ea typeface="黑体" panose="02010609060101010101" pitchFamily="49" charset="-122"/>
                </a:defRPr>
              </a:lvl4pPr>
              <a:lvl5pPr marL="2057400" indent="-228600">
                <a:defRPr kumimoji="1" sz="2000">
                  <a:solidFill>
                    <a:srgbClr val="333399"/>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9pPr>
            </a:lstStyle>
            <a:p>
              <a:pPr eaLnBrk="1" hangingPunct="1">
                <a:defRPr/>
              </a:pPr>
              <a:r>
                <a:rPr kumimoji="0" lang="zh-CN" altLang="en-US" sz="1400">
                  <a:solidFill>
                    <a:schemeClr val="folHlink"/>
                  </a:solidFill>
                </a:rPr>
                <a:t>集线器</a:t>
              </a:r>
            </a:p>
          </p:txBody>
        </p:sp>
        <p:sp>
          <p:nvSpPr>
            <p:cNvPr id="12" name="Line 6"/>
            <p:cNvSpPr>
              <a:spLocks noChangeShapeType="1"/>
            </p:cNvSpPr>
            <p:nvPr/>
          </p:nvSpPr>
          <p:spPr bwMode="auto">
            <a:xfrm flipV="1">
              <a:off x="1216025" y="3906838"/>
              <a:ext cx="2590800" cy="387350"/>
            </a:xfrm>
            <a:prstGeom prst="line">
              <a:avLst/>
            </a:prstGeom>
            <a:grp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3" name="Line 7"/>
            <p:cNvSpPr>
              <a:spLocks noChangeShapeType="1"/>
            </p:cNvSpPr>
            <p:nvPr/>
          </p:nvSpPr>
          <p:spPr bwMode="auto">
            <a:xfrm>
              <a:off x="2252663" y="2620963"/>
              <a:ext cx="1684337" cy="1158875"/>
            </a:xfrm>
            <a:prstGeom prst="line">
              <a:avLst/>
            </a:prstGeom>
            <a:grp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 name="Line 8"/>
            <p:cNvSpPr>
              <a:spLocks noChangeShapeType="1"/>
            </p:cNvSpPr>
            <p:nvPr/>
          </p:nvSpPr>
          <p:spPr bwMode="auto">
            <a:xfrm flipV="1">
              <a:off x="3806825" y="4035425"/>
              <a:ext cx="390525" cy="1676400"/>
            </a:xfrm>
            <a:prstGeom prst="line">
              <a:avLst/>
            </a:prstGeom>
            <a:grp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5" name="Line 9"/>
            <p:cNvSpPr>
              <a:spLocks noChangeShapeType="1"/>
            </p:cNvSpPr>
            <p:nvPr/>
          </p:nvSpPr>
          <p:spPr bwMode="auto">
            <a:xfrm flipH="1">
              <a:off x="4325938" y="2489200"/>
              <a:ext cx="1554162" cy="1417638"/>
            </a:xfrm>
            <a:prstGeom prst="line">
              <a:avLst/>
            </a:prstGeom>
            <a:grp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6" name="Line 10"/>
            <p:cNvSpPr>
              <a:spLocks noChangeShapeType="1"/>
            </p:cNvSpPr>
            <p:nvPr/>
          </p:nvSpPr>
          <p:spPr bwMode="auto">
            <a:xfrm>
              <a:off x="4454525" y="4035425"/>
              <a:ext cx="2590800" cy="130175"/>
            </a:xfrm>
            <a:prstGeom prst="line">
              <a:avLst/>
            </a:prstGeom>
            <a:grp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pic>
          <p:nvPicPr>
            <p:cNvPr id="17"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17888" y="3521075"/>
              <a:ext cx="1555750" cy="912813"/>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35175" y="2232025"/>
              <a:ext cx="736600" cy="7381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13"/>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62575" y="1974850"/>
              <a:ext cx="736600" cy="73977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14"/>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89338" y="5067300"/>
              <a:ext cx="736600" cy="7381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1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88150" y="3649663"/>
              <a:ext cx="736600" cy="73818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7088" y="3779838"/>
              <a:ext cx="736600" cy="73818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 Box 17"/>
            <p:cNvSpPr txBox="1">
              <a:spLocks noChangeArrowheads="1"/>
            </p:cNvSpPr>
            <p:nvPr/>
          </p:nvSpPr>
          <p:spPr bwMode="auto">
            <a:xfrm>
              <a:off x="4833938" y="5057775"/>
              <a:ext cx="1903024" cy="61205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333399"/>
                  </a:solidFill>
                  <a:latin typeface="Arial" panose="020B0604020202020204" pitchFamily="34" charset="0"/>
                  <a:ea typeface="黑体" panose="02010609060101010101" pitchFamily="49" charset="-122"/>
                </a:defRPr>
              </a:lvl1pPr>
              <a:lvl2pPr marL="742950" indent="-285750">
                <a:defRPr kumimoji="1" sz="2000">
                  <a:solidFill>
                    <a:srgbClr val="333399"/>
                  </a:solidFill>
                  <a:latin typeface="Arial" panose="020B0604020202020204" pitchFamily="34" charset="0"/>
                  <a:ea typeface="黑体" panose="02010609060101010101" pitchFamily="49" charset="-122"/>
                </a:defRPr>
              </a:lvl2pPr>
              <a:lvl3pPr marL="1143000" indent="-228600">
                <a:defRPr kumimoji="1" sz="2000">
                  <a:solidFill>
                    <a:srgbClr val="333399"/>
                  </a:solidFill>
                  <a:latin typeface="Arial" panose="020B0604020202020204" pitchFamily="34" charset="0"/>
                  <a:ea typeface="黑体" panose="02010609060101010101" pitchFamily="49" charset="-122"/>
                </a:defRPr>
              </a:lvl3pPr>
              <a:lvl4pPr marL="1600200" indent="-228600">
                <a:defRPr kumimoji="1" sz="2000">
                  <a:solidFill>
                    <a:srgbClr val="333399"/>
                  </a:solidFill>
                  <a:latin typeface="Arial" panose="020B0604020202020204" pitchFamily="34" charset="0"/>
                  <a:ea typeface="黑体" panose="02010609060101010101" pitchFamily="49" charset="-122"/>
                </a:defRPr>
              </a:lvl4pPr>
              <a:lvl5pPr marL="2057400" indent="-228600">
                <a:defRPr kumimoji="1" sz="2000">
                  <a:solidFill>
                    <a:srgbClr val="333399"/>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9pPr>
            </a:lstStyle>
            <a:p>
              <a:pPr eaLnBrk="1" hangingPunct="1">
                <a:defRPr/>
              </a:pPr>
              <a:r>
                <a:rPr kumimoji="0" lang="zh-CN" altLang="en-US" sz="1400" dirty="0">
                  <a:solidFill>
                    <a:schemeClr val="folHlink"/>
                  </a:solidFill>
                </a:rPr>
                <a:t>两对双绞线</a:t>
              </a:r>
            </a:p>
          </p:txBody>
        </p:sp>
        <p:sp>
          <p:nvSpPr>
            <p:cNvPr id="24" name="Line 18"/>
            <p:cNvSpPr>
              <a:spLocks noChangeShapeType="1"/>
            </p:cNvSpPr>
            <p:nvPr/>
          </p:nvSpPr>
          <p:spPr bwMode="auto">
            <a:xfrm flipV="1">
              <a:off x="5640388" y="4165600"/>
              <a:ext cx="239712" cy="941388"/>
            </a:xfrm>
            <a:prstGeom prst="line">
              <a:avLst/>
            </a:prstGeom>
            <a:grpFill/>
            <a:ln w="19050">
              <a:solidFill>
                <a:schemeClr val="tx2"/>
              </a:solidFill>
              <a:round/>
              <a:headE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5" name="Text Box 19"/>
            <p:cNvSpPr txBox="1">
              <a:spLocks noChangeArrowheads="1"/>
            </p:cNvSpPr>
            <p:nvPr/>
          </p:nvSpPr>
          <p:spPr bwMode="auto">
            <a:xfrm>
              <a:off x="6011863" y="2133598"/>
              <a:ext cx="956022" cy="61205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333399"/>
                  </a:solidFill>
                  <a:latin typeface="Arial" panose="020B0604020202020204" pitchFamily="34" charset="0"/>
                  <a:ea typeface="黑体" panose="02010609060101010101" pitchFamily="49" charset="-122"/>
                </a:defRPr>
              </a:lvl1pPr>
              <a:lvl2pPr marL="742950" indent="-285750">
                <a:defRPr kumimoji="1" sz="2000">
                  <a:solidFill>
                    <a:srgbClr val="333399"/>
                  </a:solidFill>
                  <a:latin typeface="Arial" panose="020B0604020202020204" pitchFamily="34" charset="0"/>
                  <a:ea typeface="黑体" panose="02010609060101010101" pitchFamily="49" charset="-122"/>
                </a:defRPr>
              </a:lvl2pPr>
              <a:lvl3pPr marL="1143000" indent="-228600">
                <a:defRPr kumimoji="1" sz="2000">
                  <a:solidFill>
                    <a:srgbClr val="333399"/>
                  </a:solidFill>
                  <a:latin typeface="Arial" panose="020B0604020202020204" pitchFamily="34" charset="0"/>
                  <a:ea typeface="黑体" panose="02010609060101010101" pitchFamily="49" charset="-122"/>
                </a:defRPr>
              </a:lvl3pPr>
              <a:lvl4pPr marL="1600200" indent="-228600">
                <a:defRPr kumimoji="1" sz="2000">
                  <a:solidFill>
                    <a:srgbClr val="333399"/>
                  </a:solidFill>
                  <a:latin typeface="Arial" panose="020B0604020202020204" pitchFamily="34" charset="0"/>
                  <a:ea typeface="黑体" panose="02010609060101010101" pitchFamily="49" charset="-122"/>
                </a:defRPr>
              </a:lvl4pPr>
              <a:lvl5pPr marL="2057400" indent="-228600">
                <a:defRPr kumimoji="1" sz="2000">
                  <a:solidFill>
                    <a:srgbClr val="333399"/>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9pPr>
            </a:lstStyle>
            <a:p>
              <a:pPr eaLnBrk="1" hangingPunct="1">
                <a:defRPr/>
              </a:pPr>
              <a:r>
                <a:rPr kumimoji="0" lang="zh-CN" altLang="en-US" sz="1400">
                  <a:solidFill>
                    <a:schemeClr val="folHlink"/>
                  </a:solidFill>
                </a:rPr>
                <a:t>站点</a:t>
              </a:r>
            </a:p>
          </p:txBody>
        </p:sp>
        <p:sp>
          <p:nvSpPr>
            <p:cNvPr id="26" name="Text Box 20"/>
            <p:cNvSpPr txBox="1">
              <a:spLocks noChangeArrowheads="1"/>
            </p:cNvSpPr>
            <p:nvPr/>
          </p:nvSpPr>
          <p:spPr bwMode="auto">
            <a:xfrm>
              <a:off x="5184777" y="3187699"/>
              <a:ext cx="1883294" cy="61205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333399"/>
                  </a:solidFill>
                  <a:latin typeface="Arial" panose="020B0604020202020204" pitchFamily="34" charset="0"/>
                  <a:ea typeface="黑体" panose="02010609060101010101" pitchFamily="49" charset="-122"/>
                </a:defRPr>
              </a:lvl1pPr>
              <a:lvl2pPr marL="742950" indent="-285750">
                <a:defRPr kumimoji="1" sz="2000">
                  <a:solidFill>
                    <a:srgbClr val="333399"/>
                  </a:solidFill>
                  <a:latin typeface="Arial" panose="020B0604020202020204" pitchFamily="34" charset="0"/>
                  <a:ea typeface="黑体" panose="02010609060101010101" pitchFamily="49" charset="-122"/>
                </a:defRPr>
              </a:lvl2pPr>
              <a:lvl3pPr marL="1143000" indent="-228600">
                <a:defRPr kumimoji="1" sz="2000">
                  <a:solidFill>
                    <a:srgbClr val="333399"/>
                  </a:solidFill>
                  <a:latin typeface="Arial" panose="020B0604020202020204" pitchFamily="34" charset="0"/>
                  <a:ea typeface="黑体" panose="02010609060101010101" pitchFamily="49" charset="-122"/>
                </a:defRPr>
              </a:lvl3pPr>
              <a:lvl4pPr marL="1600200" indent="-228600">
                <a:defRPr kumimoji="1" sz="2000">
                  <a:solidFill>
                    <a:srgbClr val="333399"/>
                  </a:solidFill>
                  <a:latin typeface="Arial" panose="020B0604020202020204" pitchFamily="34" charset="0"/>
                  <a:ea typeface="黑体" panose="02010609060101010101" pitchFamily="49" charset="-122"/>
                </a:defRPr>
              </a:lvl4pPr>
              <a:lvl5pPr marL="2057400" indent="-228600">
                <a:defRPr kumimoji="1" sz="2000">
                  <a:solidFill>
                    <a:srgbClr val="333399"/>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kumimoji="1" sz="2000">
                  <a:solidFill>
                    <a:srgbClr val="333399"/>
                  </a:solidFill>
                  <a:latin typeface="Arial" panose="020B0604020202020204" pitchFamily="34" charset="0"/>
                  <a:ea typeface="黑体" panose="02010609060101010101" pitchFamily="49" charset="-122"/>
                </a:defRPr>
              </a:lvl9pPr>
            </a:lstStyle>
            <a:p>
              <a:pPr eaLnBrk="1" hangingPunct="1">
                <a:defRPr/>
              </a:pPr>
              <a:r>
                <a:rPr kumimoji="0" lang="en-US" altLang="zh-CN" sz="1400">
                  <a:solidFill>
                    <a:schemeClr val="folHlink"/>
                  </a:solidFill>
                </a:rPr>
                <a:t>RJ-45 </a:t>
              </a:r>
              <a:r>
                <a:rPr kumimoji="0" lang="zh-CN" altLang="en-US" sz="1400">
                  <a:solidFill>
                    <a:schemeClr val="folHlink"/>
                  </a:solidFill>
                </a:rPr>
                <a:t>插头</a:t>
              </a:r>
            </a:p>
          </p:txBody>
        </p:sp>
        <p:sp>
          <p:nvSpPr>
            <p:cNvPr id="27" name="Line 21"/>
            <p:cNvSpPr>
              <a:spLocks noChangeShapeType="1"/>
            </p:cNvSpPr>
            <p:nvPr/>
          </p:nvSpPr>
          <p:spPr bwMode="auto">
            <a:xfrm>
              <a:off x="6234113" y="3635375"/>
              <a:ext cx="554037" cy="530225"/>
            </a:xfrm>
            <a:prstGeom prst="line">
              <a:avLst/>
            </a:prstGeom>
            <a:grpFill/>
            <a:ln w="19050">
              <a:solidFill>
                <a:schemeClr val="tx2"/>
              </a:solidFill>
              <a:round/>
              <a:headE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8" name="Line 22"/>
            <p:cNvSpPr>
              <a:spLocks noChangeShapeType="1"/>
            </p:cNvSpPr>
            <p:nvPr/>
          </p:nvSpPr>
          <p:spPr bwMode="auto">
            <a:xfrm flipH="1">
              <a:off x="4973638" y="3635375"/>
              <a:ext cx="663575" cy="403225"/>
            </a:xfrm>
            <a:prstGeom prst="line">
              <a:avLst/>
            </a:prstGeom>
            <a:grpFill/>
            <a:ln w="19050">
              <a:solidFill>
                <a:schemeClr val="tx2"/>
              </a:solidFill>
              <a:round/>
              <a:headE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Tree>
  </p:cSld>
  <p:clrMapOvr>
    <a:masterClrMapping/>
  </p:clrMapOvr>
  <p:transition>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a:xfrm>
            <a:off x="328613" y="765175"/>
            <a:ext cx="5370512" cy="774700"/>
          </a:xfrm>
        </p:spPr>
        <p:txBody>
          <a:bodyPr/>
          <a:lstStyle/>
          <a:p>
            <a:pPr algn="ctr" eaLnBrk="1" hangingPunct="1"/>
            <a:r>
              <a:rPr lang="zh-CN" altLang="en-US" sz="3000">
                <a:solidFill>
                  <a:srgbClr val="2A10E8"/>
                </a:solidFill>
                <a:latin typeface="黑体" panose="02010609060101010101" pitchFamily="49" charset="-122"/>
                <a:ea typeface="黑体" panose="02010609060101010101" pitchFamily="49" charset="-122"/>
              </a:rPr>
              <a:t>使用集线器和双绞线的以太网 </a:t>
            </a:r>
          </a:p>
        </p:txBody>
      </p:sp>
      <p:grpSp>
        <p:nvGrpSpPr>
          <p:cNvPr id="44035" name="组合 22"/>
          <p:cNvGrpSpPr>
            <a:grpSpLocks/>
          </p:cNvGrpSpPr>
          <p:nvPr/>
        </p:nvGrpSpPr>
        <p:grpSpPr bwMode="auto">
          <a:xfrm>
            <a:off x="4419600" y="4054475"/>
            <a:ext cx="4764088" cy="2159000"/>
            <a:chOff x="1331913" y="2212975"/>
            <a:chExt cx="6192837" cy="3160713"/>
          </a:xfrm>
        </p:grpSpPr>
        <p:grpSp>
          <p:nvGrpSpPr>
            <p:cNvPr id="44038" name="Group 3"/>
            <p:cNvGrpSpPr>
              <a:grpSpLocks/>
            </p:cNvGrpSpPr>
            <p:nvPr/>
          </p:nvGrpSpPr>
          <p:grpSpPr bwMode="auto">
            <a:xfrm rot="-3098467">
              <a:off x="1823244" y="3960019"/>
              <a:ext cx="1127125" cy="90487"/>
              <a:chOff x="1548" y="1476"/>
              <a:chExt cx="1338" cy="120"/>
            </a:xfrm>
          </p:grpSpPr>
          <p:sp>
            <p:nvSpPr>
              <p:cNvPr id="44093" name="Freeform 4"/>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94" name="Freeform 5"/>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039" name="Group 6"/>
            <p:cNvGrpSpPr>
              <a:grpSpLocks/>
            </p:cNvGrpSpPr>
            <p:nvPr/>
          </p:nvGrpSpPr>
          <p:grpSpPr bwMode="auto">
            <a:xfrm rot="-3098467">
              <a:off x="2226469" y="3960019"/>
              <a:ext cx="1127125" cy="90487"/>
              <a:chOff x="1548" y="1476"/>
              <a:chExt cx="1338" cy="120"/>
            </a:xfrm>
          </p:grpSpPr>
          <p:sp>
            <p:nvSpPr>
              <p:cNvPr id="44091" name="Freeform 7"/>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92" name="Freeform 8"/>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040" name="Group 9"/>
            <p:cNvGrpSpPr>
              <a:grpSpLocks/>
            </p:cNvGrpSpPr>
            <p:nvPr/>
          </p:nvGrpSpPr>
          <p:grpSpPr bwMode="auto">
            <a:xfrm rot="3701259" flipH="1">
              <a:off x="5782469" y="3953669"/>
              <a:ext cx="1001712" cy="88900"/>
              <a:chOff x="1548" y="1476"/>
              <a:chExt cx="1338" cy="120"/>
            </a:xfrm>
          </p:grpSpPr>
          <p:sp>
            <p:nvSpPr>
              <p:cNvPr id="44089" name="Freeform 10"/>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90" name="Freeform 11"/>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041" name="Group 12"/>
            <p:cNvGrpSpPr>
              <a:grpSpLocks/>
            </p:cNvGrpSpPr>
            <p:nvPr/>
          </p:nvGrpSpPr>
          <p:grpSpPr bwMode="auto">
            <a:xfrm rot="3701259" flipH="1">
              <a:off x="6254750" y="3973513"/>
              <a:ext cx="1001713" cy="90487"/>
              <a:chOff x="1548" y="1476"/>
              <a:chExt cx="1338" cy="120"/>
            </a:xfrm>
          </p:grpSpPr>
          <p:sp>
            <p:nvSpPr>
              <p:cNvPr id="44087" name="Freeform 13"/>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8" name="Freeform 14"/>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042" name="Rectangle 15"/>
            <p:cNvSpPr>
              <a:spLocks noChangeArrowheads="1"/>
            </p:cNvSpPr>
            <p:nvPr/>
          </p:nvSpPr>
          <p:spPr bwMode="auto">
            <a:xfrm>
              <a:off x="1817688" y="2212975"/>
              <a:ext cx="5510212" cy="1344613"/>
            </a:xfrm>
            <a:prstGeom prst="rect">
              <a:avLst/>
            </a:prstGeom>
            <a:solidFill>
              <a:srgbClr val="FFCCFF"/>
            </a:solidFill>
            <a:ln w="25400">
              <a:solidFill>
                <a:schemeClr val="tx1"/>
              </a:solidFill>
              <a:miter lim="800000"/>
              <a:headEnd/>
              <a:tailEnd/>
            </a:ln>
            <a:effectLst>
              <a:outerShdw dist="28398" dir="3806097" algn="ctr" rotWithShape="0">
                <a:schemeClr val="bg2"/>
              </a:outerShdw>
            </a:effec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43" name="AutoShape 16"/>
            <p:cNvSpPr>
              <a:spLocks noChangeArrowheads="1"/>
            </p:cNvSpPr>
            <p:nvPr/>
          </p:nvSpPr>
          <p:spPr bwMode="auto">
            <a:xfrm>
              <a:off x="2559050" y="3189288"/>
              <a:ext cx="442913"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44" name="AutoShape 17"/>
            <p:cNvSpPr>
              <a:spLocks noChangeArrowheads="1"/>
            </p:cNvSpPr>
            <p:nvPr/>
          </p:nvSpPr>
          <p:spPr bwMode="auto">
            <a:xfrm>
              <a:off x="5735638" y="3192463"/>
              <a:ext cx="446087"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45" name="AutoShape 18"/>
            <p:cNvSpPr>
              <a:spLocks noChangeArrowheads="1"/>
            </p:cNvSpPr>
            <p:nvPr/>
          </p:nvSpPr>
          <p:spPr bwMode="auto">
            <a:xfrm>
              <a:off x="4068763" y="3189288"/>
              <a:ext cx="446087"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46" name="AutoShape 19"/>
            <p:cNvSpPr>
              <a:spLocks noChangeArrowheads="1"/>
            </p:cNvSpPr>
            <p:nvPr/>
          </p:nvSpPr>
          <p:spPr bwMode="auto">
            <a:xfrm rot="10800000" flipH="1">
              <a:off x="6186488" y="3192463"/>
              <a:ext cx="442912"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47" name="AutoShape 20"/>
            <p:cNvSpPr>
              <a:spLocks noChangeArrowheads="1"/>
            </p:cNvSpPr>
            <p:nvPr/>
          </p:nvSpPr>
          <p:spPr bwMode="auto">
            <a:xfrm rot="10800000" flipH="1">
              <a:off x="2995613" y="3189288"/>
              <a:ext cx="444500"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48" name="AutoShape 21"/>
            <p:cNvSpPr>
              <a:spLocks noChangeArrowheads="1"/>
            </p:cNvSpPr>
            <p:nvPr/>
          </p:nvSpPr>
          <p:spPr bwMode="auto">
            <a:xfrm rot="10800000" flipH="1">
              <a:off x="4525963" y="3206750"/>
              <a:ext cx="446087" cy="349250"/>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49" name="Freeform 22"/>
            <p:cNvSpPr>
              <a:spLocks/>
            </p:cNvSpPr>
            <p:nvPr/>
          </p:nvSpPr>
          <p:spPr bwMode="auto">
            <a:xfrm>
              <a:off x="3332163" y="2863850"/>
              <a:ext cx="2635250" cy="325438"/>
            </a:xfrm>
            <a:custGeom>
              <a:avLst/>
              <a:gdLst>
                <a:gd name="T0" fmla="*/ 2147483646 w 1375"/>
                <a:gd name="T1" fmla="*/ 2147483646 h 187"/>
                <a:gd name="T2" fmla="*/ 2147483646 w 1375"/>
                <a:gd name="T3" fmla="*/ 0 h 187"/>
                <a:gd name="T4" fmla="*/ 0 w 1375"/>
                <a:gd name="T5" fmla="*/ 0 h 187"/>
                <a:gd name="T6" fmla="*/ 0 w 1375"/>
                <a:gd name="T7" fmla="*/ 2147483646 h 1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75" h="187">
                  <a:moveTo>
                    <a:pt x="1374" y="186"/>
                  </a:moveTo>
                  <a:lnTo>
                    <a:pt x="1374" y="0"/>
                  </a:lnTo>
                  <a:lnTo>
                    <a:pt x="0" y="0"/>
                  </a:lnTo>
                  <a:lnTo>
                    <a:pt x="0" y="186"/>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0" name="Freeform 23"/>
            <p:cNvSpPr>
              <a:spLocks/>
            </p:cNvSpPr>
            <p:nvPr/>
          </p:nvSpPr>
          <p:spPr bwMode="auto">
            <a:xfrm>
              <a:off x="4286250" y="2624138"/>
              <a:ext cx="2030413" cy="585787"/>
            </a:xfrm>
            <a:custGeom>
              <a:avLst/>
              <a:gdLst>
                <a:gd name="T0" fmla="*/ 0 w 1060"/>
                <a:gd name="T1" fmla="*/ 2147483646 h 337"/>
                <a:gd name="T2" fmla="*/ 0 w 1060"/>
                <a:gd name="T3" fmla="*/ 0 h 337"/>
                <a:gd name="T4" fmla="*/ 2147483646 w 1060"/>
                <a:gd name="T5" fmla="*/ 0 h 337"/>
                <a:gd name="T6" fmla="*/ 2147483646 w 1060"/>
                <a:gd name="T7" fmla="*/ 2147483646 h 3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0" h="337">
                  <a:moveTo>
                    <a:pt x="0" y="336"/>
                  </a:moveTo>
                  <a:lnTo>
                    <a:pt x="0" y="0"/>
                  </a:lnTo>
                  <a:lnTo>
                    <a:pt x="1059" y="0"/>
                  </a:lnTo>
                  <a:lnTo>
                    <a:pt x="1059" y="33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1" name="Freeform 24"/>
            <p:cNvSpPr>
              <a:spLocks/>
            </p:cNvSpPr>
            <p:nvPr/>
          </p:nvSpPr>
          <p:spPr bwMode="auto">
            <a:xfrm>
              <a:off x="3149600" y="2624138"/>
              <a:ext cx="1139825" cy="576262"/>
            </a:xfrm>
            <a:custGeom>
              <a:avLst/>
              <a:gdLst>
                <a:gd name="T0" fmla="*/ 2147483646 w 595"/>
                <a:gd name="T1" fmla="*/ 0 h 331"/>
                <a:gd name="T2" fmla="*/ 0 w 595"/>
                <a:gd name="T3" fmla="*/ 0 h 331"/>
                <a:gd name="T4" fmla="*/ 0 w 595"/>
                <a:gd name="T5" fmla="*/ 2147483646 h 331"/>
                <a:gd name="T6" fmla="*/ 0 60000 65536"/>
                <a:gd name="T7" fmla="*/ 0 60000 65536"/>
                <a:gd name="T8" fmla="*/ 0 60000 65536"/>
              </a:gdLst>
              <a:ahLst/>
              <a:cxnLst>
                <a:cxn ang="T6">
                  <a:pos x="T0" y="T1"/>
                </a:cxn>
                <a:cxn ang="T7">
                  <a:pos x="T2" y="T3"/>
                </a:cxn>
                <a:cxn ang="T8">
                  <a:pos x="T4" y="T5"/>
                </a:cxn>
              </a:cxnLst>
              <a:rect l="0" t="0" r="r" b="b"/>
              <a:pathLst>
                <a:path w="595" h="331">
                  <a:moveTo>
                    <a:pt x="594" y="0"/>
                  </a:moveTo>
                  <a:lnTo>
                    <a:pt x="0" y="0"/>
                  </a:lnTo>
                  <a:lnTo>
                    <a:pt x="0" y="33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2" name="Freeform 25"/>
            <p:cNvSpPr>
              <a:spLocks/>
            </p:cNvSpPr>
            <p:nvPr/>
          </p:nvSpPr>
          <p:spPr bwMode="auto">
            <a:xfrm>
              <a:off x="2781300" y="2416175"/>
              <a:ext cx="3736975" cy="793750"/>
            </a:xfrm>
            <a:custGeom>
              <a:avLst/>
              <a:gdLst>
                <a:gd name="T0" fmla="*/ 0 w 1951"/>
                <a:gd name="T1" fmla="*/ 2147483646 h 457"/>
                <a:gd name="T2" fmla="*/ 0 w 1951"/>
                <a:gd name="T3" fmla="*/ 0 h 457"/>
                <a:gd name="T4" fmla="*/ 2147483646 w 1951"/>
                <a:gd name="T5" fmla="*/ 0 h 457"/>
                <a:gd name="T6" fmla="*/ 2147483646 w 1951"/>
                <a:gd name="T7" fmla="*/ 2147483646 h 457"/>
                <a:gd name="T8" fmla="*/ 2147483646 w 1951"/>
                <a:gd name="T9" fmla="*/ 2147483646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1" h="457">
                  <a:moveTo>
                    <a:pt x="0" y="456"/>
                  </a:moveTo>
                  <a:lnTo>
                    <a:pt x="0" y="0"/>
                  </a:lnTo>
                  <a:lnTo>
                    <a:pt x="1950" y="0"/>
                  </a:lnTo>
                  <a:lnTo>
                    <a:pt x="1950" y="45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3" name="Line 26"/>
            <p:cNvSpPr>
              <a:spLocks noChangeShapeType="1"/>
            </p:cNvSpPr>
            <p:nvPr/>
          </p:nvSpPr>
          <p:spPr bwMode="auto">
            <a:xfrm>
              <a:off x="4827588" y="2870200"/>
              <a:ext cx="0" cy="341313"/>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4" name="Line 27"/>
            <p:cNvSpPr>
              <a:spLocks noChangeShapeType="1"/>
            </p:cNvSpPr>
            <p:nvPr/>
          </p:nvSpPr>
          <p:spPr bwMode="auto">
            <a:xfrm>
              <a:off x="4667250" y="2433638"/>
              <a:ext cx="0" cy="78740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5" name="Rectangle 28"/>
            <p:cNvSpPr>
              <a:spLocks noChangeArrowheads="1"/>
            </p:cNvSpPr>
            <p:nvPr/>
          </p:nvSpPr>
          <p:spPr bwMode="auto">
            <a:xfrm>
              <a:off x="1331913" y="2308225"/>
              <a:ext cx="503616" cy="1123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90000"/>
                </a:lnSpc>
              </a:pPr>
              <a:r>
                <a:rPr kumimoji="1" lang="zh-CN" altLang="en-US">
                  <a:solidFill>
                    <a:srgbClr val="333399"/>
                  </a:solidFill>
                  <a:latin typeface="Times New Roman" panose="02020603050405020304" pitchFamily="18" charset="0"/>
                  <a:ea typeface="黑体" panose="02010609060101010101" pitchFamily="49" charset="-122"/>
                </a:rPr>
                <a:t>集</a:t>
              </a:r>
            </a:p>
            <a:p>
              <a:pPr>
                <a:lnSpc>
                  <a:spcPct val="90000"/>
                </a:lnSpc>
              </a:pPr>
              <a:r>
                <a:rPr kumimoji="1" lang="zh-CN" altLang="en-US">
                  <a:solidFill>
                    <a:srgbClr val="333399"/>
                  </a:solidFill>
                  <a:latin typeface="Times New Roman" panose="02020603050405020304" pitchFamily="18" charset="0"/>
                  <a:ea typeface="黑体" panose="02010609060101010101" pitchFamily="49" charset="-122"/>
                </a:rPr>
                <a:t>线</a:t>
              </a:r>
            </a:p>
            <a:p>
              <a:pPr>
                <a:lnSpc>
                  <a:spcPct val="90000"/>
                </a:lnSpc>
              </a:pPr>
              <a:r>
                <a:rPr kumimoji="1" lang="zh-CN" altLang="en-US">
                  <a:solidFill>
                    <a:srgbClr val="333399"/>
                  </a:solidFill>
                  <a:latin typeface="Times New Roman" panose="02020603050405020304" pitchFamily="18" charset="0"/>
                  <a:ea typeface="黑体" panose="02010609060101010101" pitchFamily="49" charset="-122"/>
                </a:rPr>
                <a:t>器</a:t>
              </a:r>
            </a:p>
          </p:txBody>
        </p:sp>
        <p:sp>
          <p:nvSpPr>
            <p:cNvPr id="44056" name="Rectangle 29"/>
            <p:cNvSpPr>
              <a:spLocks noChangeArrowheads="1"/>
            </p:cNvSpPr>
            <p:nvPr/>
          </p:nvSpPr>
          <p:spPr bwMode="auto">
            <a:xfrm>
              <a:off x="3751263" y="4527550"/>
              <a:ext cx="1484312"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57" name="Rectangle 30"/>
            <p:cNvSpPr>
              <a:spLocks noChangeArrowheads="1"/>
            </p:cNvSpPr>
            <p:nvPr/>
          </p:nvSpPr>
          <p:spPr bwMode="auto">
            <a:xfrm>
              <a:off x="4038600" y="4529138"/>
              <a:ext cx="949325"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58" name="Rectangle 31"/>
            <p:cNvSpPr>
              <a:spLocks noChangeArrowheads="1"/>
            </p:cNvSpPr>
            <p:nvPr/>
          </p:nvSpPr>
          <p:spPr bwMode="auto">
            <a:xfrm>
              <a:off x="4105275" y="4451350"/>
              <a:ext cx="68738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Times New Roman" panose="02020603050405020304" pitchFamily="18" charset="0"/>
                  <a:ea typeface="黑体" panose="02010609060101010101" pitchFamily="49" charset="-122"/>
                </a:rPr>
                <a:t>网卡</a:t>
              </a:r>
            </a:p>
          </p:txBody>
        </p:sp>
        <p:sp>
          <p:nvSpPr>
            <p:cNvPr id="44059" name="Rectangle 32"/>
            <p:cNvSpPr>
              <a:spLocks noChangeArrowheads="1"/>
            </p:cNvSpPr>
            <p:nvPr/>
          </p:nvSpPr>
          <p:spPr bwMode="auto">
            <a:xfrm>
              <a:off x="3981450" y="4894263"/>
              <a:ext cx="942975"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Times New Roman" panose="02020603050405020304" pitchFamily="18" charset="0"/>
                  <a:ea typeface="黑体" panose="02010609060101010101" pitchFamily="49" charset="-122"/>
                </a:rPr>
                <a:t>工作站</a:t>
              </a:r>
            </a:p>
          </p:txBody>
        </p:sp>
        <p:sp>
          <p:nvSpPr>
            <p:cNvPr id="44060" name="Rectangle 33"/>
            <p:cNvSpPr>
              <a:spLocks noChangeArrowheads="1"/>
            </p:cNvSpPr>
            <p:nvPr/>
          </p:nvSpPr>
          <p:spPr bwMode="auto">
            <a:xfrm>
              <a:off x="4143375" y="4435475"/>
              <a:ext cx="722313"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61" name="Rectangle 34"/>
            <p:cNvSpPr>
              <a:spLocks noChangeArrowheads="1"/>
            </p:cNvSpPr>
            <p:nvPr/>
          </p:nvSpPr>
          <p:spPr bwMode="auto">
            <a:xfrm>
              <a:off x="1450975" y="4527550"/>
              <a:ext cx="1487488"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62" name="Rectangle 35"/>
            <p:cNvSpPr>
              <a:spLocks noChangeArrowheads="1"/>
            </p:cNvSpPr>
            <p:nvPr/>
          </p:nvSpPr>
          <p:spPr bwMode="auto">
            <a:xfrm>
              <a:off x="1722438" y="4529138"/>
              <a:ext cx="952500"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63" name="Rectangle 36"/>
            <p:cNvSpPr>
              <a:spLocks noChangeArrowheads="1"/>
            </p:cNvSpPr>
            <p:nvPr/>
          </p:nvSpPr>
          <p:spPr bwMode="auto">
            <a:xfrm>
              <a:off x="1822450" y="4473575"/>
              <a:ext cx="6889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Times New Roman" panose="02020603050405020304" pitchFamily="18" charset="0"/>
                  <a:ea typeface="黑体" panose="02010609060101010101" pitchFamily="49" charset="-122"/>
                </a:rPr>
                <a:t>网卡</a:t>
              </a:r>
            </a:p>
          </p:txBody>
        </p:sp>
        <p:sp>
          <p:nvSpPr>
            <p:cNvPr id="44064" name="Rectangle 37"/>
            <p:cNvSpPr>
              <a:spLocks noChangeArrowheads="1"/>
            </p:cNvSpPr>
            <p:nvPr/>
          </p:nvSpPr>
          <p:spPr bwMode="auto">
            <a:xfrm>
              <a:off x="1668463" y="4894263"/>
              <a:ext cx="942975"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Times New Roman" panose="02020603050405020304" pitchFamily="18" charset="0"/>
                  <a:ea typeface="黑体" panose="02010609060101010101" pitchFamily="49" charset="-122"/>
                </a:rPr>
                <a:t>工作站</a:t>
              </a:r>
            </a:p>
          </p:txBody>
        </p:sp>
        <p:sp>
          <p:nvSpPr>
            <p:cNvPr id="44065" name="Rectangle 38"/>
            <p:cNvSpPr>
              <a:spLocks noChangeArrowheads="1"/>
            </p:cNvSpPr>
            <p:nvPr/>
          </p:nvSpPr>
          <p:spPr bwMode="auto">
            <a:xfrm>
              <a:off x="1846263" y="4435475"/>
              <a:ext cx="719137"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66" name="Rectangle 39"/>
            <p:cNvSpPr>
              <a:spLocks noChangeArrowheads="1"/>
            </p:cNvSpPr>
            <p:nvPr/>
          </p:nvSpPr>
          <p:spPr bwMode="auto">
            <a:xfrm>
              <a:off x="6037263" y="4527550"/>
              <a:ext cx="1487487"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67" name="Rectangle 40"/>
            <p:cNvSpPr>
              <a:spLocks noChangeArrowheads="1"/>
            </p:cNvSpPr>
            <p:nvPr/>
          </p:nvSpPr>
          <p:spPr bwMode="auto">
            <a:xfrm>
              <a:off x="6316663" y="4529138"/>
              <a:ext cx="950912"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68" name="Rectangle 41"/>
            <p:cNvSpPr>
              <a:spLocks noChangeArrowheads="1"/>
            </p:cNvSpPr>
            <p:nvPr/>
          </p:nvSpPr>
          <p:spPr bwMode="auto">
            <a:xfrm>
              <a:off x="6389688" y="4478338"/>
              <a:ext cx="6889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Times New Roman" panose="02020603050405020304" pitchFamily="18" charset="0"/>
                  <a:ea typeface="黑体" panose="02010609060101010101" pitchFamily="49" charset="-122"/>
                </a:rPr>
                <a:t>网卡</a:t>
              </a:r>
            </a:p>
          </p:txBody>
        </p:sp>
        <p:sp>
          <p:nvSpPr>
            <p:cNvPr id="44069" name="Rectangle 42"/>
            <p:cNvSpPr>
              <a:spLocks noChangeArrowheads="1"/>
            </p:cNvSpPr>
            <p:nvPr/>
          </p:nvSpPr>
          <p:spPr bwMode="auto">
            <a:xfrm>
              <a:off x="6242050" y="4894263"/>
              <a:ext cx="942975"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Times New Roman" panose="02020603050405020304" pitchFamily="18" charset="0"/>
                  <a:ea typeface="黑体" panose="02010609060101010101" pitchFamily="49" charset="-122"/>
                </a:rPr>
                <a:t>工作站</a:t>
              </a:r>
            </a:p>
          </p:txBody>
        </p:sp>
        <p:sp>
          <p:nvSpPr>
            <p:cNvPr id="44070" name="Rectangle 43"/>
            <p:cNvSpPr>
              <a:spLocks noChangeArrowheads="1"/>
            </p:cNvSpPr>
            <p:nvPr/>
          </p:nvSpPr>
          <p:spPr bwMode="auto">
            <a:xfrm>
              <a:off x="6432550" y="4435475"/>
              <a:ext cx="720725"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71" name="Oval 44"/>
            <p:cNvSpPr>
              <a:spLocks noChangeArrowheads="1"/>
            </p:cNvSpPr>
            <p:nvPr/>
          </p:nvSpPr>
          <p:spPr bwMode="auto">
            <a:xfrm>
              <a:off x="4237038" y="2579688"/>
              <a:ext cx="87312"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72" name="Oval 45"/>
            <p:cNvSpPr>
              <a:spLocks noChangeArrowheads="1"/>
            </p:cNvSpPr>
            <p:nvPr/>
          </p:nvSpPr>
          <p:spPr bwMode="auto">
            <a:xfrm>
              <a:off x="4627563" y="2381250"/>
              <a:ext cx="88900"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73" name="Oval 46"/>
            <p:cNvSpPr>
              <a:spLocks noChangeArrowheads="1"/>
            </p:cNvSpPr>
            <p:nvPr/>
          </p:nvSpPr>
          <p:spPr bwMode="auto">
            <a:xfrm>
              <a:off x="4787900" y="2819400"/>
              <a:ext cx="88900"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endParaRPr kumimoji="1" lang="zh-CN" altLang="en-US">
                <a:solidFill>
                  <a:srgbClr val="333399"/>
                </a:solidFill>
                <a:latin typeface="Arial" panose="020B0604020202020204" pitchFamily="34" charset="0"/>
                <a:ea typeface="黑体" panose="02010609060101010101" pitchFamily="49" charset="-122"/>
              </a:endParaRPr>
            </a:p>
          </p:txBody>
        </p:sp>
        <p:sp>
          <p:nvSpPr>
            <p:cNvPr id="44074" name="Line 47"/>
            <p:cNvSpPr>
              <a:spLocks noChangeShapeType="1"/>
            </p:cNvSpPr>
            <p:nvPr/>
          </p:nvSpPr>
          <p:spPr bwMode="auto">
            <a:xfrm flipV="1">
              <a:off x="4183063" y="3605213"/>
              <a:ext cx="0" cy="59690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5" name="Line 48"/>
            <p:cNvSpPr>
              <a:spLocks noChangeShapeType="1"/>
            </p:cNvSpPr>
            <p:nvPr/>
          </p:nvSpPr>
          <p:spPr bwMode="auto">
            <a:xfrm>
              <a:off x="4632325" y="3616325"/>
              <a:ext cx="0" cy="592138"/>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6" name="Line 49"/>
            <p:cNvSpPr>
              <a:spLocks noChangeShapeType="1"/>
            </p:cNvSpPr>
            <p:nvPr/>
          </p:nvSpPr>
          <p:spPr bwMode="auto">
            <a:xfrm rot="236364" flipV="1">
              <a:off x="2019300" y="3729038"/>
              <a:ext cx="431800" cy="51435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7" name="Line 50"/>
            <p:cNvSpPr>
              <a:spLocks noChangeShapeType="1"/>
            </p:cNvSpPr>
            <p:nvPr/>
          </p:nvSpPr>
          <p:spPr bwMode="auto">
            <a:xfrm flipH="1">
              <a:off x="2462213" y="3722688"/>
              <a:ext cx="439737" cy="474662"/>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8" name="Line 51"/>
            <p:cNvSpPr>
              <a:spLocks noChangeShapeType="1"/>
            </p:cNvSpPr>
            <p:nvPr/>
          </p:nvSpPr>
          <p:spPr bwMode="auto">
            <a:xfrm>
              <a:off x="5926138" y="3636963"/>
              <a:ext cx="400050" cy="592137"/>
            </a:xfrm>
            <a:prstGeom prst="line">
              <a:avLst/>
            </a:prstGeom>
            <a:noFill/>
            <a:ln w="127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9" name="Line 52"/>
            <p:cNvSpPr>
              <a:spLocks noChangeShapeType="1"/>
            </p:cNvSpPr>
            <p:nvPr/>
          </p:nvSpPr>
          <p:spPr bwMode="auto">
            <a:xfrm>
              <a:off x="6399213" y="3649663"/>
              <a:ext cx="363537" cy="547687"/>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0" name="Rectangle 53"/>
            <p:cNvSpPr>
              <a:spLocks noChangeArrowheads="1"/>
            </p:cNvSpPr>
            <p:nvPr/>
          </p:nvSpPr>
          <p:spPr bwMode="auto">
            <a:xfrm>
              <a:off x="4908550" y="3725863"/>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sz="2000">
                  <a:solidFill>
                    <a:schemeClr val="tx1"/>
                  </a:solidFill>
                  <a:latin typeface="Verdana" panose="020B0604030504040204" pitchFamily="34" charset="0"/>
                  <a:ea typeface="宋体" panose="02010600030101010101" pitchFamily="2" charset="-122"/>
                </a:defRPr>
              </a:lvl1pPr>
              <a:lvl2pPr marL="742950" indent="-285750" defTabSz="762000">
                <a:defRPr sz="2000">
                  <a:solidFill>
                    <a:schemeClr val="tx1"/>
                  </a:solidFill>
                  <a:latin typeface="Verdana" panose="020B0604030504040204" pitchFamily="34" charset="0"/>
                  <a:ea typeface="宋体" panose="02010600030101010101" pitchFamily="2" charset="-122"/>
                </a:defRPr>
              </a:lvl2pPr>
              <a:lvl3pPr marL="1143000" indent="-228600" defTabSz="762000">
                <a:defRPr sz="2000">
                  <a:solidFill>
                    <a:schemeClr val="tx1"/>
                  </a:solidFill>
                  <a:latin typeface="Verdana" panose="020B0604030504040204" pitchFamily="34" charset="0"/>
                  <a:ea typeface="宋体" panose="02010600030101010101" pitchFamily="2" charset="-122"/>
                </a:defRPr>
              </a:lvl3pPr>
              <a:lvl4pPr marL="1600200" indent="-228600" defTabSz="762000">
                <a:defRPr sz="2000">
                  <a:solidFill>
                    <a:schemeClr val="tx1"/>
                  </a:solidFill>
                  <a:latin typeface="Verdana" panose="020B0604030504040204" pitchFamily="34" charset="0"/>
                  <a:ea typeface="宋体" panose="02010600030101010101" pitchFamily="2" charset="-122"/>
                </a:defRPr>
              </a:lvl4pPr>
              <a:lvl5pPr marL="2057400" indent="-228600" defTabSz="762000">
                <a:defRPr sz="2000">
                  <a:solidFill>
                    <a:schemeClr val="tx1"/>
                  </a:solidFill>
                  <a:latin typeface="Verdan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Times New Roman" panose="02020603050405020304" pitchFamily="18" charset="0"/>
                  <a:ea typeface="黑体" panose="02010609060101010101" pitchFamily="49" charset="-122"/>
                </a:rPr>
                <a:t>双绞线</a:t>
              </a:r>
            </a:p>
          </p:txBody>
        </p:sp>
        <p:grpSp>
          <p:nvGrpSpPr>
            <p:cNvPr id="44081" name="Group 54"/>
            <p:cNvGrpSpPr>
              <a:grpSpLocks/>
            </p:cNvGrpSpPr>
            <p:nvPr/>
          </p:nvGrpSpPr>
          <p:grpSpPr bwMode="auto">
            <a:xfrm rot="5400000" flipH="1">
              <a:off x="4307682" y="3950494"/>
              <a:ext cx="876300" cy="90487"/>
              <a:chOff x="1548" y="1476"/>
              <a:chExt cx="1338" cy="120"/>
            </a:xfrm>
          </p:grpSpPr>
          <p:sp>
            <p:nvSpPr>
              <p:cNvPr id="44085" name="Freeform 55"/>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6" name="Freeform 56"/>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4082" name="Group 57"/>
            <p:cNvGrpSpPr>
              <a:grpSpLocks/>
            </p:cNvGrpSpPr>
            <p:nvPr/>
          </p:nvGrpSpPr>
          <p:grpSpPr bwMode="auto">
            <a:xfrm rot="5400000" flipH="1">
              <a:off x="3849688" y="3962400"/>
              <a:ext cx="874712" cy="90488"/>
              <a:chOff x="1548" y="1476"/>
              <a:chExt cx="1338" cy="120"/>
            </a:xfrm>
          </p:grpSpPr>
          <p:sp>
            <p:nvSpPr>
              <p:cNvPr id="44083" name="Freeform 5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4" name="Freeform 5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 name="矩形 81"/>
          <p:cNvSpPr/>
          <p:nvPr/>
        </p:nvSpPr>
        <p:spPr>
          <a:xfrm>
            <a:off x="263525" y="1676400"/>
            <a:ext cx="8829675" cy="2922588"/>
          </a:xfrm>
          <a:prstGeom prst="rect">
            <a:avLst/>
          </a:prstGeom>
        </p:spPr>
        <p:txBody>
          <a:bodyPr>
            <a:spAutoFit/>
          </a:bodyPr>
          <a:lstStyle/>
          <a:p>
            <a:pPr marL="342900" indent="-342900" eaLnBrk="1" hangingPunct="1">
              <a:lnSpc>
                <a:spcPct val="120000"/>
              </a:lnSpc>
              <a:buFont typeface="Wingdings" panose="05000000000000000000" pitchFamily="2" charset="2"/>
              <a:buChar char="l"/>
              <a:defRPr/>
            </a:pPr>
            <a:r>
              <a:rPr lang="zh-CN" altLang="en-US" sz="2600" dirty="0">
                <a:solidFill>
                  <a:srgbClr val="FF0000"/>
                </a:solidFill>
                <a:latin typeface="微软雅黑" panose="020B0503020204020204" pitchFamily="34" charset="-122"/>
                <a:ea typeface="微软雅黑" panose="020B0503020204020204" pitchFamily="34" charset="-122"/>
              </a:rPr>
              <a:t>集线器从源端口接收到信号，进行放大，向其他所有端口进行转发。</a:t>
            </a:r>
            <a:endParaRPr lang="en-US" altLang="zh-CN" sz="2600" dirty="0">
              <a:solidFill>
                <a:srgbClr val="FF0000"/>
              </a:solidFill>
              <a:latin typeface="微软雅黑" panose="020B0503020204020204" pitchFamily="34" charset="-122"/>
              <a:ea typeface="微软雅黑" panose="020B0503020204020204" pitchFamily="34" charset="-122"/>
            </a:endParaRPr>
          </a:p>
          <a:p>
            <a:pPr marL="342900" indent="-342900" eaLnBrk="1" hangingPunct="1">
              <a:lnSpc>
                <a:spcPct val="120000"/>
              </a:lnSpc>
              <a:buFont typeface="Wingdings" panose="05000000000000000000" pitchFamily="2" charset="2"/>
              <a:buChar char="l"/>
              <a:defRPr/>
            </a:pPr>
            <a:r>
              <a:rPr lang="zh-CN" altLang="en-US" sz="2600" dirty="0"/>
              <a:t>使用集线器的以太网在</a:t>
            </a:r>
            <a:r>
              <a:rPr lang="zh-CN" altLang="en-US" sz="2600" dirty="0">
                <a:solidFill>
                  <a:schemeClr val="hlink"/>
                </a:solidFill>
              </a:rPr>
              <a:t>逻辑上</a:t>
            </a:r>
            <a:r>
              <a:rPr lang="zh-CN" altLang="en-US" sz="2600" dirty="0"/>
              <a:t>仍是一个总线网，各工作站使用的还是 </a:t>
            </a:r>
            <a:r>
              <a:rPr lang="en-US" altLang="zh-CN" sz="2600" dirty="0"/>
              <a:t>CSMA/CD</a:t>
            </a:r>
            <a:r>
              <a:rPr lang="en-US" altLang="zh-CN" sz="2600" b="1" dirty="0"/>
              <a:t> </a:t>
            </a:r>
            <a:r>
              <a:rPr lang="zh-CN" altLang="en-US" sz="2600" dirty="0"/>
              <a:t>协议，并共享逻辑上的总线。 </a:t>
            </a:r>
          </a:p>
          <a:p>
            <a:pPr marL="342900" indent="-342900" eaLnBrk="1" hangingPunct="1">
              <a:lnSpc>
                <a:spcPct val="120000"/>
              </a:lnSpc>
              <a:buFont typeface="Wingdings" panose="05000000000000000000" pitchFamily="2" charset="2"/>
              <a:buChar char="l"/>
              <a:defRPr/>
            </a:pPr>
            <a:r>
              <a:rPr lang="zh-CN" altLang="en-US" sz="2600" dirty="0"/>
              <a:t>集线器是一个多接口的转发器，工作在物理层。 </a:t>
            </a:r>
          </a:p>
          <a:p>
            <a:pPr algn="just">
              <a:lnSpc>
                <a:spcPct val="120000"/>
              </a:lnSpc>
              <a:defRPr/>
            </a:pPr>
            <a:endParaRPr lang="zh-CN" altLang="en-US" sz="2600" dirty="0"/>
          </a:p>
        </p:txBody>
      </p:sp>
      <p:sp>
        <p:nvSpPr>
          <p:cNvPr id="44037" name="矩形 3"/>
          <p:cNvSpPr>
            <a:spLocks noChangeArrowheads="1"/>
          </p:cNvSpPr>
          <p:nvPr/>
        </p:nvSpPr>
        <p:spPr bwMode="auto">
          <a:xfrm>
            <a:off x="5473700" y="6213475"/>
            <a:ext cx="2655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a:t>包含</a:t>
            </a:r>
            <a:r>
              <a:rPr lang="en-US" altLang="zh-CN"/>
              <a:t>3</a:t>
            </a:r>
            <a:r>
              <a:rPr lang="zh-CN" altLang="en-US"/>
              <a:t>个端口的集线器</a:t>
            </a:r>
          </a:p>
        </p:txBody>
      </p:sp>
    </p:spTree>
  </p:cSld>
  <p:clrMapOvr>
    <a:masterClrMapping/>
  </p:clrMapOvr>
  <p:transition>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4"/>
          <p:cNvSpPr>
            <a:spLocks noGrp="1"/>
          </p:cNvSpPr>
          <p:nvPr>
            <p:ph type="sldNum" sz="quarter" idx="4294967295"/>
          </p:nvPr>
        </p:nvSpPr>
        <p:spPr bwMode="auto">
          <a:xfrm>
            <a:off x="7042150" y="6243638"/>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fld id="{D485C213-2161-4DD1-A151-61968519A193}" type="slidenum">
              <a:rPr lang="en-US" altLang="zh-CN" sz="1400">
                <a:latin typeface="Tahoma" panose="020B0604030504040204" pitchFamily="34" charset="0"/>
              </a:rPr>
              <a:pPr/>
              <a:t>35</a:t>
            </a:fld>
            <a:endParaRPr lang="en-US" altLang="zh-CN" sz="1400">
              <a:latin typeface="Tahoma" panose="020B0604030504040204" pitchFamily="34" charset="0"/>
            </a:endParaRPr>
          </a:p>
        </p:txBody>
      </p:sp>
      <p:sp>
        <p:nvSpPr>
          <p:cNvPr id="45059" name="Rectangle 2"/>
          <p:cNvSpPr>
            <a:spLocks noGrp="1" noChangeArrowheads="1"/>
          </p:cNvSpPr>
          <p:nvPr>
            <p:ph type="title"/>
          </p:nvPr>
        </p:nvSpPr>
        <p:spPr>
          <a:xfrm>
            <a:off x="539750" y="981075"/>
            <a:ext cx="4248150" cy="568325"/>
          </a:xfrm>
          <a:solidFill>
            <a:srgbClr val="FFFF00"/>
          </a:solidFill>
        </p:spPr>
        <p:txBody>
          <a:bodyPr/>
          <a:lstStyle/>
          <a:p>
            <a:pPr eaLnBrk="1" hangingPunct="1"/>
            <a:r>
              <a:rPr lang="en-US" altLang="zh-CN" sz="3000" dirty="0"/>
              <a:t>10BASE-T</a:t>
            </a:r>
            <a:r>
              <a:rPr lang="zh-CN" altLang="en-US" sz="3000" dirty="0"/>
              <a:t>以太网</a:t>
            </a:r>
            <a:r>
              <a:rPr lang="en-US" altLang="zh-CN" sz="3000" dirty="0"/>
              <a:t> </a:t>
            </a:r>
          </a:p>
        </p:txBody>
      </p:sp>
      <p:sp>
        <p:nvSpPr>
          <p:cNvPr id="45060" name="Rectangle 3"/>
          <p:cNvSpPr>
            <a:spLocks noGrp="1" noChangeArrowheads="1"/>
          </p:cNvSpPr>
          <p:nvPr>
            <p:ph type="body" idx="1"/>
          </p:nvPr>
        </p:nvSpPr>
        <p:spPr>
          <a:xfrm>
            <a:off x="539750" y="1917700"/>
            <a:ext cx="8424863" cy="2232025"/>
          </a:xfrm>
        </p:spPr>
        <p:txBody>
          <a:bodyPr/>
          <a:lstStyle/>
          <a:p>
            <a:pPr eaLnBrk="1" hangingPunct="1"/>
            <a:r>
              <a:rPr lang="en-US" altLang="zh-CN">
                <a:solidFill>
                  <a:srgbClr val="0070C0"/>
                </a:solidFill>
              </a:rPr>
              <a:t>10M</a:t>
            </a:r>
            <a:r>
              <a:rPr lang="zh-CN" altLang="en-US">
                <a:solidFill>
                  <a:srgbClr val="0070C0"/>
                </a:solidFill>
              </a:rPr>
              <a:t>带宽，基带传输，介质为双绞线。</a:t>
            </a:r>
            <a:endParaRPr lang="en-US" altLang="zh-CN">
              <a:solidFill>
                <a:srgbClr val="0070C0"/>
              </a:solidFill>
            </a:endParaRPr>
          </a:p>
          <a:p>
            <a:pPr eaLnBrk="1" hangingPunct="1"/>
            <a:r>
              <a:rPr lang="zh-CN" altLang="en-US"/>
              <a:t>不用电缆而使用无屏蔽双绞线。每个站需要用两对双绞线，分别用于发送和接收。</a:t>
            </a:r>
          </a:p>
          <a:p>
            <a:pPr eaLnBrk="1" hangingPunct="1"/>
            <a:r>
              <a:rPr lang="zh-CN" altLang="en-US"/>
              <a:t>集线器使用了大规模集成电路芯片，因此这样的硬件设备的可靠性已大大提高了。 </a:t>
            </a:r>
          </a:p>
        </p:txBody>
      </p:sp>
    </p:spTree>
  </p:cSld>
  <p:clrMapOvr>
    <a:masterClrMapping/>
  </p:clrMapOvr>
  <p:transition>
    <p:cov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539750" y="692150"/>
            <a:ext cx="3671888" cy="857250"/>
          </a:xfrm>
        </p:spPr>
        <p:txBody>
          <a:bodyPr/>
          <a:lstStyle/>
          <a:p>
            <a:pPr algn="ctr" eaLnBrk="1" hangingPunct="1"/>
            <a:r>
              <a:rPr lang="zh-CN" altLang="en-US" sz="3000">
                <a:solidFill>
                  <a:srgbClr val="2A10E8"/>
                </a:solidFill>
                <a:latin typeface="黑体" panose="02010609060101010101" pitchFamily="49" charset="-122"/>
                <a:ea typeface="黑体" panose="02010609060101010101" pitchFamily="49" charset="-122"/>
              </a:rPr>
              <a:t>共享式以太网的缺点</a:t>
            </a:r>
          </a:p>
        </p:txBody>
      </p:sp>
      <p:sp>
        <p:nvSpPr>
          <p:cNvPr id="49155" name="Rectangle 3"/>
          <p:cNvSpPr>
            <a:spLocks noGrp="1" noChangeArrowheads="1"/>
          </p:cNvSpPr>
          <p:nvPr>
            <p:ph type="body" idx="1"/>
          </p:nvPr>
        </p:nvSpPr>
        <p:spPr>
          <a:xfrm>
            <a:off x="525463" y="1916113"/>
            <a:ext cx="8424862" cy="2376487"/>
          </a:xfrm>
        </p:spPr>
        <p:txBody>
          <a:bodyPr/>
          <a:lstStyle/>
          <a:p>
            <a:pPr eaLnBrk="1" hangingPunct="1">
              <a:buFont typeface="Wingdings" panose="05000000000000000000" pitchFamily="2" charset="2"/>
              <a:buChar char="l"/>
            </a:pPr>
            <a:r>
              <a:rPr lang="zh-CN" altLang="en-US"/>
              <a:t>所有节点共享同一冲突域，不能同时工作；</a:t>
            </a:r>
            <a:endParaRPr lang="en-US" altLang="zh-CN"/>
          </a:p>
          <a:p>
            <a:pPr eaLnBrk="1" hangingPunct="1">
              <a:buFont typeface="Wingdings" panose="05000000000000000000" pitchFamily="2" charset="2"/>
              <a:buChar char="l"/>
            </a:pPr>
            <a:r>
              <a:rPr lang="zh-CN" altLang="en-US"/>
              <a:t>所有节点共享同一个带宽，传输效率低；</a:t>
            </a:r>
            <a:endParaRPr lang="en-US" altLang="zh-CN"/>
          </a:p>
          <a:p>
            <a:pPr eaLnBrk="1" hangingPunct="1">
              <a:buFont typeface="Wingdings" panose="05000000000000000000" pitchFamily="2" charset="2"/>
              <a:buChar char="l"/>
            </a:pPr>
            <a:r>
              <a:rPr lang="zh-CN" altLang="en-US"/>
              <a:t>采用广播方式，容易造成广播风暴，而且不安全。</a:t>
            </a:r>
            <a:endParaRPr lang="en-US" altLang="zh-CN"/>
          </a:p>
          <a:p>
            <a:pPr eaLnBrk="1" hangingPunct="1">
              <a:buFont typeface="Wingdings" panose="05000000000000000000" pitchFamily="2" charset="2"/>
              <a:buChar char="l"/>
            </a:pPr>
            <a:endParaRPr lang="zh-CN" altLang="en-US"/>
          </a:p>
        </p:txBody>
      </p:sp>
    </p:spTree>
  </p:cSld>
  <p:clrMapOvr>
    <a:masterClrMapping/>
  </p:clrMapOvr>
  <p:transition>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476375" y="2924175"/>
            <a:ext cx="6335713" cy="719138"/>
          </a:xfrm>
        </p:spPr>
        <p:txBody>
          <a:bodyPr/>
          <a:lstStyle/>
          <a:p>
            <a:pPr eaLnBrk="1" hangingPunct="1"/>
            <a:r>
              <a:rPr kumimoji="1" lang="zh-CN" altLang="en-US" sz="4000" b="1" dirty="0">
                <a:solidFill>
                  <a:srgbClr val="800000"/>
                </a:solidFill>
                <a:latin typeface="黑体" panose="02010609060101010101" pitchFamily="49" charset="-122"/>
                <a:ea typeface="黑体" panose="02010609060101010101" pitchFamily="49" charset="-122"/>
              </a:rPr>
              <a:t>交换式以太网</a:t>
            </a:r>
            <a:r>
              <a:rPr kumimoji="1" lang="en-US" altLang="zh-CN" sz="4000" b="1" dirty="0">
                <a:solidFill>
                  <a:srgbClr val="800000"/>
                </a:solidFill>
                <a:latin typeface="黑体" panose="02010609060101010101" pitchFamily="49" charset="-122"/>
                <a:ea typeface="黑体" panose="02010609060101010101" pitchFamily="49" charset="-122"/>
              </a:rPr>
              <a:t>(</a:t>
            </a:r>
            <a:r>
              <a:rPr kumimoji="1" lang="zh-CN" altLang="en-US" sz="4000" b="1" dirty="0">
                <a:solidFill>
                  <a:srgbClr val="800000"/>
                </a:solidFill>
                <a:latin typeface="黑体" panose="02010609060101010101" pitchFamily="49" charset="-122"/>
                <a:ea typeface="黑体" panose="02010609060101010101" pitchFamily="49" charset="-122"/>
              </a:rPr>
              <a:t>快速以太网）</a:t>
            </a:r>
            <a:endParaRPr lang="zh-CN" altLang="en-US" sz="3000" dirty="0"/>
          </a:p>
        </p:txBody>
      </p:sp>
      <p:sp>
        <p:nvSpPr>
          <p:cNvPr id="51203" name="Rectangle 3"/>
          <p:cNvSpPr>
            <a:spLocks noChangeArrowheads="1"/>
          </p:cNvSpPr>
          <p:nvPr/>
        </p:nvSpPr>
        <p:spPr bwMode="auto">
          <a:xfrm>
            <a:off x="2719388" y="2147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4213" y="765175"/>
            <a:ext cx="4876800" cy="762000"/>
          </a:xfrm>
        </p:spPr>
        <p:txBody>
          <a:bodyPr/>
          <a:lstStyle/>
          <a:p>
            <a:pPr eaLnBrk="1" hangingPunct="1"/>
            <a:r>
              <a:rPr lang="zh-CN" altLang="en-US" sz="3200" b="1">
                <a:solidFill>
                  <a:srgbClr val="000099"/>
                </a:solidFill>
                <a:latin typeface="黑体" panose="02010609060101010101" pitchFamily="49" charset="-122"/>
                <a:ea typeface="黑体" panose="02010609060101010101" pitchFamily="49" charset="-122"/>
              </a:rPr>
              <a:t>交换式以太网（星形拓扑）</a:t>
            </a:r>
          </a:p>
        </p:txBody>
      </p:sp>
      <p:sp>
        <p:nvSpPr>
          <p:cNvPr id="52227" name="Rectangle 4"/>
          <p:cNvSpPr>
            <a:spLocks noChangeArrowheads="1"/>
          </p:cNvSpPr>
          <p:nvPr/>
        </p:nvSpPr>
        <p:spPr bwMode="auto">
          <a:xfrm>
            <a:off x="2719388" y="2147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pic>
        <p:nvPicPr>
          <p:cNvPr id="5222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3500438"/>
            <a:ext cx="50768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矩形 2"/>
          <p:cNvSpPr>
            <a:spLocks noChangeArrowheads="1"/>
          </p:cNvSpPr>
          <p:nvPr/>
        </p:nvSpPr>
        <p:spPr bwMode="auto">
          <a:xfrm>
            <a:off x="250825" y="1844675"/>
            <a:ext cx="8605838" cy="2361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nSpc>
                <a:spcPct val="120000"/>
              </a:lnSpc>
              <a:buFont typeface="Wingdings" panose="05000000000000000000" pitchFamily="2" charset="2"/>
              <a:buChar char="l"/>
            </a:pPr>
            <a:r>
              <a:rPr lang="zh-CN" altLang="en-US" sz="2500" dirty="0">
                <a:latin typeface="微软雅黑" panose="020B0503020204020204" pitchFamily="34" charset="-122"/>
                <a:ea typeface="微软雅黑" panose="020B0503020204020204" pitchFamily="34" charset="-122"/>
              </a:rPr>
              <a:t>以数据链路层的</a:t>
            </a:r>
            <a:r>
              <a:rPr lang="zh-CN" altLang="en-US" sz="2500" dirty="0">
                <a:solidFill>
                  <a:srgbClr val="2A10E8"/>
                </a:solidFill>
                <a:latin typeface="微软雅黑" panose="020B0503020204020204" pitchFamily="34" charset="-122"/>
                <a:ea typeface="微软雅黑" panose="020B0503020204020204" pitchFamily="34" charset="-122"/>
              </a:rPr>
              <a:t>帧为数据交换单位</a:t>
            </a:r>
            <a:r>
              <a:rPr lang="zh-CN" altLang="en-US" sz="2500" dirty="0">
                <a:latin typeface="微软雅黑" panose="020B0503020204020204" pitchFamily="34" charset="-122"/>
                <a:ea typeface="微软雅黑" panose="020B0503020204020204" pitchFamily="34" charset="-122"/>
              </a:rPr>
              <a:t>，以</a:t>
            </a:r>
            <a:r>
              <a:rPr lang="zh-CN" altLang="en-US" sz="2500" dirty="0">
                <a:solidFill>
                  <a:srgbClr val="2A10E8"/>
                </a:solidFill>
                <a:latin typeface="微软雅黑" panose="020B0503020204020204" pitchFamily="34" charset="-122"/>
                <a:ea typeface="微软雅黑" panose="020B0503020204020204" pitchFamily="34" charset="-122"/>
              </a:rPr>
              <a:t>以太网交换机为基础</a:t>
            </a:r>
            <a:r>
              <a:rPr lang="zh-CN" altLang="en-US" sz="2500" dirty="0">
                <a:latin typeface="微软雅黑" panose="020B0503020204020204" pitchFamily="34" charset="-122"/>
                <a:ea typeface="微软雅黑" panose="020B0503020204020204" pitchFamily="34" charset="-122"/>
              </a:rPr>
              <a:t>构成的网络。交换式以太网允许多对节点同时通信，每个结点可以独占传输通道和带宽，它从根本上解决了共享以太网所带来的问题。</a:t>
            </a:r>
            <a:endParaRPr lang="en-US" altLang="zh-CN" sz="2500" dirty="0">
              <a:latin typeface="微软雅黑" panose="020B0503020204020204" pitchFamily="34" charset="-122"/>
              <a:ea typeface="微软雅黑" panose="020B0503020204020204" pitchFamily="34" charset="-122"/>
            </a:endParaRPr>
          </a:p>
          <a:p>
            <a:pPr>
              <a:lnSpc>
                <a:spcPct val="120000"/>
              </a:lnSpc>
              <a:buFont typeface="Wingdings" panose="05000000000000000000" pitchFamily="2" charset="2"/>
              <a:buChar char="l"/>
            </a:pPr>
            <a:r>
              <a:rPr lang="zh-CN" altLang="en-US" sz="2500" dirty="0">
                <a:solidFill>
                  <a:srgbClr val="C00000"/>
                </a:solidFill>
                <a:latin typeface="微软雅黑" panose="020B0503020204020204" pitchFamily="34" charset="-122"/>
                <a:ea typeface="微软雅黑" panose="020B0503020204020204" pitchFamily="34" charset="-122"/>
              </a:rPr>
              <a:t>以太网交换机工作在链路层。</a:t>
            </a:r>
          </a:p>
        </p:txBody>
      </p:sp>
      <p:pic>
        <p:nvPicPr>
          <p:cNvPr id="52230" name="Picture 2"/>
          <p:cNvPicPr>
            <a:picLocks noChangeAspect="1" noChangeArrowheads="1"/>
          </p:cNvPicPr>
          <p:nvPr/>
        </p:nvPicPr>
        <p:blipFill>
          <a:blip r:embed="rId3">
            <a:extLst>
              <a:ext uri="{28A0092B-C50C-407E-A947-70E740481C1C}">
                <a14:useLocalDpi xmlns:a14="http://schemas.microsoft.com/office/drawing/2010/main" val="0"/>
              </a:ext>
            </a:extLst>
          </a:blip>
          <a:srcRect b="14655"/>
          <a:stretch>
            <a:fillRect/>
          </a:stretch>
        </p:blipFill>
        <p:spPr bwMode="auto">
          <a:xfrm>
            <a:off x="15875" y="4418013"/>
            <a:ext cx="4051300" cy="154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TextBox 4"/>
          <p:cNvSpPr txBox="1">
            <a:spLocks noChangeArrowheads="1"/>
          </p:cNvSpPr>
          <p:nvPr/>
        </p:nvSpPr>
        <p:spPr bwMode="auto">
          <a:xfrm>
            <a:off x="1133475" y="5973763"/>
            <a:ext cx="2166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kumimoji="1" lang="zh-CN" altLang="en-US">
                <a:solidFill>
                  <a:srgbClr val="333399"/>
                </a:solidFill>
                <a:latin typeface="Arial" panose="020B0604020202020204" pitchFamily="34" charset="0"/>
                <a:ea typeface="黑体" panose="02010609060101010101" pitchFamily="49" charset="-122"/>
              </a:rPr>
              <a:t>锐捷</a:t>
            </a:r>
            <a:r>
              <a:rPr kumimoji="1" lang="en-US" altLang="zh-CN">
                <a:solidFill>
                  <a:srgbClr val="333399"/>
                </a:solidFill>
                <a:latin typeface="Arial" panose="020B0604020202020204" pitchFamily="34" charset="0"/>
                <a:ea typeface="黑体" panose="02010609060101010101" pitchFamily="49" charset="-122"/>
              </a:rPr>
              <a:t>s2126</a:t>
            </a:r>
            <a:r>
              <a:rPr kumimoji="1" lang="zh-CN" altLang="en-US">
                <a:solidFill>
                  <a:srgbClr val="333399"/>
                </a:solidFill>
                <a:latin typeface="Arial" panose="020B0604020202020204" pitchFamily="34" charset="0"/>
                <a:ea typeface="黑体" panose="02010609060101010101" pitchFamily="49" charset="-122"/>
              </a:rPr>
              <a:t>交换机</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ChangeArrowheads="1"/>
          </p:cNvSpPr>
          <p:nvPr/>
        </p:nvSpPr>
        <p:spPr bwMode="auto">
          <a:xfrm>
            <a:off x="194310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53251" name="Rectangle 10"/>
          <p:cNvSpPr>
            <a:spLocks noGrp="1" noChangeArrowheads="1"/>
          </p:cNvSpPr>
          <p:nvPr>
            <p:ph type="title"/>
          </p:nvPr>
        </p:nvSpPr>
        <p:spPr>
          <a:xfrm>
            <a:off x="107950" y="795338"/>
            <a:ext cx="4176713" cy="762000"/>
          </a:xfrm>
          <a:noFill/>
        </p:spPr>
        <p:txBody>
          <a:bodyPr/>
          <a:lstStyle/>
          <a:p>
            <a:pPr eaLnBrk="1" hangingPunct="1"/>
            <a:r>
              <a:rPr lang="zh-CN" altLang="en-US" sz="2800" b="1">
                <a:solidFill>
                  <a:srgbClr val="000099"/>
                </a:solidFill>
                <a:latin typeface="黑体" panose="02010609060101010101" pitchFamily="49" charset="-122"/>
                <a:ea typeface="黑体" panose="02010609060101010101" pitchFamily="49" charset="-122"/>
              </a:rPr>
              <a:t>交换机的工作原理</a:t>
            </a:r>
          </a:p>
        </p:txBody>
      </p:sp>
      <p:pic>
        <p:nvPicPr>
          <p:cNvPr id="53253"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278" y="3717220"/>
            <a:ext cx="4319588" cy="290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4221088"/>
            <a:ext cx="2682875"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5" name="矩形 4"/>
          <p:cNvSpPr>
            <a:spLocks noChangeArrowheads="1"/>
          </p:cNvSpPr>
          <p:nvPr/>
        </p:nvSpPr>
        <p:spPr bwMode="auto">
          <a:xfrm>
            <a:off x="76121" y="1703806"/>
            <a:ext cx="8919318" cy="186204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just">
              <a:buFont typeface="Wingdings" panose="05000000000000000000" pitchFamily="2" charset="2"/>
              <a:buChar char="l"/>
            </a:pPr>
            <a:r>
              <a:rPr kumimoji="1" lang="zh-CN" altLang="en-US" sz="2300" b="1" dirty="0">
                <a:solidFill>
                  <a:srgbClr val="2A10E8"/>
                </a:solidFill>
                <a:latin typeface="黑体" panose="02010609060101010101" pitchFamily="49" charset="-122"/>
                <a:ea typeface="黑体" panose="02010609060101010101" pitchFamily="49" charset="-122"/>
              </a:rPr>
              <a:t>每个交换机内部维护一张</a:t>
            </a:r>
            <a:r>
              <a:rPr kumimoji="1" lang="zh-CN" altLang="en-US" sz="2300" b="1" dirty="0">
                <a:solidFill>
                  <a:srgbClr val="C00000"/>
                </a:solidFill>
                <a:latin typeface="黑体" panose="02010609060101010101" pitchFamily="49" charset="-122"/>
                <a:ea typeface="黑体" panose="02010609060101010101" pitchFamily="49" charset="-122"/>
              </a:rPr>
              <a:t>地址映射表</a:t>
            </a:r>
            <a:r>
              <a:rPr kumimoji="1" lang="zh-CN" altLang="en-US" sz="2300" b="1" dirty="0">
                <a:solidFill>
                  <a:srgbClr val="2A10E8"/>
                </a:solidFill>
                <a:latin typeface="黑体" panose="02010609060101010101" pitchFamily="49" charset="-122"/>
                <a:ea typeface="黑体" panose="02010609060101010101" pitchFamily="49" charset="-122"/>
              </a:rPr>
              <a:t>；</a:t>
            </a:r>
            <a:endParaRPr kumimoji="1" lang="en-US" altLang="zh-CN" sz="2300" b="1" dirty="0">
              <a:solidFill>
                <a:srgbClr val="2A10E8"/>
              </a:solidFill>
              <a:latin typeface="黑体" panose="02010609060101010101" pitchFamily="49" charset="-122"/>
              <a:ea typeface="黑体" panose="02010609060101010101" pitchFamily="49" charset="-122"/>
            </a:endParaRPr>
          </a:p>
          <a:p>
            <a:pPr algn="just">
              <a:buFont typeface="Wingdings" panose="05000000000000000000" pitchFamily="2" charset="2"/>
              <a:buChar char="l"/>
            </a:pPr>
            <a:r>
              <a:rPr kumimoji="1" lang="zh-CN" altLang="en-US" sz="2300" b="1" dirty="0">
                <a:solidFill>
                  <a:srgbClr val="C00000"/>
                </a:solidFill>
                <a:latin typeface="黑体" panose="02010609060101010101" pitchFamily="49" charset="-122"/>
                <a:ea typeface="黑体" panose="02010609060101010101" pitchFamily="49" charset="-122"/>
              </a:rPr>
              <a:t>地址映射表（交换表）</a:t>
            </a:r>
            <a:r>
              <a:rPr kumimoji="1" lang="zh-CN" altLang="en-US" sz="2300" b="1" dirty="0">
                <a:solidFill>
                  <a:srgbClr val="2A10E8"/>
                </a:solidFill>
                <a:latin typeface="黑体" panose="02010609060101010101" pitchFamily="49" charset="-122"/>
                <a:ea typeface="黑体" panose="02010609060101010101" pitchFamily="49" charset="-122"/>
              </a:rPr>
              <a:t>：记录了交换机上每个端口所连接主机的</a:t>
            </a:r>
            <a:r>
              <a:rPr kumimoji="1" lang="en-US" altLang="zh-CN" sz="2300" b="1" dirty="0">
                <a:solidFill>
                  <a:srgbClr val="2A10E8"/>
                </a:solidFill>
                <a:latin typeface="黑体" panose="02010609060101010101" pitchFamily="49" charset="-122"/>
                <a:ea typeface="黑体" panose="02010609060101010101" pitchFamily="49" charset="-122"/>
              </a:rPr>
              <a:t>MAC</a:t>
            </a:r>
            <a:r>
              <a:rPr kumimoji="1" lang="zh-CN" altLang="en-US" sz="2300" b="1" dirty="0">
                <a:solidFill>
                  <a:srgbClr val="2A10E8"/>
                </a:solidFill>
                <a:latin typeface="黑体" panose="02010609060101010101" pitchFamily="49" charset="-122"/>
                <a:ea typeface="黑体" panose="02010609060101010101" pitchFamily="49" charset="-122"/>
              </a:rPr>
              <a:t>地址信息，交换机根据这个表把数据帧转发到正确的端口上。</a:t>
            </a:r>
            <a:endParaRPr kumimoji="1" lang="en-US" altLang="zh-CN" sz="2300" b="1" dirty="0">
              <a:solidFill>
                <a:srgbClr val="2A10E8"/>
              </a:solidFill>
              <a:latin typeface="黑体" panose="02010609060101010101" pitchFamily="49" charset="-122"/>
              <a:ea typeface="黑体" panose="02010609060101010101" pitchFamily="49" charset="-122"/>
            </a:endParaRPr>
          </a:p>
          <a:p>
            <a:pPr algn="just">
              <a:buFont typeface="Wingdings" panose="05000000000000000000" pitchFamily="2" charset="2"/>
              <a:buChar char="l"/>
            </a:pPr>
            <a:r>
              <a:rPr kumimoji="1" lang="zh-CN" altLang="en-US" sz="2300" b="1" dirty="0">
                <a:solidFill>
                  <a:srgbClr val="2A10E8"/>
                </a:solidFill>
                <a:latin typeface="黑体" panose="02010609060101010101" pitchFamily="49" charset="-122"/>
                <a:ea typeface="黑体" panose="02010609060101010101" pitchFamily="49" charset="-122"/>
              </a:rPr>
              <a:t>交换机采用 </a:t>
            </a:r>
            <a:r>
              <a:rPr kumimoji="1" lang="zh-CN" altLang="en-US" sz="2300" b="1" dirty="0">
                <a:solidFill>
                  <a:srgbClr val="FF0000"/>
                </a:solidFill>
                <a:latin typeface="黑体" panose="02010609060101010101" pitchFamily="49" charset="-122"/>
                <a:ea typeface="黑体" panose="02010609060101010101" pitchFamily="49" charset="-122"/>
              </a:rPr>
              <a:t>“存储</a:t>
            </a:r>
            <a:r>
              <a:rPr kumimoji="1" lang="en-US" altLang="zh-CN" sz="2300" b="1" dirty="0">
                <a:solidFill>
                  <a:srgbClr val="FF0000"/>
                </a:solidFill>
                <a:latin typeface="黑体" panose="02010609060101010101" pitchFamily="49" charset="-122"/>
                <a:ea typeface="黑体" panose="02010609060101010101" pitchFamily="49" charset="-122"/>
              </a:rPr>
              <a:t>-</a:t>
            </a:r>
            <a:r>
              <a:rPr kumimoji="1" lang="zh-CN" altLang="en-US" sz="2300" b="1" dirty="0">
                <a:solidFill>
                  <a:srgbClr val="FF0000"/>
                </a:solidFill>
                <a:latin typeface="黑体" panose="02010609060101010101" pitchFamily="49" charset="-122"/>
                <a:ea typeface="黑体" panose="02010609060101010101" pitchFamily="49" charset="-122"/>
              </a:rPr>
              <a:t>转发”</a:t>
            </a:r>
            <a:r>
              <a:rPr kumimoji="1" lang="zh-CN" altLang="en-US" sz="2300" b="1" dirty="0">
                <a:solidFill>
                  <a:srgbClr val="2A10E8"/>
                </a:solidFill>
                <a:latin typeface="黑体" panose="02010609060101010101" pitchFamily="49" charset="-122"/>
                <a:ea typeface="黑体" panose="02010609060101010101" pitchFamily="49" charset="-122"/>
              </a:rPr>
              <a:t>方式进行数据帧转发</a:t>
            </a:r>
            <a:r>
              <a:rPr kumimoji="1" lang="en-US" altLang="zh-CN" sz="2300" b="1" dirty="0">
                <a:solidFill>
                  <a:srgbClr val="2A10E8"/>
                </a:solidFill>
                <a:latin typeface="黑体" panose="02010609060101010101" pitchFamily="49" charset="-122"/>
                <a:ea typeface="黑体" panose="02010609060101010101" pitchFamily="49" charset="-122"/>
              </a:rPr>
              <a:t>,</a:t>
            </a:r>
            <a:r>
              <a:rPr kumimoji="1" lang="zh-CN" altLang="en-US" sz="2300" b="1" dirty="0">
                <a:solidFill>
                  <a:srgbClr val="2A10E8"/>
                </a:solidFill>
                <a:latin typeface="黑体" panose="02010609060101010101" pitchFamily="49" charset="-122"/>
                <a:ea typeface="黑体" panose="02010609060101010101" pitchFamily="49" charset="-122"/>
              </a:rPr>
              <a:t>完整接收一个数据帧后，对数据帧进行处理。</a:t>
            </a:r>
            <a:endParaRPr kumimoji="1" lang="en-US" altLang="zh-CN" sz="2300" b="1" dirty="0">
              <a:solidFill>
                <a:srgbClr val="2A10E8"/>
              </a:solidFill>
              <a:latin typeface="黑体" panose="02010609060101010101" pitchFamily="49" charset="-122"/>
              <a:ea typeface="黑体" panose="02010609060101010101" pitchFamily="49" charset="-122"/>
            </a:endParaRPr>
          </a:p>
        </p:txBody>
      </p:sp>
      <p:sp>
        <p:nvSpPr>
          <p:cNvPr id="53256" name="矩形 7"/>
          <p:cNvSpPr>
            <a:spLocks noChangeArrowheads="1"/>
          </p:cNvSpPr>
          <p:nvPr/>
        </p:nvSpPr>
        <p:spPr bwMode="auto">
          <a:xfrm>
            <a:off x="5724128" y="3872484"/>
            <a:ext cx="2682875" cy="40005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b="1" dirty="0">
                <a:solidFill>
                  <a:srgbClr val="FFFF00"/>
                </a:solidFill>
                <a:latin typeface="黑体" panose="02010609060101010101" pitchFamily="49" charset="-122"/>
                <a:ea typeface="黑体" panose="02010609060101010101" pitchFamily="49" charset="-122"/>
              </a:rPr>
              <a:t>地址映射表</a:t>
            </a:r>
            <a:endParaRPr lang="zh-CN" altLang="en-US" dirty="0">
              <a:solidFill>
                <a:srgbClr val="FFFF00"/>
              </a:solidFill>
            </a:endParaRPr>
          </a:p>
        </p:txBody>
      </p:sp>
      <p:sp>
        <p:nvSpPr>
          <p:cNvPr id="53257" name="左箭头 8"/>
          <p:cNvSpPr>
            <a:spLocks noChangeArrowheads="1"/>
          </p:cNvSpPr>
          <p:nvPr/>
        </p:nvSpPr>
        <p:spPr bwMode="auto">
          <a:xfrm>
            <a:off x="4355703" y="4068058"/>
            <a:ext cx="1296988" cy="287337"/>
          </a:xfrm>
          <a:prstGeom prst="leftArrow">
            <a:avLst>
              <a:gd name="adj1" fmla="val 50000"/>
              <a:gd name="adj2" fmla="val 49903"/>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ChangeArrowheads="1"/>
          </p:cNvSpPr>
          <p:nvPr/>
        </p:nvSpPr>
        <p:spPr bwMode="auto">
          <a:xfrm>
            <a:off x="1943100" y="1876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endParaRPr lang="zh-CN" altLang="en-US" sz="2000"/>
          </a:p>
        </p:txBody>
      </p:sp>
      <p:sp>
        <p:nvSpPr>
          <p:cNvPr id="53251" name="Rectangle 10"/>
          <p:cNvSpPr>
            <a:spLocks noGrp="1" noChangeArrowheads="1"/>
          </p:cNvSpPr>
          <p:nvPr>
            <p:ph type="title"/>
          </p:nvPr>
        </p:nvSpPr>
        <p:spPr>
          <a:xfrm>
            <a:off x="109290" y="831932"/>
            <a:ext cx="4176713" cy="762000"/>
          </a:xfrm>
          <a:noFill/>
        </p:spPr>
        <p:txBody>
          <a:bodyPr/>
          <a:lstStyle/>
          <a:p>
            <a:pPr eaLnBrk="1" hangingPunct="1">
              <a:lnSpc>
                <a:spcPct val="90000"/>
              </a:lnSpc>
            </a:pPr>
            <a:r>
              <a:rPr lang="zh-CN" altLang="en-US" sz="2600" b="1" dirty="0">
                <a:solidFill>
                  <a:srgbClr val="000099"/>
                </a:solidFill>
                <a:latin typeface="黑体" panose="02010609060101010101" pitchFamily="49" charset="-122"/>
                <a:ea typeface="黑体" panose="02010609060101010101" pitchFamily="49" charset="-122"/>
              </a:rPr>
              <a:t>交换机转发一个数据帧的工作流程</a:t>
            </a:r>
          </a:p>
        </p:txBody>
      </p:sp>
      <p:sp>
        <p:nvSpPr>
          <p:cNvPr id="53256" name="矩形 7"/>
          <p:cNvSpPr>
            <a:spLocks noChangeArrowheads="1"/>
          </p:cNvSpPr>
          <p:nvPr/>
        </p:nvSpPr>
        <p:spPr bwMode="auto">
          <a:xfrm>
            <a:off x="494903" y="2115248"/>
            <a:ext cx="1692000" cy="40011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anchor="ctr" anchorCtr="0">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b="1" dirty="0">
                <a:solidFill>
                  <a:srgbClr val="FFFF00"/>
                </a:solidFill>
                <a:latin typeface="黑体" panose="02010609060101010101" pitchFamily="49" charset="-122"/>
                <a:ea typeface="黑体" panose="02010609060101010101" pitchFamily="49" charset="-122"/>
              </a:rPr>
              <a:t>接收数据帧</a:t>
            </a:r>
            <a:endParaRPr lang="zh-CN" altLang="en-US" dirty="0">
              <a:solidFill>
                <a:srgbClr val="FFFF00"/>
              </a:solidFill>
            </a:endParaRPr>
          </a:p>
        </p:txBody>
      </p:sp>
      <p:sp>
        <p:nvSpPr>
          <p:cNvPr id="10" name="矩形 7"/>
          <p:cNvSpPr>
            <a:spLocks noChangeArrowheads="1"/>
          </p:cNvSpPr>
          <p:nvPr/>
        </p:nvSpPr>
        <p:spPr bwMode="auto">
          <a:xfrm>
            <a:off x="499079" y="2724949"/>
            <a:ext cx="1692000" cy="707886"/>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b="1" dirty="0">
                <a:solidFill>
                  <a:srgbClr val="FFFF00"/>
                </a:solidFill>
                <a:latin typeface="黑体" panose="02010609060101010101" pitchFamily="49" charset="-122"/>
                <a:ea typeface="黑体" panose="02010609060101010101" pitchFamily="49" charset="-122"/>
              </a:rPr>
              <a:t>校验，丢弃错误数据帧</a:t>
            </a:r>
            <a:endParaRPr lang="zh-CN" altLang="en-US" dirty="0">
              <a:solidFill>
                <a:srgbClr val="FFFF00"/>
              </a:solidFill>
            </a:endParaRPr>
          </a:p>
        </p:txBody>
      </p:sp>
      <p:sp>
        <p:nvSpPr>
          <p:cNvPr id="11" name="矩形 7"/>
          <p:cNvSpPr>
            <a:spLocks noChangeArrowheads="1"/>
          </p:cNvSpPr>
          <p:nvPr/>
        </p:nvSpPr>
        <p:spPr bwMode="auto">
          <a:xfrm>
            <a:off x="494903" y="3646983"/>
            <a:ext cx="1692000" cy="707886"/>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b="1" dirty="0">
                <a:solidFill>
                  <a:srgbClr val="FFFF00"/>
                </a:solidFill>
                <a:latin typeface="黑体" panose="02010609060101010101" pitchFamily="49" charset="-122"/>
                <a:ea typeface="黑体" panose="02010609060101010101" pitchFamily="49" charset="-122"/>
              </a:rPr>
              <a:t>提取源和目标</a:t>
            </a:r>
            <a:r>
              <a:rPr kumimoji="1" lang="en-US" altLang="zh-CN" b="1" dirty="0">
                <a:solidFill>
                  <a:srgbClr val="FFFF00"/>
                </a:solidFill>
                <a:latin typeface="黑体" panose="02010609060101010101" pitchFamily="49" charset="-122"/>
                <a:ea typeface="黑体" panose="02010609060101010101" pitchFamily="49" charset="-122"/>
              </a:rPr>
              <a:t>MAC</a:t>
            </a:r>
            <a:r>
              <a:rPr kumimoji="1" lang="zh-CN" altLang="en-US" b="1" dirty="0">
                <a:solidFill>
                  <a:srgbClr val="FFFF00"/>
                </a:solidFill>
                <a:latin typeface="黑体" panose="02010609060101010101" pitchFamily="49" charset="-122"/>
                <a:ea typeface="黑体" panose="02010609060101010101" pitchFamily="49" charset="-122"/>
              </a:rPr>
              <a:t>地址</a:t>
            </a:r>
            <a:endParaRPr lang="zh-CN" altLang="en-US" dirty="0">
              <a:solidFill>
                <a:srgbClr val="FFFF00"/>
              </a:solidFill>
            </a:endParaRPr>
          </a:p>
        </p:txBody>
      </p:sp>
      <p:sp>
        <p:nvSpPr>
          <p:cNvPr id="2" name="菱形 1"/>
          <p:cNvSpPr/>
          <p:nvPr/>
        </p:nvSpPr>
        <p:spPr bwMode="auto">
          <a:xfrm>
            <a:off x="2843808" y="3281339"/>
            <a:ext cx="2555927" cy="1161633"/>
          </a:xfrm>
          <a:prstGeom prst="diamon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zh-CN" altLang="en-US" sz="1600" dirty="0">
                <a:solidFill>
                  <a:srgbClr val="FF0000"/>
                </a:solidFill>
              </a:rPr>
              <a:t>目标为广播或组播地址</a:t>
            </a:r>
            <a:r>
              <a:rPr lang="zh-CN" altLang="en-US" sz="1600" dirty="0"/>
              <a:t>？</a:t>
            </a:r>
            <a:endParaRPr kumimoji="0" lang="zh-CN" altLang="en-US" sz="1600" b="0" i="0" u="none" strike="noStrike" cap="none" normalizeH="0" baseline="0" dirty="0">
              <a:ln>
                <a:noFill/>
              </a:ln>
              <a:solidFill>
                <a:schemeClr val="tx1"/>
              </a:solidFill>
              <a:effectLst/>
            </a:endParaRPr>
          </a:p>
        </p:txBody>
      </p:sp>
      <p:sp>
        <p:nvSpPr>
          <p:cNvPr id="14" name="矩形 7"/>
          <p:cNvSpPr>
            <a:spLocks noChangeArrowheads="1"/>
          </p:cNvSpPr>
          <p:nvPr/>
        </p:nvSpPr>
        <p:spPr bwMode="auto">
          <a:xfrm>
            <a:off x="2928184" y="2386674"/>
            <a:ext cx="2376264" cy="707886"/>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b="1" dirty="0">
                <a:solidFill>
                  <a:srgbClr val="FFFF00"/>
                </a:solidFill>
                <a:latin typeface="黑体" panose="02010609060101010101" pitchFamily="49" charset="-122"/>
                <a:ea typeface="黑体" panose="02010609060101010101" pitchFamily="49" charset="-122"/>
              </a:rPr>
              <a:t>向所有端口转发</a:t>
            </a:r>
            <a:r>
              <a:rPr kumimoji="1" lang="en-US" altLang="zh-CN" b="1" dirty="0">
                <a:solidFill>
                  <a:srgbClr val="FFFF00"/>
                </a:solidFill>
                <a:latin typeface="黑体" panose="02010609060101010101" pitchFamily="49" charset="-122"/>
                <a:ea typeface="黑体" panose="02010609060101010101" pitchFamily="49" charset="-122"/>
              </a:rPr>
              <a:t>(</a:t>
            </a:r>
            <a:r>
              <a:rPr kumimoji="1" lang="zh-CN" altLang="en-US" b="1" dirty="0">
                <a:solidFill>
                  <a:srgbClr val="FFFF00"/>
                </a:solidFill>
                <a:latin typeface="黑体" panose="02010609060101010101" pitchFamily="49" charset="-122"/>
                <a:ea typeface="黑体" panose="02010609060101010101" pitchFamily="49" charset="-122"/>
              </a:rPr>
              <a:t>除了接收端口）</a:t>
            </a:r>
            <a:endParaRPr lang="zh-CN" altLang="en-US" dirty="0">
              <a:solidFill>
                <a:srgbClr val="FFFF00"/>
              </a:solidFill>
            </a:endParaRPr>
          </a:p>
        </p:txBody>
      </p:sp>
      <p:sp>
        <p:nvSpPr>
          <p:cNvPr id="15" name="矩形 7"/>
          <p:cNvSpPr>
            <a:spLocks noChangeArrowheads="1"/>
          </p:cNvSpPr>
          <p:nvPr/>
        </p:nvSpPr>
        <p:spPr bwMode="auto">
          <a:xfrm>
            <a:off x="3365339" y="4649069"/>
            <a:ext cx="1497851" cy="1015663"/>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b="1" dirty="0">
                <a:solidFill>
                  <a:srgbClr val="FFFF00"/>
                </a:solidFill>
                <a:latin typeface="黑体" panose="02010609060101010101" pitchFamily="49" charset="-122"/>
                <a:ea typeface="黑体" panose="02010609060101010101" pitchFamily="49" charset="-122"/>
              </a:rPr>
              <a:t>根据目标地址查找地址映射表</a:t>
            </a:r>
            <a:endParaRPr lang="zh-CN" altLang="en-US" dirty="0">
              <a:solidFill>
                <a:srgbClr val="FFFF00"/>
              </a:solidFill>
            </a:endParaRPr>
          </a:p>
        </p:txBody>
      </p:sp>
      <p:sp>
        <p:nvSpPr>
          <p:cNvPr id="16" name="菱形 15"/>
          <p:cNvSpPr/>
          <p:nvPr/>
        </p:nvSpPr>
        <p:spPr bwMode="auto">
          <a:xfrm>
            <a:off x="5135895" y="4718215"/>
            <a:ext cx="1788181" cy="672525"/>
          </a:xfrm>
          <a:prstGeom prst="diamond">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zh-CN" altLang="en-US" sz="1600" dirty="0"/>
              <a:t>查找到？</a:t>
            </a:r>
            <a:endParaRPr kumimoji="0" lang="zh-CN" altLang="en-US" sz="1600" b="0" i="0" u="none" strike="noStrike" cap="none" normalizeH="0" baseline="0" dirty="0">
              <a:ln>
                <a:noFill/>
              </a:ln>
              <a:solidFill>
                <a:schemeClr val="tx1"/>
              </a:solidFill>
              <a:effectLst/>
            </a:endParaRPr>
          </a:p>
        </p:txBody>
      </p:sp>
      <p:sp>
        <p:nvSpPr>
          <p:cNvPr id="17" name="矩形 7"/>
          <p:cNvSpPr>
            <a:spLocks noChangeArrowheads="1"/>
          </p:cNvSpPr>
          <p:nvPr/>
        </p:nvSpPr>
        <p:spPr bwMode="auto">
          <a:xfrm>
            <a:off x="6708052" y="3812218"/>
            <a:ext cx="1243472" cy="707886"/>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b="1" dirty="0">
                <a:solidFill>
                  <a:srgbClr val="FFFF00"/>
                </a:solidFill>
                <a:latin typeface="黑体" panose="02010609060101010101" pitchFamily="49" charset="-122"/>
                <a:ea typeface="黑体" panose="02010609060101010101" pitchFamily="49" charset="-122"/>
              </a:rPr>
              <a:t>向对应端口转发</a:t>
            </a:r>
            <a:endParaRPr lang="zh-CN" altLang="en-US" dirty="0">
              <a:solidFill>
                <a:srgbClr val="FFFF00"/>
              </a:solidFill>
            </a:endParaRPr>
          </a:p>
        </p:txBody>
      </p:sp>
      <p:sp>
        <p:nvSpPr>
          <p:cNvPr id="18" name="矩形 7"/>
          <p:cNvSpPr>
            <a:spLocks noChangeArrowheads="1"/>
          </p:cNvSpPr>
          <p:nvPr/>
        </p:nvSpPr>
        <p:spPr bwMode="auto">
          <a:xfrm>
            <a:off x="6708051" y="5456112"/>
            <a:ext cx="1449337" cy="92333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sz="1800" b="1" dirty="0">
                <a:solidFill>
                  <a:srgbClr val="FFFF00"/>
                </a:solidFill>
                <a:latin typeface="黑体" panose="02010609060101010101" pitchFamily="49" charset="-122"/>
                <a:ea typeface="黑体" panose="02010609060101010101" pitchFamily="49" charset="-122"/>
              </a:rPr>
              <a:t>向所有端口转发</a:t>
            </a:r>
            <a:r>
              <a:rPr kumimoji="1" lang="en-US" altLang="zh-CN" sz="1800" b="1" dirty="0">
                <a:solidFill>
                  <a:srgbClr val="FFFF00"/>
                </a:solidFill>
                <a:latin typeface="黑体" panose="02010609060101010101" pitchFamily="49" charset="-122"/>
                <a:ea typeface="黑体" panose="02010609060101010101" pitchFamily="49" charset="-122"/>
              </a:rPr>
              <a:t>(</a:t>
            </a:r>
            <a:r>
              <a:rPr kumimoji="1" lang="zh-CN" altLang="en-US" sz="1800" b="1" dirty="0">
                <a:solidFill>
                  <a:srgbClr val="FFFF00"/>
                </a:solidFill>
                <a:latin typeface="黑体" panose="02010609060101010101" pitchFamily="49" charset="-122"/>
                <a:ea typeface="黑体" panose="02010609060101010101" pitchFamily="49" charset="-122"/>
              </a:rPr>
              <a:t>除了接收端口）</a:t>
            </a:r>
            <a:endParaRPr lang="zh-CN" altLang="en-US" sz="1800" dirty="0">
              <a:solidFill>
                <a:srgbClr val="FFFF00"/>
              </a:solidFill>
            </a:endParaRPr>
          </a:p>
        </p:txBody>
      </p:sp>
      <p:sp>
        <p:nvSpPr>
          <p:cNvPr id="19" name="矩形 7"/>
          <p:cNvSpPr>
            <a:spLocks noChangeArrowheads="1"/>
          </p:cNvSpPr>
          <p:nvPr/>
        </p:nvSpPr>
        <p:spPr bwMode="auto">
          <a:xfrm>
            <a:off x="494903" y="4545441"/>
            <a:ext cx="1692000" cy="1323439"/>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ctr"/>
            <a:r>
              <a:rPr kumimoji="1" lang="zh-CN" altLang="en-US" b="1" dirty="0">
                <a:solidFill>
                  <a:srgbClr val="FFFF00"/>
                </a:solidFill>
                <a:latin typeface="黑体" panose="02010609060101010101" pitchFamily="49" charset="-122"/>
                <a:ea typeface="黑体" panose="02010609060101010101" pitchFamily="49" charset="-122"/>
              </a:rPr>
              <a:t>利用源</a:t>
            </a:r>
            <a:r>
              <a:rPr kumimoji="1" lang="en-US" altLang="zh-CN" b="1" dirty="0">
                <a:solidFill>
                  <a:srgbClr val="FFFF00"/>
                </a:solidFill>
                <a:latin typeface="黑体" panose="02010609060101010101" pitchFamily="49" charset="-122"/>
                <a:ea typeface="黑体" panose="02010609060101010101" pitchFamily="49" charset="-122"/>
              </a:rPr>
              <a:t>MAC</a:t>
            </a:r>
            <a:r>
              <a:rPr kumimoji="1" lang="zh-CN" altLang="en-US" b="1" dirty="0">
                <a:solidFill>
                  <a:srgbClr val="FFFF00"/>
                </a:solidFill>
                <a:latin typeface="黑体" panose="02010609060101010101" pitchFamily="49" charset="-122"/>
                <a:ea typeface="黑体" panose="02010609060101010101" pitchFamily="49" charset="-122"/>
              </a:rPr>
              <a:t>地址和对应端口号更新地址映射表</a:t>
            </a:r>
            <a:endParaRPr lang="zh-CN" altLang="en-US" dirty="0">
              <a:solidFill>
                <a:srgbClr val="FFFF00"/>
              </a:solidFill>
            </a:endParaRPr>
          </a:p>
        </p:txBody>
      </p:sp>
      <p:sp>
        <p:nvSpPr>
          <p:cNvPr id="7" name="右箭头 6"/>
          <p:cNvSpPr/>
          <p:nvPr/>
        </p:nvSpPr>
        <p:spPr bwMode="auto">
          <a:xfrm>
            <a:off x="4907852" y="4952056"/>
            <a:ext cx="228043" cy="20484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000" b="0" i="0" u="none" strike="noStrike" cap="none" normalizeH="0" baseline="0">
              <a:ln>
                <a:noFill/>
              </a:ln>
              <a:solidFill>
                <a:schemeClr val="tx1"/>
              </a:solidFill>
              <a:effectLst/>
              <a:latin typeface="Verdana" pitchFamily="34" charset="0"/>
              <a:ea typeface="宋体" pitchFamily="2" charset="-122"/>
            </a:endParaRPr>
          </a:p>
        </p:txBody>
      </p:sp>
      <p:cxnSp>
        <p:nvCxnSpPr>
          <p:cNvPr id="13" name="肘形连接符 12"/>
          <p:cNvCxnSpPr>
            <a:stCxn id="19" idx="3"/>
            <a:endCxn id="2" idx="1"/>
          </p:cNvCxnSpPr>
          <p:nvPr/>
        </p:nvCxnSpPr>
        <p:spPr bwMode="auto">
          <a:xfrm flipV="1">
            <a:off x="2186903" y="3862156"/>
            <a:ext cx="656905" cy="1345005"/>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箭头连接符 23"/>
          <p:cNvCxnSpPr>
            <a:stCxn id="53256" idx="2"/>
            <a:endCxn id="10" idx="0"/>
          </p:cNvCxnSpPr>
          <p:nvPr/>
        </p:nvCxnSpPr>
        <p:spPr bwMode="auto">
          <a:xfrm>
            <a:off x="1340903" y="2515358"/>
            <a:ext cx="4176" cy="209591"/>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箭头连接符 31"/>
          <p:cNvCxnSpPr/>
          <p:nvPr/>
        </p:nvCxnSpPr>
        <p:spPr bwMode="auto">
          <a:xfrm>
            <a:off x="1341150" y="3440305"/>
            <a:ext cx="4176" cy="209591"/>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箭头连接符 32"/>
          <p:cNvCxnSpPr/>
          <p:nvPr/>
        </p:nvCxnSpPr>
        <p:spPr bwMode="auto">
          <a:xfrm>
            <a:off x="1322307" y="4366628"/>
            <a:ext cx="4176" cy="209591"/>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箭头连接符 25"/>
          <p:cNvCxnSpPr>
            <a:stCxn id="2" idx="0"/>
            <a:endCxn id="14" idx="2"/>
          </p:cNvCxnSpPr>
          <p:nvPr/>
        </p:nvCxnSpPr>
        <p:spPr bwMode="auto">
          <a:xfrm flipH="1" flipV="1">
            <a:off x="4116316" y="3094560"/>
            <a:ext cx="5456" cy="186779"/>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箭头连接符 35"/>
          <p:cNvCxnSpPr/>
          <p:nvPr/>
        </p:nvCxnSpPr>
        <p:spPr bwMode="auto">
          <a:xfrm>
            <a:off x="4121771" y="4450787"/>
            <a:ext cx="4176" cy="209591"/>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肘形连接符 36"/>
          <p:cNvCxnSpPr>
            <a:stCxn id="16" idx="0"/>
            <a:endCxn id="17" idx="1"/>
          </p:cNvCxnSpPr>
          <p:nvPr/>
        </p:nvCxnSpPr>
        <p:spPr bwMode="auto">
          <a:xfrm rot="5400000" flipH="1" flipV="1">
            <a:off x="6092992" y="4103155"/>
            <a:ext cx="552054" cy="678066"/>
          </a:xfrm>
          <a:prstGeom prst="bentConnector2">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肘形连接符 40"/>
          <p:cNvCxnSpPr>
            <a:stCxn id="16" idx="2"/>
            <a:endCxn id="18" idx="1"/>
          </p:cNvCxnSpPr>
          <p:nvPr/>
        </p:nvCxnSpPr>
        <p:spPr bwMode="auto">
          <a:xfrm rot="16200000" flipH="1">
            <a:off x="6105500" y="5315225"/>
            <a:ext cx="527037" cy="678065"/>
          </a:xfrm>
          <a:prstGeom prst="bentConnector2">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矩形 33"/>
          <p:cNvSpPr/>
          <p:nvPr/>
        </p:nvSpPr>
        <p:spPr>
          <a:xfrm>
            <a:off x="4247710" y="3093682"/>
            <a:ext cx="338554" cy="276999"/>
          </a:xfrm>
          <a:prstGeom prst="rect">
            <a:avLst/>
          </a:prstGeom>
        </p:spPr>
        <p:txBody>
          <a:bodyPr wrap="none">
            <a:spAutoFit/>
          </a:bodyPr>
          <a:lstStyle/>
          <a:p>
            <a:r>
              <a:rPr lang="zh-CN" altLang="en-US" sz="1200" b="1" dirty="0">
                <a:solidFill>
                  <a:srgbClr val="000099"/>
                </a:solidFill>
                <a:latin typeface="黑体" panose="02010609060101010101" pitchFamily="49" charset="-122"/>
                <a:ea typeface="黑体" panose="02010609060101010101" pitchFamily="49" charset="-122"/>
              </a:rPr>
              <a:t>是</a:t>
            </a:r>
            <a:endParaRPr lang="zh-CN" altLang="en-US" sz="1200" dirty="0"/>
          </a:p>
        </p:txBody>
      </p:sp>
      <p:sp>
        <p:nvSpPr>
          <p:cNvPr id="45" name="矩形 44"/>
          <p:cNvSpPr/>
          <p:nvPr/>
        </p:nvSpPr>
        <p:spPr>
          <a:xfrm>
            <a:off x="4239852" y="4404026"/>
            <a:ext cx="338554" cy="276999"/>
          </a:xfrm>
          <a:prstGeom prst="rect">
            <a:avLst/>
          </a:prstGeom>
        </p:spPr>
        <p:txBody>
          <a:bodyPr wrap="none">
            <a:spAutoFit/>
          </a:bodyPr>
          <a:lstStyle/>
          <a:p>
            <a:r>
              <a:rPr lang="zh-CN" altLang="en-US" sz="1200" b="1" dirty="0">
                <a:solidFill>
                  <a:srgbClr val="000099"/>
                </a:solidFill>
                <a:latin typeface="黑体" panose="02010609060101010101" pitchFamily="49" charset="-122"/>
                <a:ea typeface="黑体" panose="02010609060101010101" pitchFamily="49" charset="-122"/>
              </a:rPr>
              <a:t>否</a:t>
            </a:r>
            <a:endParaRPr lang="zh-CN" altLang="en-US" sz="1200" dirty="0"/>
          </a:p>
        </p:txBody>
      </p:sp>
      <p:sp>
        <p:nvSpPr>
          <p:cNvPr id="46" name="矩形 45"/>
          <p:cNvSpPr/>
          <p:nvPr/>
        </p:nvSpPr>
        <p:spPr>
          <a:xfrm>
            <a:off x="5641122" y="4372070"/>
            <a:ext cx="338554" cy="276999"/>
          </a:xfrm>
          <a:prstGeom prst="rect">
            <a:avLst/>
          </a:prstGeom>
        </p:spPr>
        <p:txBody>
          <a:bodyPr wrap="none">
            <a:spAutoFit/>
          </a:bodyPr>
          <a:lstStyle/>
          <a:p>
            <a:r>
              <a:rPr lang="zh-CN" altLang="en-US" sz="1200" b="1" dirty="0">
                <a:solidFill>
                  <a:srgbClr val="000099"/>
                </a:solidFill>
                <a:latin typeface="黑体" panose="02010609060101010101" pitchFamily="49" charset="-122"/>
                <a:ea typeface="黑体" panose="02010609060101010101" pitchFamily="49" charset="-122"/>
              </a:rPr>
              <a:t>否</a:t>
            </a:r>
            <a:endParaRPr lang="zh-CN" altLang="en-US" sz="1200" dirty="0"/>
          </a:p>
        </p:txBody>
      </p:sp>
      <p:sp>
        <p:nvSpPr>
          <p:cNvPr id="47" name="矩形 46"/>
          <p:cNvSpPr/>
          <p:nvPr/>
        </p:nvSpPr>
        <p:spPr>
          <a:xfrm>
            <a:off x="5691431" y="5461897"/>
            <a:ext cx="338554" cy="276999"/>
          </a:xfrm>
          <a:prstGeom prst="rect">
            <a:avLst/>
          </a:prstGeom>
        </p:spPr>
        <p:txBody>
          <a:bodyPr wrap="none">
            <a:spAutoFit/>
          </a:bodyPr>
          <a:lstStyle/>
          <a:p>
            <a:r>
              <a:rPr lang="zh-CN" altLang="en-US" sz="1200" b="1" dirty="0">
                <a:solidFill>
                  <a:srgbClr val="000099"/>
                </a:solidFill>
                <a:latin typeface="黑体" panose="02010609060101010101" pitchFamily="49" charset="-122"/>
                <a:ea typeface="黑体" panose="02010609060101010101" pitchFamily="49" charset="-122"/>
              </a:rPr>
              <a:t>否</a:t>
            </a:r>
            <a:endParaRPr lang="zh-CN" altLang="en-US" sz="1200" dirty="0"/>
          </a:p>
        </p:txBody>
      </p:sp>
      <p:sp>
        <p:nvSpPr>
          <p:cNvPr id="35" name="流程图: 联系 34"/>
          <p:cNvSpPr/>
          <p:nvPr/>
        </p:nvSpPr>
        <p:spPr bwMode="auto">
          <a:xfrm>
            <a:off x="3903080" y="1917898"/>
            <a:ext cx="437381" cy="259968"/>
          </a:xfrm>
          <a:prstGeom prst="flowChartConnector">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000" b="0" i="0" u="none" strike="noStrike" cap="none" normalizeH="0" baseline="0">
              <a:ln>
                <a:noFill/>
              </a:ln>
              <a:solidFill>
                <a:schemeClr val="tx1"/>
              </a:solidFill>
              <a:effectLst/>
              <a:latin typeface="Verdana" pitchFamily="34" charset="0"/>
              <a:ea typeface="宋体" pitchFamily="2" charset="-122"/>
            </a:endParaRPr>
          </a:p>
        </p:txBody>
      </p:sp>
      <p:sp>
        <p:nvSpPr>
          <p:cNvPr id="49" name="流程图: 联系 48"/>
          <p:cNvSpPr/>
          <p:nvPr/>
        </p:nvSpPr>
        <p:spPr bwMode="auto">
          <a:xfrm>
            <a:off x="8502328" y="4036177"/>
            <a:ext cx="437381" cy="259968"/>
          </a:xfrm>
          <a:prstGeom prst="flowChartConnector">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000" b="0" i="0" u="none" strike="noStrike" cap="none" normalizeH="0" baseline="0">
              <a:ln>
                <a:noFill/>
              </a:ln>
              <a:solidFill>
                <a:schemeClr val="tx1"/>
              </a:solidFill>
              <a:effectLst/>
              <a:latin typeface="Verdana" pitchFamily="34" charset="0"/>
              <a:ea typeface="宋体" pitchFamily="2" charset="-122"/>
            </a:endParaRPr>
          </a:p>
        </p:txBody>
      </p:sp>
      <p:sp>
        <p:nvSpPr>
          <p:cNvPr id="50" name="流程图: 联系 49"/>
          <p:cNvSpPr/>
          <p:nvPr/>
        </p:nvSpPr>
        <p:spPr bwMode="auto">
          <a:xfrm>
            <a:off x="8487582" y="5667371"/>
            <a:ext cx="437381" cy="259968"/>
          </a:xfrm>
          <a:prstGeom prst="flowChartConnector">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000" b="0" i="0" u="none" strike="noStrike" cap="none" normalizeH="0" baseline="0">
              <a:ln>
                <a:noFill/>
              </a:ln>
              <a:solidFill>
                <a:schemeClr val="tx1"/>
              </a:solidFill>
              <a:effectLst/>
              <a:latin typeface="Verdana" pitchFamily="34" charset="0"/>
              <a:ea typeface="宋体" pitchFamily="2" charset="-122"/>
            </a:endParaRPr>
          </a:p>
        </p:txBody>
      </p:sp>
      <p:sp>
        <p:nvSpPr>
          <p:cNvPr id="52" name="流程图: 联系 51"/>
          <p:cNvSpPr/>
          <p:nvPr/>
        </p:nvSpPr>
        <p:spPr bwMode="auto">
          <a:xfrm>
            <a:off x="1122212" y="1635194"/>
            <a:ext cx="437381" cy="259968"/>
          </a:xfrm>
          <a:prstGeom prst="flowChartConnector">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000" b="0" i="0" u="none" strike="noStrike" cap="none" normalizeH="0" baseline="0">
              <a:ln>
                <a:noFill/>
              </a:ln>
              <a:solidFill>
                <a:schemeClr val="tx1"/>
              </a:solidFill>
              <a:effectLst/>
              <a:latin typeface="Verdana" pitchFamily="34" charset="0"/>
              <a:ea typeface="宋体" pitchFamily="2" charset="-122"/>
            </a:endParaRPr>
          </a:p>
        </p:txBody>
      </p:sp>
      <p:cxnSp>
        <p:nvCxnSpPr>
          <p:cNvPr id="53" name="直接箭头连接符 52"/>
          <p:cNvCxnSpPr/>
          <p:nvPr/>
        </p:nvCxnSpPr>
        <p:spPr bwMode="auto">
          <a:xfrm>
            <a:off x="1318131" y="1925305"/>
            <a:ext cx="4176" cy="209591"/>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p:nvPr/>
        </p:nvCxnSpPr>
        <p:spPr bwMode="auto">
          <a:xfrm flipV="1">
            <a:off x="4108508" y="2188998"/>
            <a:ext cx="5756" cy="186779"/>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肘形连接符 54"/>
          <p:cNvCxnSpPr>
            <a:stCxn id="17" idx="3"/>
            <a:endCxn id="49" idx="2"/>
          </p:cNvCxnSpPr>
          <p:nvPr/>
        </p:nvCxnSpPr>
        <p:spPr bwMode="auto">
          <a:xfrm>
            <a:off x="7951524" y="4166161"/>
            <a:ext cx="550804" cy="12700"/>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肘形连接符 58"/>
          <p:cNvCxnSpPr/>
          <p:nvPr/>
        </p:nvCxnSpPr>
        <p:spPr bwMode="auto">
          <a:xfrm flipV="1">
            <a:off x="8068707" y="5810055"/>
            <a:ext cx="437381" cy="58824"/>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流程图: 多文档 42"/>
          <p:cNvSpPr/>
          <p:nvPr/>
        </p:nvSpPr>
        <p:spPr bwMode="auto">
          <a:xfrm>
            <a:off x="3270101" y="6021288"/>
            <a:ext cx="1703337" cy="500717"/>
          </a:xfrm>
          <a:prstGeom prst="flowChartMultidocumen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p>
            <a:pPr eaLnBrk="1" hangingPunct="1"/>
            <a:r>
              <a:rPr kumimoji="1" lang="zh-CN" altLang="en-US" b="1" dirty="0">
                <a:solidFill>
                  <a:srgbClr val="FF0000"/>
                </a:solidFill>
                <a:latin typeface="黑体" panose="02010609060101010101" pitchFamily="49" charset="-122"/>
                <a:ea typeface="黑体" panose="02010609060101010101" pitchFamily="49" charset="-122"/>
              </a:rPr>
              <a:t>地址映射表</a:t>
            </a:r>
            <a:endParaRPr lang="zh-CN" altLang="en-US" dirty="0">
              <a:solidFill>
                <a:srgbClr val="FF0000"/>
              </a:solidFill>
            </a:endParaRPr>
          </a:p>
        </p:txBody>
      </p:sp>
      <p:cxnSp>
        <p:nvCxnSpPr>
          <p:cNvPr id="48" name="直接箭头连接符 47"/>
          <p:cNvCxnSpPr>
            <a:endCxn id="15" idx="2"/>
          </p:cNvCxnSpPr>
          <p:nvPr/>
        </p:nvCxnSpPr>
        <p:spPr bwMode="auto">
          <a:xfrm flipH="1" flipV="1">
            <a:off x="4114265" y="5664732"/>
            <a:ext cx="7505" cy="356556"/>
          </a:xfrm>
          <a:prstGeom prst="straightConnector1">
            <a:avLst/>
          </a:prstGeom>
          <a:solidFill>
            <a:schemeClr val="accent1"/>
          </a:solidFill>
          <a:ln w="38100" cap="flat" cmpd="sng" algn="ctr">
            <a:solidFill>
              <a:schemeClr val="tx1"/>
            </a:solidFill>
            <a:prstDash val="sysDot"/>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肘形连接符 55"/>
          <p:cNvCxnSpPr>
            <a:stCxn id="19" idx="2"/>
            <a:endCxn id="43" idx="1"/>
          </p:cNvCxnSpPr>
          <p:nvPr/>
        </p:nvCxnSpPr>
        <p:spPr bwMode="auto">
          <a:xfrm rot="16200000" flipH="1">
            <a:off x="2104119" y="5105664"/>
            <a:ext cx="402767" cy="1929198"/>
          </a:xfrm>
          <a:prstGeom prst="bentConnector2">
            <a:avLst/>
          </a:prstGeom>
          <a:solidFill>
            <a:schemeClr val="accent1"/>
          </a:solidFill>
          <a:ln w="38100" cap="flat" cmpd="sng" algn="ctr">
            <a:solidFill>
              <a:schemeClr val="tx1"/>
            </a:solidFill>
            <a:prstDash val="sysDot"/>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文本框 57">
            <a:extLst>
              <a:ext uri="{FF2B5EF4-FFF2-40B4-BE49-F238E27FC236}">
                <a16:creationId xmlns:a16="http://schemas.microsoft.com/office/drawing/2014/main" id="{ECA7FCB3-5D02-404A-AFDB-59C2E75B8759}"/>
              </a:ext>
            </a:extLst>
          </p:cNvPr>
          <p:cNvSpPr txBox="1"/>
          <p:nvPr/>
        </p:nvSpPr>
        <p:spPr>
          <a:xfrm>
            <a:off x="4499992" y="592688"/>
            <a:ext cx="4586545" cy="923330"/>
          </a:xfrm>
          <a:prstGeom prst="rect">
            <a:avLst/>
          </a:prstGeom>
          <a:solidFill>
            <a:srgbClr val="FFFF00"/>
          </a:solidFill>
        </p:spPr>
        <p:txBody>
          <a:bodyPr wrap="square">
            <a:spAutoFit/>
          </a:bodyPr>
          <a:lstStyle/>
          <a:p>
            <a:pPr algn="l">
              <a:buFont typeface="Arial" panose="020B0604020202020204" pitchFamily="34" charset="0"/>
              <a:buChar char="•"/>
            </a:pPr>
            <a:r>
              <a:rPr lang="zh-CN" altLang="en-US" sz="1800" b="0" i="0" dirty="0">
                <a:solidFill>
                  <a:srgbClr val="FF0000"/>
                </a:solidFill>
                <a:effectLst/>
                <a:latin typeface="Arial" panose="020B0604020202020204" pitchFamily="34" charset="0"/>
              </a:rPr>
              <a:t>单播</a:t>
            </a:r>
            <a:r>
              <a:rPr lang="en-US" altLang="zh-CN" sz="1800" b="0" i="0" dirty="0">
                <a:solidFill>
                  <a:srgbClr val="FF0000"/>
                </a:solidFill>
                <a:effectLst/>
                <a:latin typeface="Arial" panose="020B0604020202020204" pitchFamily="34" charset="0"/>
              </a:rPr>
              <a:t>MAC</a:t>
            </a:r>
            <a:r>
              <a:rPr lang="zh-CN" altLang="en-US" sz="1800" b="0" i="0" dirty="0">
                <a:solidFill>
                  <a:srgbClr val="FF0000"/>
                </a:solidFill>
                <a:effectLst/>
                <a:latin typeface="Arial" panose="020B0604020202020204" pitchFamily="34" charset="0"/>
              </a:rPr>
              <a:t>地址：第一个字节的最低位是</a:t>
            </a:r>
            <a:r>
              <a:rPr lang="en-US" altLang="zh-CN" sz="1800" b="0" i="0" dirty="0">
                <a:solidFill>
                  <a:srgbClr val="FF0000"/>
                </a:solidFill>
                <a:effectLst/>
                <a:latin typeface="Arial" panose="020B0604020202020204" pitchFamily="34" charset="0"/>
              </a:rPr>
              <a:t>0</a:t>
            </a:r>
            <a:r>
              <a:rPr lang="zh-CN" altLang="en-US" sz="1800" b="0" i="0" dirty="0">
                <a:solidFill>
                  <a:srgbClr val="FF0000"/>
                </a:solidFill>
                <a:effectLst/>
                <a:latin typeface="Arial" panose="020B0604020202020204" pitchFamily="34" charset="0"/>
              </a:rPr>
              <a:t>。</a:t>
            </a:r>
          </a:p>
          <a:p>
            <a:pPr algn="l">
              <a:buFont typeface="Arial" panose="020B0604020202020204" pitchFamily="34" charset="0"/>
              <a:buChar char="•"/>
            </a:pPr>
            <a:r>
              <a:rPr lang="zh-CN" altLang="en-US" sz="1800" b="0" i="0" dirty="0">
                <a:solidFill>
                  <a:srgbClr val="FF0000"/>
                </a:solidFill>
                <a:effectLst/>
                <a:latin typeface="Arial" panose="020B0604020202020204" pitchFamily="34" charset="0"/>
              </a:rPr>
              <a:t>组播</a:t>
            </a:r>
            <a:r>
              <a:rPr lang="en-US" altLang="zh-CN" sz="1800" b="0" i="0" dirty="0">
                <a:solidFill>
                  <a:srgbClr val="FF0000"/>
                </a:solidFill>
                <a:effectLst/>
                <a:latin typeface="Arial" panose="020B0604020202020204" pitchFamily="34" charset="0"/>
              </a:rPr>
              <a:t>MAC</a:t>
            </a:r>
            <a:r>
              <a:rPr lang="zh-CN" altLang="en-US" sz="1800" b="0" i="0" dirty="0">
                <a:solidFill>
                  <a:srgbClr val="FF0000"/>
                </a:solidFill>
                <a:effectLst/>
                <a:latin typeface="Arial" panose="020B0604020202020204" pitchFamily="34" charset="0"/>
              </a:rPr>
              <a:t>地址：第一个字节的最低位是</a:t>
            </a:r>
            <a:r>
              <a:rPr lang="en-US" altLang="zh-CN" sz="1800" b="0" i="0" dirty="0">
                <a:solidFill>
                  <a:srgbClr val="FF0000"/>
                </a:solidFill>
                <a:effectLst/>
                <a:latin typeface="Arial" panose="020B0604020202020204" pitchFamily="34" charset="0"/>
              </a:rPr>
              <a:t>1</a:t>
            </a:r>
            <a:r>
              <a:rPr lang="zh-CN" altLang="en-US" sz="1800" b="0" i="0" dirty="0">
                <a:solidFill>
                  <a:srgbClr val="FF0000"/>
                </a:solidFill>
                <a:effectLst/>
                <a:latin typeface="Arial" panose="020B0604020202020204" pitchFamily="34" charset="0"/>
              </a:rPr>
              <a:t>。</a:t>
            </a:r>
          </a:p>
          <a:p>
            <a:pPr algn="l">
              <a:buFont typeface="Arial" panose="020B0604020202020204" pitchFamily="34" charset="0"/>
              <a:buChar char="•"/>
            </a:pPr>
            <a:r>
              <a:rPr lang="zh-CN" altLang="en-US" sz="1800" b="0" i="0" dirty="0">
                <a:solidFill>
                  <a:srgbClr val="FF0000"/>
                </a:solidFill>
                <a:effectLst/>
                <a:latin typeface="Arial" panose="020B0604020202020204" pitchFamily="34" charset="0"/>
              </a:rPr>
              <a:t>广播</a:t>
            </a:r>
            <a:r>
              <a:rPr lang="en-US" altLang="zh-CN" sz="1800" b="0" i="0" dirty="0">
                <a:solidFill>
                  <a:srgbClr val="FF0000"/>
                </a:solidFill>
                <a:effectLst/>
                <a:latin typeface="Arial" panose="020B0604020202020204" pitchFamily="34" charset="0"/>
              </a:rPr>
              <a:t>MAC</a:t>
            </a:r>
            <a:r>
              <a:rPr lang="zh-CN" altLang="en-US" sz="1800" b="0" i="0" dirty="0">
                <a:solidFill>
                  <a:srgbClr val="FF0000"/>
                </a:solidFill>
                <a:effectLst/>
                <a:latin typeface="Arial" panose="020B0604020202020204" pitchFamily="34" charset="0"/>
              </a:rPr>
              <a:t>地址：每个比特都是</a:t>
            </a:r>
            <a:r>
              <a:rPr lang="en-US" altLang="zh-CN" sz="1800" b="0" i="0" dirty="0">
                <a:solidFill>
                  <a:srgbClr val="FF0000"/>
                </a:solidFill>
                <a:effectLst/>
                <a:latin typeface="Arial" panose="020B0604020202020204" pitchFamily="34" charset="0"/>
              </a:rPr>
              <a:t>1</a:t>
            </a:r>
            <a:r>
              <a:rPr lang="zh-CN" altLang="en-US" sz="1800" b="0" i="0" dirty="0">
                <a:solidFill>
                  <a:srgbClr val="FF0000"/>
                </a:solidFill>
                <a:effectLst/>
                <a:latin typeface="Arial" panose="020B0604020202020204" pitchFamily="34" charset="0"/>
              </a:rPr>
              <a:t>。</a:t>
            </a:r>
          </a:p>
        </p:txBody>
      </p:sp>
    </p:spTree>
    <p:extLst>
      <p:ext uri="{BB962C8B-B14F-4D97-AF65-F5344CB8AC3E}">
        <p14:creationId xmlns:p14="http://schemas.microsoft.com/office/powerpoint/2010/main" val="1093169620"/>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423863" y="1773238"/>
            <a:ext cx="846931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just">
              <a:lnSpc>
                <a:spcPct val="120000"/>
              </a:lnSpc>
              <a:spcBef>
                <a:spcPts val="600"/>
              </a:spcBef>
              <a:buClrTx/>
              <a:buFontTx/>
              <a:buNone/>
            </a:pPr>
            <a:r>
              <a:rPr kumimoji="1" lang="en-US" altLang="zh-CN" sz="2400" b="1" dirty="0">
                <a:solidFill>
                  <a:srgbClr val="2A10E8"/>
                </a:solidFill>
                <a:latin typeface="黑体" panose="02010609060101010101" pitchFamily="49" charset="-122"/>
                <a:ea typeface="黑体" panose="02010609060101010101" pitchFamily="49" charset="-122"/>
              </a:rPr>
              <a:t>1</a:t>
            </a:r>
            <a:r>
              <a:rPr kumimoji="1" lang="zh-CN" altLang="en-US" sz="2400" b="1" dirty="0">
                <a:solidFill>
                  <a:srgbClr val="2A10E8"/>
                </a:solidFill>
                <a:latin typeface="黑体" panose="02010609060101010101" pitchFamily="49" charset="-122"/>
                <a:ea typeface="黑体" panose="02010609060101010101" pitchFamily="49" charset="-122"/>
              </a:rPr>
              <a:t>、地址表学习</a:t>
            </a:r>
            <a:r>
              <a:rPr kumimoji="1" lang="zh-CN" altLang="en-US" sz="2400" b="1" dirty="0">
                <a:solidFill>
                  <a:srgbClr val="A50021"/>
                </a:solidFill>
                <a:latin typeface="黑体" panose="02010609060101010101" pitchFamily="49" charset="-122"/>
                <a:ea typeface="黑体" panose="02010609060101010101" pitchFamily="49" charset="-122"/>
              </a:rPr>
              <a:t> ：</a:t>
            </a:r>
            <a:r>
              <a:rPr kumimoji="1" lang="zh-CN" altLang="en-US" sz="2400" b="1" dirty="0">
                <a:latin typeface="黑体" panose="02010609060101010101" pitchFamily="49" charset="-122"/>
                <a:ea typeface="黑体" panose="02010609060101010101" pitchFamily="49" charset="-122"/>
              </a:rPr>
              <a:t>通过</a:t>
            </a:r>
            <a:r>
              <a:rPr kumimoji="1" lang="zh-CN" altLang="en-US" sz="2400" b="1" dirty="0">
                <a:solidFill>
                  <a:srgbClr val="A50021"/>
                </a:solidFill>
                <a:latin typeface="黑体" panose="02010609060101010101" pitchFamily="49" charset="-122"/>
                <a:ea typeface="黑体" panose="02010609060101010101" pitchFamily="49" charset="-122"/>
              </a:rPr>
              <a:t>逆向地址学习</a:t>
            </a:r>
            <a:r>
              <a:rPr kumimoji="1" lang="zh-CN" altLang="en-US" sz="2400" b="1" dirty="0">
                <a:latin typeface="黑体" panose="02010609060101010101" pitchFamily="49" charset="-122"/>
                <a:ea typeface="黑体" panose="02010609060101010101" pitchFamily="49" charset="-122"/>
              </a:rPr>
              <a:t>建立地址映射表。交换机的端口都具有编号，假设从某个端口</a:t>
            </a:r>
            <a:r>
              <a:rPr kumimoji="1" lang="en-US" altLang="zh-CN" sz="2400" b="1" dirty="0">
                <a:latin typeface="黑体" panose="02010609060101010101" pitchFamily="49" charset="-122"/>
                <a:ea typeface="黑体" panose="02010609060101010101" pitchFamily="49" charset="-122"/>
              </a:rPr>
              <a:t>P</a:t>
            </a:r>
            <a:r>
              <a:rPr kumimoji="1" lang="zh-CN" altLang="en-US" sz="2400" b="1" dirty="0">
                <a:latin typeface="黑体" panose="02010609060101010101" pitchFamily="49" charset="-122"/>
                <a:ea typeface="黑体" panose="02010609060101010101" pitchFamily="49" charset="-122"/>
              </a:rPr>
              <a:t>来的数据帧</a:t>
            </a:r>
            <a:r>
              <a:rPr kumimoji="1" lang="en-US" altLang="zh-CN" sz="2400" b="1" dirty="0">
                <a:latin typeface="黑体" panose="02010609060101010101" pitchFamily="49" charset="-122"/>
                <a:ea typeface="黑体" panose="02010609060101010101" pitchFamily="49" charset="-122"/>
              </a:rPr>
              <a:t>F</a:t>
            </a:r>
            <a:r>
              <a:rPr kumimoji="1" lang="zh-CN" altLang="en-US" sz="2400" b="1" dirty="0">
                <a:latin typeface="黑体" panose="02010609060101010101" pitchFamily="49" charset="-122"/>
                <a:ea typeface="黑体" panose="02010609060101010101" pitchFamily="49" charset="-122"/>
              </a:rPr>
              <a:t>，则该数据帧</a:t>
            </a:r>
            <a:r>
              <a:rPr kumimoji="1" lang="en-US" altLang="zh-CN" sz="2400" b="1" dirty="0">
                <a:latin typeface="黑体" panose="02010609060101010101" pitchFamily="49" charset="-122"/>
                <a:ea typeface="黑体" panose="02010609060101010101" pitchFamily="49" charset="-122"/>
              </a:rPr>
              <a:t>F</a:t>
            </a:r>
            <a:r>
              <a:rPr kumimoji="1" lang="zh-CN" altLang="en-US" sz="2400" b="1" dirty="0">
                <a:latin typeface="黑体" panose="02010609060101010101" pitchFamily="49" charset="-122"/>
                <a:ea typeface="黑体" panose="02010609060101010101" pitchFamily="49" charset="-122"/>
              </a:rPr>
              <a:t>中的源地址</a:t>
            </a:r>
            <a:r>
              <a:rPr kumimoji="1" lang="en-US" altLang="zh-CN" sz="2400" b="1" dirty="0">
                <a:latin typeface="黑体" panose="02010609060101010101" pitchFamily="49" charset="-122"/>
                <a:ea typeface="黑体" panose="02010609060101010101" pitchFamily="49" charset="-122"/>
              </a:rPr>
              <a:t>MAC</a:t>
            </a:r>
            <a:r>
              <a:rPr kumimoji="1" lang="en-US" altLang="zh-CN" sz="2400" b="1" baseline="-25000" dirty="0">
                <a:latin typeface="黑体" panose="02010609060101010101" pitchFamily="49" charset="-122"/>
                <a:ea typeface="黑体" panose="02010609060101010101" pitchFamily="49" charset="-122"/>
              </a:rPr>
              <a:t>F</a:t>
            </a:r>
            <a:r>
              <a:rPr kumimoji="1" lang="zh-CN" altLang="en-US" sz="2400" b="1" dirty="0">
                <a:latin typeface="黑体" panose="02010609060101010101" pitchFamily="49" charset="-122"/>
                <a:ea typeface="黑体" panose="02010609060101010101" pitchFamily="49" charset="-122"/>
              </a:rPr>
              <a:t>就和</a:t>
            </a:r>
            <a:r>
              <a:rPr kumimoji="1" lang="en-US" altLang="zh-CN" sz="2400" b="1" dirty="0">
                <a:latin typeface="黑体" panose="02010609060101010101" pitchFamily="49" charset="-122"/>
                <a:ea typeface="黑体" panose="02010609060101010101" pitchFamily="49" charset="-122"/>
              </a:rPr>
              <a:t>P</a:t>
            </a:r>
            <a:r>
              <a:rPr kumimoji="1" lang="zh-CN" altLang="en-US" sz="2400" b="1" dirty="0">
                <a:latin typeface="黑体" panose="02010609060101010101" pitchFamily="49" charset="-122"/>
                <a:ea typeface="黑体" panose="02010609060101010101" pitchFamily="49" charset="-122"/>
              </a:rPr>
              <a:t>关联。</a:t>
            </a:r>
            <a:endParaRPr kumimoji="1" lang="en-US" altLang="zh-CN" sz="2400" b="1" dirty="0">
              <a:latin typeface="黑体" panose="02010609060101010101" pitchFamily="49" charset="-122"/>
              <a:ea typeface="黑体" panose="02010609060101010101" pitchFamily="49" charset="-122"/>
            </a:endParaRPr>
          </a:p>
          <a:p>
            <a:pPr algn="just">
              <a:lnSpc>
                <a:spcPct val="120000"/>
              </a:lnSpc>
              <a:spcBef>
                <a:spcPts val="600"/>
              </a:spcBef>
              <a:buClrTx/>
              <a:buFontTx/>
              <a:buNone/>
            </a:pPr>
            <a:r>
              <a:rPr kumimoji="1" lang="en-US" altLang="zh-CN" sz="2400" b="1" dirty="0">
                <a:solidFill>
                  <a:srgbClr val="2A10E8"/>
                </a:solidFill>
                <a:latin typeface="黑体" panose="02010609060101010101" pitchFamily="49" charset="-122"/>
                <a:ea typeface="黑体" panose="02010609060101010101" pitchFamily="49" charset="-122"/>
              </a:rPr>
              <a:t>2</a:t>
            </a:r>
            <a:r>
              <a:rPr kumimoji="1" lang="zh-CN" altLang="en-US" sz="2400" b="1" dirty="0">
                <a:solidFill>
                  <a:srgbClr val="2A10E8"/>
                </a:solidFill>
                <a:latin typeface="黑体" panose="02010609060101010101" pitchFamily="49" charset="-122"/>
                <a:ea typeface="黑体" panose="02010609060101010101" pitchFamily="49" charset="-122"/>
              </a:rPr>
              <a:t>、帧的转发和过滤</a:t>
            </a:r>
            <a:r>
              <a:rPr kumimoji="1" lang="zh-CN" altLang="en-US" sz="2400" b="1" dirty="0">
                <a:solidFill>
                  <a:srgbClr val="A50021"/>
                </a:solidFill>
                <a:latin typeface="黑体" panose="02010609060101010101" pitchFamily="49" charset="-122"/>
                <a:ea typeface="黑体" panose="02010609060101010101" pitchFamily="49" charset="-122"/>
              </a:rPr>
              <a:t>：采用“存储</a:t>
            </a:r>
            <a:r>
              <a:rPr kumimoji="1" lang="en-US" altLang="zh-CN" sz="2400" b="1" dirty="0">
                <a:solidFill>
                  <a:srgbClr val="A50021"/>
                </a:solidFill>
                <a:latin typeface="黑体" panose="02010609060101010101" pitchFamily="49" charset="-122"/>
                <a:ea typeface="黑体" panose="02010609060101010101" pitchFamily="49" charset="-122"/>
              </a:rPr>
              <a:t>-</a:t>
            </a:r>
            <a:r>
              <a:rPr kumimoji="1" lang="zh-CN" altLang="en-US" sz="2400" b="1" dirty="0">
                <a:solidFill>
                  <a:srgbClr val="A50021"/>
                </a:solidFill>
                <a:latin typeface="黑体" panose="02010609060101010101" pitchFamily="49" charset="-122"/>
                <a:ea typeface="黑体" panose="02010609060101010101" pitchFamily="49" charset="-122"/>
              </a:rPr>
              <a:t>转发”</a:t>
            </a:r>
            <a:r>
              <a:rPr kumimoji="1" lang="zh-CN" altLang="en-US" sz="2400" b="1" dirty="0">
                <a:latin typeface="黑体" panose="02010609060101010101" pitchFamily="49" charset="-122"/>
                <a:ea typeface="黑体" panose="02010609060101010101" pitchFamily="49" charset="-122"/>
              </a:rPr>
              <a:t>进行数据交换。</a:t>
            </a:r>
            <a:endParaRPr kumimoji="1" lang="en-US" altLang="zh-CN" sz="2400" b="1" dirty="0">
              <a:latin typeface="黑体" panose="02010609060101010101" pitchFamily="49" charset="-122"/>
              <a:ea typeface="黑体" panose="02010609060101010101" pitchFamily="49" charset="-122"/>
            </a:endParaRPr>
          </a:p>
          <a:p>
            <a:pPr algn="just">
              <a:lnSpc>
                <a:spcPct val="120000"/>
              </a:lnSpc>
              <a:spcBef>
                <a:spcPts val="600"/>
              </a:spcBef>
              <a:buClrTx/>
              <a:buFontTx/>
              <a:buNone/>
            </a:pPr>
            <a:r>
              <a:rPr kumimoji="1" lang="en-US" altLang="zh-CN" sz="2400" b="1" dirty="0">
                <a:solidFill>
                  <a:srgbClr val="2A10E8"/>
                </a:solidFill>
                <a:latin typeface="黑体" panose="02010609060101010101" pitchFamily="49" charset="-122"/>
                <a:ea typeface="黑体" panose="02010609060101010101" pitchFamily="49" charset="-122"/>
              </a:rPr>
              <a:t>3</a:t>
            </a:r>
            <a:r>
              <a:rPr kumimoji="1" lang="zh-CN" altLang="en-US" sz="2400" b="1" dirty="0">
                <a:solidFill>
                  <a:srgbClr val="2A10E8"/>
                </a:solidFill>
                <a:latin typeface="黑体" panose="02010609060101010101" pitchFamily="49" charset="-122"/>
                <a:ea typeface="黑体" panose="02010609060101010101" pitchFamily="49" charset="-122"/>
              </a:rPr>
              <a:t>、避免回路：</a:t>
            </a:r>
            <a:r>
              <a:rPr kumimoji="1" lang="zh-CN" altLang="en-US" sz="2400" b="1" dirty="0">
                <a:latin typeface="黑体" panose="02010609060101010101" pitchFamily="49" charset="-122"/>
                <a:ea typeface="黑体" panose="02010609060101010101" pitchFamily="49" charset="-122"/>
              </a:rPr>
              <a:t>利用交换机扩展网络时，避免构成回路。</a:t>
            </a:r>
          </a:p>
        </p:txBody>
      </p:sp>
      <p:sp>
        <p:nvSpPr>
          <p:cNvPr id="54275" name="Text Box 3"/>
          <p:cNvSpPr txBox="1">
            <a:spLocks noChangeArrowheads="1"/>
          </p:cNvSpPr>
          <p:nvPr/>
        </p:nvSpPr>
        <p:spPr bwMode="auto">
          <a:xfrm>
            <a:off x="539750" y="914400"/>
            <a:ext cx="39608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lang="zh-CN" altLang="en-US" sz="3200" b="1" dirty="0">
                <a:solidFill>
                  <a:srgbClr val="000099"/>
                </a:solidFill>
                <a:latin typeface="黑体" panose="02010609060101010101" pitchFamily="49" charset="-122"/>
                <a:ea typeface="黑体" panose="02010609060101010101" pitchFamily="49" charset="-122"/>
              </a:rPr>
              <a:t>以太网交换机的功能</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3"/>
          <p:cNvSpPr txBox="1">
            <a:spLocks noChangeArrowheads="1"/>
          </p:cNvSpPr>
          <p:nvPr/>
        </p:nvSpPr>
        <p:spPr bwMode="auto">
          <a:xfrm>
            <a:off x="539552" y="980728"/>
            <a:ext cx="38884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FontTx/>
              <a:buNone/>
            </a:pPr>
            <a:r>
              <a:rPr lang="zh-CN" altLang="en-US" sz="2800" b="1" dirty="0">
                <a:solidFill>
                  <a:srgbClr val="000099"/>
                </a:solidFill>
                <a:latin typeface="黑体" panose="02010609060101010101" pitchFamily="49" charset="-122"/>
                <a:ea typeface="黑体" panose="02010609060101010101" pitchFamily="49" charset="-122"/>
              </a:rPr>
              <a:t>交换机的交换过程示例</a:t>
            </a:r>
          </a:p>
        </p:txBody>
      </p:sp>
      <p:pic>
        <p:nvPicPr>
          <p:cNvPr id="2" name="图片 1"/>
          <p:cNvPicPr>
            <a:picLocks noChangeAspect="1"/>
          </p:cNvPicPr>
          <p:nvPr/>
        </p:nvPicPr>
        <p:blipFill>
          <a:blip r:embed="rId2"/>
          <a:stretch>
            <a:fillRect/>
          </a:stretch>
        </p:blipFill>
        <p:spPr>
          <a:xfrm>
            <a:off x="643124" y="1772816"/>
            <a:ext cx="4472806" cy="4529281"/>
          </a:xfrm>
          <a:prstGeom prst="rect">
            <a:avLst/>
          </a:prstGeom>
        </p:spPr>
      </p:pic>
      <p:sp>
        <p:nvSpPr>
          <p:cNvPr id="6" name="Text Box 3"/>
          <p:cNvSpPr txBox="1">
            <a:spLocks noChangeArrowheads="1"/>
          </p:cNvSpPr>
          <p:nvPr/>
        </p:nvSpPr>
        <p:spPr bwMode="auto">
          <a:xfrm>
            <a:off x="5115930" y="1755676"/>
            <a:ext cx="403244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marL="342900" indent="-342900">
              <a:spcBef>
                <a:spcPct val="50000"/>
              </a:spcBef>
              <a:buClrTx/>
              <a:buFont typeface="Wingdings" panose="05000000000000000000" pitchFamily="2" charset="2"/>
              <a:buChar char="u"/>
            </a:pPr>
            <a:r>
              <a:rPr lang="zh-CN" altLang="en-US" sz="2400" b="1" dirty="0">
                <a:solidFill>
                  <a:srgbClr val="000099"/>
                </a:solidFill>
                <a:latin typeface="黑体" panose="02010609060101010101" pitchFamily="49" charset="-122"/>
                <a:ea typeface="黑体" panose="02010609060101010101" pitchFamily="49" charset="-122"/>
              </a:rPr>
              <a:t>地址映射表初始为空；</a:t>
            </a:r>
            <a:endParaRPr lang="en-US" altLang="zh-CN" sz="2400" b="1" dirty="0">
              <a:solidFill>
                <a:srgbClr val="000099"/>
              </a:solidFill>
              <a:latin typeface="黑体" panose="02010609060101010101" pitchFamily="49" charset="-122"/>
              <a:ea typeface="黑体" panose="02010609060101010101" pitchFamily="49" charset="-122"/>
            </a:endParaRPr>
          </a:p>
          <a:p>
            <a:pPr marL="342900" indent="-342900">
              <a:spcBef>
                <a:spcPct val="50000"/>
              </a:spcBef>
              <a:buClrTx/>
              <a:buFont typeface="Wingdings" panose="05000000000000000000" pitchFamily="2" charset="2"/>
              <a:buChar char="u"/>
            </a:pPr>
            <a:r>
              <a:rPr lang="zh-CN" altLang="en-US" sz="2400" b="1" dirty="0">
                <a:solidFill>
                  <a:srgbClr val="000099"/>
                </a:solidFill>
                <a:latin typeface="黑体" panose="02010609060101010101" pitchFamily="49" charset="-122"/>
                <a:ea typeface="黑体" panose="02010609060101010101" pitchFamily="49" charset="-122"/>
              </a:rPr>
              <a:t>分析</a:t>
            </a:r>
            <a:r>
              <a:rPr lang="en-US" altLang="zh-CN" sz="2400" b="1" dirty="0">
                <a:solidFill>
                  <a:srgbClr val="000099"/>
                </a:solidFill>
                <a:latin typeface="黑体" panose="02010609060101010101" pitchFamily="49" charset="-122"/>
                <a:ea typeface="黑体" panose="02010609060101010101" pitchFamily="49" charset="-122"/>
              </a:rPr>
              <a:t>A-&gt;B,B-&gt;A,B-&gt;E,D-&gt;A</a:t>
            </a:r>
            <a:r>
              <a:rPr lang="zh-CN" altLang="en-US" sz="2400" b="1" dirty="0">
                <a:solidFill>
                  <a:srgbClr val="000099"/>
                </a:solidFill>
                <a:latin typeface="黑体" panose="02010609060101010101" pitchFamily="49" charset="-122"/>
                <a:ea typeface="黑体" panose="02010609060101010101" pitchFamily="49" charset="-122"/>
              </a:rPr>
              <a:t>过程以及地址映射表的变化；</a:t>
            </a:r>
            <a:endParaRPr lang="en-US" altLang="zh-CN" sz="2400" b="1" dirty="0">
              <a:solidFill>
                <a:srgbClr val="000099"/>
              </a:solidFill>
              <a:latin typeface="黑体" panose="02010609060101010101" pitchFamily="49" charset="-122"/>
              <a:ea typeface="黑体" panose="02010609060101010101" pitchFamily="49" charset="-122"/>
            </a:endParaRPr>
          </a:p>
        </p:txBody>
      </p:sp>
      <p:sp>
        <p:nvSpPr>
          <p:cNvPr id="7" name="Text Box 3"/>
          <p:cNvSpPr txBox="1">
            <a:spLocks noChangeArrowheads="1"/>
          </p:cNvSpPr>
          <p:nvPr/>
        </p:nvSpPr>
        <p:spPr bwMode="auto">
          <a:xfrm>
            <a:off x="5097573" y="3645024"/>
            <a:ext cx="403244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spcBef>
                <a:spcPct val="50000"/>
              </a:spcBef>
              <a:buClrTx/>
              <a:buNone/>
            </a:pPr>
            <a:r>
              <a:rPr lang="zh-CN" altLang="en-US" sz="2400" b="1" dirty="0">
                <a:solidFill>
                  <a:srgbClr val="FF0000"/>
                </a:solidFill>
                <a:latin typeface="黑体" panose="02010609060101010101" pitchFamily="49" charset="-122"/>
                <a:ea typeface="黑体" panose="02010609060101010101" pitchFamily="49" charset="-122"/>
              </a:rPr>
              <a:t>地址映射表中端口可能对应多个</a:t>
            </a:r>
            <a:r>
              <a:rPr lang="en-US" altLang="zh-CN" sz="2400" b="1" dirty="0">
                <a:solidFill>
                  <a:srgbClr val="FF0000"/>
                </a:solidFill>
                <a:latin typeface="黑体" panose="02010609060101010101" pitchFamily="49" charset="-122"/>
                <a:ea typeface="黑体" panose="02010609060101010101" pitchFamily="49" charset="-122"/>
              </a:rPr>
              <a:t>MAC</a:t>
            </a:r>
            <a:r>
              <a:rPr lang="zh-CN" altLang="en-US" sz="2400" b="1" dirty="0">
                <a:solidFill>
                  <a:srgbClr val="FF0000"/>
                </a:solidFill>
                <a:latin typeface="黑体" panose="02010609060101010101" pitchFamily="49" charset="-122"/>
                <a:ea typeface="黑体" panose="02010609060101010101" pitchFamily="49" charset="-122"/>
              </a:rPr>
              <a:t>地址</a:t>
            </a:r>
            <a:r>
              <a:rPr lang="zh-CN" altLang="en-US" sz="2400" b="1" dirty="0">
                <a:solidFill>
                  <a:srgbClr val="000099"/>
                </a:solidFill>
                <a:latin typeface="黑体" panose="02010609060101010101" pitchFamily="49" charset="-122"/>
                <a:ea typeface="黑体" panose="02010609060101010101" pitchFamily="49" charset="-122"/>
              </a:rPr>
              <a:t>，因为一个端口不一定只接一台主机，可能接的是一个下级网络，那么从本交换机来看，下级网络中所包含的所有主机都是从该端口发送。</a:t>
            </a:r>
            <a:endParaRPr lang="en-US" altLang="zh-CN" sz="2400" b="1" dirty="0">
              <a:solidFill>
                <a:srgbClr val="000099"/>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E82D2F82-3C37-4F0E-AFAA-C245230BA4DE}"/>
              </a:ext>
            </a:extLst>
          </p:cNvPr>
          <p:cNvSpPr txBox="1"/>
          <p:nvPr/>
        </p:nvSpPr>
        <p:spPr>
          <a:xfrm>
            <a:off x="251520" y="1052736"/>
            <a:ext cx="8424936" cy="1292662"/>
          </a:xfrm>
          <a:prstGeom prst="rect">
            <a:avLst/>
          </a:prstGeom>
          <a:solidFill>
            <a:schemeClr val="bg1"/>
          </a:solidFill>
        </p:spPr>
        <p:txBody>
          <a:bodyPr wrap="square">
            <a:spAutoFit/>
          </a:bodyPr>
          <a:lstStyle/>
          <a:p>
            <a:r>
              <a:rPr lang="zh-CN" altLang="zh-CN" sz="2600" dirty="0">
                <a:effectLst/>
                <a:ea typeface="等线" panose="02010600030101010101" pitchFamily="2" charset="-122"/>
                <a:cs typeface="Times New Roman" panose="02020603050405020304" pitchFamily="18" charset="0"/>
              </a:rPr>
              <a:t>某以太网如下图所示，假设交换机</a:t>
            </a:r>
            <a:r>
              <a:rPr lang="en-US" altLang="zh-CN" sz="2600" dirty="0">
                <a:effectLst/>
                <a:ea typeface="等线" panose="02010600030101010101" pitchFamily="2" charset="-122"/>
                <a:cs typeface="Times New Roman" panose="02020603050405020304" pitchFamily="18" charset="0"/>
              </a:rPr>
              <a:t>1</a:t>
            </a:r>
            <a:r>
              <a:rPr lang="zh-CN" altLang="zh-CN" sz="2600" dirty="0">
                <a:effectLst/>
                <a:ea typeface="等线" panose="02010600030101010101" pitchFamily="2" charset="-122"/>
                <a:cs typeface="Times New Roman" panose="02020603050405020304" pitchFamily="18" charset="0"/>
              </a:rPr>
              <a:t>和交换机</a:t>
            </a:r>
            <a:r>
              <a:rPr lang="en-US" altLang="zh-CN" sz="2600" dirty="0">
                <a:effectLst/>
                <a:ea typeface="等线" panose="02010600030101010101" pitchFamily="2" charset="-122"/>
                <a:cs typeface="Times New Roman" panose="02020603050405020304" pitchFamily="18" charset="0"/>
              </a:rPr>
              <a:t>2</a:t>
            </a:r>
            <a:r>
              <a:rPr lang="zh-CN" altLang="zh-CN" sz="2600" dirty="0">
                <a:effectLst/>
                <a:ea typeface="等线" panose="02010600030101010101" pitchFamily="2" charset="-122"/>
                <a:cs typeface="Times New Roman" panose="02020603050405020304" pitchFamily="18" charset="0"/>
              </a:rPr>
              <a:t>的交换表初始为空、各主机之间依次进行以下通信</a:t>
            </a:r>
            <a:r>
              <a:rPr lang="en-US" altLang="zh-CN" sz="2600" dirty="0">
                <a:effectLst/>
                <a:ea typeface="等线" panose="02010600030101010101" pitchFamily="2" charset="-122"/>
                <a:cs typeface="Times New Roman" panose="02020603050405020304" pitchFamily="18" charset="0"/>
              </a:rPr>
              <a:t>:A-&gt;B</a:t>
            </a:r>
            <a:r>
              <a:rPr lang="zh-CN" altLang="zh-CN" sz="2600" dirty="0">
                <a:effectLst/>
                <a:ea typeface="等线" panose="02010600030101010101" pitchFamily="2" charset="-122"/>
                <a:cs typeface="Times New Roman" panose="02020603050405020304" pitchFamily="18" charset="0"/>
              </a:rPr>
              <a:t>、</a:t>
            </a:r>
            <a:r>
              <a:rPr lang="en-US" altLang="zh-CN" sz="2600" dirty="0">
                <a:effectLst/>
                <a:ea typeface="等线" panose="02010600030101010101" pitchFamily="2" charset="-122"/>
                <a:cs typeface="Times New Roman" panose="02020603050405020304" pitchFamily="18" charset="0"/>
              </a:rPr>
              <a:t>H-&gt;A</a:t>
            </a:r>
            <a:r>
              <a:rPr lang="zh-CN" altLang="zh-CN" sz="2600" dirty="0">
                <a:effectLst/>
                <a:ea typeface="等线" panose="02010600030101010101" pitchFamily="2" charset="-122"/>
                <a:cs typeface="Times New Roman" panose="02020603050405020304" pitchFamily="18" charset="0"/>
              </a:rPr>
              <a:t>、</a:t>
            </a:r>
            <a:r>
              <a:rPr lang="en-US" altLang="zh-CN" sz="2600" dirty="0">
                <a:effectLst/>
                <a:ea typeface="等线" panose="02010600030101010101" pitchFamily="2" charset="-122"/>
                <a:cs typeface="Times New Roman" panose="02020603050405020304" pitchFamily="18" charset="0"/>
              </a:rPr>
              <a:t>E-&gt;X</a:t>
            </a:r>
            <a:r>
              <a:rPr lang="zh-CN" altLang="zh-CN" sz="2600" dirty="0">
                <a:effectLst/>
                <a:ea typeface="等线" panose="02010600030101010101" pitchFamily="2" charset="-122"/>
                <a:cs typeface="Times New Roman" panose="02020603050405020304" pitchFamily="18" charset="0"/>
              </a:rPr>
              <a:t>、</a:t>
            </a:r>
            <a:r>
              <a:rPr lang="en-US" altLang="zh-CN" sz="2600" dirty="0">
                <a:effectLst/>
                <a:ea typeface="等线" panose="02010600030101010101" pitchFamily="2" charset="-122"/>
                <a:cs typeface="Times New Roman" panose="02020603050405020304" pitchFamily="18" charset="0"/>
              </a:rPr>
              <a:t>X-&gt;E</a:t>
            </a:r>
            <a:r>
              <a:rPr lang="zh-CN" altLang="zh-CN" sz="2600" dirty="0">
                <a:effectLst/>
                <a:ea typeface="等线" panose="02010600030101010101" pitchFamily="2" charset="-122"/>
                <a:cs typeface="Times New Roman" panose="02020603050405020304" pitchFamily="18" charset="0"/>
              </a:rPr>
              <a:t>，则关于上述通信过程叙述错误的是</a:t>
            </a:r>
            <a:r>
              <a:rPr lang="en-US" altLang="zh-CN" sz="2600" dirty="0">
                <a:effectLst/>
                <a:ea typeface="等线" panose="02010600030101010101" pitchFamily="2" charset="-122"/>
                <a:cs typeface="Times New Roman" panose="02020603050405020304" pitchFamily="18" charset="0"/>
              </a:rPr>
              <a:t>()</a:t>
            </a:r>
            <a:endParaRPr lang="zh-CN" altLang="en-US" sz="2600" dirty="0"/>
          </a:p>
        </p:txBody>
      </p:sp>
      <p:pic>
        <p:nvPicPr>
          <p:cNvPr id="11" name="图片 10">
            <a:extLst>
              <a:ext uri="{FF2B5EF4-FFF2-40B4-BE49-F238E27FC236}">
                <a16:creationId xmlns:a16="http://schemas.microsoft.com/office/drawing/2014/main" id="{350A3708-01B3-45E8-8288-43ACD927319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1580" y="2401145"/>
            <a:ext cx="7344816" cy="2412268"/>
          </a:xfrm>
          <a:prstGeom prst="rect">
            <a:avLst/>
          </a:prstGeom>
          <a:noFill/>
          <a:ln>
            <a:noFill/>
          </a:ln>
        </p:spPr>
      </p:pic>
      <p:sp>
        <p:nvSpPr>
          <p:cNvPr id="13" name="文本框 12">
            <a:extLst>
              <a:ext uri="{FF2B5EF4-FFF2-40B4-BE49-F238E27FC236}">
                <a16:creationId xmlns:a16="http://schemas.microsoft.com/office/drawing/2014/main" id="{438A0D13-EAFA-4EDA-AA53-AACFDA6BF1D1}"/>
              </a:ext>
            </a:extLst>
          </p:cNvPr>
          <p:cNvSpPr txBox="1"/>
          <p:nvPr/>
        </p:nvSpPr>
        <p:spPr>
          <a:xfrm>
            <a:off x="611560" y="4869160"/>
            <a:ext cx="7128792" cy="1569660"/>
          </a:xfrm>
          <a:prstGeom prst="rect">
            <a:avLst/>
          </a:prstGeom>
          <a:noFill/>
        </p:spPr>
        <p:txBody>
          <a:bodyPr wrap="square">
            <a:spAutoFit/>
          </a:bodyPr>
          <a:lstStyle/>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当</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A-&gt;B</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时，除</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外的全部主机都能收到</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发送的帧</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当</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H-&gt;A</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时，仅</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能收到</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H</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发送的帧</a:t>
            </a:r>
          </a:p>
          <a:p>
            <a:pPr algn="just"/>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C.</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当</a:t>
            </a:r>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E-&gt;X</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时，仅</a:t>
            </a:r>
            <a:r>
              <a:rPr lang="en-US"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X</a:t>
            </a:r>
            <a:r>
              <a:rPr lang="zh-CN" altLang="zh-CN" sz="24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能收到且发送的帧</a:t>
            </a:r>
          </a:p>
          <a:p>
            <a:pPr algn="just"/>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D.</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当</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X-&gt;E</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时，交换机</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收不到</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发送的帧</a:t>
            </a:r>
          </a:p>
        </p:txBody>
      </p:sp>
    </p:spTree>
    <p:extLst>
      <p:ext uri="{BB962C8B-B14F-4D97-AF65-F5344CB8AC3E}">
        <p14:creationId xmlns:p14="http://schemas.microsoft.com/office/powerpoint/2010/main" val="336214184"/>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title"/>
          </p:nvPr>
        </p:nvSpPr>
        <p:spPr>
          <a:xfrm>
            <a:off x="539750" y="836613"/>
            <a:ext cx="3816350" cy="695325"/>
          </a:xfrm>
        </p:spPr>
        <p:txBody>
          <a:bodyPr/>
          <a:lstStyle/>
          <a:p>
            <a:pPr eaLnBrk="1" hangingPunct="1"/>
            <a:r>
              <a:rPr lang="zh-CN" altLang="en-US" sz="3000">
                <a:solidFill>
                  <a:srgbClr val="333399"/>
                </a:solidFill>
                <a:latin typeface="黑体" panose="02010609060101010101" pitchFamily="49" charset="-122"/>
                <a:ea typeface="黑体" panose="02010609060101010101" pitchFamily="49" charset="-122"/>
              </a:rPr>
              <a:t>以太网交换机的特点</a:t>
            </a:r>
          </a:p>
        </p:txBody>
      </p:sp>
      <p:sp>
        <p:nvSpPr>
          <p:cNvPr id="5" name="Rectangle 2"/>
          <p:cNvSpPr txBox="1">
            <a:spLocks noChangeArrowheads="1"/>
          </p:cNvSpPr>
          <p:nvPr/>
        </p:nvSpPr>
        <p:spPr>
          <a:xfrm>
            <a:off x="538163" y="1773238"/>
            <a:ext cx="8497887" cy="2663825"/>
          </a:xfrm>
          <a:prstGeom prst="rect">
            <a:avLst/>
          </a:prstGeom>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eaLnBrk="1" hangingPunct="1">
              <a:lnSpc>
                <a:spcPct val="120000"/>
              </a:lnSpc>
              <a:spcBef>
                <a:spcPts val="600"/>
              </a:spcBef>
              <a:buFont typeface="Wingdings" panose="05000000000000000000" pitchFamily="2" charset="2"/>
              <a:buChar char="l"/>
              <a:defRPr/>
            </a:pPr>
            <a:r>
              <a:rPr lang="zh-CN" altLang="en-US" sz="2400" kern="0" dirty="0">
                <a:solidFill>
                  <a:srgbClr val="FF0000"/>
                </a:solidFill>
              </a:rPr>
              <a:t>单工、半双工、全双工多种工作方式</a:t>
            </a:r>
            <a:r>
              <a:rPr lang="zh-CN" altLang="en-US" sz="2400" kern="0" dirty="0"/>
              <a:t>：以太网交换机的每个接口都直接与主机相连，并且一般都工作在</a:t>
            </a:r>
            <a:r>
              <a:rPr lang="zh-CN" altLang="en-US" sz="2400" kern="0" dirty="0">
                <a:solidFill>
                  <a:schemeClr val="hlink"/>
                </a:solidFill>
              </a:rPr>
              <a:t>全双工方式</a:t>
            </a:r>
            <a:r>
              <a:rPr lang="zh-CN" altLang="en-US" sz="2400" kern="0" dirty="0"/>
              <a:t>。</a:t>
            </a:r>
            <a:endParaRPr lang="en-US" altLang="zh-CN" sz="2400" kern="0" dirty="0"/>
          </a:p>
          <a:p>
            <a:pPr eaLnBrk="1" hangingPunct="1">
              <a:lnSpc>
                <a:spcPct val="120000"/>
              </a:lnSpc>
              <a:spcBef>
                <a:spcPts val="600"/>
              </a:spcBef>
              <a:buFont typeface="Wingdings" panose="05000000000000000000" pitchFamily="2" charset="2"/>
              <a:buChar char="l"/>
              <a:defRPr/>
            </a:pPr>
            <a:r>
              <a:rPr lang="zh-CN" altLang="en-US" sz="2400" kern="0" dirty="0">
                <a:solidFill>
                  <a:srgbClr val="FF0000"/>
                </a:solidFill>
              </a:rPr>
              <a:t>交换速率高：</a:t>
            </a:r>
            <a:r>
              <a:rPr lang="zh-CN" altLang="en-US" sz="2400" kern="0" dirty="0"/>
              <a:t>以太网交换机由于使用了专用的交换结构芯片，其交换速率就较高。</a:t>
            </a:r>
            <a:endParaRPr lang="en-US" altLang="zh-CN" sz="2400" kern="0" dirty="0"/>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title"/>
          </p:nvPr>
        </p:nvSpPr>
        <p:spPr>
          <a:xfrm>
            <a:off x="5148263" y="989013"/>
            <a:ext cx="3816350" cy="695325"/>
          </a:xfrm>
          <a:solidFill>
            <a:srgbClr val="FFC000"/>
          </a:solidFill>
        </p:spPr>
        <p:txBody>
          <a:bodyPr anchor="ctr" anchorCtr="1"/>
          <a:lstStyle/>
          <a:p>
            <a:pPr eaLnBrk="1" hangingPunct="1"/>
            <a:r>
              <a:rPr lang="zh-CN" altLang="en-US" sz="3000">
                <a:solidFill>
                  <a:srgbClr val="333399"/>
                </a:solidFill>
                <a:latin typeface="黑体" panose="02010609060101010101" pitchFamily="49" charset="-122"/>
                <a:ea typeface="黑体" panose="02010609060101010101" pitchFamily="49" charset="-122"/>
              </a:rPr>
              <a:t>独占传输媒体的带宽</a:t>
            </a:r>
          </a:p>
        </p:txBody>
      </p:sp>
      <p:sp>
        <p:nvSpPr>
          <p:cNvPr id="6" name="Rectangle 2"/>
          <p:cNvSpPr txBox="1">
            <a:spLocks noChangeArrowheads="1"/>
          </p:cNvSpPr>
          <p:nvPr/>
        </p:nvSpPr>
        <p:spPr>
          <a:xfrm>
            <a:off x="395288" y="1989138"/>
            <a:ext cx="8497887" cy="2879725"/>
          </a:xfrm>
          <a:prstGeom prst="rect">
            <a:avLst/>
          </a:prstGeom>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a:lstStyle>
          <a:p>
            <a:pPr eaLnBrk="1" hangingPunct="1">
              <a:buFont typeface="Wingdings" panose="05000000000000000000" pitchFamily="2" charset="2"/>
              <a:buChar char="l"/>
              <a:defRPr/>
            </a:pPr>
            <a:r>
              <a:rPr lang="zh-CN" altLang="en-US" sz="2400" kern="0" dirty="0">
                <a:solidFill>
                  <a:srgbClr val="FF0000"/>
                </a:solidFill>
              </a:rPr>
              <a:t>吞吐量高</a:t>
            </a:r>
            <a:r>
              <a:rPr lang="zh-CN" altLang="en-US" sz="2400" kern="0" dirty="0"/>
              <a:t>：每个接口</a:t>
            </a:r>
            <a:r>
              <a:rPr lang="zh-CN" altLang="en-US" sz="2400" kern="0" dirty="0">
                <a:solidFill>
                  <a:srgbClr val="FF0000"/>
                </a:solidFill>
              </a:rPr>
              <a:t>独享</a:t>
            </a:r>
            <a:r>
              <a:rPr lang="zh-CN" altLang="en-US" sz="2400" kern="0" dirty="0"/>
              <a:t>带宽，而非</a:t>
            </a:r>
            <a:r>
              <a:rPr lang="zh-CN" altLang="en-US" sz="2400" kern="0" dirty="0">
                <a:solidFill>
                  <a:srgbClr val="FF0000"/>
                </a:solidFill>
              </a:rPr>
              <a:t>共享</a:t>
            </a:r>
            <a:r>
              <a:rPr lang="zh-CN" altLang="en-US" sz="2400" kern="0" dirty="0"/>
              <a:t>带宽。     </a:t>
            </a:r>
          </a:p>
          <a:p>
            <a:pPr eaLnBrk="1" hangingPunct="1">
              <a:buFont typeface="Wingdings" panose="05000000000000000000" pitchFamily="2" charset="2"/>
              <a:buChar char="l"/>
              <a:defRPr/>
            </a:pPr>
            <a:r>
              <a:rPr lang="zh-CN" altLang="en-US" sz="2400" kern="0" dirty="0"/>
              <a:t>对于普通 </a:t>
            </a:r>
            <a:r>
              <a:rPr lang="en-US" altLang="zh-CN" sz="2400" kern="0" dirty="0"/>
              <a:t>10 Mb/s </a:t>
            </a:r>
            <a:r>
              <a:rPr lang="zh-CN" altLang="en-US" sz="2400" kern="0" dirty="0"/>
              <a:t>的共享式以太网，若共有 </a:t>
            </a:r>
            <a:r>
              <a:rPr lang="en-US" altLang="zh-CN" sz="2400" i="1" kern="0" dirty="0"/>
              <a:t>N </a:t>
            </a:r>
            <a:r>
              <a:rPr lang="zh-CN" altLang="en-US" sz="2400" kern="0" dirty="0"/>
              <a:t>个用户，则每个用户占有的平均带宽只有总带宽</a:t>
            </a:r>
            <a:r>
              <a:rPr lang="en-US" altLang="zh-CN" sz="2400" kern="0" dirty="0"/>
              <a:t>(10 Mb/s)</a:t>
            </a:r>
            <a:r>
              <a:rPr lang="zh-CN" altLang="en-US" sz="2400" kern="0" dirty="0"/>
              <a:t>的 </a:t>
            </a:r>
            <a:r>
              <a:rPr lang="en-US" altLang="zh-CN" sz="2400" i="1" kern="0" dirty="0"/>
              <a:t>N </a:t>
            </a:r>
            <a:r>
              <a:rPr lang="zh-CN" altLang="en-US" sz="2400" kern="0" dirty="0"/>
              <a:t>分之一。</a:t>
            </a:r>
          </a:p>
          <a:p>
            <a:pPr eaLnBrk="1" hangingPunct="1">
              <a:buFont typeface="Wingdings" panose="05000000000000000000" pitchFamily="2" charset="2"/>
              <a:buChar char="l"/>
              <a:defRPr/>
            </a:pPr>
            <a:r>
              <a:rPr lang="zh-CN" altLang="en-US" sz="2400" kern="0" dirty="0"/>
              <a:t>使用以太网交换机时，</a:t>
            </a:r>
            <a:r>
              <a:rPr lang="zh-CN" altLang="en-US" sz="2400" kern="0" dirty="0">
                <a:solidFill>
                  <a:srgbClr val="FF0000"/>
                </a:solidFill>
              </a:rPr>
              <a:t>若每个接口到主机的带宽是 </a:t>
            </a:r>
            <a:r>
              <a:rPr lang="en-US" altLang="zh-CN" sz="2400" kern="0" dirty="0">
                <a:solidFill>
                  <a:srgbClr val="FF0000"/>
                </a:solidFill>
              </a:rPr>
              <a:t>10 Mb/s</a:t>
            </a:r>
            <a:r>
              <a:rPr lang="zh-CN" altLang="en-US" sz="2400" kern="0" dirty="0">
                <a:solidFill>
                  <a:srgbClr val="FF0000"/>
                </a:solidFill>
              </a:rPr>
              <a:t>，但由于一个用户在通信时是独占而不是和其他网络用户共享传输媒体的带宽</a:t>
            </a:r>
            <a:r>
              <a:rPr lang="zh-CN" altLang="en-US" sz="2400" kern="0" dirty="0"/>
              <a:t>，因此对于拥有 </a:t>
            </a:r>
            <a:r>
              <a:rPr lang="en-US" altLang="zh-CN" sz="2400" i="1" kern="0" dirty="0"/>
              <a:t>N </a:t>
            </a:r>
            <a:r>
              <a:rPr lang="zh-CN" altLang="en-US" sz="2400" kern="0" dirty="0"/>
              <a:t>对接口的交换机的总容量为 </a:t>
            </a:r>
            <a:r>
              <a:rPr lang="en-US" altLang="zh-CN" sz="2400" i="1" kern="0" dirty="0"/>
              <a:t>N</a:t>
            </a:r>
            <a:r>
              <a:rPr lang="en-US" altLang="zh-CN" sz="2400" kern="0" dirty="0">
                <a:sym typeface="Symbol" panose="05050102010706020507" pitchFamily="18" charset="2"/>
              </a:rPr>
              <a:t></a:t>
            </a:r>
            <a:r>
              <a:rPr lang="en-US" altLang="zh-CN" sz="2400" kern="0" dirty="0"/>
              <a:t>10 Mb/s</a:t>
            </a:r>
            <a:r>
              <a:rPr lang="zh-CN" altLang="en-US" sz="2400" kern="0" dirty="0"/>
              <a:t>。这正是交换机的最大优点。  </a:t>
            </a:r>
          </a:p>
        </p:txBody>
      </p:sp>
      <p:sp>
        <p:nvSpPr>
          <p:cNvPr id="7" name="Rectangle 3"/>
          <p:cNvSpPr txBox="1">
            <a:spLocks noChangeArrowheads="1"/>
          </p:cNvSpPr>
          <p:nvPr/>
        </p:nvSpPr>
        <p:spPr bwMode="auto">
          <a:xfrm>
            <a:off x="539750" y="836613"/>
            <a:ext cx="3816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a:lstStyle>
          <a:p>
            <a:pPr eaLnBrk="1" hangingPunct="1">
              <a:defRPr/>
            </a:pPr>
            <a:r>
              <a:rPr lang="zh-CN" altLang="en-US" sz="3000" kern="0" dirty="0">
                <a:solidFill>
                  <a:srgbClr val="333399"/>
                </a:solidFill>
                <a:latin typeface="黑体" panose="02010609060101010101" pitchFamily="49" charset="-122"/>
                <a:ea typeface="黑体" panose="02010609060101010101" pitchFamily="49" charset="-122"/>
              </a:rPr>
              <a:t>以太网交换机的特点</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1"/>
          <p:cNvSpPr>
            <a:spLocks noChangeArrowheads="1"/>
          </p:cNvSpPr>
          <p:nvPr/>
        </p:nvSpPr>
        <p:spPr bwMode="auto">
          <a:xfrm>
            <a:off x="3348038" y="3284538"/>
            <a:ext cx="25003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Verdana" panose="020B0604030504040204" pitchFamily="34" charset="0"/>
                <a:ea typeface="宋体" panose="02010600030101010101" pitchFamily="2" charset="-122"/>
              </a:defRPr>
            </a:lvl1pPr>
            <a:lvl2pPr marL="742950" indent="-285750">
              <a:defRPr sz="2000">
                <a:solidFill>
                  <a:schemeClr val="tx1"/>
                </a:solidFill>
                <a:latin typeface="Verdana" panose="020B0604030504040204" pitchFamily="34" charset="0"/>
                <a:ea typeface="宋体" panose="02010600030101010101" pitchFamily="2" charset="-122"/>
              </a:defRPr>
            </a:lvl2pPr>
            <a:lvl3pPr marL="1143000" indent="-228600">
              <a:defRPr sz="2000">
                <a:solidFill>
                  <a:schemeClr val="tx1"/>
                </a:solidFill>
                <a:latin typeface="Verdana" panose="020B0604030504040204" pitchFamily="34" charset="0"/>
                <a:ea typeface="宋体" panose="02010600030101010101" pitchFamily="2" charset="-122"/>
              </a:defRPr>
            </a:lvl3pPr>
            <a:lvl4pPr marL="1600200" indent="-228600">
              <a:defRPr sz="2000">
                <a:solidFill>
                  <a:schemeClr val="tx1"/>
                </a:solidFill>
                <a:latin typeface="Verdana" panose="020B0604030504040204" pitchFamily="34" charset="0"/>
                <a:ea typeface="宋体" panose="02010600030101010101" pitchFamily="2" charset="-122"/>
              </a:defRPr>
            </a:lvl4pPr>
            <a:lvl5pPr marL="2057400" indent="-22860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r>
              <a:rPr lang="zh-CN" altLang="en-US" sz="3600" b="1"/>
              <a:t>高速以太网</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16632B2-6719-4A7B-8D97-B111AD85DA5D}"/>
              </a:ext>
            </a:extLst>
          </p:cNvPr>
          <p:cNvPicPr>
            <a:picLocks noChangeAspect="1"/>
          </p:cNvPicPr>
          <p:nvPr/>
        </p:nvPicPr>
        <p:blipFill>
          <a:blip r:embed="rId3"/>
          <a:stretch>
            <a:fillRect/>
          </a:stretch>
        </p:blipFill>
        <p:spPr>
          <a:xfrm>
            <a:off x="0" y="323149"/>
            <a:ext cx="9144000" cy="2241755"/>
          </a:xfrm>
          <a:prstGeom prst="rect">
            <a:avLst/>
          </a:prstGeom>
          <a:solidFill>
            <a:schemeClr val="bg1"/>
          </a:solidFill>
        </p:spPr>
      </p:pic>
      <p:sp>
        <p:nvSpPr>
          <p:cNvPr id="6" name="文本框 5">
            <a:extLst>
              <a:ext uri="{FF2B5EF4-FFF2-40B4-BE49-F238E27FC236}">
                <a16:creationId xmlns:a16="http://schemas.microsoft.com/office/drawing/2014/main" id="{92AC859B-5121-4F0D-9AFE-27EB647DB882}"/>
              </a:ext>
            </a:extLst>
          </p:cNvPr>
          <p:cNvSpPr txBox="1"/>
          <p:nvPr/>
        </p:nvSpPr>
        <p:spPr>
          <a:xfrm>
            <a:off x="215516" y="2564904"/>
            <a:ext cx="8712968" cy="4043543"/>
          </a:xfrm>
          <a:prstGeom prst="rect">
            <a:avLst/>
          </a:prstGeom>
          <a:noFill/>
        </p:spPr>
        <p:txBody>
          <a:bodyPr wrap="square">
            <a:spAutoFit/>
          </a:bodyPr>
          <a:lstStyle/>
          <a:p>
            <a:pPr>
              <a:lnSpc>
                <a:spcPct val="120000"/>
              </a:lnSpc>
            </a:pPr>
            <a:r>
              <a:rPr lang="zh-CN" altLang="en-US" sz="2400" dirty="0">
                <a:solidFill>
                  <a:srgbClr val="0070C0"/>
                </a:solidFill>
                <a:latin typeface="微软雅黑" panose="020B0503020204020204" pitchFamily="34" charset="-122"/>
                <a:ea typeface="微软雅黑" panose="020B0503020204020204" pitchFamily="34" charset="-122"/>
              </a:rPr>
              <a:t>(</a:t>
            </a:r>
            <a:r>
              <a:rPr lang="en-US" altLang="zh-CN" sz="2400" dirty="0">
                <a:solidFill>
                  <a:srgbClr val="0070C0"/>
                </a:solidFill>
                <a:latin typeface="微软雅黑" panose="020B0503020204020204" pitchFamily="34" charset="-122"/>
                <a:ea typeface="微软雅黑" panose="020B0503020204020204" pitchFamily="34" charset="-122"/>
              </a:rPr>
              <a:t>1</a:t>
            </a:r>
            <a:r>
              <a:rPr lang="zh-CN" altLang="en-US" sz="2400" dirty="0">
                <a:solidFill>
                  <a:srgbClr val="0070C0"/>
                </a:solidFill>
                <a:latin typeface="微软雅黑" panose="020B0503020204020204" pitchFamily="34" charset="-122"/>
                <a:ea typeface="微软雅黑" panose="020B0503020204020204" pitchFamily="34" charset="-122"/>
              </a:rPr>
              <a:t>) 100BASE-T。</a:t>
            </a:r>
            <a:r>
              <a:rPr lang="zh-CN" altLang="en-US" sz="2400" dirty="0">
                <a:latin typeface="微软雅黑" panose="020B0503020204020204" pitchFamily="34" charset="-122"/>
                <a:ea typeface="微软雅黑" panose="020B0503020204020204" pitchFamily="34" charset="-122"/>
              </a:rPr>
              <a:t>又称快速以太网，是在双绞线上传送100Mb/s基带信号的星形拓扑以太网。</a:t>
            </a:r>
            <a:r>
              <a:rPr lang="zh-CN" altLang="en-US" sz="2400" dirty="0">
                <a:solidFill>
                  <a:srgbClr val="FF0000"/>
                </a:solidFill>
                <a:highlight>
                  <a:srgbClr val="F7F7F7"/>
                </a:highlight>
                <a:latin typeface="微软雅黑" panose="020B0503020204020204" pitchFamily="34" charset="-122"/>
                <a:ea typeface="微软雅黑" panose="020B0503020204020204" pitchFamily="34" charset="-122"/>
              </a:rPr>
              <a:t>支持全双工方式和半双工方式。在全双工方式下不使用 CSMA</a:t>
            </a:r>
            <a:r>
              <a:rPr lang="en-US" altLang="zh-CN" sz="2400" dirty="0">
                <a:solidFill>
                  <a:srgbClr val="FF0000"/>
                </a:solidFill>
                <a:highlight>
                  <a:srgbClr val="F7F7F7"/>
                </a:highlight>
                <a:latin typeface="微软雅黑" panose="020B0503020204020204" pitchFamily="34" charset="-122"/>
                <a:ea typeface="微软雅黑" panose="020B0503020204020204" pitchFamily="34" charset="-122"/>
              </a:rPr>
              <a:t>/</a:t>
            </a:r>
            <a:r>
              <a:rPr lang="zh-CN" altLang="en-US" sz="2400" dirty="0">
                <a:solidFill>
                  <a:srgbClr val="FF0000"/>
                </a:solidFill>
                <a:highlight>
                  <a:srgbClr val="F7F7F7"/>
                </a:highlight>
                <a:latin typeface="微软雅黑" panose="020B0503020204020204" pitchFamily="34" charset="-122"/>
                <a:ea typeface="微软雅黑" panose="020B0503020204020204" pitchFamily="34" charset="-122"/>
              </a:rPr>
              <a:t>CD 协议</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solidFill>
                  <a:srgbClr val="0070C0"/>
                </a:solidFill>
                <a:latin typeface="微软雅黑" panose="020B0503020204020204" pitchFamily="34" charset="-122"/>
                <a:ea typeface="微软雅黑" panose="020B0503020204020204" pitchFamily="34" charset="-122"/>
              </a:rPr>
              <a:t>(2)吉比特以太网。</a:t>
            </a:r>
            <a:r>
              <a:rPr lang="zh-CN" altLang="en-US" sz="2400" dirty="0">
                <a:latin typeface="微软雅黑" panose="020B0503020204020204" pitchFamily="34" charset="-122"/>
                <a:ea typeface="微软雅黑" panose="020B0503020204020204" pitchFamily="34" charset="-122"/>
              </a:rPr>
              <a:t>又称千兆以太网，</a:t>
            </a:r>
            <a:r>
              <a:rPr lang="zh-CN" altLang="en-US" sz="2400" dirty="0">
                <a:solidFill>
                  <a:srgbClr val="FF0000"/>
                </a:solidFill>
                <a:latin typeface="微软雅黑" panose="020B0503020204020204" pitchFamily="34" charset="-122"/>
                <a:ea typeface="微软雅黑" panose="020B0503020204020204" pitchFamily="34" charset="-122"/>
              </a:rPr>
              <a:t>允许在1Gb/s速率下以全双工和半双工两种方式工作</a:t>
            </a:r>
            <a:r>
              <a:rPr lang="zh-CN" altLang="en-US" sz="2400" dirty="0">
                <a:latin typeface="微软雅黑" panose="020B0503020204020204" pitchFamily="34" charset="-122"/>
                <a:ea typeface="微软雅黑" panose="020B0503020204020204" pitchFamily="34" charset="-122"/>
              </a:rPr>
              <a:t>。使用双绞线或光纤作为传输介质。在全双工方式不使用 CSMA</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CD协议。 </a:t>
            </a:r>
            <a:endParaRPr lang="en-US" altLang="zh-CN" sz="2400" dirty="0">
              <a:latin typeface="微软雅黑" panose="020B0503020204020204" pitchFamily="34" charset="-122"/>
              <a:ea typeface="微软雅黑" panose="020B0503020204020204" pitchFamily="34" charset="-122"/>
            </a:endParaRPr>
          </a:p>
          <a:p>
            <a:pPr>
              <a:lnSpc>
                <a:spcPct val="120000"/>
              </a:lnSpc>
            </a:pPr>
            <a:r>
              <a:rPr lang="zh-CN" altLang="en-US" sz="2400" dirty="0">
                <a:solidFill>
                  <a:srgbClr val="0070C0"/>
                </a:solidFill>
                <a:latin typeface="微软雅黑" panose="020B0503020204020204" pitchFamily="34" charset="-122"/>
                <a:ea typeface="微软雅黑" panose="020B0503020204020204" pitchFamily="34" charset="-122"/>
              </a:rPr>
              <a:t>(3)10吉比特以太网。</a:t>
            </a:r>
            <a:r>
              <a:rPr lang="zh-CN" altLang="en-US" sz="2400" dirty="0">
                <a:latin typeface="微软雅黑" panose="020B0503020204020204" pitchFamily="34" charset="-122"/>
                <a:ea typeface="微软雅黑" panose="020B0503020204020204" pitchFamily="34" charset="-122"/>
              </a:rPr>
              <a:t>帧格式与10Mb/s、100Mb/s和1Gb/s 以太网的帧格式完全相同，保留</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2.3 标准规定的以太网最小和最大帧长，以便兼容。</a:t>
            </a:r>
            <a:r>
              <a:rPr lang="zh-CN" altLang="en-US" sz="2400" dirty="0">
                <a:solidFill>
                  <a:srgbClr val="FF0000"/>
                </a:solidFill>
                <a:latin typeface="微软雅黑" panose="020B0503020204020204" pitchFamily="34" charset="-122"/>
                <a:ea typeface="微软雅黑" panose="020B0503020204020204" pitchFamily="34" charset="-122"/>
              </a:rPr>
              <a:t>只工作在双工方式</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不使用CSMA</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CD</a:t>
            </a:r>
            <a:r>
              <a:rPr lang="zh-CN" altLang="en-US" sz="24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080653321"/>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019BCEC-1405-4350-A11E-74AEEDE6150C}"/>
              </a:ext>
            </a:extLst>
          </p:cNvPr>
          <p:cNvSpPr txBox="1"/>
          <p:nvPr/>
        </p:nvSpPr>
        <p:spPr>
          <a:xfrm>
            <a:off x="377093" y="1052736"/>
            <a:ext cx="8389813" cy="2246769"/>
          </a:xfrm>
          <a:prstGeom prst="rect">
            <a:avLst/>
          </a:prstGeom>
          <a:solidFill>
            <a:schemeClr val="bg1"/>
          </a:solidFill>
        </p:spPr>
        <p:txBody>
          <a:bodyPr wrap="square">
            <a:spAutoFit/>
          </a:bodyPr>
          <a:lstStyle/>
          <a:p>
            <a:pPr algn="just"/>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假设以太网</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中</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80%</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的通信量在本局域网内进行，其余</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20%</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在本局域网与因特网之间进行，而以太网</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正好相反，在这两个局域网中，一个使用集线器，另一个使用交换机，则交换机应放置的局城网是</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a:t>
            </a:r>
            <a:r>
              <a:rPr lang="zh-CN"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以太网</a:t>
            </a:r>
            <a:r>
              <a:rPr lang="en-US"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a:t>
            </a:r>
            <a:endParaRPr lang="zh-CN"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以太网</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B</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任意以太网</a:t>
            </a:r>
          </a:p>
          <a:p>
            <a:pPr algn="just"/>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D.</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都不合适</a:t>
            </a:r>
          </a:p>
        </p:txBody>
      </p:sp>
    </p:spTree>
    <p:extLst>
      <p:ext uri="{BB962C8B-B14F-4D97-AF65-F5344CB8AC3E}">
        <p14:creationId xmlns:p14="http://schemas.microsoft.com/office/powerpoint/2010/main" val="976806805"/>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11DEF6B0-78D7-43E9-B1B3-595916E920E0}"/>
              </a:ext>
            </a:extLst>
          </p:cNvPr>
          <p:cNvSpPr txBox="1"/>
          <p:nvPr/>
        </p:nvSpPr>
        <p:spPr>
          <a:xfrm>
            <a:off x="539552" y="1766039"/>
            <a:ext cx="8208912" cy="1138773"/>
          </a:xfrm>
          <a:prstGeom prst="rect">
            <a:avLst/>
          </a:prstGeom>
          <a:noFill/>
        </p:spPr>
        <p:txBody>
          <a:bodyPr wrap="square">
            <a:spAutoFit/>
          </a:bodyPr>
          <a:lstStyle/>
          <a:p>
            <a:pPr algn="just"/>
            <a:r>
              <a:rPr lang="en-US"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2. </a:t>
            </a:r>
            <a:r>
              <a:rPr lang="zh-CN"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若主机</a:t>
            </a:r>
            <a:r>
              <a:rPr lang="en-US"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 H2</a:t>
            </a:r>
            <a:r>
              <a:rPr lang="zh-CN"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向主机</a:t>
            </a:r>
            <a:r>
              <a:rPr lang="en-US"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H4</a:t>
            </a:r>
            <a:r>
              <a:rPr lang="zh-CN"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发送一个数据帧，主机</a:t>
            </a:r>
            <a:r>
              <a:rPr lang="en-US"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H4</a:t>
            </a:r>
            <a:r>
              <a:rPr lang="zh-CN"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向主机</a:t>
            </a:r>
            <a:r>
              <a:rPr lang="en-US"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 H2</a:t>
            </a:r>
            <a:r>
              <a:rPr lang="zh-CN" altLang="zh-CN" sz="22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立即发送</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一个确认帧，则除</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H4</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外，从物理层上能够收到该确认帧的主机还有</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dirty="0">
                <a:solidFill>
                  <a:srgbClr val="0070C0"/>
                </a:solidFill>
                <a:effectLst/>
                <a:ea typeface="等线" panose="02010600030101010101" pitchFamily="2" charset="-122"/>
                <a:cs typeface="Times New Roman" panose="02020603050405020304" pitchFamily="18" charset="0"/>
              </a:rPr>
              <a:t>H2,  H3</a:t>
            </a:r>
            <a:r>
              <a:rPr lang="en-US" altLang="zh-CN"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44B9AB98-D2E7-4F82-AEBA-7EBF509CCE31}"/>
              </a:ext>
            </a:extLst>
          </p:cNvPr>
          <p:cNvPicPr/>
          <p:nvPr/>
        </p:nvPicPr>
        <p:blipFill>
          <a:blip r:embed="rId2"/>
          <a:stretch>
            <a:fillRect/>
          </a:stretch>
        </p:blipFill>
        <p:spPr>
          <a:xfrm>
            <a:off x="1403648" y="3356992"/>
            <a:ext cx="7128792" cy="2448272"/>
          </a:xfrm>
          <a:prstGeom prst="rect">
            <a:avLst/>
          </a:prstGeom>
        </p:spPr>
      </p:pic>
    </p:spTree>
    <p:extLst>
      <p:ext uri="{BB962C8B-B14F-4D97-AF65-F5344CB8AC3E}">
        <p14:creationId xmlns:p14="http://schemas.microsoft.com/office/powerpoint/2010/main" val="1595883452"/>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CEDD4A83-9CBE-4985-810F-844324AFEF29}"/>
              </a:ext>
            </a:extLst>
          </p:cNvPr>
          <p:cNvSpPr txBox="1"/>
          <p:nvPr/>
        </p:nvSpPr>
        <p:spPr>
          <a:xfrm>
            <a:off x="129543" y="1001639"/>
            <a:ext cx="8640960" cy="2462213"/>
          </a:xfrm>
          <a:prstGeom prst="rect">
            <a:avLst/>
          </a:prstGeom>
          <a:solidFill>
            <a:schemeClr val="bg1"/>
          </a:solidFill>
        </p:spPr>
        <p:txBody>
          <a:bodyPr wrap="square">
            <a:spAutoFit/>
          </a:bodyPr>
          <a:lstStyle/>
          <a:p>
            <a:pPr algn="just">
              <a:tabLst>
                <a:tab pos="457200" algn="l"/>
              </a:tabLst>
            </a:pP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如下图所示</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在</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Hub</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再生比特流的过程中会产生</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1.535us</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的延时</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(Switch</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Hub</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均为</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100MBase-T</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设备</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，信号传播速率为</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200m/us</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，不考虑以太网的前导码</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则</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H3</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H4</a:t>
            </a:r>
            <a:r>
              <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rPr>
              <a:t>之间理论上可以相距的最远距离是</a:t>
            </a: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tabLst>
                <a:tab pos="457200" algn="l"/>
              </a:tabLst>
            </a:pP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A.200m</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tabLst>
                <a:tab pos="457200" algn="l"/>
              </a:tabLst>
            </a:pP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B.205m</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tabLst>
                <a:tab pos="457200" algn="l"/>
              </a:tabLst>
            </a:pPr>
            <a:r>
              <a:rPr lang="en-US" altLang="zh-CN" sz="2200" kern="100" dirty="0">
                <a:effectLst/>
                <a:latin typeface="等线" panose="02010600030101010101" pitchFamily="2" charset="-122"/>
                <a:ea typeface="等线" panose="02010600030101010101" pitchFamily="2" charset="-122"/>
                <a:cs typeface="Times New Roman" panose="02020603050405020304" pitchFamily="18" charset="0"/>
              </a:rPr>
              <a:t>C.359m</a:t>
            </a:r>
            <a:endParaRPr lang="zh-CN" altLang="zh-CN" sz="22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2200" dirty="0">
                <a:effectLst/>
                <a:latin typeface="等线" panose="02010600030101010101" pitchFamily="2" charset="-122"/>
                <a:cs typeface="Times New Roman" panose="02020603050405020304" pitchFamily="18" charset="0"/>
              </a:rPr>
              <a:t>D.512m</a:t>
            </a:r>
            <a:endParaRPr lang="zh-CN" altLang="en-US" sz="2200" dirty="0"/>
          </a:p>
        </p:txBody>
      </p:sp>
      <p:pic>
        <p:nvPicPr>
          <p:cNvPr id="9" name="图片 8">
            <a:extLst>
              <a:ext uri="{FF2B5EF4-FFF2-40B4-BE49-F238E27FC236}">
                <a16:creationId xmlns:a16="http://schemas.microsoft.com/office/drawing/2014/main" id="{59A557D5-50C3-4605-875C-603A6E22875A}"/>
              </a:ext>
            </a:extLst>
          </p:cNvPr>
          <p:cNvPicPr/>
          <p:nvPr/>
        </p:nvPicPr>
        <p:blipFill>
          <a:blip r:embed="rId2"/>
          <a:stretch>
            <a:fillRect/>
          </a:stretch>
        </p:blipFill>
        <p:spPr>
          <a:xfrm>
            <a:off x="2555776" y="2232744"/>
            <a:ext cx="6120680" cy="2564407"/>
          </a:xfrm>
          <a:prstGeom prst="rect">
            <a:avLst/>
          </a:prstGeom>
        </p:spPr>
      </p:pic>
      <p:sp>
        <p:nvSpPr>
          <p:cNvPr id="10" name="文本框 9">
            <a:extLst>
              <a:ext uri="{FF2B5EF4-FFF2-40B4-BE49-F238E27FC236}">
                <a16:creationId xmlns:a16="http://schemas.microsoft.com/office/drawing/2014/main" id="{62698E03-63C3-4244-B0C3-56983A648644}"/>
              </a:ext>
            </a:extLst>
          </p:cNvPr>
          <p:cNvSpPr txBox="1"/>
          <p:nvPr/>
        </p:nvSpPr>
        <p:spPr>
          <a:xfrm>
            <a:off x="225354" y="5373216"/>
            <a:ext cx="8280920" cy="1323439"/>
          </a:xfrm>
          <a:prstGeom prst="rect">
            <a:avLst/>
          </a:prstGeom>
          <a:noFill/>
        </p:spPr>
        <p:txBody>
          <a:bodyPr wrap="square">
            <a:spAutoFit/>
          </a:bodyPr>
          <a:lstStyle/>
          <a:p>
            <a:r>
              <a:rPr lang="en-US" altLang="zh-CN" kern="100" dirty="0">
                <a:latin typeface="等线" panose="02010600030101010101" pitchFamily="2" charset="-122"/>
                <a:ea typeface="等线" panose="02010600030101010101" pitchFamily="2" charset="-122"/>
                <a:cs typeface="Times New Roman" panose="02020603050405020304" pitchFamily="18" charset="0"/>
              </a:rPr>
              <a:t>x/200 *2 + 1.535*2 = 64*8/(100*10^6)</a:t>
            </a:r>
          </a:p>
          <a:p>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r>
              <a:rPr lang="en-US" altLang="zh-CN" dirty="0"/>
              <a:t>H3</a:t>
            </a:r>
            <a:r>
              <a:rPr lang="zh-CN" altLang="en-US" dirty="0"/>
              <a:t>发送的第</a:t>
            </a:r>
            <a:r>
              <a:rPr lang="en-US" altLang="zh-CN" dirty="0"/>
              <a:t>1</a:t>
            </a:r>
            <a:r>
              <a:rPr lang="zh-CN" altLang="en-US" dirty="0"/>
              <a:t>个</a:t>
            </a:r>
            <a:r>
              <a:rPr lang="en-US" altLang="zh-CN" dirty="0"/>
              <a:t>bit</a:t>
            </a:r>
            <a:r>
              <a:rPr lang="zh-CN" altLang="en-US" dirty="0"/>
              <a:t>到达</a:t>
            </a:r>
            <a:r>
              <a:rPr lang="en-US" altLang="zh-CN" dirty="0"/>
              <a:t>H4,</a:t>
            </a:r>
            <a:r>
              <a:rPr lang="zh-CN" altLang="en-US" dirty="0"/>
              <a:t>被冲突，然后返回</a:t>
            </a:r>
            <a:r>
              <a:rPr lang="en-US" altLang="zh-CN" dirty="0"/>
              <a:t>H3</a:t>
            </a:r>
            <a:r>
              <a:rPr lang="zh-CN" altLang="en-US" dirty="0"/>
              <a:t>，返回到</a:t>
            </a:r>
            <a:r>
              <a:rPr lang="en-US" altLang="zh-CN" dirty="0"/>
              <a:t>H3</a:t>
            </a:r>
            <a:r>
              <a:rPr lang="zh-CN" altLang="en-US" dirty="0"/>
              <a:t>时，</a:t>
            </a:r>
            <a:r>
              <a:rPr lang="en-US" altLang="zh-CN" dirty="0"/>
              <a:t>H3</a:t>
            </a:r>
            <a:r>
              <a:rPr lang="zh-CN" altLang="en-US" dirty="0"/>
              <a:t>刚好发送最后一个</a:t>
            </a:r>
            <a:r>
              <a:rPr lang="en-US" altLang="zh-CN" dirty="0"/>
              <a:t>bit</a:t>
            </a:r>
            <a:r>
              <a:rPr lang="zh-CN" altLang="en-US" dirty="0"/>
              <a:t>。</a:t>
            </a:r>
          </a:p>
        </p:txBody>
      </p:sp>
    </p:spTree>
    <p:extLst>
      <p:ext uri="{BB962C8B-B14F-4D97-AF65-F5344CB8AC3E}">
        <p14:creationId xmlns:p14="http://schemas.microsoft.com/office/powerpoint/2010/main" val="1857195959"/>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AF3B509-A4C9-4687-B5A7-80578C184A71}"/>
              </a:ext>
            </a:extLst>
          </p:cNvPr>
          <p:cNvSpPr txBox="1"/>
          <p:nvPr/>
        </p:nvSpPr>
        <p:spPr>
          <a:xfrm>
            <a:off x="539552" y="1124744"/>
            <a:ext cx="4572000" cy="523220"/>
          </a:xfrm>
          <a:prstGeom prst="rect">
            <a:avLst/>
          </a:prstGeom>
          <a:noFill/>
        </p:spPr>
        <p:txBody>
          <a:bodyPr wrap="square">
            <a:spAutoFit/>
          </a:bodyPr>
          <a:lstStyle/>
          <a:p>
            <a:r>
              <a:rPr lang="zh-CN" altLang="en-US" sz="2800" b="1" kern="100" dirty="0">
                <a:effectLst/>
                <a:latin typeface="等线" panose="02010600030101010101" pitchFamily="2" charset="-122"/>
                <a:ea typeface="等线" panose="02010600030101010101" pitchFamily="2" charset="-122"/>
                <a:cs typeface="Times New Roman" panose="02020603050405020304" pitchFamily="18" charset="0"/>
              </a:rPr>
              <a:t>作业</a:t>
            </a:r>
            <a:endParaRPr lang="zh-CN" altLang="en-US" sz="2800" b="1" dirty="0"/>
          </a:p>
        </p:txBody>
      </p:sp>
      <p:sp>
        <p:nvSpPr>
          <p:cNvPr id="5" name="文本框 4">
            <a:extLst>
              <a:ext uri="{FF2B5EF4-FFF2-40B4-BE49-F238E27FC236}">
                <a16:creationId xmlns:a16="http://schemas.microsoft.com/office/drawing/2014/main" id="{CE4B322A-3ED8-4AC6-95F6-2172D59CFDA2}"/>
              </a:ext>
            </a:extLst>
          </p:cNvPr>
          <p:cNvSpPr txBox="1"/>
          <p:nvPr/>
        </p:nvSpPr>
        <p:spPr>
          <a:xfrm>
            <a:off x="467544" y="1844824"/>
            <a:ext cx="8280920" cy="1323439"/>
          </a:xfrm>
          <a:prstGeom prst="rect">
            <a:avLst/>
          </a:prstGeom>
          <a:noFill/>
        </p:spPr>
        <p:txBody>
          <a:bodyPr wrap="square">
            <a:spAutoFit/>
          </a:bodyPr>
          <a:lstStyle/>
          <a:p>
            <a:pPr algn="just"/>
            <a:r>
              <a:rPr lang="en-US"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1.</a:t>
            </a:r>
            <a:r>
              <a:rPr lang="zh-CN"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 某以太网拓扑及交换机的当前转发表如下图所示</a:t>
            </a:r>
            <a:r>
              <a:rPr lang="en-US"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主机</a:t>
            </a:r>
            <a:r>
              <a:rPr lang="en-US"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 00-e1-d5-00-</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23-a1</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向主机</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00-e1-d5-00-23-c1</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发送一个数据帧，主机</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00-e1-d5-00-23-c1 </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收到该帧后，向主机</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00-e1-d5-00-23-a1</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发送一个确认帧，交换机对这两个帧的转发端口分别是</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2DA64409-477C-49E3-92B4-DA2CFD88AEE9}"/>
              </a:ext>
            </a:extLst>
          </p:cNvPr>
          <p:cNvPicPr/>
          <p:nvPr/>
        </p:nvPicPr>
        <p:blipFill>
          <a:blip r:embed="rId2"/>
          <a:stretch>
            <a:fillRect/>
          </a:stretch>
        </p:blipFill>
        <p:spPr>
          <a:xfrm>
            <a:off x="1187624" y="3405674"/>
            <a:ext cx="6408712" cy="2056094"/>
          </a:xfrm>
          <a:prstGeom prst="rect">
            <a:avLst/>
          </a:prstGeom>
        </p:spPr>
      </p:pic>
    </p:spTree>
    <p:extLst>
      <p:ext uri="{BB962C8B-B14F-4D97-AF65-F5344CB8AC3E}">
        <p14:creationId xmlns:p14="http://schemas.microsoft.com/office/powerpoint/2010/main" val="1131810876"/>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AF3B509-A4C9-4687-B5A7-80578C184A71}"/>
              </a:ext>
            </a:extLst>
          </p:cNvPr>
          <p:cNvSpPr txBox="1"/>
          <p:nvPr/>
        </p:nvSpPr>
        <p:spPr>
          <a:xfrm>
            <a:off x="539552" y="1124744"/>
            <a:ext cx="4572000" cy="523220"/>
          </a:xfrm>
          <a:prstGeom prst="rect">
            <a:avLst/>
          </a:prstGeom>
          <a:noFill/>
        </p:spPr>
        <p:txBody>
          <a:bodyPr wrap="square">
            <a:spAutoFit/>
          </a:bodyPr>
          <a:lstStyle/>
          <a:p>
            <a:r>
              <a:rPr lang="zh-CN" altLang="en-US" sz="2800" b="1" kern="100" dirty="0">
                <a:effectLst/>
                <a:latin typeface="等线" panose="02010600030101010101" pitchFamily="2" charset="-122"/>
                <a:ea typeface="等线" panose="02010600030101010101" pitchFamily="2" charset="-122"/>
                <a:cs typeface="Times New Roman" panose="02020603050405020304" pitchFamily="18" charset="0"/>
              </a:rPr>
              <a:t>作业</a:t>
            </a:r>
            <a:endParaRPr lang="zh-CN" altLang="en-US" sz="2800" b="1" dirty="0"/>
          </a:p>
        </p:txBody>
      </p:sp>
      <p:sp>
        <p:nvSpPr>
          <p:cNvPr id="5" name="文本框 4">
            <a:extLst>
              <a:ext uri="{FF2B5EF4-FFF2-40B4-BE49-F238E27FC236}">
                <a16:creationId xmlns:a16="http://schemas.microsoft.com/office/drawing/2014/main" id="{4CC0CCBB-ADB0-42F8-851F-46929170D739}"/>
              </a:ext>
            </a:extLst>
          </p:cNvPr>
          <p:cNvSpPr txBox="1"/>
          <p:nvPr/>
        </p:nvSpPr>
        <p:spPr>
          <a:xfrm>
            <a:off x="226874" y="1843950"/>
            <a:ext cx="8928992" cy="3170099"/>
          </a:xfrm>
          <a:prstGeom prst="rect">
            <a:avLst/>
          </a:prstGeom>
          <a:noFill/>
        </p:spPr>
        <p:txBody>
          <a:bodyPr wrap="square">
            <a:spAutoFit/>
          </a:bodyPr>
          <a:lstStyle/>
          <a:p>
            <a:pPr algn="just">
              <a:tabLst>
                <a:tab pos="457200" algn="l"/>
              </a:tabLs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 某局域网采用</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CSMA/CD</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协议实现介质访问控制，数据传输速率为</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10Mb/s</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，主机甲和主机乙之间的距离是</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2km</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，信号传播速率是</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200000km/s</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。请回答下列问题</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要求说明理由或写出计算过程。</a:t>
            </a:r>
          </a:p>
          <a:p>
            <a:pPr algn="just">
              <a:tabLst>
                <a:tab pos="457200" algn="l"/>
              </a:tabLs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若主机甲和主机乙发送数据时发生冲突，则从开始发送数据的时刻起，到两台主机均检测到冲突为止，最短需要经过多长时间？最长需要经过多长时间</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假设主机甲和主机乙在发送数据的过程中，其他主机不发送数据</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2000" dirty="0">
                <a:effectLst/>
                <a:latin typeface="等线" panose="02010600030101010101" pitchFamily="2" charset="-122"/>
                <a:cs typeface="Times New Roman" panose="02020603050405020304" pitchFamily="18" charset="0"/>
              </a:rPr>
              <a:t>2)</a:t>
            </a:r>
            <a:r>
              <a:rPr lang="zh-CN" altLang="zh-CN" sz="2000" dirty="0">
                <a:effectLst/>
                <a:ea typeface="等线" panose="02010600030101010101" pitchFamily="2" charset="-122"/>
                <a:cs typeface="Times New Roman" panose="02020603050405020304" pitchFamily="18" charset="0"/>
              </a:rPr>
              <a:t>若网络不存在任何冲突与差错，主机甲总以标准的最长以太网数据帧</a:t>
            </a:r>
            <a:r>
              <a:rPr lang="en-US" altLang="zh-CN" sz="2000" dirty="0">
                <a:effectLst/>
                <a:ea typeface="等线" panose="02010600030101010101" pitchFamily="2" charset="-122"/>
                <a:cs typeface="Times New Roman" panose="02020603050405020304" pitchFamily="18" charset="0"/>
              </a:rPr>
              <a:t>(1518</a:t>
            </a:r>
            <a:r>
              <a:rPr lang="zh-CN" altLang="zh-CN" sz="2000" dirty="0">
                <a:effectLst/>
                <a:ea typeface="等线" panose="02010600030101010101" pitchFamily="2" charset="-122"/>
                <a:cs typeface="Times New Roman" panose="02020603050405020304" pitchFamily="18" charset="0"/>
              </a:rPr>
              <a:t>宇节</a:t>
            </a:r>
            <a:r>
              <a:rPr lang="en-US" altLang="zh-CN" sz="2000" dirty="0">
                <a:effectLst/>
                <a:ea typeface="等线" panose="02010600030101010101" pitchFamily="2" charset="-122"/>
                <a:cs typeface="Times New Roman" panose="02020603050405020304" pitchFamily="18" charset="0"/>
              </a:rPr>
              <a:t>)</a:t>
            </a:r>
            <a:r>
              <a:rPr lang="zh-CN" altLang="zh-CN" sz="2000" dirty="0">
                <a:effectLst/>
                <a:ea typeface="等线" panose="02010600030101010101" pitchFamily="2" charset="-122"/>
                <a:cs typeface="Times New Roman" panose="02020603050405020304" pitchFamily="18" charset="0"/>
              </a:rPr>
              <a:t>向主机乙发送数据，主机乙每成功收到一个数据帧，就立即向主机甲发送一个</a:t>
            </a:r>
            <a:r>
              <a:rPr lang="en-US" altLang="zh-CN" sz="2000" dirty="0">
                <a:effectLst/>
                <a:ea typeface="等线" panose="02010600030101010101" pitchFamily="2" charset="-122"/>
                <a:cs typeface="Times New Roman" panose="02020603050405020304" pitchFamily="18" charset="0"/>
              </a:rPr>
              <a:t>64</a:t>
            </a:r>
            <a:r>
              <a:rPr lang="zh-CN" altLang="zh-CN" sz="2000" dirty="0">
                <a:effectLst/>
                <a:ea typeface="等线" panose="02010600030101010101" pitchFamily="2" charset="-122"/>
                <a:cs typeface="Times New Roman" panose="02020603050405020304" pitchFamily="18" charset="0"/>
              </a:rPr>
              <a:t>字节的确认帧，主杌甲收到确认帧后方可发送下一个数据帧，此时主机甲的有效数据传输速率是多少</a:t>
            </a:r>
            <a:r>
              <a:rPr lang="en-US" altLang="zh-CN" sz="2000" dirty="0">
                <a:effectLst/>
                <a:ea typeface="等线" panose="02010600030101010101" pitchFamily="2" charset="-122"/>
                <a:cs typeface="Times New Roman" panose="02020603050405020304" pitchFamily="18" charset="0"/>
              </a:rPr>
              <a:t>(</a:t>
            </a:r>
            <a:r>
              <a:rPr lang="zh-CN" altLang="zh-CN" sz="2000" dirty="0">
                <a:effectLst/>
                <a:ea typeface="等线" panose="02010600030101010101" pitchFamily="2" charset="-122"/>
                <a:cs typeface="Times New Roman" panose="02020603050405020304" pitchFamily="18" charset="0"/>
              </a:rPr>
              <a:t>不考虑以太网的前导码</a:t>
            </a:r>
            <a:r>
              <a:rPr lang="en-US" altLang="zh-CN" sz="2000" dirty="0">
                <a:effectLst/>
                <a:ea typeface="等线"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2901288570"/>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AF3B509-A4C9-4687-B5A7-80578C184A71}"/>
              </a:ext>
            </a:extLst>
          </p:cNvPr>
          <p:cNvSpPr txBox="1"/>
          <p:nvPr/>
        </p:nvSpPr>
        <p:spPr>
          <a:xfrm>
            <a:off x="539552" y="1124744"/>
            <a:ext cx="4572000" cy="523220"/>
          </a:xfrm>
          <a:prstGeom prst="rect">
            <a:avLst/>
          </a:prstGeom>
          <a:noFill/>
        </p:spPr>
        <p:txBody>
          <a:bodyPr wrap="square">
            <a:spAutoFit/>
          </a:bodyPr>
          <a:lstStyle/>
          <a:p>
            <a:r>
              <a:rPr lang="zh-CN" altLang="en-US" sz="2800" b="1" kern="100" dirty="0">
                <a:effectLst/>
                <a:latin typeface="等线" panose="02010600030101010101" pitchFamily="2" charset="-122"/>
                <a:ea typeface="等线" panose="02010600030101010101" pitchFamily="2" charset="-122"/>
                <a:cs typeface="Times New Roman" panose="02020603050405020304" pitchFamily="18" charset="0"/>
              </a:rPr>
              <a:t>作业</a:t>
            </a:r>
            <a:endParaRPr lang="zh-CN" altLang="en-US" sz="2800" b="1" dirty="0"/>
          </a:p>
        </p:txBody>
      </p:sp>
      <p:sp>
        <p:nvSpPr>
          <p:cNvPr id="6" name="文本框 5">
            <a:extLst>
              <a:ext uri="{FF2B5EF4-FFF2-40B4-BE49-F238E27FC236}">
                <a16:creationId xmlns:a16="http://schemas.microsoft.com/office/drawing/2014/main" id="{50BC3687-EEA8-4E80-B8A2-C1AEADF320D9}"/>
              </a:ext>
            </a:extLst>
          </p:cNvPr>
          <p:cNvSpPr txBox="1"/>
          <p:nvPr/>
        </p:nvSpPr>
        <p:spPr>
          <a:xfrm>
            <a:off x="539552" y="1702487"/>
            <a:ext cx="8424936" cy="1938992"/>
          </a:xfrm>
          <a:prstGeom prst="rect">
            <a:avLst/>
          </a:prstGeom>
          <a:noFill/>
        </p:spPr>
        <p:txBody>
          <a:bodyPr wrap="square">
            <a:spAutoFit/>
          </a:bodyPr>
          <a:lstStyle/>
          <a:p>
            <a:pPr algn="just"/>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考虑建立一个</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CSMA/CD</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网，电缆长</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1km</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，不使用重发器，选行速率为</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IGb</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/s</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，电缆中的信号速率是</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200000km/s</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，最小帧长是多少</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tabLst>
                <a:tab pos="457200" algn="l"/>
              </a:tabLst>
            </a:pPr>
            <a:r>
              <a:rPr lang="en-US" altLang="zh-CN" sz="2000" kern="100">
                <a:effectLst/>
                <a:latin typeface="等线" panose="02010600030101010101" pitchFamily="2" charset="-122"/>
                <a:ea typeface="等线" panose="02010600030101010101" pitchFamily="2" charset="-122"/>
                <a:cs typeface="Times New Roman" panose="02020603050405020304" pitchFamily="18" charset="0"/>
              </a:rPr>
              <a:t>4.</a:t>
            </a:r>
            <a:r>
              <a:rPr lang="zh-CN" altLang="zh-CN" sz="2000" kern="100">
                <a:effectLst/>
                <a:latin typeface="等线" panose="02010600030101010101" pitchFamily="2" charset="-122"/>
                <a:ea typeface="等线" panose="02010600030101010101" pitchFamily="2" charset="-122"/>
                <a:cs typeface="Times New Roman" panose="02020603050405020304" pitchFamily="18" charset="0"/>
              </a:rPr>
              <a:t>在</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一个采用</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CSMA/CD </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协议的网络中</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传输介质是一根完整的电缆</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传输速率为</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1Gb/s</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，电缆中的信号传播速率是</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200000km/s</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，若最小数据帧长减少</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800 </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比特，则最远的两个站点之间的距离如何变化？</a:t>
            </a:r>
          </a:p>
        </p:txBody>
      </p:sp>
    </p:spTree>
    <p:extLst>
      <p:ext uri="{BB962C8B-B14F-4D97-AF65-F5344CB8AC3E}">
        <p14:creationId xmlns:p14="http://schemas.microsoft.com/office/powerpoint/2010/main" val="4058502967"/>
      </p:ext>
    </p:extLst>
  </p:cSld>
  <p:clrMapOvr>
    <a:masterClrMapping/>
  </p:clrMapOvr>
  <p:transition spd="slow"/>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6091</TotalTime>
  <Words>3996</Words>
  <Application>Microsoft Office PowerPoint</Application>
  <PresentationFormat>全屏显示(4:3)</PresentationFormat>
  <Paragraphs>437</Paragraphs>
  <Slides>53</Slides>
  <Notes>9</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53</vt:i4>
      </vt:variant>
    </vt:vector>
  </HeadingPairs>
  <TitlesOfParts>
    <vt:vector size="67" baseType="lpstr">
      <vt:lpstr>等线</vt:lpstr>
      <vt:lpstr>黑体</vt:lpstr>
      <vt:lpstr>宋体</vt:lpstr>
      <vt:lpstr>微软雅黑</vt:lpstr>
      <vt:lpstr>微软雅黑</vt:lpstr>
      <vt:lpstr>Arial</vt:lpstr>
      <vt:lpstr>CordiaUPC</vt:lpstr>
      <vt:lpstr>Tahoma</vt:lpstr>
      <vt:lpstr>Times New Roman</vt:lpstr>
      <vt:lpstr>Verdana</vt:lpstr>
      <vt:lpstr>Wingdings</vt:lpstr>
      <vt:lpstr>Profile</vt:lpstr>
      <vt:lpstr>自定义设计方案</vt:lpstr>
      <vt:lpstr>Microsoft Visio 2000/2002 Drawing</vt:lpstr>
      <vt:lpstr>PowerPoint 演示文稿</vt:lpstr>
      <vt:lpstr>PowerPoint 演示文稿</vt:lpstr>
      <vt:lpstr>PowerPoint 演示文稿</vt:lpstr>
      <vt:lpstr>共享式以太网 </vt:lpstr>
      <vt:lpstr>PowerPoint 演示文稿</vt:lpstr>
      <vt:lpstr> 在以太网中采用“竞争”策略来获得信道。这种方案称做载波监听多路访问/冲突检测协议，简写为CSMA/CD，以太网的工作原理可以概括为：   </vt:lpstr>
      <vt:lpstr>发前先监听信道是否有信息在传递。 （1）1-坚持：若信道空闲则立即发送；若信道忙，则继续监听。 （2）非坚持：若信道空闲则立即发送；若信道忙，则放弃监听，等待一个随机时间后再继续监听。 （3）p-坚持：若信道忙，则持续监听；若信道空闲，则以概率p发送数据，以概率1-p继续监听。</vt:lpstr>
      <vt:lpstr> 　发送站点传输过程中仍继续监听媒体，以检测是否存在冲突。如果发生冲突，信道上可以检测到超过发送站点本身发送的载波信号的幅度，由此判断出冲突的存在。一旦检测到冲突，就立即停止发送，并向总线上发一串阻塞信号，用以通知总线上其它各有关站点。这样，通道容量就不致因白白传送已受损的帧而浪费，可以提高总线的利用率。</vt:lpstr>
      <vt:lpstr>PowerPoint 演示文稿</vt:lpstr>
      <vt:lpstr>PowerPoint 演示文稿</vt:lpstr>
      <vt:lpstr>PowerPoint 演示文稿</vt:lpstr>
      <vt:lpstr>PowerPoint 演示文稿</vt:lpstr>
      <vt:lpstr>PowerPoint 演示文稿</vt:lpstr>
      <vt:lpstr>一个站在发现冲突后，应立即停止本次发送，然后重新安排发送。有多种重发策略。目前常用的策略有以下2种： (1)随机策略：发送方发现冲突后，推迟一随机时间，再进行重发。 (2)采用二进制指数退避算法BEB延迟重发。 </vt:lpstr>
      <vt:lpstr>二进制指数类型退避算法</vt:lpstr>
      <vt:lpstr>二进制指数类型退避算法</vt:lpstr>
      <vt:lpstr>CSMA/CD的发送流程图</vt:lpstr>
      <vt:lpstr>以太网提供的服务 </vt:lpstr>
      <vt:lpstr>以太网采取了两种重要的措施 </vt:lpstr>
      <vt:lpstr>PowerPoint 演示文稿</vt:lpstr>
      <vt:lpstr>PowerPoint 演示文稿</vt:lpstr>
      <vt:lpstr>PowerPoint 演示文稿</vt:lpstr>
      <vt:lpstr>DIX Ethernet V2 以太网 MAC 帧格式 </vt:lpstr>
      <vt:lpstr>PowerPoint 演示文稿</vt:lpstr>
      <vt:lpstr>DIX Ethernet V2的 MAC 帧格式</vt:lpstr>
      <vt:lpstr>DIX Ethernet V2 的 MAC 帧格式</vt:lpstr>
      <vt:lpstr>DIX Ethernet V2 的 MAC 帧格式</vt:lpstr>
      <vt:lpstr>DIX Ethernet V2 的 MAC 帧格式</vt:lpstr>
      <vt:lpstr>DIX Ethernet V22 的 MAC 帧格式</vt:lpstr>
      <vt:lpstr>DIX V2 的 MAC 帧格式</vt:lpstr>
      <vt:lpstr>无效DIX V2 MAC 帧 </vt:lpstr>
      <vt:lpstr>使用集线器和双绞线的共享式以太网 10Base-T</vt:lpstr>
      <vt:lpstr>使用集线器和双绞线的以太网10Base-T</vt:lpstr>
      <vt:lpstr>使用集线器和双绞线的以太网 </vt:lpstr>
      <vt:lpstr>10BASE-T以太网 </vt:lpstr>
      <vt:lpstr>共享式以太网的缺点</vt:lpstr>
      <vt:lpstr>交换式以太网(快速以太网）</vt:lpstr>
      <vt:lpstr>交换式以太网（星形拓扑）</vt:lpstr>
      <vt:lpstr>交换机的工作原理</vt:lpstr>
      <vt:lpstr>交换机转发一个数据帧的工作流程</vt:lpstr>
      <vt:lpstr>PowerPoint 演示文稿</vt:lpstr>
      <vt:lpstr>PowerPoint 演示文稿</vt:lpstr>
      <vt:lpstr>PowerPoint 演示文稿</vt:lpstr>
      <vt:lpstr>以太网交换机的特点</vt:lpstr>
      <vt:lpstr>独占传输媒体的带宽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wangjimin</cp:lastModifiedBy>
  <cp:revision>914</cp:revision>
  <dcterms:created xsi:type="dcterms:W3CDTF">1601-01-01T00:00:00Z</dcterms:created>
  <dcterms:modified xsi:type="dcterms:W3CDTF">2026-02-24T13:23:26Z</dcterms:modified>
</cp:coreProperties>
</file>