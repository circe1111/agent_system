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1" r:id="rId1"/>
    <p:sldMasterId id="2147483733" r:id="rId2"/>
  </p:sldMasterIdLst>
  <p:notesMasterIdLst>
    <p:notesMasterId r:id="rId33"/>
  </p:notesMasterIdLst>
  <p:handoutMasterIdLst>
    <p:handoutMasterId r:id="rId34"/>
  </p:handoutMasterIdLst>
  <p:sldIdLst>
    <p:sldId id="574" r:id="rId3"/>
    <p:sldId id="554" r:id="rId4"/>
    <p:sldId id="648" r:id="rId5"/>
    <p:sldId id="555" r:id="rId6"/>
    <p:sldId id="556" r:id="rId7"/>
    <p:sldId id="620" r:id="rId8"/>
    <p:sldId id="623" r:id="rId9"/>
    <p:sldId id="632" r:id="rId10"/>
    <p:sldId id="621" r:id="rId11"/>
    <p:sldId id="624" r:id="rId12"/>
    <p:sldId id="625" r:id="rId13"/>
    <p:sldId id="629" r:id="rId14"/>
    <p:sldId id="633" r:id="rId15"/>
    <p:sldId id="649" r:id="rId16"/>
    <p:sldId id="635" r:id="rId17"/>
    <p:sldId id="634" r:id="rId18"/>
    <p:sldId id="636" r:id="rId19"/>
    <p:sldId id="656" r:id="rId20"/>
    <p:sldId id="607" r:id="rId21"/>
    <p:sldId id="650" r:id="rId22"/>
    <p:sldId id="652" r:id="rId23"/>
    <p:sldId id="651" r:id="rId24"/>
    <p:sldId id="638" r:id="rId25"/>
    <p:sldId id="657" r:id="rId26"/>
    <p:sldId id="639" r:id="rId27"/>
    <p:sldId id="653" r:id="rId28"/>
    <p:sldId id="654" r:id="rId29"/>
    <p:sldId id="647" r:id="rId30"/>
    <p:sldId id="645" r:id="rId31"/>
    <p:sldId id="646" r:id="rId32"/>
  </p:sldIdLst>
  <p:sldSz cx="12192000" cy="6858000"/>
  <p:notesSz cx="6858000" cy="9144000"/>
  <p:defaultTextStyle>
    <a:defPPr>
      <a:defRPr lang="en-US"/>
    </a:defPPr>
    <a:lvl1pPr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4FB7"/>
    <a:srgbClr val="2A10E8"/>
    <a:srgbClr val="CC0000"/>
    <a:srgbClr val="FF9933"/>
    <a:srgbClr val="FFCC00"/>
    <a:srgbClr val="516FA7"/>
    <a:srgbClr val="F7F7F7"/>
    <a:srgbClr val="CCE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89708" autoAdjust="0"/>
  </p:normalViewPr>
  <p:slideViewPr>
    <p:cSldViewPr>
      <p:cViewPr>
        <p:scale>
          <a:sx n="75" d="100"/>
          <a:sy n="75" d="100"/>
        </p:scale>
        <p:origin x="897" y="4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2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49FC7126-C50D-4AE3-A9FF-5C6988EB725F}" type="datetime1">
              <a:rPr lang="zh-CN" altLang="en-US"/>
              <a:pPr>
                <a:defRPr/>
              </a:pPr>
              <a:t>2026/2/24</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CF99BE4F-2EB2-494D-9239-4AB82CC297F3}" type="slidenum">
              <a:rPr lang="zh-CN" altLang="en-US"/>
              <a:pPr>
                <a:defRPr/>
              </a:pPr>
              <a:t>‹#›</a:t>
            </a:fld>
            <a:endParaRPr lang="en-US" altLang="zh-CN"/>
          </a:p>
        </p:txBody>
      </p:sp>
    </p:spTree>
    <p:extLst>
      <p:ext uri="{BB962C8B-B14F-4D97-AF65-F5344CB8AC3E}">
        <p14:creationId xmlns:p14="http://schemas.microsoft.com/office/powerpoint/2010/main" val="42511893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EBDB03F6-444B-42B0-9D8C-7CEE4024043B}" type="datetime1">
              <a:rPr lang="zh-CN" altLang="en-US"/>
              <a:pPr>
                <a:defRPr/>
              </a:pPr>
              <a:t>2026/2/24</a:t>
            </a:fld>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473F9405-797F-4FF9-9CC6-E07AEC72DFED}" type="slidenum">
              <a:rPr lang="zh-CN" altLang="en-US"/>
              <a:pPr>
                <a:defRPr/>
              </a:pPr>
              <a:t>‹#›</a:t>
            </a:fld>
            <a:endParaRPr lang="en-US" altLang="zh-CN"/>
          </a:p>
        </p:txBody>
      </p:sp>
    </p:spTree>
    <p:extLst>
      <p:ext uri="{BB962C8B-B14F-4D97-AF65-F5344CB8AC3E}">
        <p14:creationId xmlns:p14="http://schemas.microsoft.com/office/powerpoint/2010/main" val="6721655"/>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sz="2000"/>
          </a:p>
        </p:txBody>
      </p:sp>
      <p:pic>
        <p:nvPicPr>
          <p:cNvPr id="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p:cNvSpPr txBox="1">
            <a:spLocks noChangeArrowheads="1"/>
          </p:cNvSpPr>
          <p:nvPr/>
        </p:nvSpPr>
        <p:spPr bwMode="auto">
          <a:xfrm>
            <a:off x="3503085" y="260350"/>
            <a:ext cx="3744383" cy="457200"/>
          </a:xfrm>
          <a:prstGeom prst="rect">
            <a:avLst/>
          </a:prstGeom>
          <a:noFill/>
          <a:ln>
            <a:noFill/>
          </a:ln>
          <a:effec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a:solidFill>
                  <a:srgbClr val="F7F7F7"/>
                </a:solidFill>
                <a:ea typeface="楷体_GB2312" pitchFamily="49" charset="-122"/>
              </a:rPr>
              <a:t>计算机与信息学院</a:t>
            </a:r>
          </a:p>
        </p:txBody>
      </p:sp>
      <p:sp>
        <p:nvSpPr>
          <p:cNvPr id="7" name="Text Box 14"/>
          <p:cNvSpPr txBox="1">
            <a:spLocks noChangeArrowheads="1"/>
          </p:cNvSpPr>
          <p:nvPr/>
        </p:nvSpPr>
        <p:spPr bwMode="auto">
          <a:xfrm>
            <a:off x="0" y="6640514"/>
            <a:ext cx="12192000" cy="244475"/>
          </a:xfrm>
          <a:prstGeom prst="rect">
            <a:avLst/>
          </a:prstGeom>
          <a:solidFill>
            <a:srgbClr val="A50021"/>
          </a:solidFill>
          <a:ln>
            <a:noFill/>
          </a:ln>
          <a:effec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dirty="0">
                <a:solidFill>
                  <a:schemeClr val="bg1"/>
                </a:solidFill>
                <a:latin typeface="Times New Roman" pitchFamily="18" charset="0"/>
              </a:rPr>
              <a:t>河海大学计算机与软件学院计算机科学与技术系</a:t>
            </a:r>
            <a:endParaRPr kumimoji="1" lang="en-US" altLang="zh-CN" sz="1000" dirty="0">
              <a:solidFill>
                <a:schemeClr val="bg1"/>
              </a:solidFill>
              <a:latin typeface="Times New Roman" pitchFamily="18" charset="0"/>
            </a:endParaRPr>
          </a:p>
        </p:txBody>
      </p:sp>
      <p:pic>
        <p:nvPicPr>
          <p:cNvPr id="8" name="Picture 15"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185" y="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6" name="Rectangle 2"/>
          <p:cNvSpPr>
            <a:spLocks noGrp="1" noChangeArrowheads="1"/>
          </p:cNvSpPr>
          <p:nvPr>
            <p:ph type="ctrTitle"/>
          </p:nvPr>
        </p:nvSpPr>
        <p:spPr>
          <a:xfrm>
            <a:off x="914400" y="990600"/>
            <a:ext cx="10363200" cy="1371600"/>
          </a:xfrm>
        </p:spPr>
        <p:txBody>
          <a:bodyPr/>
          <a:lstStyle>
            <a:lvl1pPr>
              <a:defRPr sz="4000"/>
            </a:lvl1pPr>
          </a:lstStyle>
          <a:p>
            <a:pPr lvl="0"/>
            <a:r>
              <a:rPr lang="zh-CN" altLang="en-US" noProof="0"/>
              <a:t>单击此处编辑母版标题样式</a:t>
            </a:r>
          </a:p>
        </p:txBody>
      </p:sp>
      <p:sp>
        <p:nvSpPr>
          <p:cNvPr id="144387"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pPr lvl="0"/>
            <a:r>
              <a:rPr lang="zh-CN" altLang="en-US" noProof="0"/>
              <a:t>单击此处编辑母版副标题样式</a:t>
            </a:r>
          </a:p>
        </p:txBody>
      </p:sp>
      <p:pic>
        <p:nvPicPr>
          <p:cNvPr id="9" name="Picture 13">
            <a:extLst>
              <a:ext uri="{FF2B5EF4-FFF2-40B4-BE49-F238E27FC236}">
                <a16:creationId xmlns:a16="http://schemas.microsoft.com/office/drawing/2014/main" id="{AF8BCBDE-0C26-452B-A39B-9B1CF63A2D8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50" y="1270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4">
            <a:extLst>
              <a:ext uri="{FF2B5EF4-FFF2-40B4-BE49-F238E27FC236}">
                <a16:creationId xmlns:a16="http://schemas.microsoft.com/office/drawing/2014/main" id="{FF183999-9F1B-45B5-BA13-957D3B802FD1}"/>
              </a:ext>
            </a:extLst>
          </p:cNvPr>
          <p:cNvSpPr txBox="1">
            <a:spLocks noChangeArrowheads="1"/>
          </p:cNvSpPr>
          <p:nvPr userDrawn="1"/>
        </p:nvSpPr>
        <p:spPr bwMode="auto">
          <a:xfrm>
            <a:off x="3318935" y="273050"/>
            <a:ext cx="3744383" cy="457200"/>
          </a:xfrm>
          <a:prstGeom prst="rect">
            <a:avLst/>
          </a:prstGeom>
          <a:noFill/>
          <a:ln>
            <a:noFill/>
          </a:ln>
          <a:effec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11" name="Picture 15" descr="邓体字徽（白色透明）">
            <a:extLst>
              <a:ext uri="{FF2B5EF4-FFF2-40B4-BE49-F238E27FC236}">
                <a16:creationId xmlns:a16="http://schemas.microsoft.com/office/drawing/2014/main" id="{854D0923-1EC6-4759-9896-F0759BBE25EC}"/>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45535" y="1270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078028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3540335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86189884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98746214"/>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9659216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155944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614690"/>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1395837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72432510"/>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1347529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8" y="304800"/>
            <a:ext cx="2669116"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4984304"/>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755651" y="1752600"/>
            <a:ext cx="52324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1251" y="1752600"/>
            <a:ext cx="52324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1251" y="3962400"/>
            <a:ext cx="52324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1814045"/>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1" y="304800"/>
            <a:ext cx="10678583"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6482511"/>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25307746-DF6F-4929-8A27-1E357F595863}" type="datetime11">
              <a:rPr lang="zh-CN" altLang="en-US"/>
              <a:pPr>
                <a:defRPr/>
              </a:pPr>
              <a:t>21:27:21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841C06B-AD15-42C2-9823-42F84E1F2490}" type="slidenum">
              <a:rPr lang="zh-CN" altLang="en-US"/>
              <a:pPr>
                <a:defRPr/>
              </a:pPr>
              <a:t>‹#›</a:t>
            </a:fld>
            <a:endParaRPr lang="en-US" altLang="zh-CN"/>
          </a:p>
        </p:txBody>
      </p:sp>
    </p:spTree>
    <p:extLst>
      <p:ext uri="{BB962C8B-B14F-4D97-AF65-F5344CB8AC3E}">
        <p14:creationId xmlns:p14="http://schemas.microsoft.com/office/powerpoint/2010/main" val="1049772093"/>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534A8D3E-BEBB-4CAC-9C59-074515F940B1}" type="datetime11">
              <a:rPr lang="zh-CN" altLang="en-US"/>
              <a:pPr>
                <a:defRPr/>
              </a:pPr>
              <a:t>21:27:21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42050C4-4AF8-45FE-9C46-985DF394C966}" type="slidenum">
              <a:rPr lang="zh-CN" altLang="en-US"/>
              <a:pPr>
                <a:defRPr/>
              </a:pPr>
              <a:t>‹#›</a:t>
            </a:fld>
            <a:endParaRPr lang="en-US" altLang="zh-CN"/>
          </a:p>
        </p:txBody>
      </p:sp>
    </p:spTree>
    <p:extLst>
      <p:ext uri="{BB962C8B-B14F-4D97-AF65-F5344CB8AC3E}">
        <p14:creationId xmlns:p14="http://schemas.microsoft.com/office/powerpoint/2010/main" val="3680077108"/>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1963583F-B7B4-4C19-9F54-02A1E7A7FA51}" type="datetime11">
              <a:rPr lang="zh-CN" altLang="en-US"/>
              <a:pPr>
                <a:defRPr/>
              </a:pPr>
              <a:t>21:27:21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C8372AB-BB7C-4A70-A1FF-1A4C012A4FA6}" type="slidenum">
              <a:rPr lang="zh-CN" altLang="en-US"/>
              <a:pPr>
                <a:defRPr/>
              </a:pPr>
              <a:t>‹#›</a:t>
            </a:fld>
            <a:endParaRPr lang="en-US" altLang="zh-CN"/>
          </a:p>
        </p:txBody>
      </p:sp>
    </p:spTree>
    <p:extLst>
      <p:ext uri="{BB962C8B-B14F-4D97-AF65-F5344CB8AC3E}">
        <p14:creationId xmlns:p14="http://schemas.microsoft.com/office/powerpoint/2010/main" val="1224063952"/>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A8CD55C9-AE2A-4A31-8513-E22930EB3BDF}" type="datetime11">
              <a:rPr lang="zh-CN" altLang="en-US"/>
              <a:pPr>
                <a:defRPr/>
              </a:pPr>
              <a:t>21:27:21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E57A0BA-322B-43E4-B546-7A3280BF6F23}" type="slidenum">
              <a:rPr lang="zh-CN" altLang="en-US"/>
              <a:pPr>
                <a:defRPr/>
              </a:pPr>
              <a:t>‹#›</a:t>
            </a:fld>
            <a:endParaRPr lang="en-US" altLang="zh-CN"/>
          </a:p>
        </p:txBody>
      </p:sp>
    </p:spTree>
    <p:extLst>
      <p:ext uri="{BB962C8B-B14F-4D97-AF65-F5344CB8AC3E}">
        <p14:creationId xmlns:p14="http://schemas.microsoft.com/office/powerpoint/2010/main" val="3545581070"/>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8C6FBD3C-6C0D-485C-AB34-E33CD2A177AB}" type="datetime11">
              <a:rPr lang="zh-CN" altLang="en-US"/>
              <a:pPr>
                <a:defRPr/>
              </a:pPr>
              <a:t>21:27:21</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E8709FE-A4A7-4CC5-8C4C-1897E59183BF}" type="slidenum">
              <a:rPr lang="zh-CN" altLang="en-US"/>
              <a:pPr>
                <a:defRPr/>
              </a:pPr>
              <a:t>‹#›</a:t>
            </a:fld>
            <a:endParaRPr lang="en-US" altLang="zh-CN"/>
          </a:p>
        </p:txBody>
      </p:sp>
    </p:spTree>
    <p:extLst>
      <p:ext uri="{BB962C8B-B14F-4D97-AF65-F5344CB8AC3E}">
        <p14:creationId xmlns:p14="http://schemas.microsoft.com/office/powerpoint/2010/main" val="2015355505"/>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0F2498D6-0C34-4F4B-9EA1-63B1190148BD}" type="datetime11">
              <a:rPr lang="zh-CN" altLang="en-US"/>
              <a:pPr>
                <a:defRPr/>
              </a:pPr>
              <a:t>21:27:21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1EEB655-FEAD-4036-A412-B043A8BADDDB}" type="slidenum">
              <a:rPr lang="zh-CN" altLang="en-US"/>
              <a:pPr>
                <a:defRPr/>
              </a:pPr>
              <a:t>‹#›</a:t>
            </a:fld>
            <a:endParaRPr lang="en-US" altLang="zh-CN"/>
          </a:p>
        </p:txBody>
      </p:sp>
    </p:spTree>
    <p:extLst>
      <p:ext uri="{BB962C8B-B14F-4D97-AF65-F5344CB8AC3E}">
        <p14:creationId xmlns:p14="http://schemas.microsoft.com/office/powerpoint/2010/main" val="4007678072"/>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3992439-90EF-491F-9C2B-2F3895E3DAA7}" type="datetime11">
              <a:rPr lang="zh-CN" altLang="en-US"/>
              <a:pPr>
                <a:defRPr/>
              </a:pPr>
              <a:t>21:27:21</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1F6EEEF-7631-461B-BCE1-A5EB21F00F94}" type="slidenum">
              <a:rPr lang="zh-CN" altLang="en-US"/>
              <a:pPr>
                <a:defRPr/>
              </a:pPr>
              <a:t>‹#›</a:t>
            </a:fld>
            <a:endParaRPr lang="en-US" altLang="zh-CN"/>
          </a:p>
        </p:txBody>
      </p:sp>
    </p:spTree>
    <p:extLst>
      <p:ext uri="{BB962C8B-B14F-4D97-AF65-F5344CB8AC3E}">
        <p14:creationId xmlns:p14="http://schemas.microsoft.com/office/powerpoint/2010/main" val="3391721098"/>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8DB3F9CC-B058-4DE2-8487-98B74DB42DC2}" type="datetime11">
              <a:rPr lang="zh-CN" altLang="en-US"/>
              <a:pPr>
                <a:defRPr/>
              </a:pPr>
              <a:t>21:27:21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00222CD-CE8D-4FC3-8F1C-6D156E04F595}" type="slidenum">
              <a:rPr lang="zh-CN" altLang="en-US"/>
              <a:pPr>
                <a:defRPr/>
              </a:pPr>
              <a:t>‹#›</a:t>
            </a:fld>
            <a:endParaRPr lang="en-US" altLang="zh-CN"/>
          </a:p>
        </p:txBody>
      </p:sp>
    </p:spTree>
    <p:extLst>
      <p:ext uri="{BB962C8B-B14F-4D97-AF65-F5344CB8AC3E}">
        <p14:creationId xmlns:p14="http://schemas.microsoft.com/office/powerpoint/2010/main" val="2921601763"/>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37F6A077-8BF1-46D7-A9C6-D218AFC1F312}" type="datetime11">
              <a:rPr lang="zh-CN" altLang="en-US"/>
              <a:pPr>
                <a:defRPr/>
              </a:pPr>
              <a:t>21:27:21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C9CED24-EB47-4198-BB47-151B38755712}" type="slidenum">
              <a:rPr lang="zh-CN" altLang="en-US"/>
              <a:pPr>
                <a:defRPr/>
              </a:pPr>
              <a:t>‹#›</a:t>
            </a:fld>
            <a:endParaRPr lang="en-US" altLang="zh-CN"/>
          </a:p>
        </p:txBody>
      </p:sp>
    </p:spTree>
    <p:extLst>
      <p:ext uri="{BB962C8B-B14F-4D97-AF65-F5344CB8AC3E}">
        <p14:creationId xmlns:p14="http://schemas.microsoft.com/office/powerpoint/2010/main" val="3116216782"/>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372C6FB-1AF0-480B-9CF7-0A1981BACE9B}" type="datetime11">
              <a:rPr lang="zh-CN" altLang="en-US"/>
              <a:pPr>
                <a:defRPr/>
              </a:pPr>
              <a:t>21:27:21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B350E3C-7871-4CD7-8637-4C40DDA26E34}" type="slidenum">
              <a:rPr lang="zh-CN" altLang="en-US"/>
              <a:pPr>
                <a:defRPr/>
              </a:pPr>
              <a:t>‹#›</a:t>
            </a:fld>
            <a:endParaRPr lang="en-US" altLang="zh-CN"/>
          </a:p>
        </p:txBody>
      </p:sp>
    </p:spTree>
    <p:extLst>
      <p:ext uri="{BB962C8B-B14F-4D97-AF65-F5344CB8AC3E}">
        <p14:creationId xmlns:p14="http://schemas.microsoft.com/office/powerpoint/2010/main" val="2581000422"/>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28ADE8F-C1D6-4D8B-96FB-9AFA8D444EFC}" type="datetime11">
              <a:rPr lang="zh-CN" altLang="en-US"/>
              <a:pPr>
                <a:defRPr/>
              </a:pPr>
              <a:t>21:27:21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49BE9EA-6689-4B9C-84C7-A25288710120}" type="slidenum">
              <a:rPr lang="zh-CN" altLang="en-US"/>
              <a:pPr>
                <a:defRPr/>
              </a:pPr>
              <a:t>‹#›</a:t>
            </a:fld>
            <a:endParaRPr lang="en-US" altLang="zh-CN"/>
          </a:p>
        </p:txBody>
      </p:sp>
    </p:spTree>
    <p:extLst>
      <p:ext uri="{BB962C8B-B14F-4D97-AF65-F5344CB8AC3E}">
        <p14:creationId xmlns:p14="http://schemas.microsoft.com/office/powerpoint/2010/main" val="2744771529"/>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sz="2000"/>
          </a:p>
        </p:txBody>
      </p:sp>
      <p:sp>
        <p:nvSpPr>
          <p:cNvPr id="1029" name="Text Box 11"/>
          <p:cNvSpPr txBox="1">
            <a:spLocks noChangeArrowheads="1"/>
          </p:cNvSpPr>
          <p:nvPr/>
        </p:nvSpPr>
        <p:spPr bwMode="auto">
          <a:xfrm>
            <a:off x="0" y="6613526"/>
            <a:ext cx="12192000" cy="244475"/>
          </a:xfrm>
          <a:prstGeom prst="rect">
            <a:avLst/>
          </a:prstGeom>
          <a:solidFill>
            <a:srgbClr val="A50021"/>
          </a:solidFill>
          <a:ln>
            <a:noFill/>
          </a:ln>
          <a:effec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dirty="0">
                <a:solidFill>
                  <a:schemeClr val="bg1"/>
                </a:solidFill>
                <a:latin typeface="Times New Roman" pitchFamily="18" charset="0"/>
              </a:rPr>
              <a:t>河海大学计算机与软件学院计算机科学与技术系 </a:t>
            </a:r>
            <a:endParaRPr kumimoji="1" lang="en-US" altLang="zh-CN" sz="1000" dirty="0">
              <a:solidFill>
                <a:schemeClr val="bg1"/>
              </a:solidFill>
              <a:latin typeface="Times New Roman" pitchFamily="18" charset="0"/>
            </a:endParaRPr>
          </a:p>
        </p:txBody>
      </p:sp>
      <p:pic>
        <p:nvPicPr>
          <p:cNvPr id="103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 Box 14"/>
          <p:cNvSpPr txBox="1">
            <a:spLocks noChangeArrowheads="1"/>
          </p:cNvSpPr>
          <p:nvPr/>
        </p:nvSpPr>
        <p:spPr bwMode="auto">
          <a:xfrm>
            <a:off x="3312585" y="260350"/>
            <a:ext cx="3744383" cy="457200"/>
          </a:xfrm>
          <a:prstGeom prst="rect">
            <a:avLst/>
          </a:prstGeom>
          <a:noFill/>
          <a:ln>
            <a:noFill/>
          </a:ln>
          <a:effec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1032" name="Picture 15" descr="邓体字徽（白色透明）"/>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39185" y="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 id="2147484069" r:id="rId13"/>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609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400">
                <a:latin typeface="Times New Roman" pitchFamily="18" charset="0"/>
              </a:defRPr>
            </a:lvl1pPr>
          </a:lstStyle>
          <a:p>
            <a:pPr>
              <a:defRPr/>
            </a:pPr>
            <a:fld id="{EDBA6AB9-5600-4B39-A0F4-43F2A431A2F0}" type="datetime11">
              <a:rPr lang="zh-CN" altLang="en-US"/>
              <a:pPr>
                <a:defRPr/>
              </a:pPr>
              <a:t>21:27:20</a:t>
            </a:fld>
            <a:endParaRPr lang="en-US" altLang="zh-CN"/>
          </a:p>
        </p:txBody>
      </p:sp>
      <p:sp>
        <p:nvSpPr>
          <p:cNvPr id="221189" name="Rectangle 5"/>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kumimoji="1" sz="1400">
                <a:latin typeface="Times New Roman" pitchFamily="18" charset="0"/>
              </a:defRPr>
            </a:lvl1pPr>
          </a:lstStyle>
          <a:p>
            <a:pPr>
              <a:defRPr/>
            </a:pPr>
            <a:endParaRPr lang="en-US" altLang="zh-CN"/>
          </a:p>
        </p:txBody>
      </p:sp>
      <p:sp>
        <p:nvSpPr>
          <p:cNvPr id="221190" name="Rectangle 6"/>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400">
                <a:latin typeface="Times New Roman" panose="02020603050405020304" pitchFamily="18" charset="0"/>
              </a:defRPr>
            </a:lvl1pPr>
          </a:lstStyle>
          <a:p>
            <a:pPr>
              <a:defRPr/>
            </a:pPr>
            <a:fld id="{1F08AC4F-90A3-4AFB-848B-A91245826609}"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70"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11.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656139" y="2852739"/>
            <a:ext cx="2808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spcBef>
                <a:spcPct val="50000"/>
              </a:spcBef>
            </a:pPr>
            <a:r>
              <a:rPr kumimoji="1" lang="zh-CN" altLang="en-US" sz="4000" b="1" dirty="0">
                <a:solidFill>
                  <a:srgbClr val="800000"/>
                </a:solidFill>
                <a:latin typeface="黑体" panose="02010609060101010101" pitchFamily="49" charset="-122"/>
                <a:ea typeface="黑体" panose="02010609060101010101" pitchFamily="49" charset="-122"/>
              </a:rPr>
              <a:t>局域网扩展</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ChangeArrowheads="1"/>
          </p:cNvSpPr>
          <p:nvPr/>
        </p:nvSpPr>
        <p:spPr bwMode="auto">
          <a:xfrm>
            <a:off x="1524001"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0" name="Rectangle 4"/>
          <p:cNvSpPr>
            <a:spLocks noChangeArrowheads="1"/>
          </p:cNvSpPr>
          <p:nvPr/>
        </p:nvSpPr>
        <p:spPr bwMode="auto">
          <a:xfrm>
            <a:off x="1524001"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4" name="Rectangle 43">
            <a:extLst>
              <a:ext uri="{FF2B5EF4-FFF2-40B4-BE49-F238E27FC236}">
                <a16:creationId xmlns:a16="http://schemas.microsoft.com/office/drawing/2014/main" id="{962487C2-A0C4-486C-B3F7-52FB0CD27438}"/>
              </a:ext>
            </a:extLst>
          </p:cNvPr>
          <p:cNvSpPr txBox="1">
            <a:spLocks noChangeArrowheads="1"/>
          </p:cNvSpPr>
          <p:nvPr/>
        </p:nvSpPr>
        <p:spPr bwMode="auto">
          <a:xfrm>
            <a:off x="3431704" y="3212976"/>
            <a:ext cx="510593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r>
              <a:rPr lang="zh-CN" altLang="en-US" sz="2800" kern="0" dirty="0">
                <a:solidFill>
                  <a:srgbClr val="2A10E8"/>
                </a:solidFill>
                <a:latin typeface="微软雅黑" panose="020B0503020204020204" pitchFamily="34" charset="-122"/>
                <a:ea typeface="微软雅黑" panose="020B0503020204020204" pitchFamily="34" charset="-122"/>
              </a:rPr>
              <a:t>用</a:t>
            </a:r>
            <a:r>
              <a:rPr lang="zh-CN" altLang="en-US" sz="2800" kern="0" dirty="0">
                <a:solidFill>
                  <a:srgbClr val="FF0000"/>
                </a:solidFill>
                <a:latin typeface="微软雅黑" panose="020B0503020204020204" pitchFamily="34" charset="-122"/>
                <a:ea typeface="微软雅黑" panose="020B0503020204020204" pitchFamily="34" charset="-122"/>
              </a:rPr>
              <a:t>集线器</a:t>
            </a:r>
            <a:r>
              <a:rPr lang="zh-CN" altLang="en-US" sz="2800" kern="0" dirty="0">
                <a:solidFill>
                  <a:srgbClr val="2A10E8"/>
                </a:solidFill>
                <a:latin typeface="微软雅黑" panose="020B0503020204020204" pitchFamily="34" charset="-122"/>
                <a:ea typeface="微软雅黑" panose="020B0503020204020204" pitchFamily="34" charset="-122"/>
              </a:rPr>
              <a:t>在</a:t>
            </a:r>
            <a:r>
              <a:rPr lang="zh-CN" altLang="en-US" sz="2800" kern="0" dirty="0">
                <a:solidFill>
                  <a:srgbClr val="FF0000"/>
                </a:solidFill>
                <a:latin typeface="微软雅黑" panose="020B0503020204020204" pitchFamily="34" charset="-122"/>
                <a:ea typeface="微软雅黑" panose="020B0503020204020204" pitchFamily="34" charset="-122"/>
              </a:rPr>
              <a:t>物理层</a:t>
            </a:r>
            <a:r>
              <a:rPr lang="zh-CN" altLang="en-US" sz="2800" kern="0" dirty="0">
                <a:solidFill>
                  <a:srgbClr val="2A10E8"/>
                </a:solidFill>
                <a:latin typeface="微软雅黑" panose="020B0503020204020204" pitchFamily="34" charset="-122"/>
                <a:ea typeface="微软雅黑" panose="020B0503020204020204" pitchFamily="34" charset="-122"/>
              </a:rPr>
              <a:t>扩展局域网</a:t>
            </a:r>
            <a:endParaRPr lang="zh-CN" altLang="en-US" sz="3600" kern="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2566989" y="1916114"/>
            <a:ext cx="7850187" cy="657225"/>
          </a:xfrm>
        </p:spPr>
        <p:txBody>
          <a:bodyPr/>
          <a:lstStyle/>
          <a:p>
            <a:pPr eaLnBrk="1" hangingPunct="1">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用多个集线器可连成更大的局域网</a:t>
            </a:r>
            <a:r>
              <a:rPr lang="zh-CN" altLang="en-US" sz="2600">
                <a:latin typeface="黑体" panose="02010609060101010101" pitchFamily="49" charset="-122"/>
                <a:ea typeface="黑体" panose="02010609060101010101" pitchFamily="49" charset="-122"/>
              </a:rPr>
              <a:t> </a:t>
            </a:r>
          </a:p>
        </p:txBody>
      </p:sp>
      <p:sp>
        <p:nvSpPr>
          <p:cNvPr id="9219" name="Rectangle 3"/>
          <p:cNvSpPr>
            <a:spLocks noChangeArrowheads="1"/>
          </p:cNvSpPr>
          <p:nvPr/>
        </p:nvSpPr>
        <p:spPr bwMode="auto">
          <a:xfrm>
            <a:off x="1524001"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0" name="Rectangle 4"/>
          <p:cNvSpPr>
            <a:spLocks noChangeArrowheads="1"/>
          </p:cNvSpPr>
          <p:nvPr/>
        </p:nvSpPr>
        <p:spPr bwMode="auto">
          <a:xfrm>
            <a:off x="1524001"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2" name="AutoShape 6"/>
          <p:cNvSpPr>
            <a:spLocks noChangeArrowheads="1"/>
          </p:cNvSpPr>
          <p:nvPr/>
        </p:nvSpPr>
        <p:spPr bwMode="auto">
          <a:xfrm>
            <a:off x="7466013" y="3716339"/>
            <a:ext cx="2381250" cy="2573337"/>
          </a:xfrm>
          <a:prstGeom prst="roundRect">
            <a:avLst>
              <a:gd name="adj" fmla="val 16667"/>
            </a:avLst>
          </a:prstGeom>
          <a:solidFill>
            <a:srgbClr val="FFFF99"/>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3" name="AutoShape 7"/>
          <p:cNvSpPr>
            <a:spLocks noChangeArrowheads="1"/>
          </p:cNvSpPr>
          <p:nvPr/>
        </p:nvSpPr>
        <p:spPr bwMode="auto">
          <a:xfrm>
            <a:off x="4945063" y="3716339"/>
            <a:ext cx="2381250" cy="2573337"/>
          </a:xfrm>
          <a:prstGeom prst="roundRect">
            <a:avLst>
              <a:gd name="adj" fmla="val 16667"/>
            </a:avLst>
          </a:prstGeom>
          <a:solidFill>
            <a:srgbClr val="FFFF99"/>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4" name="AutoShape 8"/>
          <p:cNvSpPr>
            <a:spLocks noChangeArrowheads="1"/>
          </p:cNvSpPr>
          <p:nvPr/>
        </p:nvSpPr>
        <p:spPr bwMode="auto">
          <a:xfrm>
            <a:off x="2424113" y="3716339"/>
            <a:ext cx="2381250" cy="2573337"/>
          </a:xfrm>
          <a:prstGeom prst="roundRect">
            <a:avLst>
              <a:gd name="adj" fmla="val 16667"/>
            </a:avLst>
          </a:prstGeom>
          <a:solidFill>
            <a:srgbClr val="FFFF99"/>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225" name="Line 9"/>
          <p:cNvSpPr>
            <a:spLocks noChangeShapeType="1"/>
          </p:cNvSpPr>
          <p:nvPr/>
        </p:nvSpPr>
        <p:spPr bwMode="auto">
          <a:xfrm flipH="1">
            <a:off x="5318126" y="4819650"/>
            <a:ext cx="466725" cy="774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2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4764" y="5430839"/>
            <a:ext cx="4460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27" name="Line 11"/>
          <p:cNvSpPr>
            <a:spLocks noChangeShapeType="1"/>
          </p:cNvSpPr>
          <p:nvPr/>
        </p:nvSpPr>
        <p:spPr bwMode="auto">
          <a:xfrm>
            <a:off x="6369050" y="4957763"/>
            <a:ext cx="46038" cy="6159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8" name="Line 12"/>
          <p:cNvSpPr>
            <a:spLocks noChangeShapeType="1"/>
          </p:cNvSpPr>
          <p:nvPr/>
        </p:nvSpPr>
        <p:spPr bwMode="auto">
          <a:xfrm>
            <a:off x="6626225" y="4941889"/>
            <a:ext cx="376238" cy="6111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9" name="Line 13"/>
          <p:cNvSpPr>
            <a:spLocks noChangeShapeType="1"/>
          </p:cNvSpPr>
          <p:nvPr/>
        </p:nvSpPr>
        <p:spPr bwMode="auto">
          <a:xfrm flipH="1">
            <a:off x="5872164" y="4967289"/>
            <a:ext cx="160337" cy="6429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30"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5150" y="5430839"/>
            <a:ext cx="446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31"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05539" y="5430839"/>
            <a:ext cx="4460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32" name="Picture 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5925" y="5430839"/>
            <a:ext cx="446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33" name="Oval 17"/>
          <p:cNvSpPr>
            <a:spLocks noChangeArrowheads="1"/>
          </p:cNvSpPr>
          <p:nvPr/>
        </p:nvSpPr>
        <p:spPr bwMode="auto">
          <a:xfrm>
            <a:off x="5224463" y="4452939"/>
            <a:ext cx="1960562" cy="611187"/>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9234" name="Line 18"/>
          <p:cNvSpPr>
            <a:spLocks noChangeShapeType="1"/>
          </p:cNvSpPr>
          <p:nvPr/>
        </p:nvSpPr>
        <p:spPr bwMode="auto">
          <a:xfrm flipH="1">
            <a:off x="2797176" y="4819650"/>
            <a:ext cx="466725" cy="774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35"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3814" y="5430839"/>
            <a:ext cx="4460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36" name="Line 20"/>
          <p:cNvSpPr>
            <a:spLocks noChangeShapeType="1"/>
          </p:cNvSpPr>
          <p:nvPr/>
        </p:nvSpPr>
        <p:spPr bwMode="auto">
          <a:xfrm>
            <a:off x="3848100" y="4957763"/>
            <a:ext cx="46038" cy="6159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7" name="Line 21"/>
          <p:cNvSpPr>
            <a:spLocks noChangeShapeType="1"/>
          </p:cNvSpPr>
          <p:nvPr/>
        </p:nvSpPr>
        <p:spPr bwMode="auto">
          <a:xfrm>
            <a:off x="4079875" y="4921251"/>
            <a:ext cx="401638" cy="6318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8" name="Line 22"/>
          <p:cNvSpPr>
            <a:spLocks noChangeShapeType="1"/>
          </p:cNvSpPr>
          <p:nvPr/>
        </p:nvSpPr>
        <p:spPr bwMode="auto">
          <a:xfrm flipH="1">
            <a:off x="3351214" y="4967289"/>
            <a:ext cx="160337" cy="6429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39"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5430839"/>
            <a:ext cx="446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40"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84589" y="5430839"/>
            <a:ext cx="4460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41"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4975" y="5430839"/>
            <a:ext cx="4460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42" name="Oval 26"/>
          <p:cNvSpPr>
            <a:spLocks noChangeArrowheads="1"/>
          </p:cNvSpPr>
          <p:nvPr/>
        </p:nvSpPr>
        <p:spPr bwMode="auto">
          <a:xfrm>
            <a:off x="2703513" y="4452939"/>
            <a:ext cx="1960562" cy="611187"/>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9243" name="Text Box 27"/>
          <p:cNvSpPr txBox="1">
            <a:spLocks noChangeArrowheads="1"/>
          </p:cNvSpPr>
          <p:nvPr/>
        </p:nvSpPr>
        <p:spPr bwMode="auto">
          <a:xfrm>
            <a:off x="3159125" y="3778251"/>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一系</a:t>
            </a:r>
          </a:p>
        </p:txBody>
      </p:sp>
      <p:sp>
        <p:nvSpPr>
          <p:cNvPr id="9244" name="Text Box 28"/>
          <p:cNvSpPr txBox="1">
            <a:spLocks noChangeArrowheads="1"/>
          </p:cNvSpPr>
          <p:nvPr/>
        </p:nvSpPr>
        <p:spPr bwMode="auto">
          <a:xfrm>
            <a:off x="5645150" y="3778251"/>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二系</a:t>
            </a:r>
          </a:p>
        </p:txBody>
      </p:sp>
      <p:sp>
        <p:nvSpPr>
          <p:cNvPr id="9245" name="Line 29"/>
          <p:cNvSpPr>
            <a:spLocks noChangeShapeType="1"/>
          </p:cNvSpPr>
          <p:nvPr/>
        </p:nvSpPr>
        <p:spPr bwMode="auto">
          <a:xfrm flipH="1">
            <a:off x="7813676" y="4819650"/>
            <a:ext cx="466725" cy="774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46" name="Picture 3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0314" y="5432425"/>
            <a:ext cx="4460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47" name="Line 31"/>
          <p:cNvSpPr>
            <a:spLocks noChangeShapeType="1"/>
          </p:cNvSpPr>
          <p:nvPr/>
        </p:nvSpPr>
        <p:spPr bwMode="auto">
          <a:xfrm>
            <a:off x="8864600" y="4957764"/>
            <a:ext cx="46038"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32"/>
          <p:cNvSpPr>
            <a:spLocks noChangeShapeType="1"/>
          </p:cNvSpPr>
          <p:nvPr/>
        </p:nvSpPr>
        <p:spPr bwMode="auto">
          <a:xfrm>
            <a:off x="9120189" y="4941889"/>
            <a:ext cx="376237" cy="612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33"/>
          <p:cNvSpPr>
            <a:spLocks noChangeShapeType="1"/>
          </p:cNvSpPr>
          <p:nvPr/>
        </p:nvSpPr>
        <p:spPr bwMode="auto">
          <a:xfrm flipH="1">
            <a:off x="8367714" y="4968875"/>
            <a:ext cx="160337" cy="6429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9250"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40700" y="5432425"/>
            <a:ext cx="446088"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51" name="Picture 3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1089" y="5432425"/>
            <a:ext cx="4460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252"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61475" y="5432425"/>
            <a:ext cx="446088"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9253" name="Oval 37"/>
          <p:cNvSpPr>
            <a:spLocks noChangeArrowheads="1"/>
          </p:cNvSpPr>
          <p:nvPr/>
        </p:nvSpPr>
        <p:spPr bwMode="auto">
          <a:xfrm>
            <a:off x="7720013" y="4452939"/>
            <a:ext cx="1960562" cy="612775"/>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9254" name="Text Box 38"/>
          <p:cNvSpPr txBox="1">
            <a:spLocks noChangeArrowheads="1"/>
          </p:cNvSpPr>
          <p:nvPr/>
        </p:nvSpPr>
        <p:spPr bwMode="auto">
          <a:xfrm>
            <a:off x="8201025" y="3778251"/>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三系</a:t>
            </a:r>
          </a:p>
        </p:txBody>
      </p:sp>
      <p:sp>
        <p:nvSpPr>
          <p:cNvPr id="9255" name="Text Box 39"/>
          <p:cNvSpPr txBox="1">
            <a:spLocks noChangeArrowheads="1"/>
          </p:cNvSpPr>
          <p:nvPr/>
        </p:nvSpPr>
        <p:spPr bwMode="auto">
          <a:xfrm>
            <a:off x="4872038" y="2565400"/>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sz="2400">
                <a:solidFill>
                  <a:srgbClr val="333399"/>
                </a:solidFill>
                <a:latin typeface="Times New Roman" panose="02020603050405020304" pitchFamily="18" charset="0"/>
                <a:ea typeface="黑体" panose="02010609060101010101" pitchFamily="49" charset="-122"/>
              </a:rPr>
              <a:t>三个独立的碰撞域</a:t>
            </a:r>
          </a:p>
        </p:txBody>
      </p:sp>
      <p:sp>
        <p:nvSpPr>
          <p:cNvPr id="9256" name="Line 40"/>
          <p:cNvSpPr>
            <a:spLocks noChangeShapeType="1"/>
          </p:cNvSpPr>
          <p:nvPr/>
        </p:nvSpPr>
        <p:spPr bwMode="auto">
          <a:xfrm flipH="1">
            <a:off x="3824289" y="3049588"/>
            <a:ext cx="1335087" cy="66675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257" name="Line 41"/>
          <p:cNvSpPr>
            <a:spLocks noChangeShapeType="1"/>
          </p:cNvSpPr>
          <p:nvPr/>
        </p:nvSpPr>
        <p:spPr bwMode="auto">
          <a:xfrm flipH="1">
            <a:off x="6065838" y="3121026"/>
            <a:ext cx="30162" cy="59531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258" name="Line 42"/>
          <p:cNvSpPr>
            <a:spLocks noChangeShapeType="1"/>
          </p:cNvSpPr>
          <p:nvPr/>
        </p:nvSpPr>
        <p:spPr bwMode="auto">
          <a:xfrm>
            <a:off x="7104064" y="3049588"/>
            <a:ext cx="1622425" cy="66675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 name="Rectangle 43">
            <a:extLst>
              <a:ext uri="{FF2B5EF4-FFF2-40B4-BE49-F238E27FC236}">
                <a16:creationId xmlns:a16="http://schemas.microsoft.com/office/drawing/2014/main" id="{962487C2-A0C4-486C-B3F7-52FB0CD27438}"/>
              </a:ext>
            </a:extLst>
          </p:cNvPr>
          <p:cNvSpPr txBox="1">
            <a:spLocks noChangeArrowheads="1"/>
          </p:cNvSpPr>
          <p:nvPr/>
        </p:nvSpPr>
        <p:spPr bwMode="auto">
          <a:xfrm>
            <a:off x="766233" y="980728"/>
            <a:ext cx="510593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r>
              <a:rPr lang="zh-CN" altLang="en-US" sz="2800" kern="0" dirty="0">
                <a:solidFill>
                  <a:srgbClr val="2A10E8"/>
                </a:solidFill>
                <a:latin typeface="微软雅黑" panose="020B0503020204020204" pitchFamily="34" charset="-122"/>
                <a:ea typeface="微软雅黑" panose="020B0503020204020204" pitchFamily="34" charset="-122"/>
              </a:rPr>
              <a:t>用</a:t>
            </a:r>
            <a:r>
              <a:rPr lang="zh-CN" altLang="en-US" sz="2800" kern="0" dirty="0">
                <a:solidFill>
                  <a:srgbClr val="FF0000"/>
                </a:solidFill>
                <a:latin typeface="微软雅黑" panose="020B0503020204020204" pitchFamily="34" charset="-122"/>
                <a:ea typeface="微软雅黑" panose="020B0503020204020204" pitchFamily="34" charset="-122"/>
              </a:rPr>
              <a:t>集线器</a:t>
            </a:r>
            <a:r>
              <a:rPr lang="zh-CN" altLang="en-US" sz="2800" kern="0" dirty="0">
                <a:solidFill>
                  <a:srgbClr val="2A10E8"/>
                </a:solidFill>
                <a:latin typeface="微软雅黑" panose="020B0503020204020204" pitchFamily="34" charset="-122"/>
                <a:ea typeface="微软雅黑" panose="020B0503020204020204" pitchFamily="34" charset="-122"/>
              </a:rPr>
              <a:t>在</a:t>
            </a:r>
            <a:r>
              <a:rPr lang="zh-CN" altLang="en-US" sz="2800" kern="0" dirty="0">
                <a:solidFill>
                  <a:srgbClr val="FF0000"/>
                </a:solidFill>
                <a:latin typeface="微软雅黑" panose="020B0503020204020204" pitchFamily="34" charset="-122"/>
                <a:ea typeface="微软雅黑" panose="020B0503020204020204" pitchFamily="34" charset="-122"/>
              </a:rPr>
              <a:t>物理层</a:t>
            </a:r>
            <a:r>
              <a:rPr lang="zh-CN" altLang="en-US" sz="2800" kern="0" dirty="0">
                <a:solidFill>
                  <a:srgbClr val="2A10E8"/>
                </a:solidFill>
                <a:latin typeface="微软雅黑" panose="020B0503020204020204" pitchFamily="34" charset="-122"/>
                <a:ea typeface="微软雅黑" panose="020B0503020204020204" pitchFamily="34" charset="-122"/>
              </a:rPr>
              <a:t>扩展局域网</a:t>
            </a:r>
            <a:endParaRPr lang="zh-CN" altLang="en-US" sz="3600"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038621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760976" y="2647703"/>
            <a:ext cx="7850187" cy="657225"/>
          </a:xfrm>
        </p:spPr>
        <p:txBody>
          <a:bodyPr/>
          <a:lstStyle/>
          <a:p>
            <a:pPr eaLnBrk="1" hangingPunct="1">
              <a:buFont typeface="Wingdings" panose="05000000000000000000" pitchFamily="2" charset="2"/>
              <a:buNone/>
            </a:pPr>
            <a:r>
              <a:rPr lang="zh-CN" altLang="en-US" sz="2600" dirty="0">
                <a:latin typeface="黑体" panose="02010609060101010101" pitchFamily="49" charset="-122"/>
                <a:ea typeface="黑体" panose="02010609060101010101" pitchFamily="49" charset="-122"/>
              </a:rPr>
              <a:t>用多个集线器可连成更大的局域网。 </a:t>
            </a:r>
          </a:p>
        </p:txBody>
      </p:sp>
      <p:grpSp>
        <p:nvGrpSpPr>
          <p:cNvPr id="10243" name="Group 4"/>
          <p:cNvGrpSpPr>
            <a:grpSpLocks/>
          </p:cNvGrpSpPr>
          <p:nvPr/>
        </p:nvGrpSpPr>
        <p:grpSpPr bwMode="auto">
          <a:xfrm>
            <a:off x="4151784" y="2996952"/>
            <a:ext cx="7920038" cy="3529013"/>
            <a:chOff x="476" y="1842"/>
            <a:chExt cx="4989" cy="2223"/>
          </a:xfrm>
        </p:grpSpPr>
        <p:sp>
          <p:nvSpPr>
            <p:cNvPr id="10245" name="AutoShape 5"/>
            <p:cNvSpPr>
              <a:spLocks noChangeArrowheads="1"/>
            </p:cNvSpPr>
            <p:nvPr/>
          </p:nvSpPr>
          <p:spPr bwMode="auto">
            <a:xfrm>
              <a:off x="476" y="2024"/>
              <a:ext cx="4989" cy="2041"/>
            </a:xfrm>
            <a:prstGeom prst="roundRect">
              <a:avLst>
                <a:gd name="adj" fmla="val 16667"/>
              </a:avLst>
            </a:prstGeom>
            <a:solidFill>
              <a:srgbClr val="FFFF99"/>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246" name="Line 6"/>
            <p:cNvSpPr>
              <a:spLocks noChangeShapeType="1"/>
            </p:cNvSpPr>
            <p:nvPr/>
          </p:nvSpPr>
          <p:spPr bwMode="auto">
            <a:xfrm flipH="1">
              <a:off x="2390" y="3139"/>
              <a:ext cx="294" cy="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47"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43"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48" name="Line 8"/>
            <p:cNvSpPr>
              <a:spLocks noChangeShapeType="1"/>
            </p:cNvSpPr>
            <p:nvPr/>
          </p:nvSpPr>
          <p:spPr bwMode="auto">
            <a:xfrm>
              <a:off x="3052" y="3226"/>
              <a:ext cx="29" cy="3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9" name="Line 9"/>
            <p:cNvSpPr>
              <a:spLocks noChangeShapeType="1"/>
            </p:cNvSpPr>
            <p:nvPr/>
          </p:nvSpPr>
          <p:spPr bwMode="auto">
            <a:xfrm>
              <a:off x="3214" y="3216"/>
              <a:ext cx="237" cy="38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0" name="Line 10"/>
            <p:cNvSpPr>
              <a:spLocks noChangeShapeType="1"/>
            </p:cNvSpPr>
            <p:nvPr/>
          </p:nvSpPr>
          <p:spPr bwMode="auto">
            <a:xfrm flipH="1">
              <a:off x="2739" y="3232"/>
              <a:ext cx="101" cy="40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51"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6"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5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49"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5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2"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54" name="Line 14"/>
            <p:cNvSpPr>
              <a:spLocks noChangeShapeType="1"/>
            </p:cNvSpPr>
            <p:nvPr/>
          </p:nvSpPr>
          <p:spPr bwMode="auto">
            <a:xfrm flipH="1">
              <a:off x="802" y="3139"/>
              <a:ext cx="294" cy="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55"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56" name="Line 16"/>
            <p:cNvSpPr>
              <a:spLocks noChangeShapeType="1"/>
            </p:cNvSpPr>
            <p:nvPr/>
          </p:nvSpPr>
          <p:spPr bwMode="auto">
            <a:xfrm>
              <a:off x="1464" y="3226"/>
              <a:ext cx="29" cy="3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7" name="Line 17"/>
            <p:cNvSpPr>
              <a:spLocks noChangeShapeType="1"/>
            </p:cNvSpPr>
            <p:nvPr/>
          </p:nvSpPr>
          <p:spPr bwMode="auto">
            <a:xfrm>
              <a:off x="1610" y="3203"/>
              <a:ext cx="253" cy="39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8" name="Line 18"/>
            <p:cNvSpPr>
              <a:spLocks noChangeShapeType="1"/>
            </p:cNvSpPr>
            <p:nvPr/>
          </p:nvSpPr>
          <p:spPr bwMode="auto">
            <a:xfrm flipH="1">
              <a:off x="1151" y="3232"/>
              <a:ext cx="101" cy="40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5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60"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1"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61"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4" y="3524"/>
              <a:ext cx="28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62" name="Text Box 22"/>
            <p:cNvSpPr txBox="1">
              <a:spLocks noChangeArrowheads="1"/>
            </p:cNvSpPr>
            <p:nvPr/>
          </p:nvSpPr>
          <p:spPr bwMode="auto">
            <a:xfrm>
              <a:off x="1038" y="2681"/>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一系</a:t>
              </a:r>
            </a:p>
          </p:txBody>
        </p:sp>
        <p:sp>
          <p:nvSpPr>
            <p:cNvPr id="10263" name="Text Box 23"/>
            <p:cNvSpPr txBox="1">
              <a:spLocks noChangeArrowheads="1"/>
            </p:cNvSpPr>
            <p:nvPr/>
          </p:nvSpPr>
          <p:spPr bwMode="auto">
            <a:xfrm>
              <a:off x="2535" y="2681"/>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二系</a:t>
              </a:r>
            </a:p>
          </p:txBody>
        </p:sp>
        <p:sp>
          <p:nvSpPr>
            <p:cNvPr id="10264" name="Line 24"/>
            <p:cNvSpPr>
              <a:spLocks noChangeShapeType="1"/>
            </p:cNvSpPr>
            <p:nvPr/>
          </p:nvSpPr>
          <p:spPr bwMode="auto">
            <a:xfrm flipH="1">
              <a:off x="3962" y="3139"/>
              <a:ext cx="294" cy="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65"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5" y="3525"/>
              <a:ext cx="28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66" name="Line 26"/>
            <p:cNvSpPr>
              <a:spLocks noChangeShapeType="1"/>
            </p:cNvSpPr>
            <p:nvPr/>
          </p:nvSpPr>
          <p:spPr bwMode="auto">
            <a:xfrm>
              <a:off x="4624" y="3226"/>
              <a:ext cx="29" cy="38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7" name="Line 27"/>
            <p:cNvSpPr>
              <a:spLocks noChangeShapeType="1"/>
            </p:cNvSpPr>
            <p:nvPr/>
          </p:nvSpPr>
          <p:spPr bwMode="auto">
            <a:xfrm>
              <a:off x="4785" y="3216"/>
              <a:ext cx="237" cy="38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8" name="Line 28"/>
            <p:cNvSpPr>
              <a:spLocks noChangeShapeType="1"/>
            </p:cNvSpPr>
            <p:nvPr/>
          </p:nvSpPr>
          <p:spPr bwMode="auto">
            <a:xfrm flipH="1">
              <a:off x="4311" y="3233"/>
              <a:ext cx="101" cy="40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0269" name="Picture 2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68" y="3525"/>
              <a:ext cx="28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70" name="Picture 3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21" y="3525"/>
              <a:ext cx="28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71"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4" y="3525"/>
              <a:ext cx="28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0272" name="Text Box 32"/>
            <p:cNvSpPr txBox="1">
              <a:spLocks noChangeArrowheads="1"/>
            </p:cNvSpPr>
            <p:nvPr/>
          </p:nvSpPr>
          <p:spPr bwMode="auto">
            <a:xfrm>
              <a:off x="4195" y="2659"/>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a:solidFill>
                    <a:srgbClr val="333399"/>
                  </a:solidFill>
                  <a:latin typeface="Times New Roman" panose="02020603050405020304" pitchFamily="18" charset="0"/>
                  <a:ea typeface="黑体" panose="02010609060101010101" pitchFamily="49" charset="-122"/>
                </a:rPr>
                <a:t>三系</a:t>
              </a:r>
            </a:p>
          </p:txBody>
        </p:sp>
        <p:sp>
          <p:nvSpPr>
            <p:cNvPr id="10273" name="Line 33"/>
            <p:cNvSpPr>
              <a:spLocks noChangeShapeType="1"/>
            </p:cNvSpPr>
            <p:nvPr/>
          </p:nvSpPr>
          <p:spPr bwMode="auto">
            <a:xfrm flipH="1">
              <a:off x="2971" y="1842"/>
              <a:ext cx="0" cy="454"/>
            </a:xfrm>
            <a:prstGeom prst="line">
              <a:avLst/>
            </a:prstGeom>
            <a:noFill/>
            <a:ln w="28575">
              <a:solidFill>
                <a:srgbClr val="333399"/>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274" name="Line 34"/>
            <p:cNvSpPr>
              <a:spLocks noChangeShapeType="1"/>
            </p:cNvSpPr>
            <p:nvPr/>
          </p:nvSpPr>
          <p:spPr bwMode="auto">
            <a:xfrm flipH="1">
              <a:off x="1383" y="2432"/>
              <a:ext cx="1270" cy="57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5" name="Line 35"/>
            <p:cNvSpPr>
              <a:spLocks noChangeShapeType="1"/>
            </p:cNvSpPr>
            <p:nvPr/>
          </p:nvSpPr>
          <p:spPr bwMode="auto">
            <a:xfrm flipH="1">
              <a:off x="2971" y="2523"/>
              <a:ext cx="0" cy="49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6" name="Line 36"/>
            <p:cNvSpPr>
              <a:spLocks noChangeShapeType="1"/>
            </p:cNvSpPr>
            <p:nvPr/>
          </p:nvSpPr>
          <p:spPr bwMode="auto">
            <a:xfrm>
              <a:off x="3243" y="2478"/>
              <a:ext cx="1270" cy="58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7" name="Oval 37"/>
            <p:cNvSpPr>
              <a:spLocks noChangeArrowheads="1"/>
            </p:cNvSpPr>
            <p:nvPr/>
          </p:nvSpPr>
          <p:spPr bwMode="auto">
            <a:xfrm>
              <a:off x="2331" y="2908"/>
              <a:ext cx="1235" cy="385"/>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10278" name="Oval 38"/>
            <p:cNvSpPr>
              <a:spLocks noChangeArrowheads="1"/>
            </p:cNvSpPr>
            <p:nvPr/>
          </p:nvSpPr>
          <p:spPr bwMode="auto">
            <a:xfrm>
              <a:off x="743" y="2908"/>
              <a:ext cx="1235" cy="385"/>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10279" name="Oval 39"/>
            <p:cNvSpPr>
              <a:spLocks noChangeArrowheads="1"/>
            </p:cNvSpPr>
            <p:nvPr/>
          </p:nvSpPr>
          <p:spPr bwMode="auto">
            <a:xfrm>
              <a:off x="3903" y="2908"/>
              <a:ext cx="1235" cy="386"/>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10280" name="Oval 40"/>
            <p:cNvSpPr>
              <a:spLocks noChangeArrowheads="1"/>
            </p:cNvSpPr>
            <p:nvPr/>
          </p:nvSpPr>
          <p:spPr bwMode="auto">
            <a:xfrm>
              <a:off x="2336" y="2251"/>
              <a:ext cx="1235" cy="385"/>
            </a:xfrm>
            <a:prstGeom prst="ellipse">
              <a:avLst/>
            </a:prstGeom>
            <a:solidFill>
              <a:srgbClr val="CCECFF"/>
            </a:solidFill>
            <a:ln w="9525">
              <a:solidFill>
                <a:schemeClr val="tx1"/>
              </a:solidFill>
              <a:round/>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a:solidFill>
                    <a:srgbClr val="333399"/>
                  </a:solidFill>
                  <a:latin typeface="Times New Roman" panose="02020603050405020304" pitchFamily="18" charset="0"/>
                  <a:ea typeface="黑体" panose="02010609060101010101" pitchFamily="49" charset="-122"/>
                </a:rPr>
                <a:t>集线器</a:t>
              </a:r>
            </a:p>
          </p:txBody>
        </p:sp>
        <p:sp>
          <p:nvSpPr>
            <p:cNvPr id="10281" name="Text Box 41"/>
            <p:cNvSpPr txBox="1">
              <a:spLocks noChangeArrowheads="1"/>
            </p:cNvSpPr>
            <p:nvPr/>
          </p:nvSpPr>
          <p:spPr bwMode="auto">
            <a:xfrm>
              <a:off x="1247" y="2235"/>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kumimoji="1" lang="zh-CN" altLang="en-US" sz="2400">
                  <a:solidFill>
                    <a:srgbClr val="333399"/>
                  </a:solidFill>
                  <a:latin typeface="Times New Roman" panose="02020603050405020304" pitchFamily="18" charset="0"/>
                  <a:ea typeface="黑体" panose="02010609060101010101" pitchFamily="49" charset="-122"/>
                </a:rPr>
                <a:t>主干集线器</a:t>
              </a:r>
            </a:p>
          </p:txBody>
        </p:sp>
      </p:grpSp>
      <p:sp>
        <p:nvSpPr>
          <p:cNvPr id="10244" name="Rectangle 43"/>
          <p:cNvSpPr>
            <a:spLocks noGrp="1" noChangeArrowheads="1"/>
          </p:cNvSpPr>
          <p:nvPr>
            <p:ph type="title"/>
          </p:nvPr>
        </p:nvSpPr>
        <p:spPr>
          <a:xfrm>
            <a:off x="766233" y="980728"/>
            <a:ext cx="5105930" cy="539750"/>
          </a:xfrm>
          <a:noFill/>
        </p:spPr>
        <p:txBody>
          <a:bodyPr/>
          <a:lstStyle/>
          <a:p>
            <a:pPr eaLnBrk="1" hangingPunct="1"/>
            <a:r>
              <a:rPr lang="zh-CN" altLang="en-US" sz="2800" dirty="0">
                <a:solidFill>
                  <a:srgbClr val="2A10E8"/>
                </a:solidFill>
                <a:latin typeface="微软雅黑" panose="020B0503020204020204" pitchFamily="34" charset="-122"/>
                <a:ea typeface="微软雅黑" panose="020B0503020204020204" pitchFamily="34" charset="-122"/>
              </a:rPr>
              <a:t>用</a:t>
            </a:r>
            <a:r>
              <a:rPr lang="zh-CN" altLang="en-US" sz="2800" dirty="0">
                <a:solidFill>
                  <a:srgbClr val="FF0000"/>
                </a:solidFill>
                <a:latin typeface="微软雅黑" panose="020B0503020204020204" pitchFamily="34" charset="-122"/>
                <a:ea typeface="微软雅黑" panose="020B0503020204020204" pitchFamily="34" charset="-122"/>
              </a:rPr>
              <a:t>集线器</a:t>
            </a:r>
            <a:r>
              <a:rPr lang="zh-CN" altLang="en-US" sz="2800" dirty="0">
                <a:solidFill>
                  <a:srgbClr val="2A10E8"/>
                </a:solidFill>
                <a:latin typeface="微软雅黑" panose="020B0503020204020204" pitchFamily="34" charset="-122"/>
                <a:ea typeface="微软雅黑" panose="020B0503020204020204" pitchFamily="34" charset="-122"/>
              </a:rPr>
              <a:t>在</a:t>
            </a:r>
            <a:r>
              <a:rPr lang="zh-CN" altLang="en-US" sz="2800" dirty="0">
                <a:solidFill>
                  <a:srgbClr val="FF0000"/>
                </a:solidFill>
                <a:latin typeface="微软雅黑" panose="020B0503020204020204" pitchFamily="34" charset="-122"/>
                <a:ea typeface="微软雅黑" panose="020B0503020204020204" pitchFamily="34" charset="-122"/>
              </a:rPr>
              <a:t>物理层</a:t>
            </a:r>
            <a:r>
              <a:rPr lang="zh-CN" altLang="en-US" sz="2800" dirty="0">
                <a:solidFill>
                  <a:srgbClr val="2A10E8"/>
                </a:solidFill>
                <a:latin typeface="微软雅黑" panose="020B0503020204020204" pitchFamily="34" charset="-122"/>
                <a:ea typeface="微软雅黑" panose="020B0503020204020204" pitchFamily="34" charset="-122"/>
              </a:rPr>
              <a:t>扩展局域网</a:t>
            </a:r>
            <a:endParaRPr lang="zh-CN" altLang="en-US" sz="3600"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C3007D31-1041-4AFF-B274-0CDAF4066B55}"/>
              </a:ext>
            </a:extLst>
          </p:cNvPr>
          <p:cNvSpPr txBox="1"/>
          <p:nvPr/>
        </p:nvSpPr>
        <p:spPr>
          <a:xfrm>
            <a:off x="767408" y="1777694"/>
            <a:ext cx="10802375" cy="830997"/>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集线器工作在物理层，只能从码元中识别出比特，从一个端口接收比特流，从其他所有端口转发，不能从比特流中识别帧结构。</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body" idx="1"/>
          </p:nvPr>
        </p:nvSpPr>
        <p:spPr>
          <a:xfrm>
            <a:off x="839416" y="1916832"/>
            <a:ext cx="11233248" cy="4257675"/>
          </a:xfrm>
        </p:spPr>
        <p:txBody>
          <a:bodyPr/>
          <a:lstStyle/>
          <a:p>
            <a:pPr eaLnBrk="1" hangingPunct="1"/>
            <a:r>
              <a:rPr lang="zh-CN" altLang="en-US" sz="2400" dirty="0">
                <a:latin typeface="微软雅黑" panose="020B0503020204020204" pitchFamily="34" charset="-122"/>
                <a:ea typeface="微软雅黑" panose="020B0503020204020204" pitchFamily="34" charset="-122"/>
              </a:rPr>
              <a:t>优点</a:t>
            </a:r>
          </a:p>
          <a:p>
            <a:pPr lvl="1" eaLnBrk="1" hangingPunct="1"/>
            <a:r>
              <a:rPr lang="zh-CN" altLang="en-US" sz="2400" dirty="0">
                <a:solidFill>
                  <a:srgbClr val="333399"/>
                </a:solidFill>
                <a:latin typeface="微软雅黑" panose="020B0503020204020204" pitchFamily="34" charset="-122"/>
                <a:ea typeface="微软雅黑" panose="020B0503020204020204" pitchFamily="34" charset="-122"/>
              </a:rPr>
              <a:t>使原来属于不同碰撞域的局域网上的计算机能够进行跨碰撞域的通信。</a:t>
            </a:r>
          </a:p>
          <a:p>
            <a:pPr lvl="1" eaLnBrk="1" hangingPunct="1"/>
            <a:r>
              <a:rPr lang="zh-CN" altLang="en-US" sz="2400" dirty="0">
                <a:solidFill>
                  <a:srgbClr val="333399"/>
                </a:solidFill>
                <a:latin typeface="微软雅黑" panose="020B0503020204020204" pitchFamily="34" charset="-122"/>
                <a:ea typeface="微软雅黑" panose="020B0503020204020204" pitchFamily="34" charset="-122"/>
              </a:rPr>
              <a:t>扩大了局域网覆盖的地理范围。</a:t>
            </a:r>
          </a:p>
          <a:p>
            <a:pPr eaLnBrk="1" hangingPunct="1"/>
            <a:r>
              <a:rPr lang="zh-CN" altLang="en-US" sz="2400" dirty="0">
                <a:latin typeface="微软雅黑" panose="020B0503020204020204" pitchFamily="34" charset="-122"/>
                <a:ea typeface="微软雅黑" panose="020B0503020204020204" pitchFamily="34" charset="-122"/>
              </a:rPr>
              <a:t>缺点</a:t>
            </a:r>
          </a:p>
          <a:p>
            <a:pPr lvl="1" eaLnBrk="1" hangingPunct="1"/>
            <a:r>
              <a:rPr lang="zh-CN" altLang="en-US" sz="2400" dirty="0">
                <a:solidFill>
                  <a:srgbClr val="333399"/>
                </a:solidFill>
                <a:latin typeface="微软雅黑" panose="020B0503020204020204" pitchFamily="34" charset="-122"/>
                <a:ea typeface="微软雅黑" panose="020B0503020204020204" pitchFamily="34" charset="-122"/>
              </a:rPr>
              <a:t>碰撞域增大了，但总的吞吐量并未提高。</a:t>
            </a:r>
          </a:p>
          <a:p>
            <a:pPr lvl="1" eaLnBrk="1" hangingPunct="1"/>
            <a:r>
              <a:rPr lang="zh-CN" altLang="en-US" sz="2400" dirty="0">
                <a:solidFill>
                  <a:srgbClr val="333399"/>
                </a:solidFill>
                <a:latin typeface="微软雅黑" panose="020B0503020204020204" pitchFamily="34" charset="-122"/>
                <a:ea typeface="微软雅黑" panose="020B0503020204020204" pitchFamily="34" charset="-122"/>
              </a:rPr>
              <a:t>如果不同的碰撞域使用不同的数据率，那么就不能用集线器将它们互连起来。</a:t>
            </a:r>
            <a:r>
              <a:rPr lang="zh-CN" altLang="en-US" sz="2400" dirty="0">
                <a:latin typeface="微软雅黑" panose="020B0503020204020204" pitchFamily="34" charset="-122"/>
                <a:ea typeface="微软雅黑" panose="020B0503020204020204" pitchFamily="34" charset="-122"/>
              </a:rPr>
              <a:t>   </a:t>
            </a:r>
          </a:p>
        </p:txBody>
      </p:sp>
      <p:sp>
        <p:nvSpPr>
          <p:cNvPr id="5" name="Rectangle 43">
            <a:extLst>
              <a:ext uri="{FF2B5EF4-FFF2-40B4-BE49-F238E27FC236}">
                <a16:creationId xmlns:a16="http://schemas.microsoft.com/office/drawing/2014/main" id="{7A2CDFA3-4212-4AC4-A164-C43BFF8B990D}"/>
              </a:ext>
            </a:extLst>
          </p:cNvPr>
          <p:cNvSpPr txBox="1">
            <a:spLocks noChangeArrowheads="1"/>
          </p:cNvSpPr>
          <p:nvPr/>
        </p:nvSpPr>
        <p:spPr bwMode="auto">
          <a:xfrm>
            <a:off x="766233" y="980728"/>
            <a:ext cx="510593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r>
              <a:rPr lang="zh-CN" altLang="en-US" sz="2800" kern="0" dirty="0">
                <a:solidFill>
                  <a:srgbClr val="2A10E8"/>
                </a:solidFill>
                <a:latin typeface="微软雅黑" panose="020B0503020204020204" pitchFamily="34" charset="-122"/>
                <a:ea typeface="微软雅黑" panose="020B0503020204020204" pitchFamily="34" charset="-122"/>
              </a:rPr>
              <a:t>用</a:t>
            </a:r>
            <a:r>
              <a:rPr lang="zh-CN" altLang="en-US" sz="2800" kern="0" dirty="0">
                <a:solidFill>
                  <a:srgbClr val="FF0000"/>
                </a:solidFill>
                <a:latin typeface="微软雅黑" panose="020B0503020204020204" pitchFamily="34" charset="-122"/>
                <a:ea typeface="微软雅黑" panose="020B0503020204020204" pitchFamily="34" charset="-122"/>
              </a:rPr>
              <a:t>集线器</a:t>
            </a:r>
            <a:r>
              <a:rPr lang="zh-CN" altLang="en-US" sz="2800" kern="0" dirty="0">
                <a:solidFill>
                  <a:srgbClr val="2A10E8"/>
                </a:solidFill>
                <a:latin typeface="微软雅黑" panose="020B0503020204020204" pitchFamily="34" charset="-122"/>
                <a:ea typeface="微软雅黑" panose="020B0503020204020204" pitchFamily="34" charset="-122"/>
              </a:rPr>
              <a:t>在</a:t>
            </a:r>
            <a:r>
              <a:rPr lang="zh-CN" altLang="en-US" sz="2800" kern="0" dirty="0">
                <a:solidFill>
                  <a:srgbClr val="FF0000"/>
                </a:solidFill>
                <a:latin typeface="微软雅黑" panose="020B0503020204020204" pitchFamily="34" charset="-122"/>
                <a:ea typeface="微软雅黑" panose="020B0503020204020204" pitchFamily="34" charset="-122"/>
              </a:rPr>
              <a:t>物理层</a:t>
            </a:r>
            <a:r>
              <a:rPr lang="zh-CN" altLang="en-US" sz="2800" kern="0" dirty="0">
                <a:solidFill>
                  <a:srgbClr val="2A10E8"/>
                </a:solidFill>
                <a:latin typeface="微软雅黑" panose="020B0503020204020204" pitchFamily="34" charset="-122"/>
                <a:ea typeface="微软雅黑" panose="020B0503020204020204" pitchFamily="34" charset="-122"/>
              </a:rPr>
              <a:t>扩展局域网</a:t>
            </a:r>
            <a:endParaRPr lang="zh-CN" altLang="en-US" sz="3600" kern="0" dirty="0">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193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19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title"/>
          </p:nvPr>
        </p:nvSpPr>
        <p:spPr>
          <a:xfrm>
            <a:off x="3143250" y="2708275"/>
            <a:ext cx="6192838" cy="839788"/>
          </a:xfrm>
        </p:spPr>
        <p:txBody>
          <a:bodyPr/>
          <a:lstStyle/>
          <a:p>
            <a:pPr eaLnBrk="1" hangingPunct="1"/>
            <a:r>
              <a:rPr lang="zh-CN" altLang="en-US" sz="2800" b="1" dirty="0">
                <a:solidFill>
                  <a:srgbClr val="2A10E8"/>
                </a:solidFill>
                <a:latin typeface="微软雅黑" panose="020B0503020204020204" pitchFamily="34" charset="-122"/>
                <a:ea typeface="微软雅黑" panose="020B0503020204020204" pitchFamily="34" charset="-122"/>
              </a:rPr>
              <a:t>使用</a:t>
            </a:r>
            <a:r>
              <a:rPr lang="zh-CN" altLang="en-US" sz="2800" b="1" dirty="0">
                <a:solidFill>
                  <a:srgbClr val="FF0000"/>
                </a:solidFill>
                <a:latin typeface="微软雅黑" panose="020B0503020204020204" pitchFamily="34" charset="-122"/>
                <a:ea typeface="微软雅黑" panose="020B0503020204020204" pitchFamily="34" charset="-122"/>
              </a:rPr>
              <a:t>网桥</a:t>
            </a:r>
            <a:r>
              <a:rPr lang="zh-CN" altLang="en-US" sz="2800" b="1" dirty="0">
                <a:solidFill>
                  <a:srgbClr val="2A10E8"/>
                </a:solidFill>
                <a:latin typeface="微软雅黑" panose="020B0503020204020204" pitchFamily="34" charset="-122"/>
                <a:ea typeface="微软雅黑" panose="020B0503020204020204" pitchFamily="34" charset="-122"/>
              </a:rPr>
              <a:t>在</a:t>
            </a:r>
            <a:r>
              <a:rPr lang="zh-CN" altLang="en-US" sz="2800" b="1" dirty="0">
                <a:solidFill>
                  <a:srgbClr val="FF0000"/>
                </a:solidFill>
                <a:latin typeface="微软雅黑" panose="020B0503020204020204" pitchFamily="34" charset="-122"/>
                <a:ea typeface="微软雅黑" panose="020B0503020204020204" pitchFamily="34" charset="-122"/>
              </a:rPr>
              <a:t>数据链路层</a:t>
            </a:r>
            <a:r>
              <a:rPr lang="zh-CN" altLang="en-US" sz="2800" b="1" dirty="0">
                <a:solidFill>
                  <a:srgbClr val="2A10E8"/>
                </a:solidFill>
                <a:latin typeface="微软雅黑" panose="020B0503020204020204" pitchFamily="34" charset="-122"/>
                <a:ea typeface="微软雅黑" panose="020B0503020204020204" pitchFamily="34" charset="-122"/>
              </a:rPr>
              <a:t>扩展局域网</a:t>
            </a:r>
            <a:r>
              <a:rPr lang="zh-CN" altLang="en-US" sz="3600" dirty="0">
                <a:latin typeface="微软雅黑" panose="020B0503020204020204" pitchFamily="34" charset="-122"/>
                <a:ea typeface="微软雅黑" panose="020B0503020204020204" pitchFamily="34" charset="-122"/>
              </a:rPr>
              <a:t> </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9" name="Object 4"/>
          <p:cNvGraphicFramePr>
            <a:graphicFrameLocks noGrp="1" noChangeAspect="1"/>
          </p:cNvGraphicFramePr>
          <p:nvPr>
            <p:ph idx="1"/>
          </p:nvPr>
        </p:nvGraphicFramePr>
        <p:xfrm>
          <a:off x="1992314" y="1628776"/>
          <a:ext cx="8351837" cy="5040313"/>
        </p:xfrm>
        <a:graphic>
          <a:graphicData uri="http://schemas.openxmlformats.org/presentationml/2006/ole">
            <mc:AlternateContent xmlns:mc="http://schemas.openxmlformats.org/markup-compatibility/2006">
              <mc:Choice xmlns:v="urn:schemas-microsoft-com:vml" Requires="v">
                <p:oleObj spid="_x0000_s24704" r:id="rId3" imgW="5438174" imgH="4551280" progId="Visio.Drawing.6">
                  <p:embed/>
                </p:oleObj>
              </mc:Choice>
              <mc:Fallback>
                <p:oleObj r:id="rId3" imgW="5438174" imgH="455128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1628776"/>
                        <a:ext cx="8351837" cy="5040313"/>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0" name="Rectangle 8"/>
          <p:cNvSpPr>
            <a:spLocks noChangeArrowheads="1"/>
          </p:cNvSpPr>
          <p:nvPr/>
        </p:nvSpPr>
        <p:spPr bwMode="auto">
          <a:xfrm>
            <a:off x="695400" y="1052736"/>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2A10E8"/>
                </a:solidFill>
              </a:rPr>
              <a:t>网桥的结构</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695400" y="1773239"/>
            <a:ext cx="11233247" cy="4257675"/>
          </a:xfrm>
        </p:spPr>
        <p:txBody>
          <a:bodyPr/>
          <a:lstStyle/>
          <a:p>
            <a:pPr algn="just" eaLnBrk="1" hangingPunct="1">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网桥工作在</a:t>
            </a:r>
            <a:r>
              <a:rPr lang="zh-CN" altLang="en-US" sz="2600" dirty="0">
                <a:solidFill>
                  <a:srgbClr val="2A10E8"/>
                </a:solidFill>
                <a:latin typeface="微软雅黑" panose="020B0503020204020204" pitchFamily="34" charset="-122"/>
                <a:ea typeface="微软雅黑" panose="020B0503020204020204" pitchFamily="34" charset="-122"/>
              </a:rPr>
              <a:t>数据链路层</a:t>
            </a:r>
            <a:r>
              <a:rPr lang="zh-CN" altLang="en-US" sz="2600" dirty="0">
                <a:latin typeface="微软雅黑" panose="020B0503020204020204" pitchFamily="34" charset="-122"/>
                <a:ea typeface="微软雅黑" panose="020B0503020204020204" pitchFamily="34" charset="-122"/>
              </a:rPr>
              <a:t>，它</a:t>
            </a:r>
            <a:r>
              <a:rPr lang="zh-CN" altLang="en-US" sz="2600" dirty="0">
                <a:solidFill>
                  <a:srgbClr val="2A10E8"/>
                </a:solidFill>
                <a:latin typeface="微软雅黑" panose="020B0503020204020204" pitchFamily="34" charset="-122"/>
                <a:ea typeface="微软雅黑" panose="020B0503020204020204" pitchFamily="34" charset="-122"/>
              </a:rPr>
              <a:t>根据 </a:t>
            </a:r>
            <a:r>
              <a:rPr lang="en-US" altLang="zh-CN" sz="2600" dirty="0">
                <a:solidFill>
                  <a:srgbClr val="2A10E8"/>
                </a:solidFill>
                <a:latin typeface="微软雅黑" panose="020B0503020204020204" pitchFamily="34" charset="-122"/>
                <a:ea typeface="微软雅黑" panose="020B0503020204020204" pitchFamily="34" charset="-122"/>
              </a:rPr>
              <a:t>MAC </a:t>
            </a:r>
            <a:r>
              <a:rPr lang="zh-CN" altLang="en-US" sz="2600" dirty="0">
                <a:solidFill>
                  <a:srgbClr val="2A10E8"/>
                </a:solidFill>
                <a:latin typeface="微软雅黑" panose="020B0503020204020204" pitchFamily="34" charset="-122"/>
                <a:ea typeface="微软雅黑" panose="020B0503020204020204" pitchFamily="34" charset="-122"/>
              </a:rPr>
              <a:t>帧的目的地址对收到的帧进行转发</a:t>
            </a:r>
            <a:r>
              <a:rPr lang="zh-CN" altLang="en-US" sz="2600" dirty="0">
                <a:latin typeface="微软雅黑" panose="020B0503020204020204" pitchFamily="34" charset="-122"/>
                <a:ea typeface="微软雅黑" panose="020B0503020204020204" pitchFamily="34" charset="-122"/>
              </a:rPr>
              <a:t>。</a:t>
            </a:r>
          </a:p>
          <a:p>
            <a:pPr algn="just" eaLnBrk="1" hangingPunct="1">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网桥具有过滤帧的功能。当网桥收到一个帧时，并不是向所有的端口转发此帧，而是先检查此帧的目的 </a:t>
            </a:r>
            <a:r>
              <a:rPr lang="en-US" altLang="zh-CN" sz="2600" dirty="0">
                <a:latin typeface="微软雅黑" panose="020B0503020204020204" pitchFamily="34" charset="-122"/>
                <a:ea typeface="微软雅黑" panose="020B0503020204020204" pitchFamily="34" charset="-122"/>
              </a:rPr>
              <a:t>MAC </a:t>
            </a:r>
            <a:r>
              <a:rPr lang="zh-CN" altLang="en-US" sz="2600" dirty="0">
                <a:latin typeface="微软雅黑" panose="020B0503020204020204" pitchFamily="34" charset="-122"/>
                <a:ea typeface="微软雅黑" panose="020B0503020204020204" pitchFamily="34" charset="-122"/>
              </a:rPr>
              <a:t>地址，然后再确定将该帧转发到哪一个端口 </a:t>
            </a:r>
            <a:endParaRPr lang="en-US" altLang="zh-CN" sz="2600" dirty="0">
              <a:latin typeface="微软雅黑" panose="020B0503020204020204" pitchFamily="34" charset="-122"/>
              <a:ea typeface="微软雅黑" panose="020B0503020204020204" pitchFamily="34" charset="-122"/>
            </a:endParaRPr>
          </a:p>
          <a:p>
            <a:pPr algn="just" eaLnBrk="1" hangingPunct="1">
              <a:buFont typeface="Wingdings" panose="05000000000000000000" pitchFamily="2" charset="2"/>
              <a:buChar char="l"/>
            </a:pPr>
            <a:r>
              <a:rPr lang="zh-CN" altLang="en-US" sz="2600" dirty="0">
                <a:solidFill>
                  <a:srgbClr val="FF0000"/>
                </a:solidFill>
                <a:latin typeface="微软雅黑" panose="020B0503020204020204" pitchFamily="34" charset="-122"/>
                <a:ea typeface="微软雅黑" panose="020B0503020204020204" pitchFamily="34" charset="-122"/>
              </a:rPr>
              <a:t>实际上网桥的工作方式和交换机非常类似，但是交换机只能转发以太网的数据帧，网桥可以连接不同类型的局域网</a:t>
            </a:r>
            <a:r>
              <a:rPr lang="zh-CN" altLang="en-US" sz="2600" dirty="0">
                <a:solidFill>
                  <a:srgbClr val="2A10E8"/>
                </a:solidFill>
                <a:latin typeface="微软雅黑" panose="020B0503020204020204" pitchFamily="34" charset="-122"/>
                <a:ea typeface="微软雅黑" panose="020B0503020204020204" pitchFamily="34" charset="-122"/>
              </a:rPr>
              <a:t>。</a:t>
            </a:r>
          </a:p>
        </p:txBody>
      </p:sp>
      <p:sp>
        <p:nvSpPr>
          <p:cNvPr id="21507" name="Rectangle 3"/>
          <p:cNvSpPr>
            <a:spLocks noGrp="1" noChangeArrowheads="1"/>
          </p:cNvSpPr>
          <p:nvPr>
            <p:ph type="title"/>
          </p:nvPr>
        </p:nvSpPr>
        <p:spPr>
          <a:xfrm>
            <a:off x="695400" y="692696"/>
            <a:ext cx="5597525" cy="839788"/>
          </a:xfrm>
        </p:spPr>
        <p:txBody>
          <a:bodyPr/>
          <a:lstStyle/>
          <a:p>
            <a:pPr eaLnBrk="1" hangingPunct="1"/>
            <a:r>
              <a:rPr lang="zh-CN" altLang="en-US" sz="2800" dirty="0">
                <a:solidFill>
                  <a:srgbClr val="2A10E8"/>
                </a:solidFill>
                <a:latin typeface="微软雅黑" panose="020B0503020204020204" pitchFamily="34" charset="-122"/>
                <a:ea typeface="微软雅黑" panose="020B0503020204020204" pitchFamily="34" charset="-122"/>
              </a:rPr>
              <a:t>网桥的基本原理</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a:xfrm>
            <a:off x="695400" y="764704"/>
            <a:ext cx="5597525" cy="839788"/>
          </a:xfrm>
        </p:spPr>
        <p:txBody>
          <a:bodyPr/>
          <a:lstStyle/>
          <a:p>
            <a:pPr eaLnBrk="1" hangingPunct="1"/>
            <a:r>
              <a:rPr lang="zh-CN" altLang="en-US" sz="2800" b="1" dirty="0">
                <a:solidFill>
                  <a:srgbClr val="2A10E8"/>
                </a:solidFill>
                <a:latin typeface="黑体" panose="02010609060101010101" pitchFamily="49" charset="-122"/>
                <a:ea typeface="黑体" panose="02010609060101010101" pitchFamily="49" charset="-122"/>
              </a:rPr>
              <a:t>网桥的功能</a:t>
            </a:r>
            <a:r>
              <a:rPr lang="zh-CN" altLang="en-US" sz="2800" dirty="0"/>
              <a:t> </a:t>
            </a:r>
          </a:p>
        </p:txBody>
      </p:sp>
      <p:sp>
        <p:nvSpPr>
          <p:cNvPr id="22531" name="Rectangle 3"/>
          <p:cNvSpPr>
            <a:spLocks noChangeArrowheads="1"/>
          </p:cNvSpPr>
          <p:nvPr/>
        </p:nvSpPr>
        <p:spPr bwMode="auto">
          <a:xfrm>
            <a:off x="695400" y="1700214"/>
            <a:ext cx="11161239"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20000"/>
              </a:spcBef>
              <a:buClr>
                <a:schemeClr val="accent2"/>
              </a:buClr>
              <a:buFont typeface="Wingdings" panose="05000000000000000000" pitchFamily="2" charset="2"/>
              <a:buChar char="l"/>
            </a:pPr>
            <a:r>
              <a:rPr lang="zh-CN" altLang="en-US" sz="2400" dirty="0">
                <a:solidFill>
                  <a:srgbClr val="2A10E8"/>
                </a:solidFill>
                <a:latin typeface="微软雅黑" panose="020B0503020204020204" pitchFamily="34" charset="-122"/>
                <a:ea typeface="微软雅黑" panose="020B0503020204020204" pitchFamily="34" charset="-122"/>
              </a:rPr>
              <a:t>地址学习</a:t>
            </a:r>
            <a:r>
              <a:rPr lang="zh-CN" altLang="en-US" sz="2400" dirty="0">
                <a:latin typeface="微软雅黑" panose="020B0503020204020204" pitchFamily="34" charset="-122"/>
                <a:ea typeface="微软雅黑" panose="020B0503020204020204" pitchFamily="34" charset="-122"/>
              </a:rPr>
              <a:t>：采用逆向学习。</a:t>
            </a:r>
            <a:endParaRPr lang="en-US" altLang="zh-CN" sz="2400" dirty="0">
              <a:latin typeface="微软雅黑" panose="020B0503020204020204" pitchFamily="34" charset="-122"/>
              <a:ea typeface="微软雅黑" panose="020B0503020204020204" pitchFamily="34" charset="-122"/>
            </a:endParaRPr>
          </a:p>
          <a:p>
            <a:pPr eaLnBrk="1" hangingPunct="1">
              <a:lnSpc>
                <a:spcPct val="150000"/>
              </a:lnSpc>
              <a:spcBef>
                <a:spcPct val="20000"/>
              </a:spcBef>
              <a:buClr>
                <a:schemeClr val="accent2"/>
              </a:buClr>
              <a:buFont typeface="Wingdings" panose="05000000000000000000" pitchFamily="2" charset="2"/>
              <a:buChar char="l"/>
            </a:pPr>
            <a:r>
              <a:rPr lang="zh-CN" altLang="en-US" sz="2400" dirty="0">
                <a:solidFill>
                  <a:srgbClr val="2A10E8"/>
                </a:solidFill>
                <a:latin typeface="微软雅黑" panose="020B0503020204020204" pitchFamily="34" charset="-122"/>
                <a:ea typeface="微软雅黑" panose="020B0503020204020204" pitchFamily="34" charset="-122"/>
              </a:rPr>
              <a:t>数据帧转发</a:t>
            </a:r>
            <a:r>
              <a:rPr lang="zh-CN" altLang="en-US" sz="2400" dirty="0">
                <a:latin typeface="微软雅黑" panose="020B0503020204020204" pitchFamily="34" charset="-122"/>
                <a:ea typeface="微软雅黑" panose="020B0503020204020204" pitchFamily="34" charset="-122"/>
              </a:rPr>
              <a:t>：根据数据帧中的目标</a:t>
            </a:r>
            <a:r>
              <a:rPr lang="en-US" altLang="zh-CN" sz="2400" dirty="0">
                <a:latin typeface="微软雅黑" panose="020B0503020204020204" pitchFamily="34" charset="-122"/>
                <a:ea typeface="微软雅黑" panose="020B0503020204020204" pitchFamily="34" charset="-122"/>
              </a:rPr>
              <a:t>MAC</a:t>
            </a:r>
            <a:r>
              <a:rPr lang="zh-CN" altLang="en-US" sz="2400" dirty="0">
                <a:latin typeface="微软雅黑" panose="020B0503020204020204" pitchFamily="34" charset="-122"/>
                <a:ea typeface="微软雅黑" panose="020B0503020204020204" pitchFamily="34" charset="-122"/>
              </a:rPr>
              <a:t>地址，查询地址映射表，从指定的端口转发数据帧，如果没有找到目的端口，则采用广播方式转发；如果源端口和目的端口所接网络类型不同，则需要进行数据帧转换。</a:t>
            </a:r>
            <a:endParaRPr lang="en-US" altLang="zh-CN" sz="2400" dirty="0">
              <a:latin typeface="微软雅黑" panose="020B0503020204020204" pitchFamily="34" charset="-122"/>
              <a:ea typeface="微软雅黑" panose="020B0503020204020204" pitchFamily="34" charset="-122"/>
            </a:endParaRPr>
          </a:p>
          <a:p>
            <a:pPr eaLnBrk="1" hangingPunct="1">
              <a:lnSpc>
                <a:spcPct val="150000"/>
              </a:lnSpc>
              <a:spcBef>
                <a:spcPct val="20000"/>
              </a:spcBef>
              <a:buClr>
                <a:schemeClr val="accent2"/>
              </a:buClr>
              <a:buFont typeface="Wingdings" panose="05000000000000000000" pitchFamily="2" charset="2"/>
              <a:buChar char="l"/>
            </a:pPr>
            <a:r>
              <a:rPr lang="zh-CN" altLang="en-US" sz="2400" dirty="0">
                <a:solidFill>
                  <a:srgbClr val="2A10E8"/>
                </a:solidFill>
                <a:latin typeface="微软雅黑" panose="020B0503020204020204" pitchFamily="34" charset="-122"/>
                <a:ea typeface="微软雅黑" panose="020B0503020204020204" pitchFamily="34" charset="-122"/>
              </a:rPr>
              <a:t>环路避免：</a:t>
            </a:r>
            <a:r>
              <a:rPr lang="zh-CN" altLang="en-US" sz="2400" dirty="0">
                <a:latin typeface="微软雅黑" panose="020B0503020204020204" pitchFamily="34" charset="-122"/>
                <a:ea typeface="微软雅黑" panose="020B0503020204020204" pitchFamily="34" charset="-122"/>
              </a:rPr>
              <a:t>当使用交换机进行局域网扩展时，如果连接的局域网很多，可能会造成形成环路，影响数据传输效率。</a:t>
            </a:r>
          </a:p>
          <a:p>
            <a:pPr eaLnBrk="1" hangingPunct="1">
              <a:lnSpc>
                <a:spcPct val="150000"/>
              </a:lnSpc>
              <a:spcBef>
                <a:spcPct val="20000"/>
              </a:spcBef>
              <a:buClr>
                <a:schemeClr val="accent2"/>
              </a:buClr>
              <a:buFont typeface="Wingdings" panose="05000000000000000000" pitchFamily="2" charset="2"/>
              <a:buChar char="l"/>
            </a:pPr>
            <a:endParaRPr lang="zh-CN" altLang="en-US" sz="2400" dirty="0">
              <a:solidFill>
                <a:srgbClr val="2A10E8"/>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z="3000" b="1">
                <a:solidFill>
                  <a:srgbClr val="2A10E8"/>
                </a:solidFill>
                <a:latin typeface="黑体" panose="02010609060101010101" pitchFamily="49" charset="-122"/>
                <a:ea typeface="黑体" panose="02010609060101010101" pitchFamily="49" charset="-122"/>
              </a:rPr>
              <a:t>网桥</a:t>
            </a:r>
            <a:r>
              <a:rPr lang="zh-CN" altLang="en-US"/>
              <a:t> </a:t>
            </a:r>
          </a:p>
        </p:txBody>
      </p:sp>
      <p:graphicFrame>
        <p:nvGraphicFramePr>
          <p:cNvPr id="25603" name="Object 4"/>
          <p:cNvGraphicFramePr>
            <a:graphicFrameLocks noGrp="1" noChangeAspect="1"/>
          </p:cNvGraphicFramePr>
          <p:nvPr>
            <p:ph idx="1"/>
            <p:extLst>
              <p:ext uri="{D42A27DB-BD31-4B8C-83A1-F6EECF244321}">
                <p14:modId xmlns:p14="http://schemas.microsoft.com/office/powerpoint/2010/main" val="527433929"/>
              </p:ext>
            </p:extLst>
          </p:nvPr>
        </p:nvGraphicFramePr>
        <p:xfrm>
          <a:off x="1703512" y="-99392"/>
          <a:ext cx="9170988" cy="5040313"/>
        </p:xfrm>
        <a:graphic>
          <a:graphicData uri="http://schemas.openxmlformats.org/presentationml/2006/ole">
            <mc:AlternateContent xmlns:mc="http://schemas.openxmlformats.org/markup-compatibility/2006">
              <mc:Choice xmlns:v="urn:schemas-microsoft-com:vml" Requires="v">
                <p:oleObj spid="_x0000_s25730" r:id="rId3" imgW="5438174" imgH="4551280" progId="Visio.Drawing.6">
                  <p:embed/>
                </p:oleObj>
              </mc:Choice>
              <mc:Fallback>
                <p:oleObj r:id="rId3" imgW="5438174" imgH="455128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512" y="-99392"/>
                        <a:ext cx="9170988" cy="50403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4" name="Rectangle 8"/>
          <p:cNvSpPr>
            <a:spLocks noChangeArrowheads="1"/>
          </p:cNvSpPr>
          <p:nvPr/>
        </p:nvSpPr>
        <p:spPr bwMode="auto">
          <a:xfrm>
            <a:off x="191344" y="5024438"/>
            <a:ext cx="1166529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2A10E8"/>
                </a:solidFill>
              </a:rPr>
              <a:t>数据帧的转发</a:t>
            </a:r>
            <a:r>
              <a:rPr lang="zh-CN" altLang="en-US" sz="2800" b="1" dirty="0">
                <a:solidFill>
                  <a:srgbClr val="2A10E8"/>
                </a:solidFill>
                <a:sym typeface="Wingdings" panose="05000000000000000000" pitchFamily="2" charset="2"/>
              </a:rPr>
              <a:t> </a:t>
            </a:r>
            <a:r>
              <a:rPr lang="zh-CN" altLang="en-US" sz="2800" b="1" dirty="0">
                <a:sym typeface="Wingdings" panose="05000000000000000000" pitchFamily="2" charset="2"/>
              </a:rPr>
              <a:t>（</a:t>
            </a:r>
            <a:r>
              <a:rPr lang="en-US" altLang="zh-CN" sz="2800" b="1" dirty="0">
                <a:sym typeface="Wingdings" panose="05000000000000000000" pitchFamily="2" charset="2"/>
              </a:rPr>
              <a:t>1</a:t>
            </a:r>
            <a:r>
              <a:rPr lang="zh-CN" altLang="en-US" sz="2800" b="1" dirty="0">
                <a:sym typeface="Wingdings" panose="05000000000000000000" pitchFamily="2" charset="2"/>
              </a:rPr>
              <a:t>）</a:t>
            </a:r>
            <a:r>
              <a:rPr lang="en-US" altLang="zh-CN" sz="2800" b="1" dirty="0">
                <a:sym typeface="Wingdings" panose="05000000000000000000" pitchFamily="2" charset="2"/>
              </a:rPr>
              <a:t>A</a:t>
            </a:r>
            <a:r>
              <a:rPr lang="zh-CN" altLang="en-US" sz="2800" b="1" dirty="0">
                <a:sym typeface="Wingdings" panose="05000000000000000000" pitchFamily="2" charset="2"/>
              </a:rPr>
              <a:t>给</a:t>
            </a:r>
            <a:r>
              <a:rPr lang="en-US" altLang="zh-CN" sz="2800" b="1" dirty="0">
                <a:sym typeface="Wingdings" panose="05000000000000000000" pitchFamily="2" charset="2"/>
              </a:rPr>
              <a:t>B</a:t>
            </a:r>
            <a:r>
              <a:rPr lang="zh-CN" altLang="en-US" sz="2800" b="1" dirty="0">
                <a:sym typeface="Wingdings" panose="05000000000000000000" pitchFamily="2" charset="2"/>
              </a:rPr>
              <a:t>发送数据：网桥收到数据帧后，查地址映射表，确定目标端口；然后将数据帧格式从以太网格式转换成令牌环网格式；等待和截获令牌，发送数据帧（基本过程与令牌环网中的发送数据相同）。</a:t>
            </a:r>
            <a:endParaRPr lang="zh-CN" altLang="en-US" sz="2800" b="1" dirty="0"/>
          </a:p>
        </p:txBody>
      </p:sp>
      <p:sp>
        <p:nvSpPr>
          <p:cNvPr id="25605" name="矩形 1"/>
          <p:cNvSpPr>
            <a:spLocks noChangeArrowheads="1"/>
          </p:cNvSpPr>
          <p:nvPr/>
        </p:nvSpPr>
        <p:spPr bwMode="auto">
          <a:xfrm>
            <a:off x="3359151" y="1811338"/>
            <a:ext cx="384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b="1">
                <a:solidFill>
                  <a:srgbClr val="2A10E8"/>
                </a:solidFill>
                <a:sym typeface="Wingdings" panose="05000000000000000000" pitchFamily="2" charset="2"/>
              </a:rPr>
              <a:t>A</a:t>
            </a:r>
            <a:endParaRPr lang="zh-CN" altLang="en-US"/>
          </a:p>
        </p:txBody>
      </p:sp>
      <p:sp>
        <p:nvSpPr>
          <p:cNvPr id="25606" name="矩形 2"/>
          <p:cNvSpPr>
            <a:spLocks noChangeArrowheads="1"/>
          </p:cNvSpPr>
          <p:nvPr/>
        </p:nvSpPr>
        <p:spPr bwMode="auto">
          <a:xfrm>
            <a:off x="9604376" y="1120775"/>
            <a:ext cx="379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b="1">
                <a:solidFill>
                  <a:srgbClr val="2A10E8"/>
                </a:solidFill>
                <a:sym typeface="Wingdings" panose="05000000000000000000" pitchFamily="2" charset="2"/>
              </a:rPr>
              <a:t>B</a:t>
            </a:r>
            <a:endParaRPr lang="zh-CN" alt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z="3000" b="1">
                <a:solidFill>
                  <a:srgbClr val="2A10E8"/>
                </a:solidFill>
                <a:latin typeface="黑体" panose="02010609060101010101" pitchFamily="49" charset="-122"/>
                <a:ea typeface="黑体" panose="02010609060101010101" pitchFamily="49" charset="-122"/>
              </a:rPr>
              <a:t>网桥</a:t>
            </a:r>
            <a:r>
              <a:rPr lang="zh-CN" altLang="en-US"/>
              <a:t> </a:t>
            </a:r>
          </a:p>
        </p:txBody>
      </p:sp>
      <p:graphicFrame>
        <p:nvGraphicFramePr>
          <p:cNvPr id="26627" name="Object 4"/>
          <p:cNvGraphicFramePr>
            <a:graphicFrameLocks noGrp="1" noChangeAspect="1"/>
          </p:cNvGraphicFramePr>
          <p:nvPr>
            <p:ph idx="1"/>
            <p:extLst>
              <p:ext uri="{D42A27DB-BD31-4B8C-83A1-F6EECF244321}">
                <p14:modId xmlns:p14="http://schemas.microsoft.com/office/powerpoint/2010/main" val="1167461189"/>
              </p:ext>
            </p:extLst>
          </p:nvPr>
        </p:nvGraphicFramePr>
        <p:xfrm>
          <a:off x="1775520" y="10649"/>
          <a:ext cx="9170988" cy="5040313"/>
        </p:xfrm>
        <a:graphic>
          <a:graphicData uri="http://schemas.openxmlformats.org/presentationml/2006/ole">
            <mc:AlternateContent xmlns:mc="http://schemas.openxmlformats.org/markup-compatibility/2006">
              <mc:Choice xmlns:v="urn:schemas-microsoft-com:vml" Requires="v">
                <p:oleObj spid="_x0000_s26755" r:id="rId3" imgW="5438174" imgH="4551280" progId="Visio.Drawing.6">
                  <p:embed/>
                </p:oleObj>
              </mc:Choice>
              <mc:Fallback>
                <p:oleObj r:id="rId3" imgW="5438174" imgH="455128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520" y="10649"/>
                        <a:ext cx="9170988" cy="50403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8" name="Rectangle 8"/>
          <p:cNvSpPr>
            <a:spLocks noChangeArrowheads="1"/>
          </p:cNvSpPr>
          <p:nvPr/>
        </p:nvSpPr>
        <p:spPr bwMode="auto">
          <a:xfrm>
            <a:off x="47328" y="5245423"/>
            <a:ext cx="1195332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rgbClr val="2A10E8"/>
                </a:solidFill>
              </a:rPr>
              <a:t>数据帧的转发</a:t>
            </a:r>
            <a:r>
              <a:rPr lang="zh-CN" altLang="en-US" sz="2800" b="1" dirty="0">
                <a:solidFill>
                  <a:srgbClr val="2A10E8"/>
                </a:solidFill>
                <a:sym typeface="Wingdings" panose="05000000000000000000" pitchFamily="2" charset="2"/>
              </a:rPr>
              <a:t> </a:t>
            </a:r>
            <a:r>
              <a:rPr lang="zh-CN" altLang="en-US" sz="2800" b="1" dirty="0">
                <a:sym typeface="Wingdings" panose="05000000000000000000" pitchFamily="2" charset="2"/>
              </a:rPr>
              <a:t>（</a:t>
            </a:r>
            <a:r>
              <a:rPr lang="en-US" altLang="zh-CN" sz="2800" b="1" dirty="0">
                <a:sym typeface="Wingdings" panose="05000000000000000000" pitchFamily="2" charset="2"/>
              </a:rPr>
              <a:t>2</a:t>
            </a:r>
            <a:r>
              <a:rPr lang="zh-CN" altLang="en-US" sz="2800" b="1" dirty="0">
                <a:sym typeface="Wingdings" panose="05000000000000000000" pitchFamily="2" charset="2"/>
              </a:rPr>
              <a:t>）</a:t>
            </a:r>
            <a:r>
              <a:rPr lang="en-US" altLang="zh-CN" sz="2800" b="1" dirty="0">
                <a:sym typeface="Wingdings" panose="05000000000000000000" pitchFamily="2" charset="2"/>
              </a:rPr>
              <a:t>A</a:t>
            </a:r>
            <a:r>
              <a:rPr lang="zh-CN" altLang="en-US" sz="2800" b="1" dirty="0">
                <a:sym typeface="Wingdings" panose="05000000000000000000" pitchFamily="2" charset="2"/>
              </a:rPr>
              <a:t>给</a:t>
            </a:r>
            <a:r>
              <a:rPr lang="en-US" altLang="zh-CN" sz="2800" b="1" dirty="0">
                <a:sym typeface="Wingdings" panose="05000000000000000000" pitchFamily="2" charset="2"/>
              </a:rPr>
              <a:t>C</a:t>
            </a:r>
            <a:r>
              <a:rPr lang="zh-CN" altLang="en-US" sz="2800" b="1" dirty="0">
                <a:sym typeface="Wingdings" panose="05000000000000000000" pitchFamily="2" charset="2"/>
              </a:rPr>
              <a:t>发送数据：网桥收到数据帧，查询地址映射表，发现源端口和目的端口相同，不转发数据帧。如果没有查找到，则广播转发。</a:t>
            </a:r>
            <a:endParaRPr lang="zh-CN" altLang="en-US" sz="2800" b="1" dirty="0"/>
          </a:p>
        </p:txBody>
      </p:sp>
      <p:sp>
        <p:nvSpPr>
          <p:cNvPr id="26629" name="矩形 1"/>
          <p:cNvSpPr>
            <a:spLocks noChangeArrowheads="1"/>
          </p:cNvSpPr>
          <p:nvPr/>
        </p:nvSpPr>
        <p:spPr bwMode="auto">
          <a:xfrm>
            <a:off x="3359151" y="1811338"/>
            <a:ext cx="384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b="1">
                <a:solidFill>
                  <a:srgbClr val="2A10E8"/>
                </a:solidFill>
                <a:sym typeface="Wingdings" panose="05000000000000000000" pitchFamily="2" charset="2"/>
              </a:rPr>
              <a:t>A</a:t>
            </a:r>
            <a:endParaRPr lang="zh-CN" altLang="en-US"/>
          </a:p>
        </p:txBody>
      </p:sp>
      <p:sp>
        <p:nvSpPr>
          <p:cNvPr id="26630" name="矩形 2"/>
          <p:cNvSpPr>
            <a:spLocks noChangeArrowheads="1"/>
          </p:cNvSpPr>
          <p:nvPr/>
        </p:nvSpPr>
        <p:spPr bwMode="auto">
          <a:xfrm>
            <a:off x="9604376" y="1120775"/>
            <a:ext cx="379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b="1">
                <a:solidFill>
                  <a:srgbClr val="2A10E8"/>
                </a:solidFill>
                <a:sym typeface="Wingdings" panose="05000000000000000000" pitchFamily="2" charset="2"/>
              </a:rPr>
              <a:t>B</a:t>
            </a:r>
            <a:endParaRPr lang="zh-CN" altLang="en-US"/>
          </a:p>
        </p:txBody>
      </p:sp>
      <p:sp>
        <p:nvSpPr>
          <p:cNvPr id="26631" name="矩形 3"/>
          <p:cNvSpPr>
            <a:spLocks noChangeArrowheads="1"/>
          </p:cNvSpPr>
          <p:nvPr/>
        </p:nvSpPr>
        <p:spPr bwMode="auto">
          <a:xfrm>
            <a:off x="4511676" y="1811338"/>
            <a:ext cx="371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b="1" dirty="0">
                <a:solidFill>
                  <a:srgbClr val="2A10E8"/>
                </a:solidFill>
                <a:sym typeface="Wingdings" panose="05000000000000000000" pitchFamily="2" charset="2"/>
              </a:rPr>
              <a:t>C</a:t>
            </a:r>
            <a:endParaRPr lang="zh-CN" altLang="en-US"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2063750" y="1844676"/>
            <a:ext cx="7850188" cy="4257675"/>
          </a:xfrm>
        </p:spPr>
        <p:txBody>
          <a:bodyPr/>
          <a:lstStyle/>
          <a:p>
            <a:pPr eaLnBrk="1" hangingPunct="1"/>
            <a:r>
              <a:rPr lang="zh-CN" altLang="en-US" sz="2600" b="1">
                <a:latin typeface="黑体" panose="02010609060101010101" pitchFamily="49" charset="-122"/>
                <a:ea typeface="黑体" panose="02010609060101010101" pitchFamily="49" charset="-122"/>
              </a:rPr>
              <a:t>过滤通信量。 </a:t>
            </a:r>
          </a:p>
          <a:p>
            <a:pPr eaLnBrk="1" hangingPunct="1"/>
            <a:r>
              <a:rPr lang="zh-CN" altLang="en-US" sz="2600" b="1">
                <a:latin typeface="黑体" panose="02010609060101010101" pitchFamily="49" charset="-122"/>
                <a:ea typeface="黑体" panose="02010609060101010101" pitchFamily="49" charset="-122"/>
              </a:rPr>
              <a:t>扩大了物理范围。</a:t>
            </a:r>
          </a:p>
          <a:p>
            <a:pPr eaLnBrk="1" hangingPunct="1"/>
            <a:r>
              <a:rPr lang="zh-CN" altLang="en-US" sz="2600" b="1">
                <a:latin typeface="黑体" panose="02010609060101010101" pitchFamily="49" charset="-122"/>
                <a:ea typeface="黑体" panose="02010609060101010101" pitchFamily="49" charset="-122"/>
              </a:rPr>
              <a:t>提高了可靠性。</a:t>
            </a:r>
          </a:p>
          <a:p>
            <a:pPr eaLnBrk="1" hangingPunct="1"/>
            <a:r>
              <a:rPr lang="zh-CN" altLang="en-US" sz="2600" b="1">
                <a:latin typeface="黑体" panose="02010609060101010101" pitchFamily="49" charset="-122"/>
                <a:ea typeface="黑体" panose="02010609060101010101" pitchFamily="49" charset="-122"/>
              </a:rPr>
              <a:t>可互连不同物理层、不同 </a:t>
            </a:r>
            <a:r>
              <a:rPr lang="en-US" altLang="zh-CN" sz="2600" b="1">
                <a:latin typeface="黑体" panose="02010609060101010101" pitchFamily="49" charset="-122"/>
                <a:ea typeface="黑体" panose="02010609060101010101" pitchFamily="49" charset="-122"/>
              </a:rPr>
              <a:t>MAC </a:t>
            </a:r>
            <a:r>
              <a:rPr lang="zh-CN" altLang="en-US" sz="2600" b="1">
                <a:latin typeface="黑体" panose="02010609060101010101" pitchFamily="49" charset="-122"/>
                <a:ea typeface="黑体" panose="02010609060101010101" pitchFamily="49" charset="-122"/>
              </a:rPr>
              <a:t>子层和不同速率（如</a:t>
            </a:r>
            <a:r>
              <a:rPr lang="en-US" altLang="zh-CN" sz="2600" b="1">
                <a:latin typeface="黑体" panose="02010609060101010101" pitchFamily="49" charset="-122"/>
                <a:ea typeface="黑体" panose="02010609060101010101" pitchFamily="49" charset="-122"/>
              </a:rPr>
              <a:t>10 Mb/s </a:t>
            </a:r>
            <a:r>
              <a:rPr lang="zh-CN" altLang="en-US" sz="2600" b="1">
                <a:latin typeface="黑体" panose="02010609060101010101" pitchFamily="49" charset="-122"/>
                <a:ea typeface="黑体" panose="02010609060101010101" pitchFamily="49" charset="-122"/>
              </a:rPr>
              <a:t>和 </a:t>
            </a:r>
            <a:r>
              <a:rPr lang="en-US" altLang="zh-CN" sz="2600" b="1">
                <a:latin typeface="黑体" panose="02010609060101010101" pitchFamily="49" charset="-122"/>
                <a:ea typeface="黑体" panose="02010609060101010101" pitchFamily="49" charset="-122"/>
              </a:rPr>
              <a:t>100 Mb/s </a:t>
            </a:r>
            <a:r>
              <a:rPr lang="zh-CN" altLang="en-US" sz="2600" b="1">
                <a:latin typeface="黑体" panose="02010609060101010101" pitchFamily="49" charset="-122"/>
                <a:ea typeface="黑体" panose="02010609060101010101" pitchFamily="49" charset="-122"/>
              </a:rPr>
              <a:t>以太网）的局域网。  </a:t>
            </a:r>
          </a:p>
        </p:txBody>
      </p:sp>
      <p:sp>
        <p:nvSpPr>
          <p:cNvPr id="30723" name="Rectangle 3"/>
          <p:cNvSpPr>
            <a:spLocks noGrp="1" noChangeArrowheads="1"/>
          </p:cNvSpPr>
          <p:nvPr>
            <p:ph type="title"/>
          </p:nvPr>
        </p:nvSpPr>
        <p:spPr>
          <a:xfrm>
            <a:off x="762177" y="615606"/>
            <a:ext cx="5668963" cy="984250"/>
          </a:xfrm>
        </p:spPr>
        <p:txBody>
          <a:bodyPr/>
          <a:lstStyle/>
          <a:p>
            <a:pPr eaLnBrk="1" hangingPunct="1"/>
            <a:r>
              <a:rPr lang="zh-CN" altLang="en-US" sz="3000" b="1" dirty="0">
                <a:solidFill>
                  <a:srgbClr val="2A10E8"/>
                </a:solidFill>
                <a:latin typeface="黑体" panose="02010609060101010101" pitchFamily="49" charset="-122"/>
                <a:ea typeface="黑体" panose="02010609060101010101" pitchFamily="49" charset="-122"/>
              </a:rPr>
              <a:t>使用网桥带来的好处</a:t>
            </a:r>
            <a:r>
              <a:rPr lang="zh-CN" altLang="en-US" dirty="0"/>
              <a:t> </a:t>
            </a:r>
          </a:p>
        </p:txBody>
      </p:sp>
      <p:grpSp>
        <p:nvGrpSpPr>
          <p:cNvPr id="30724" name="Group 4"/>
          <p:cNvGrpSpPr>
            <a:grpSpLocks/>
          </p:cNvGrpSpPr>
          <p:nvPr/>
        </p:nvGrpSpPr>
        <p:grpSpPr bwMode="auto">
          <a:xfrm>
            <a:off x="1919288" y="4581526"/>
            <a:ext cx="8388350" cy="1655763"/>
            <a:chOff x="73" y="1661"/>
            <a:chExt cx="5626" cy="1542"/>
          </a:xfrm>
        </p:grpSpPr>
        <p:sp>
          <p:nvSpPr>
            <p:cNvPr id="30725" name="Oval 5"/>
            <p:cNvSpPr>
              <a:spLocks noChangeArrowheads="1"/>
            </p:cNvSpPr>
            <p:nvPr/>
          </p:nvSpPr>
          <p:spPr bwMode="auto">
            <a:xfrm>
              <a:off x="3985" y="1661"/>
              <a:ext cx="1714" cy="1542"/>
            </a:xfrm>
            <a:prstGeom prst="ellipse">
              <a:avLst/>
            </a:prstGeom>
            <a:solidFill>
              <a:srgbClr val="CCEC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26" name="Oval 6"/>
            <p:cNvSpPr>
              <a:spLocks noChangeArrowheads="1"/>
            </p:cNvSpPr>
            <p:nvPr/>
          </p:nvSpPr>
          <p:spPr bwMode="auto">
            <a:xfrm>
              <a:off x="2002" y="1661"/>
              <a:ext cx="1715" cy="1542"/>
            </a:xfrm>
            <a:prstGeom prst="ellipse">
              <a:avLst/>
            </a:prstGeom>
            <a:solidFill>
              <a:srgbClr val="99FF99"/>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27" name="Oval 7"/>
            <p:cNvSpPr>
              <a:spLocks noChangeArrowheads="1"/>
            </p:cNvSpPr>
            <p:nvPr/>
          </p:nvSpPr>
          <p:spPr bwMode="auto">
            <a:xfrm>
              <a:off x="73" y="1661"/>
              <a:ext cx="1714" cy="1542"/>
            </a:xfrm>
            <a:prstGeom prst="ellipse">
              <a:avLst/>
            </a:prstGeom>
            <a:solidFill>
              <a:srgbClr val="FFCC99"/>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28" name="Line 8"/>
            <p:cNvSpPr>
              <a:spLocks noChangeShapeType="1"/>
            </p:cNvSpPr>
            <p:nvPr/>
          </p:nvSpPr>
          <p:spPr bwMode="auto">
            <a:xfrm>
              <a:off x="5224" y="2171"/>
              <a:ext cx="0" cy="40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Line 9"/>
            <p:cNvSpPr>
              <a:spLocks noChangeShapeType="1"/>
            </p:cNvSpPr>
            <p:nvPr/>
          </p:nvSpPr>
          <p:spPr bwMode="auto">
            <a:xfrm flipV="1">
              <a:off x="4127" y="2177"/>
              <a:ext cx="1262" cy="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Rectangle 10"/>
            <p:cNvSpPr>
              <a:spLocks noChangeArrowheads="1"/>
            </p:cNvSpPr>
            <p:nvPr/>
          </p:nvSpPr>
          <p:spPr bwMode="auto">
            <a:xfrm>
              <a:off x="5360" y="2123"/>
              <a:ext cx="72" cy="84"/>
            </a:xfrm>
            <a:prstGeom prst="rect">
              <a:avLst/>
            </a:prstGeom>
            <a:solidFill>
              <a:schemeClr val="tx1"/>
            </a:solidFill>
            <a:ln w="12700">
              <a:solidFill>
                <a:schemeClr val="tx1"/>
              </a:solidFill>
              <a:miter lim="800000"/>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31" name="Line 11"/>
            <p:cNvSpPr>
              <a:spLocks noChangeShapeType="1"/>
            </p:cNvSpPr>
            <p:nvPr/>
          </p:nvSpPr>
          <p:spPr bwMode="auto">
            <a:xfrm>
              <a:off x="4386" y="2180"/>
              <a:ext cx="0" cy="38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07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3" y="2543"/>
              <a:ext cx="3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35" y="2541"/>
              <a:ext cx="35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4" name="Line 14"/>
            <p:cNvSpPr>
              <a:spLocks noChangeShapeType="1"/>
            </p:cNvSpPr>
            <p:nvPr/>
          </p:nvSpPr>
          <p:spPr bwMode="auto">
            <a:xfrm>
              <a:off x="3295" y="2160"/>
              <a:ext cx="0" cy="40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5" name="Line 15"/>
            <p:cNvSpPr>
              <a:spLocks noChangeShapeType="1"/>
            </p:cNvSpPr>
            <p:nvPr/>
          </p:nvSpPr>
          <p:spPr bwMode="auto">
            <a:xfrm flipV="1">
              <a:off x="2197" y="2166"/>
              <a:ext cx="1263" cy="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6" name="Line 16"/>
            <p:cNvSpPr>
              <a:spLocks noChangeShapeType="1"/>
            </p:cNvSpPr>
            <p:nvPr/>
          </p:nvSpPr>
          <p:spPr bwMode="auto">
            <a:xfrm>
              <a:off x="2457" y="2168"/>
              <a:ext cx="0" cy="38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0737" name="Picture 1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3" y="2531"/>
              <a:ext cx="35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8" name="Picture 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6" y="2530"/>
              <a:ext cx="3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9" name="Line 19"/>
            <p:cNvSpPr>
              <a:spLocks noChangeShapeType="1"/>
            </p:cNvSpPr>
            <p:nvPr/>
          </p:nvSpPr>
          <p:spPr bwMode="auto">
            <a:xfrm>
              <a:off x="1345" y="2174"/>
              <a:ext cx="0" cy="4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0" name="Rectangle 20"/>
            <p:cNvSpPr>
              <a:spLocks noChangeArrowheads="1"/>
            </p:cNvSpPr>
            <p:nvPr/>
          </p:nvSpPr>
          <p:spPr bwMode="auto">
            <a:xfrm>
              <a:off x="216" y="2139"/>
              <a:ext cx="72" cy="82"/>
            </a:xfrm>
            <a:prstGeom prst="rect">
              <a:avLst/>
            </a:prstGeom>
            <a:solidFill>
              <a:schemeClr val="tx1"/>
            </a:solidFill>
            <a:ln w="12700">
              <a:solidFill>
                <a:schemeClr val="tx1"/>
              </a:solidFill>
              <a:miter lim="800000"/>
              <a:headEnd/>
              <a:tailEnd/>
            </a:ln>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41" name="Line 21"/>
            <p:cNvSpPr>
              <a:spLocks noChangeShapeType="1"/>
            </p:cNvSpPr>
            <p:nvPr/>
          </p:nvSpPr>
          <p:spPr bwMode="auto">
            <a:xfrm flipV="1">
              <a:off x="248" y="2180"/>
              <a:ext cx="1264" cy="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2" name="Line 22"/>
            <p:cNvSpPr>
              <a:spLocks noChangeShapeType="1"/>
            </p:cNvSpPr>
            <p:nvPr/>
          </p:nvSpPr>
          <p:spPr bwMode="auto">
            <a:xfrm>
              <a:off x="508" y="2181"/>
              <a:ext cx="0" cy="38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0743"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 y="2544"/>
              <a:ext cx="349"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4"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8" y="2543"/>
              <a:ext cx="348"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5" name="Rectangle 25"/>
            <p:cNvSpPr>
              <a:spLocks noChangeArrowheads="1"/>
            </p:cNvSpPr>
            <p:nvPr/>
          </p:nvSpPr>
          <p:spPr bwMode="auto">
            <a:xfrm>
              <a:off x="3673" y="1790"/>
              <a:ext cx="337"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B</a:t>
              </a:r>
              <a:r>
                <a:rPr kumimoji="1" lang="en-US" altLang="zh-CN" sz="2400" baseline="-25000">
                  <a:solidFill>
                    <a:schemeClr val="folHlink"/>
                  </a:solidFill>
                  <a:latin typeface="Arial" panose="020B0604020202020204" pitchFamily="34" charset="0"/>
                  <a:ea typeface="黑体" panose="02010609060101010101" pitchFamily="49" charset="-122"/>
                </a:rPr>
                <a:t>2</a:t>
              </a:r>
            </a:p>
          </p:txBody>
        </p:sp>
        <p:pic>
          <p:nvPicPr>
            <p:cNvPr id="30746"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4" y="1854"/>
              <a:ext cx="750"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0747" name="Picture 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4" y="1854"/>
              <a:ext cx="750"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0748" name="Rectangle 28"/>
            <p:cNvSpPr>
              <a:spLocks noChangeArrowheads="1"/>
            </p:cNvSpPr>
            <p:nvPr/>
          </p:nvSpPr>
          <p:spPr bwMode="auto">
            <a:xfrm>
              <a:off x="1744" y="1790"/>
              <a:ext cx="337"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B</a:t>
              </a:r>
              <a:r>
                <a:rPr kumimoji="1" lang="en-US" altLang="zh-CN" sz="2400" baseline="-25000">
                  <a:solidFill>
                    <a:schemeClr val="folHlink"/>
                  </a:solidFill>
                  <a:latin typeface="Arial" panose="020B0604020202020204" pitchFamily="34" charset="0"/>
                  <a:ea typeface="黑体" panose="02010609060101010101" pitchFamily="49" charset="-122"/>
                </a:rPr>
                <a:t>1</a:t>
              </a:r>
            </a:p>
          </p:txBody>
        </p:sp>
        <p:sp>
          <p:nvSpPr>
            <p:cNvPr id="30749" name="Line 29"/>
            <p:cNvSpPr>
              <a:spLocks noChangeShapeType="1"/>
            </p:cNvSpPr>
            <p:nvPr/>
          </p:nvSpPr>
          <p:spPr bwMode="auto">
            <a:xfrm>
              <a:off x="608" y="2303"/>
              <a:ext cx="590"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750" name="Line 30"/>
            <p:cNvSpPr>
              <a:spLocks noChangeShapeType="1"/>
            </p:cNvSpPr>
            <p:nvPr/>
          </p:nvSpPr>
          <p:spPr bwMode="auto">
            <a:xfrm>
              <a:off x="2591" y="2303"/>
              <a:ext cx="58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751" name="Line 31"/>
            <p:cNvSpPr>
              <a:spLocks noChangeShapeType="1"/>
            </p:cNvSpPr>
            <p:nvPr/>
          </p:nvSpPr>
          <p:spPr bwMode="auto">
            <a:xfrm>
              <a:off x="4520" y="2303"/>
              <a:ext cx="58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752" name="Rectangle 32"/>
            <p:cNvSpPr>
              <a:spLocks noChangeArrowheads="1"/>
            </p:cNvSpPr>
            <p:nvPr/>
          </p:nvSpPr>
          <p:spPr bwMode="auto">
            <a:xfrm>
              <a:off x="607" y="1855"/>
              <a:ext cx="74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2400" dirty="0">
                  <a:solidFill>
                    <a:schemeClr val="folHlink"/>
                  </a:solidFill>
                  <a:latin typeface="Arial" panose="020B0604020202020204" pitchFamily="34" charset="0"/>
                  <a:ea typeface="黑体" panose="02010609060101010101" pitchFamily="49" charset="-122"/>
                </a:rPr>
                <a:t>冲突域</a:t>
              </a:r>
              <a:endParaRPr kumimoji="1" lang="zh-CN" altLang="en-US" sz="2400" baseline="-25000" dirty="0">
                <a:solidFill>
                  <a:schemeClr val="folHlink"/>
                </a:solidFill>
                <a:latin typeface="Arial" panose="020B0604020202020204" pitchFamily="34" charset="0"/>
                <a:ea typeface="黑体" panose="02010609060101010101" pitchFamily="49" charset="-122"/>
              </a:endParaRPr>
            </a:p>
          </p:txBody>
        </p:sp>
        <p:sp>
          <p:nvSpPr>
            <p:cNvPr id="30753" name="Rectangle 33"/>
            <p:cNvSpPr>
              <a:spLocks noChangeArrowheads="1"/>
            </p:cNvSpPr>
            <p:nvPr/>
          </p:nvSpPr>
          <p:spPr bwMode="auto">
            <a:xfrm>
              <a:off x="2591" y="1855"/>
              <a:ext cx="74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2400" dirty="0">
                  <a:solidFill>
                    <a:schemeClr val="folHlink"/>
                  </a:solidFill>
                  <a:latin typeface="Arial" panose="020B0604020202020204" pitchFamily="34" charset="0"/>
                  <a:ea typeface="黑体" panose="02010609060101010101" pitchFamily="49" charset="-122"/>
                </a:rPr>
                <a:t>冲突域</a:t>
              </a:r>
              <a:endParaRPr kumimoji="1" lang="zh-CN" altLang="en-US" sz="2400" baseline="-25000" dirty="0">
                <a:solidFill>
                  <a:schemeClr val="folHlink"/>
                </a:solidFill>
                <a:latin typeface="Arial" panose="020B0604020202020204" pitchFamily="34" charset="0"/>
                <a:ea typeface="黑体" panose="02010609060101010101" pitchFamily="49" charset="-122"/>
              </a:endParaRPr>
            </a:p>
          </p:txBody>
        </p:sp>
        <p:sp>
          <p:nvSpPr>
            <p:cNvPr id="30754" name="Rectangle 34"/>
            <p:cNvSpPr>
              <a:spLocks noChangeArrowheads="1"/>
            </p:cNvSpPr>
            <p:nvPr/>
          </p:nvSpPr>
          <p:spPr bwMode="auto">
            <a:xfrm>
              <a:off x="4521" y="1855"/>
              <a:ext cx="74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2400" dirty="0">
                  <a:solidFill>
                    <a:schemeClr val="folHlink"/>
                  </a:solidFill>
                  <a:latin typeface="Arial" panose="020B0604020202020204" pitchFamily="34" charset="0"/>
                  <a:ea typeface="黑体" panose="02010609060101010101" pitchFamily="49" charset="-122"/>
                </a:rPr>
                <a:t>冲突域</a:t>
              </a:r>
              <a:endParaRPr kumimoji="1" lang="zh-CN" altLang="en-US" sz="2400" baseline="-25000" dirty="0">
                <a:solidFill>
                  <a:schemeClr val="folHlink"/>
                </a:solidFill>
                <a:latin typeface="Arial" panose="020B0604020202020204" pitchFamily="34" charset="0"/>
                <a:ea typeface="黑体" panose="02010609060101010101" pitchFamily="49" charset="-122"/>
              </a:endParaRPr>
            </a:p>
          </p:txBody>
        </p:sp>
        <p:sp>
          <p:nvSpPr>
            <p:cNvPr id="30755" name="Rectangle 35"/>
            <p:cNvSpPr>
              <a:spLocks noChangeArrowheads="1"/>
            </p:cNvSpPr>
            <p:nvPr/>
          </p:nvSpPr>
          <p:spPr bwMode="auto">
            <a:xfrm>
              <a:off x="179" y="2495"/>
              <a:ext cx="260"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A</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sp>
          <p:nvSpPr>
            <p:cNvPr id="30756" name="Rectangle 36"/>
            <p:cNvSpPr>
              <a:spLocks noChangeArrowheads="1"/>
            </p:cNvSpPr>
            <p:nvPr/>
          </p:nvSpPr>
          <p:spPr bwMode="auto">
            <a:xfrm>
              <a:off x="1017" y="2495"/>
              <a:ext cx="260"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B</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sp>
          <p:nvSpPr>
            <p:cNvPr id="30757" name="Rectangle 37"/>
            <p:cNvSpPr>
              <a:spLocks noChangeArrowheads="1"/>
            </p:cNvSpPr>
            <p:nvPr/>
          </p:nvSpPr>
          <p:spPr bwMode="auto">
            <a:xfrm>
              <a:off x="2109" y="2495"/>
              <a:ext cx="27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C</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sp>
          <p:nvSpPr>
            <p:cNvPr id="30758" name="Rectangle 38"/>
            <p:cNvSpPr>
              <a:spLocks noChangeArrowheads="1"/>
            </p:cNvSpPr>
            <p:nvPr/>
          </p:nvSpPr>
          <p:spPr bwMode="auto">
            <a:xfrm>
              <a:off x="2966" y="2495"/>
              <a:ext cx="27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D</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sp>
          <p:nvSpPr>
            <p:cNvPr id="30759" name="Rectangle 39"/>
            <p:cNvSpPr>
              <a:spLocks noChangeArrowheads="1"/>
            </p:cNvSpPr>
            <p:nvPr/>
          </p:nvSpPr>
          <p:spPr bwMode="auto">
            <a:xfrm>
              <a:off x="4078" y="2495"/>
              <a:ext cx="260"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E</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sp>
          <p:nvSpPr>
            <p:cNvPr id="30760" name="Rectangle 40"/>
            <p:cNvSpPr>
              <a:spLocks noChangeArrowheads="1"/>
            </p:cNvSpPr>
            <p:nvPr/>
          </p:nvSpPr>
          <p:spPr bwMode="auto">
            <a:xfrm>
              <a:off x="4896" y="2495"/>
              <a:ext cx="248"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2400">
                  <a:solidFill>
                    <a:schemeClr val="folHlink"/>
                  </a:solidFill>
                  <a:latin typeface="Arial" panose="020B0604020202020204" pitchFamily="34" charset="0"/>
                  <a:ea typeface="黑体" panose="02010609060101010101" pitchFamily="49" charset="-122"/>
                </a:rPr>
                <a:t>F</a:t>
              </a:r>
              <a:endParaRPr kumimoji="1" lang="en-US" altLang="zh-CN" sz="2400" baseline="-25000">
                <a:solidFill>
                  <a:schemeClr val="folHlink"/>
                </a:solidFill>
                <a:latin typeface="Arial" panose="020B0604020202020204" pitchFamily="34" charset="0"/>
                <a:ea typeface="黑体" panose="02010609060101010101" pitchFamily="49" charset="-122"/>
              </a:endParaRPr>
            </a:p>
          </p:txBody>
        </p:sp>
      </p:gr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title"/>
          </p:nvPr>
        </p:nvSpPr>
        <p:spPr>
          <a:xfrm>
            <a:off x="2783632" y="3068960"/>
            <a:ext cx="6408738" cy="623764"/>
          </a:xfrm>
        </p:spPr>
        <p:txBody>
          <a:bodyPr/>
          <a:lstStyle/>
          <a:p>
            <a:pPr eaLnBrk="1" hangingPunct="1"/>
            <a:r>
              <a:rPr lang="zh-CN" altLang="en-US" sz="2800" b="1" dirty="0">
                <a:solidFill>
                  <a:srgbClr val="2A10E8"/>
                </a:solidFill>
                <a:latin typeface="微软雅黑" panose="020B0503020204020204" pitchFamily="34" charset="-122"/>
                <a:ea typeface="微软雅黑" panose="020B0503020204020204" pitchFamily="34" charset="-122"/>
              </a:rPr>
              <a:t>使用</a:t>
            </a:r>
            <a:r>
              <a:rPr lang="zh-CN" altLang="en-US" sz="2800" b="1" dirty="0">
                <a:solidFill>
                  <a:srgbClr val="FF0000"/>
                </a:solidFill>
                <a:latin typeface="微软雅黑" panose="020B0503020204020204" pitchFamily="34" charset="-122"/>
                <a:ea typeface="微软雅黑" panose="020B0503020204020204" pitchFamily="34" charset="-122"/>
              </a:rPr>
              <a:t>交换机</a:t>
            </a:r>
            <a:r>
              <a:rPr lang="zh-CN" altLang="en-US" sz="2800" b="1" dirty="0">
                <a:solidFill>
                  <a:srgbClr val="2A10E8"/>
                </a:solidFill>
                <a:latin typeface="微软雅黑" panose="020B0503020204020204" pitchFamily="34" charset="-122"/>
                <a:ea typeface="微软雅黑" panose="020B0503020204020204" pitchFamily="34" charset="-122"/>
              </a:rPr>
              <a:t>在</a:t>
            </a:r>
            <a:r>
              <a:rPr lang="zh-CN" altLang="en-US" sz="2800" b="1" dirty="0">
                <a:solidFill>
                  <a:srgbClr val="FF0000"/>
                </a:solidFill>
                <a:latin typeface="微软雅黑" panose="020B0503020204020204" pitchFamily="34" charset="-122"/>
                <a:ea typeface="微软雅黑" panose="020B0503020204020204" pitchFamily="34" charset="-122"/>
              </a:rPr>
              <a:t>数据链路层</a:t>
            </a:r>
            <a:r>
              <a:rPr lang="zh-CN" altLang="en-US" sz="2800" b="1" dirty="0">
                <a:solidFill>
                  <a:srgbClr val="2A10E8"/>
                </a:solidFill>
                <a:latin typeface="微软雅黑" panose="020B0503020204020204" pitchFamily="34" charset="-122"/>
                <a:ea typeface="微软雅黑" panose="020B0503020204020204" pitchFamily="34" charset="-122"/>
              </a:rPr>
              <a:t>扩展局域网</a:t>
            </a:r>
            <a:endParaRPr lang="zh-CN" altLang="en-US" sz="3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07883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BDAF6D4-D646-494D-9D34-F9487C9CDB11}"/>
              </a:ext>
            </a:extLst>
          </p:cNvPr>
          <p:cNvPicPr>
            <a:picLocks noChangeAspect="1"/>
          </p:cNvPicPr>
          <p:nvPr/>
        </p:nvPicPr>
        <p:blipFill>
          <a:blip r:embed="rId2"/>
          <a:stretch>
            <a:fillRect/>
          </a:stretch>
        </p:blipFill>
        <p:spPr>
          <a:xfrm>
            <a:off x="3071664" y="2698998"/>
            <a:ext cx="8664809" cy="3096344"/>
          </a:xfrm>
          <a:prstGeom prst="rect">
            <a:avLst/>
          </a:prstGeom>
        </p:spPr>
      </p:pic>
      <p:sp>
        <p:nvSpPr>
          <p:cNvPr id="8" name="文本框 7">
            <a:extLst>
              <a:ext uri="{FF2B5EF4-FFF2-40B4-BE49-F238E27FC236}">
                <a16:creationId xmlns:a16="http://schemas.microsoft.com/office/drawing/2014/main" id="{C2F4C6F7-0078-426A-9162-1DAE44AA2B8B}"/>
              </a:ext>
            </a:extLst>
          </p:cNvPr>
          <p:cNvSpPr txBox="1"/>
          <p:nvPr/>
        </p:nvSpPr>
        <p:spPr>
          <a:xfrm>
            <a:off x="767408" y="1052736"/>
            <a:ext cx="5904656" cy="523220"/>
          </a:xfrm>
          <a:prstGeom prst="rect">
            <a:avLst/>
          </a:prstGeom>
          <a:noFill/>
        </p:spPr>
        <p:txBody>
          <a:bodyPr wrap="square">
            <a:spAutoFit/>
          </a:bodyPr>
          <a:lstStyle/>
          <a:p>
            <a:r>
              <a:rPr lang="zh-CN" altLang="en-US" sz="2800" b="1" dirty="0">
                <a:solidFill>
                  <a:srgbClr val="2A10E8"/>
                </a:solidFill>
                <a:latin typeface="微软雅黑" panose="020B0503020204020204" pitchFamily="34" charset="-122"/>
                <a:ea typeface="微软雅黑" panose="020B0503020204020204" pitchFamily="34" charset="-122"/>
              </a:rPr>
              <a:t>使用交换机级联，形成树状结构</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9479175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9896" y="1793926"/>
            <a:ext cx="6588125" cy="481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矩形 2"/>
          <p:cNvSpPr>
            <a:spLocks noChangeArrowheads="1"/>
          </p:cNvSpPr>
          <p:nvPr/>
        </p:nvSpPr>
        <p:spPr bwMode="auto">
          <a:xfrm>
            <a:off x="767408" y="969964"/>
            <a:ext cx="4767263"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C00000"/>
                </a:solidFill>
                <a:latin typeface="黑体" panose="02010609060101010101" pitchFamily="49" charset="-122"/>
                <a:ea typeface="黑体" panose="02010609060101010101" pitchFamily="49" charset="-122"/>
              </a:rPr>
              <a:t>组网中普遍采用</a:t>
            </a:r>
            <a:r>
              <a:rPr lang="en-US" altLang="zh-CN" sz="2800" b="1" dirty="0">
                <a:solidFill>
                  <a:srgbClr val="C00000"/>
                </a:solidFill>
                <a:latin typeface="黑体" panose="02010609060101010101" pitchFamily="49" charset="-122"/>
                <a:ea typeface="黑体" panose="02010609060101010101" pitchFamily="49" charset="-122"/>
              </a:rPr>
              <a:t>3</a:t>
            </a:r>
            <a:r>
              <a:rPr lang="zh-CN" altLang="en-US" sz="2800" b="1" dirty="0">
                <a:solidFill>
                  <a:srgbClr val="C00000"/>
                </a:solidFill>
                <a:latin typeface="黑体" panose="02010609060101010101" pitchFamily="49" charset="-122"/>
                <a:ea typeface="黑体" panose="02010609060101010101" pitchFamily="49" charset="-122"/>
              </a:rPr>
              <a:t>层结构模型</a:t>
            </a:r>
          </a:p>
        </p:txBody>
      </p:sp>
      <p:sp>
        <p:nvSpPr>
          <p:cNvPr id="4" name="矩形 3"/>
          <p:cNvSpPr/>
          <p:nvPr/>
        </p:nvSpPr>
        <p:spPr>
          <a:xfrm>
            <a:off x="767409" y="1808164"/>
            <a:ext cx="3510906" cy="3416320"/>
          </a:xfrm>
          <a:prstGeom prst="rect">
            <a:avLst/>
          </a:prstGeom>
        </p:spPr>
        <p:txBody>
          <a:bodyPr wrap="square">
            <a:spAutoFit/>
          </a:bodyPr>
          <a:lstStyle/>
          <a:p>
            <a:pPr marL="342900" indent="-342900">
              <a:buFont typeface="Wingdings" panose="05000000000000000000" pitchFamily="2" charset="2"/>
              <a:buChar char="l"/>
              <a:defRPr/>
            </a:pPr>
            <a:r>
              <a:rPr lang="zh-CN" altLang="en-US" sz="2400" dirty="0">
                <a:solidFill>
                  <a:srgbClr val="C00000"/>
                </a:solidFill>
              </a:rPr>
              <a:t>核心层</a:t>
            </a:r>
            <a:r>
              <a:rPr lang="zh-CN" altLang="en-US" sz="2400" dirty="0"/>
              <a:t>用于高速数据转发</a:t>
            </a:r>
            <a:endParaRPr lang="en-US" altLang="zh-CN" sz="2400" dirty="0"/>
          </a:p>
          <a:p>
            <a:pPr marL="342900" indent="-342900">
              <a:buFont typeface="Wingdings" panose="05000000000000000000" pitchFamily="2" charset="2"/>
              <a:buChar char="l"/>
              <a:defRPr/>
            </a:pPr>
            <a:r>
              <a:rPr lang="zh-CN" altLang="en-US" sz="2400" dirty="0">
                <a:solidFill>
                  <a:srgbClr val="C00000"/>
                </a:solidFill>
              </a:rPr>
              <a:t>汇聚层</a:t>
            </a:r>
            <a:r>
              <a:rPr lang="zh-CN" altLang="en-US" sz="2400" dirty="0"/>
              <a:t>负责路由聚合及流量控制</a:t>
            </a:r>
            <a:endParaRPr lang="en-US" altLang="zh-CN" sz="2400" dirty="0"/>
          </a:p>
          <a:p>
            <a:pPr marL="342900" indent="-342900">
              <a:buFont typeface="Wingdings" panose="05000000000000000000" pitchFamily="2" charset="2"/>
              <a:buChar char="l"/>
              <a:defRPr/>
            </a:pPr>
            <a:r>
              <a:rPr lang="zh-CN" altLang="en-US" sz="2400" dirty="0">
                <a:solidFill>
                  <a:srgbClr val="C00000"/>
                </a:solidFill>
              </a:rPr>
              <a:t>接入层面</a:t>
            </a:r>
            <a:r>
              <a:rPr lang="zh-CN" altLang="en-US" sz="2400" dirty="0"/>
              <a:t>向工作组及访问控制</a:t>
            </a:r>
            <a:endParaRPr lang="en-US" altLang="zh-CN" sz="2400" dirty="0"/>
          </a:p>
          <a:p>
            <a:pPr>
              <a:defRPr/>
            </a:pPr>
            <a:r>
              <a:rPr lang="zh-CN" altLang="en-US" sz="2400" dirty="0"/>
              <a:t>该模型结构清晰，网络运行效率高，易于扩展。</a:t>
            </a:r>
          </a:p>
        </p:txBody>
      </p:sp>
    </p:spTree>
    <p:extLst>
      <p:ext uri="{BB962C8B-B14F-4D97-AF65-F5344CB8AC3E}">
        <p14:creationId xmlns:p14="http://schemas.microsoft.com/office/powerpoint/2010/main" val="8065151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839415" y="879477"/>
            <a:ext cx="6930603" cy="695325"/>
          </a:xfrm>
        </p:spPr>
        <p:txBody>
          <a:bodyPr/>
          <a:lstStyle/>
          <a:p>
            <a:pPr eaLnBrk="1" hangingPunct="1"/>
            <a:r>
              <a:rPr lang="zh-CN" altLang="en-US" sz="2800" dirty="0">
                <a:latin typeface="微软雅黑" panose="020B0503020204020204" pitchFamily="34" charset="-122"/>
                <a:ea typeface="微软雅黑" panose="020B0503020204020204" pitchFamily="34" charset="-122"/>
              </a:rPr>
              <a:t>以太网接入举例：光纤到大楼 </a:t>
            </a:r>
            <a:r>
              <a:rPr lang="en-US" altLang="zh-CN" sz="2800" dirty="0">
                <a:latin typeface="微软雅黑" panose="020B0503020204020204" pitchFamily="34" charset="-122"/>
                <a:ea typeface="微软雅黑" panose="020B0503020204020204" pitchFamily="34" charset="-122"/>
              </a:rPr>
              <a:t>FTTB </a:t>
            </a:r>
          </a:p>
        </p:txBody>
      </p:sp>
      <p:sp>
        <p:nvSpPr>
          <p:cNvPr id="13315" name="Rectangle 58"/>
          <p:cNvSpPr>
            <a:spLocks noChangeArrowheads="1"/>
          </p:cNvSpPr>
          <p:nvPr/>
        </p:nvSpPr>
        <p:spPr bwMode="auto">
          <a:xfrm>
            <a:off x="3797301" y="4327526"/>
            <a:ext cx="1876425" cy="809625"/>
          </a:xfrm>
          <a:prstGeom prst="rect">
            <a:avLst/>
          </a:prstGeom>
          <a:solidFill>
            <a:srgbClr val="FFFF99"/>
          </a:solidFill>
          <a:ln w="9525">
            <a:solidFill>
              <a:srgbClr val="333399"/>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solidFill>
                <a:srgbClr val="000000"/>
              </a:solidFill>
              <a:latin typeface="Tahoma" panose="020B0604030504040204" pitchFamily="34" charset="0"/>
            </a:endParaRPr>
          </a:p>
        </p:txBody>
      </p:sp>
      <p:sp>
        <p:nvSpPr>
          <p:cNvPr id="13316" name="Freeform 59"/>
          <p:cNvSpPr>
            <a:spLocks/>
          </p:cNvSpPr>
          <p:nvPr/>
        </p:nvSpPr>
        <p:spPr bwMode="auto">
          <a:xfrm>
            <a:off x="4657725" y="4933951"/>
            <a:ext cx="3989388" cy="1255713"/>
          </a:xfrm>
          <a:custGeom>
            <a:avLst/>
            <a:gdLst>
              <a:gd name="T0" fmla="*/ 0 w 2314"/>
              <a:gd name="T1" fmla="*/ 0 h 745"/>
              <a:gd name="T2" fmla="*/ 0 w 2314"/>
              <a:gd name="T3" fmla="*/ 2147483646 h 745"/>
              <a:gd name="T4" fmla="*/ 2147483646 w 2314"/>
              <a:gd name="T5" fmla="*/ 2147483646 h 745"/>
              <a:gd name="T6" fmla="*/ 0 60000 65536"/>
              <a:gd name="T7" fmla="*/ 0 60000 65536"/>
              <a:gd name="T8" fmla="*/ 0 60000 65536"/>
              <a:gd name="T9" fmla="*/ 0 w 2314"/>
              <a:gd name="T10" fmla="*/ 0 h 745"/>
              <a:gd name="T11" fmla="*/ 2314 w 2314"/>
              <a:gd name="T12" fmla="*/ 745 h 745"/>
            </a:gdLst>
            <a:ahLst/>
            <a:cxnLst>
              <a:cxn ang="T6">
                <a:pos x="T0" y="T1"/>
              </a:cxn>
              <a:cxn ang="T7">
                <a:pos x="T2" y="T3"/>
              </a:cxn>
              <a:cxn ang="T8">
                <a:pos x="T4" y="T5"/>
              </a:cxn>
            </a:cxnLst>
            <a:rect l="T9" t="T10" r="T11" b="T12"/>
            <a:pathLst>
              <a:path w="2314" h="745">
                <a:moveTo>
                  <a:pt x="0" y="0"/>
                </a:moveTo>
                <a:lnTo>
                  <a:pt x="0" y="744"/>
                </a:lnTo>
                <a:lnTo>
                  <a:pt x="2314" y="745"/>
                </a:lnTo>
              </a:path>
            </a:pathLst>
          </a:custGeom>
          <a:noFill/>
          <a:ln w="762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17" name="Freeform 60"/>
          <p:cNvSpPr>
            <a:spLocks/>
          </p:cNvSpPr>
          <p:nvPr/>
        </p:nvSpPr>
        <p:spPr bwMode="auto">
          <a:xfrm>
            <a:off x="4475163" y="4879975"/>
            <a:ext cx="4799012" cy="1631950"/>
          </a:xfrm>
          <a:custGeom>
            <a:avLst/>
            <a:gdLst>
              <a:gd name="T0" fmla="*/ 0 w 2946"/>
              <a:gd name="T1" fmla="*/ 0 h 968"/>
              <a:gd name="T2" fmla="*/ 0 w 2946"/>
              <a:gd name="T3" fmla="*/ 2147483646 h 968"/>
              <a:gd name="T4" fmla="*/ 2147483646 w 2946"/>
              <a:gd name="T5" fmla="*/ 2147483646 h 968"/>
              <a:gd name="T6" fmla="*/ 0 60000 65536"/>
              <a:gd name="T7" fmla="*/ 0 60000 65536"/>
              <a:gd name="T8" fmla="*/ 0 60000 65536"/>
              <a:gd name="T9" fmla="*/ 0 w 2946"/>
              <a:gd name="T10" fmla="*/ 0 h 968"/>
              <a:gd name="T11" fmla="*/ 2946 w 2946"/>
              <a:gd name="T12" fmla="*/ 968 h 968"/>
            </a:gdLst>
            <a:ahLst/>
            <a:cxnLst>
              <a:cxn ang="T6">
                <a:pos x="T0" y="T1"/>
              </a:cxn>
              <a:cxn ang="T7">
                <a:pos x="T2" y="T3"/>
              </a:cxn>
              <a:cxn ang="T8">
                <a:pos x="T4" y="T5"/>
              </a:cxn>
            </a:cxnLst>
            <a:rect l="T9" t="T10" r="T11" b="T12"/>
            <a:pathLst>
              <a:path w="2946" h="968">
                <a:moveTo>
                  <a:pt x="0" y="0"/>
                </a:moveTo>
                <a:lnTo>
                  <a:pt x="0" y="968"/>
                </a:lnTo>
                <a:lnTo>
                  <a:pt x="2946" y="968"/>
                </a:lnTo>
              </a:path>
            </a:pathLst>
          </a:custGeom>
          <a:noFill/>
          <a:ln w="762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18" name="AutoShape 61"/>
          <p:cNvSpPr>
            <a:spLocks noChangeArrowheads="1"/>
          </p:cNvSpPr>
          <p:nvPr/>
        </p:nvSpPr>
        <p:spPr bwMode="auto">
          <a:xfrm flipH="1">
            <a:off x="6611939" y="4103688"/>
            <a:ext cx="4065587" cy="628650"/>
          </a:xfrm>
          <a:prstGeom prst="cube">
            <a:avLst>
              <a:gd name="adj" fmla="val 93745"/>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solidFill>
                <a:srgbClr val="000000"/>
              </a:solidFill>
              <a:latin typeface="Tahoma" panose="020B0604030504040204" pitchFamily="34" charset="0"/>
            </a:endParaRPr>
          </a:p>
        </p:txBody>
      </p:sp>
      <p:sp>
        <p:nvSpPr>
          <p:cNvPr id="13319" name="Freeform 62"/>
          <p:cNvSpPr>
            <a:spLocks/>
          </p:cNvSpPr>
          <p:nvPr/>
        </p:nvSpPr>
        <p:spPr bwMode="auto">
          <a:xfrm>
            <a:off x="7678738" y="4144964"/>
            <a:ext cx="652462" cy="153987"/>
          </a:xfrm>
          <a:custGeom>
            <a:avLst/>
            <a:gdLst>
              <a:gd name="T0" fmla="*/ 0 w 518"/>
              <a:gd name="T1" fmla="*/ 2147483646 h 114"/>
              <a:gd name="T2" fmla="*/ 2147483646 w 518"/>
              <a:gd name="T3" fmla="*/ 2147483646 h 114"/>
              <a:gd name="T4" fmla="*/ 2147483646 w 518"/>
              <a:gd name="T5" fmla="*/ 0 h 114"/>
              <a:gd name="T6" fmla="*/ 0 60000 65536"/>
              <a:gd name="T7" fmla="*/ 0 60000 65536"/>
              <a:gd name="T8" fmla="*/ 0 60000 65536"/>
              <a:gd name="T9" fmla="*/ 0 w 518"/>
              <a:gd name="T10" fmla="*/ 0 h 114"/>
              <a:gd name="T11" fmla="*/ 518 w 518"/>
              <a:gd name="T12" fmla="*/ 114 h 114"/>
            </a:gdLst>
            <a:ahLst/>
            <a:cxnLst>
              <a:cxn ang="T6">
                <a:pos x="T0" y="T1"/>
              </a:cxn>
              <a:cxn ang="T7">
                <a:pos x="T2" y="T3"/>
              </a:cxn>
              <a:cxn ang="T8">
                <a:pos x="T4" y="T5"/>
              </a:cxn>
            </a:cxnLst>
            <a:rect l="T9" t="T10" r="T11" b="T12"/>
            <a:pathLst>
              <a:path w="518" h="114">
                <a:moveTo>
                  <a:pt x="0" y="114"/>
                </a:moveTo>
                <a:lnTo>
                  <a:pt x="516" y="114"/>
                </a:lnTo>
                <a:lnTo>
                  <a:pt x="518"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20" name="Freeform 63"/>
          <p:cNvSpPr>
            <a:spLocks/>
          </p:cNvSpPr>
          <p:nvPr/>
        </p:nvSpPr>
        <p:spPr bwMode="auto">
          <a:xfrm>
            <a:off x="7767638" y="4056063"/>
            <a:ext cx="1160462" cy="323850"/>
          </a:xfrm>
          <a:custGeom>
            <a:avLst/>
            <a:gdLst>
              <a:gd name="T0" fmla="*/ 0 w 889"/>
              <a:gd name="T1" fmla="*/ 2147483646 h 192"/>
              <a:gd name="T2" fmla="*/ 2147483646 w 889"/>
              <a:gd name="T3" fmla="*/ 2147483646 h 192"/>
              <a:gd name="T4" fmla="*/ 2147483646 w 889"/>
              <a:gd name="T5" fmla="*/ 0 h 192"/>
              <a:gd name="T6" fmla="*/ 0 60000 65536"/>
              <a:gd name="T7" fmla="*/ 0 60000 65536"/>
              <a:gd name="T8" fmla="*/ 0 60000 65536"/>
              <a:gd name="T9" fmla="*/ 0 w 889"/>
              <a:gd name="T10" fmla="*/ 0 h 192"/>
              <a:gd name="T11" fmla="*/ 889 w 889"/>
              <a:gd name="T12" fmla="*/ 192 h 192"/>
            </a:gdLst>
            <a:ahLst/>
            <a:cxnLst>
              <a:cxn ang="T6">
                <a:pos x="T0" y="T1"/>
              </a:cxn>
              <a:cxn ang="T7">
                <a:pos x="T2" y="T3"/>
              </a:cxn>
              <a:cxn ang="T8">
                <a:pos x="T4" y="T5"/>
              </a:cxn>
            </a:cxnLst>
            <a:rect l="T9" t="T10" r="T11" b="T12"/>
            <a:pathLst>
              <a:path w="889" h="192">
                <a:moveTo>
                  <a:pt x="0" y="192"/>
                </a:moveTo>
                <a:lnTo>
                  <a:pt x="889" y="192"/>
                </a:lnTo>
                <a:lnTo>
                  <a:pt x="889"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21" name="Freeform 64"/>
          <p:cNvSpPr>
            <a:spLocks/>
          </p:cNvSpPr>
          <p:nvPr/>
        </p:nvSpPr>
        <p:spPr bwMode="auto">
          <a:xfrm>
            <a:off x="7818438" y="4086225"/>
            <a:ext cx="1706562" cy="374650"/>
          </a:xfrm>
          <a:custGeom>
            <a:avLst/>
            <a:gdLst>
              <a:gd name="T0" fmla="*/ 0 w 1344"/>
              <a:gd name="T1" fmla="*/ 2147483646 h 222"/>
              <a:gd name="T2" fmla="*/ 2147483646 w 1344"/>
              <a:gd name="T3" fmla="*/ 2147483646 h 222"/>
              <a:gd name="T4" fmla="*/ 2147483646 w 1344"/>
              <a:gd name="T5" fmla="*/ 0 h 222"/>
              <a:gd name="T6" fmla="*/ 0 60000 65536"/>
              <a:gd name="T7" fmla="*/ 0 60000 65536"/>
              <a:gd name="T8" fmla="*/ 0 60000 65536"/>
              <a:gd name="T9" fmla="*/ 0 w 1344"/>
              <a:gd name="T10" fmla="*/ 0 h 222"/>
              <a:gd name="T11" fmla="*/ 1344 w 1344"/>
              <a:gd name="T12" fmla="*/ 222 h 222"/>
            </a:gdLst>
            <a:ahLst/>
            <a:cxnLst>
              <a:cxn ang="T6">
                <a:pos x="T0" y="T1"/>
              </a:cxn>
              <a:cxn ang="T7">
                <a:pos x="T2" y="T3"/>
              </a:cxn>
              <a:cxn ang="T8">
                <a:pos x="T4" y="T5"/>
              </a:cxn>
            </a:cxnLst>
            <a:rect l="T9" t="T10" r="T11" b="T12"/>
            <a:pathLst>
              <a:path w="1344" h="222">
                <a:moveTo>
                  <a:pt x="0" y="222"/>
                </a:moveTo>
                <a:lnTo>
                  <a:pt x="1343" y="222"/>
                </a:lnTo>
                <a:lnTo>
                  <a:pt x="134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22" name="Freeform 65"/>
          <p:cNvSpPr>
            <a:spLocks/>
          </p:cNvSpPr>
          <p:nvPr/>
        </p:nvSpPr>
        <p:spPr bwMode="auto">
          <a:xfrm>
            <a:off x="7862888" y="4165600"/>
            <a:ext cx="2266950" cy="374650"/>
          </a:xfrm>
          <a:custGeom>
            <a:avLst/>
            <a:gdLst>
              <a:gd name="T0" fmla="*/ 0 w 1344"/>
              <a:gd name="T1" fmla="*/ 2147483646 h 222"/>
              <a:gd name="T2" fmla="*/ 2147483646 w 1344"/>
              <a:gd name="T3" fmla="*/ 2147483646 h 222"/>
              <a:gd name="T4" fmla="*/ 2147483646 w 1344"/>
              <a:gd name="T5" fmla="*/ 0 h 222"/>
              <a:gd name="T6" fmla="*/ 0 60000 65536"/>
              <a:gd name="T7" fmla="*/ 0 60000 65536"/>
              <a:gd name="T8" fmla="*/ 0 60000 65536"/>
              <a:gd name="T9" fmla="*/ 0 w 1344"/>
              <a:gd name="T10" fmla="*/ 0 h 222"/>
              <a:gd name="T11" fmla="*/ 1344 w 1344"/>
              <a:gd name="T12" fmla="*/ 222 h 222"/>
            </a:gdLst>
            <a:ahLst/>
            <a:cxnLst>
              <a:cxn ang="T6">
                <a:pos x="T0" y="T1"/>
              </a:cxn>
              <a:cxn ang="T7">
                <a:pos x="T2" y="T3"/>
              </a:cxn>
              <a:cxn ang="T8">
                <a:pos x="T4" y="T5"/>
              </a:cxn>
            </a:cxnLst>
            <a:rect l="T9" t="T10" r="T11" b="T12"/>
            <a:pathLst>
              <a:path w="1344" h="222">
                <a:moveTo>
                  <a:pt x="0" y="222"/>
                </a:moveTo>
                <a:lnTo>
                  <a:pt x="1343" y="222"/>
                </a:lnTo>
                <a:lnTo>
                  <a:pt x="1344" y="0"/>
                </a:lnTo>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23" name="AutoShape 66"/>
          <p:cNvSpPr>
            <a:spLocks noChangeArrowheads="1"/>
          </p:cNvSpPr>
          <p:nvPr/>
        </p:nvSpPr>
        <p:spPr bwMode="auto">
          <a:xfrm flipH="1">
            <a:off x="7145338" y="4076701"/>
            <a:ext cx="785812" cy="492125"/>
          </a:xfrm>
          <a:prstGeom prst="cube">
            <a:avLst>
              <a:gd name="adj" fmla="val 28329"/>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100 M</a:t>
            </a:r>
          </a:p>
        </p:txBody>
      </p:sp>
      <p:pic>
        <p:nvPicPr>
          <p:cNvPr id="13324" name="Picture 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75625" y="3963989"/>
            <a:ext cx="30638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5" name="Picture 6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77364" y="3963989"/>
            <a:ext cx="306387"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6"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7288" y="3962401"/>
            <a:ext cx="303212"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AutoShape 70"/>
          <p:cNvSpPr>
            <a:spLocks noChangeArrowheads="1"/>
          </p:cNvSpPr>
          <p:nvPr/>
        </p:nvSpPr>
        <p:spPr bwMode="auto">
          <a:xfrm flipH="1">
            <a:off x="6611939" y="3173414"/>
            <a:ext cx="4065587" cy="668337"/>
          </a:xfrm>
          <a:prstGeom prst="cube">
            <a:avLst>
              <a:gd name="adj" fmla="val 93745"/>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solidFill>
                <a:srgbClr val="000000"/>
              </a:solidFill>
              <a:latin typeface="Tahoma" panose="020B0604030504040204" pitchFamily="34" charset="0"/>
            </a:endParaRPr>
          </a:p>
        </p:txBody>
      </p:sp>
      <p:sp>
        <p:nvSpPr>
          <p:cNvPr id="13328" name="Freeform 71"/>
          <p:cNvSpPr>
            <a:spLocks/>
          </p:cNvSpPr>
          <p:nvPr/>
        </p:nvSpPr>
        <p:spPr bwMode="auto">
          <a:xfrm>
            <a:off x="7678738" y="3236914"/>
            <a:ext cx="842962" cy="192087"/>
          </a:xfrm>
          <a:custGeom>
            <a:avLst/>
            <a:gdLst>
              <a:gd name="T0" fmla="*/ 0 w 518"/>
              <a:gd name="T1" fmla="*/ 2147483646 h 114"/>
              <a:gd name="T2" fmla="*/ 2147483646 w 518"/>
              <a:gd name="T3" fmla="*/ 2147483646 h 114"/>
              <a:gd name="T4" fmla="*/ 2147483646 w 518"/>
              <a:gd name="T5" fmla="*/ 0 h 114"/>
              <a:gd name="T6" fmla="*/ 0 60000 65536"/>
              <a:gd name="T7" fmla="*/ 0 60000 65536"/>
              <a:gd name="T8" fmla="*/ 0 60000 65536"/>
              <a:gd name="T9" fmla="*/ 0 w 518"/>
              <a:gd name="T10" fmla="*/ 0 h 114"/>
              <a:gd name="T11" fmla="*/ 518 w 518"/>
              <a:gd name="T12" fmla="*/ 114 h 114"/>
            </a:gdLst>
            <a:ahLst/>
            <a:cxnLst>
              <a:cxn ang="T6">
                <a:pos x="T0" y="T1"/>
              </a:cxn>
              <a:cxn ang="T7">
                <a:pos x="T2" y="T3"/>
              </a:cxn>
              <a:cxn ang="T8">
                <a:pos x="T4" y="T5"/>
              </a:cxn>
            </a:cxnLst>
            <a:rect l="T9" t="T10" r="T11" b="T12"/>
            <a:pathLst>
              <a:path w="518" h="114">
                <a:moveTo>
                  <a:pt x="0" y="114"/>
                </a:moveTo>
                <a:lnTo>
                  <a:pt x="516" y="114"/>
                </a:lnTo>
                <a:lnTo>
                  <a:pt x="518"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29" name="Freeform 72"/>
          <p:cNvSpPr>
            <a:spLocks/>
          </p:cNvSpPr>
          <p:nvPr/>
        </p:nvSpPr>
        <p:spPr bwMode="auto">
          <a:xfrm>
            <a:off x="7767638" y="3186113"/>
            <a:ext cx="1477962" cy="323850"/>
          </a:xfrm>
          <a:custGeom>
            <a:avLst/>
            <a:gdLst>
              <a:gd name="T0" fmla="*/ 0 w 889"/>
              <a:gd name="T1" fmla="*/ 2147483646 h 192"/>
              <a:gd name="T2" fmla="*/ 2147483646 w 889"/>
              <a:gd name="T3" fmla="*/ 2147483646 h 192"/>
              <a:gd name="T4" fmla="*/ 2147483646 w 889"/>
              <a:gd name="T5" fmla="*/ 0 h 192"/>
              <a:gd name="T6" fmla="*/ 0 60000 65536"/>
              <a:gd name="T7" fmla="*/ 0 60000 65536"/>
              <a:gd name="T8" fmla="*/ 0 60000 65536"/>
              <a:gd name="T9" fmla="*/ 0 w 889"/>
              <a:gd name="T10" fmla="*/ 0 h 192"/>
              <a:gd name="T11" fmla="*/ 889 w 889"/>
              <a:gd name="T12" fmla="*/ 192 h 192"/>
            </a:gdLst>
            <a:ahLst/>
            <a:cxnLst>
              <a:cxn ang="T6">
                <a:pos x="T0" y="T1"/>
              </a:cxn>
              <a:cxn ang="T7">
                <a:pos x="T2" y="T3"/>
              </a:cxn>
              <a:cxn ang="T8">
                <a:pos x="T4" y="T5"/>
              </a:cxn>
            </a:cxnLst>
            <a:rect l="T9" t="T10" r="T11" b="T12"/>
            <a:pathLst>
              <a:path w="889" h="192">
                <a:moveTo>
                  <a:pt x="0" y="192"/>
                </a:moveTo>
                <a:lnTo>
                  <a:pt x="889" y="192"/>
                </a:lnTo>
                <a:lnTo>
                  <a:pt x="889"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30" name="Freeform 73"/>
          <p:cNvSpPr>
            <a:spLocks/>
          </p:cNvSpPr>
          <p:nvPr/>
        </p:nvSpPr>
        <p:spPr bwMode="auto">
          <a:xfrm>
            <a:off x="7818438" y="3216275"/>
            <a:ext cx="2189162" cy="374650"/>
          </a:xfrm>
          <a:custGeom>
            <a:avLst/>
            <a:gdLst>
              <a:gd name="T0" fmla="*/ 0 w 1344"/>
              <a:gd name="T1" fmla="*/ 2147483646 h 222"/>
              <a:gd name="T2" fmla="*/ 2147483646 w 1344"/>
              <a:gd name="T3" fmla="*/ 2147483646 h 222"/>
              <a:gd name="T4" fmla="*/ 2147483646 w 1344"/>
              <a:gd name="T5" fmla="*/ 0 h 222"/>
              <a:gd name="T6" fmla="*/ 0 60000 65536"/>
              <a:gd name="T7" fmla="*/ 0 60000 65536"/>
              <a:gd name="T8" fmla="*/ 0 60000 65536"/>
              <a:gd name="T9" fmla="*/ 0 w 1344"/>
              <a:gd name="T10" fmla="*/ 0 h 222"/>
              <a:gd name="T11" fmla="*/ 1344 w 1344"/>
              <a:gd name="T12" fmla="*/ 222 h 222"/>
            </a:gdLst>
            <a:ahLst/>
            <a:cxnLst>
              <a:cxn ang="T6">
                <a:pos x="T0" y="T1"/>
              </a:cxn>
              <a:cxn ang="T7">
                <a:pos x="T2" y="T3"/>
              </a:cxn>
              <a:cxn ang="T8">
                <a:pos x="T4" y="T5"/>
              </a:cxn>
            </a:cxnLst>
            <a:rect l="T9" t="T10" r="T11" b="T12"/>
            <a:pathLst>
              <a:path w="1344" h="222">
                <a:moveTo>
                  <a:pt x="0" y="222"/>
                </a:moveTo>
                <a:lnTo>
                  <a:pt x="1343" y="222"/>
                </a:lnTo>
                <a:lnTo>
                  <a:pt x="134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31" name="AutoShape 74"/>
          <p:cNvSpPr>
            <a:spLocks noChangeArrowheads="1"/>
          </p:cNvSpPr>
          <p:nvPr/>
        </p:nvSpPr>
        <p:spPr bwMode="auto">
          <a:xfrm flipH="1">
            <a:off x="7145339" y="3146426"/>
            <a:ext cx="712787" cy="492125"/>
          </a:xfrm>
          <a:prstGeom prst="cube">
            <a:avLst>
              <a:gd name="adj" fmla="val 28329"/>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10 M</a:t>
            </a:r>
          </a:p>
        </p:txBody>
      </p:sp>
      <p:pic>
        <p:nvPicPr>
          <p:cNvPr id="13332" name="Picture 7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2475" y="3065464"/>
            <a:ext cx="30638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3" name="Picture 7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8375" y="3065464"/>
            <a:ext cx="30638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4" name="Picture 7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15425" y="3063876"/>
            <a:ext cx="3048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5" name="Line 78"/>
          <p:cNvSpPr>
            <a:spLocks noChangeShapeType="1"/>
          </p:cNvSpPr>
          <p:nvPr/>
        </p:nvSpPr>
        <p:spPr bwMode="auto">
          <a:xfrm>
            <a:off x="6970714" y="2551113"/>
            <a:ext cx="2746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AutoShape 79"/>
          <p:cNvSpPr>
            <a:spLocks noChangeArrowheads="1"/>
          </p:cNvSpPr>
          <p:nvPr/>
        </p:nvSpPr>
        <p:spPr bwMode="auto">
          <a:xfrm flipH="1">
            <a:off x="6577013" y="2305050"/>
            <a:ext cx="4100512" cy="655638"/>
          </a:xfrm>
          <a:prstGeom prst="cube">
            <a:avLst>
              <a:gd name="adj" fmla="val 93745"/>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solidFill>
                <a:srgbClr val="000000"/>
              </a:solidFill>
              <a:latin typeface="Tahoma" panose="020B0604030504040204" pitchFamily="34" charset="0"/>
            </a:endParaRPr>
          </a:p>
        </p:txBody>
      </p:sp>
      <p:sp>
        <p:nvSpPr>
          <p:cNvPr id="13337" name="Freeform 80"/>
          <p:cNvSpPr>
            <a:spLocks/>
          </p:cNvSpPr>
          <p:nvPr/>
        </p:nvSpPr>
        <p:spPr bwMode="auto">
          <a:xfrm>
            <a:off x="7643813" y="2355850"/>
            <a:ext cx="844550" cy="192088"/>
          </a:xfrm>
          <a:custGeom>
            <a:avLst/>
            <a:gdLst>
              <a:gd name="T0" fmla="*/ 0 w 518"/>
              <a:gd name="T1" fmla="*/ 2147483646 h 114"/>
              <a:gd name="T2" fmla="*/ 2147483646 w 518"/>
              <a:gd name="T3" fmla="*/ 2147483646 h 114"/>
              <a:gd name="T4" fmla="*/ 2147483646 w 518"/>
              <a:gd name="T5" fmla="*/ 0 h 114"/>
              <a:gd name="T6" fmla="*/ 0 60000 65536"/>
              <a:gd name="T7" fmla="*/ 0 60000 65536"/>
              <a:gd name="T8" fmla="*/ 0 60000 65536"/>
              <a:gd name="T9" fmla="*/ 0 w 518"/>
              <a:gd name="T10" fmla="*/ 0 h 114"/>
              <a:gd name="T11" fmla="*/ 518 w 518"/>
              <a:gd name="T12" fmla="*/ 114 h 114"/>
            </a:gdLst>
            <a:ahLst/>
            <a:cxnLst>
              <a:cxn ang="T6">
                <a:pos x="T0" y="T1"/>
              </a:cxn>
              <a:cxn ang="T7">
                <a:pos x="T2" y="T3"/>
              </a:cxn>
              <a:cxn ang="T8">
                <a:pos x="T4" y="T5"/>
              </a:cxn>
            </a:cxnLst>
            <a:rect l="T9" t="T10" r="T11" b="T12"/>
            <a:pathLst>
              <a:path w="518" h="114">
                <a:moveTo>
                  <a:pt x="0" y="114"/>
                </a:moveTo>
                <a:lnTo>
                  <a:pt x="516" y="114"/>
                </a:lnTo>
                <a:lnTo>
                  <a:pt x="518"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38" name="Freeform 81"/>
          <p:cNvSpPr>
            <a:spLocks/>
          </p:cNvSpPr>
          <p:nvPr/>
        </p:nvSpPr>
        <p:spPr bwMode="auto">
          <a:xfrm>
            <a:off x="7734300" y="2305050"/>
            <a:ext cx="1487488" cy="323850"/>
          </a:xfrm>
          <a:custGeom>
            <a:avLst/>
            <a:gdLst>
              <a:gd name="T0" fmla="*/ 0 w 889"/>
              <a:gd name="T1" fmla="*/ 2147483646 h 192"/>
              <a:gd name="T2" fmla="*/ 2147483646 w 889"/>
              <a:gd name="T3" fmla="*/ 2147483646 h 192"/>
              <a:gd name="T4" fmla="*/ 2147483646 w 889"/>
              <a:gd name="T5" fmla="*/ 0 h 192"/>
              <a:gd name="T6" fmla="*/ 0 60000 65536"/>
              <a:gd name="T7" fmla="*/ 0 60000 65536"/>
              <a:gd name="T8" fmla="*/ 0 60000 65536"/>
              <a:gd name="T9" fmla="*/ 0 w 889"/>
              <a:gd name="T10" fmla="*/ 0 h 192"/>
              <a:gd name="T11" fmla="*/ 889 w 889"/>
              <a:gd name="T12" fmla="*/ 192 h 192"/>
            </a:gdLst>
            <a:ahLst/>
            <a:cxnLst>
              <a:cxn ang="T6">
                <a:pos x="T0" y="T1"/>
              </a:cxn>
              <a:cxn ang="T7">
                <a:pos x="T2" y="T3"/>
              </a:cxn>
              <a:cxn ang="T8">
                <a:pos x="T4" y="T5"/>
              </a:cxn>
            </a:cxnLst>
            <a:rect l="T9" t="T10" r="T11" b="T12"/>
            <a:pathLst>
              <a:path w="889" h="192">
                <a:moveTo>
                  <a:pt x="0" y="192"/>
                </a:moveTo>
                <a:lnTo>
                  <a:pt x="889" y="192"/>
                </a:lnTo>
                <a:lnTo>
                  <a:pt x="889"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39" name="Freeform 82"/>
          <p:cNvSpPr>
            <a:spLocks/>
          </p:cNvSpPr>
          <p:nvPr/>
        </p:nvSpPr>
        <p:spPr bwMode="auto">
          <a:xfrm>
            <a:off x="7785101" y="2335213"/>
            <a:ext cx="2189163" cy="374650"/>
          </a:xfrm>
          <a:custGeom>
            <a:avLst/>
            <a:gdLst>
              <a:gd name="T0" fmla="*/ 0 w 1344"/>
              <a:gd name="T1" fmla="*/ 2147483646 h 222"/>
              <a:gd name="T2" fmla="*/ 2147483646 w 1344"/>
              <a:gd name="T3" fmla="*/ 2147483646 h 222"/>
              <a:gd name="T4" fmla="*/ 2147483646 w 1344"/>
              <a:gd name="T5" fmla="*/ 0 h 222"/>
              <a:gd name="T6" fmla="*/ 0 60000 65536"/>
              <a:gd name="T7" fmla="*/ 0 60000 65536"/>
              <a:gd name="T8" fmla="*/ 0 60000 65536"/>
              <a:gd name="T9" fmla="*/ 0 w 1344"/>
              <a:gd name="T10" fmla="*/ 0 h 222"/>
              <a:gd name="T11" fmla="*/ 1344 w 1344"/>
              <a:gd name="T12" fmla="*/ 222 h 222"/>
            </a:gdLst>
            <a:ahLst/>
            <a:cxnLst>
              <a:cxn ang="T6">
                <a:pos x="T0" y="T1"/>
              </a:cxn>
              <a:cxn ang="T7">
                <a:pos x="T2" y="T3"/>
              </a:cxn>
              <a:cxn ang="T8">
                <a:pos x="T4" y="T5"/>
              </a:cxn>
            </a:cxnLst>
            <a:rect l="T9" t="T10" r="T11" b="T12"/>
            <a:pathLst>
              <a:path w="1344" h="222">
                <a:moveTo>
                  <a:pt x="0" y="222"/>
                </a:moveTo>
                <a:lnTo>
                  <a:pt x="1343" y="222"/>
                </a:lnTo>
                <a:lnTo>
                  <a:pt x="134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40" name="AutoShape 83"/>
          <p:cNvSpPr>
            <a:spLocks noChangeArrowheads="1"/>
          </p:cNvSpPr>
          <p:nvPr/>
        </p:nvSpPr>
        <p:spPr bwMode="auto">
          <a:xfrm flipH="1">
            <a:off x="7112000" y="2265364"/>
            <a:ext cx="711200" cy="492125"/>
          </a:xfrm>
          <a:prstGeom prst="cube">
            <a:avLst>
              <a:gd name="adj" fmla="val 28329"/>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10 M</a:t>
            </a:r>
          </a:p>
        </p:txBody>
      </p:sp>
      <p:pic>
        <p:nvPicPr>
          <p:cNvPr id="13341" name="Picture 8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6425" y="1577976"/>
            <a:ext cx="3048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2" name="Picture 8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3450" y="2184401"/>
            <a:ext cx="30638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3" name="Picture 8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0500" y="2182813"/>
            <a:ext cx="3048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4" name="Freeform 87"/>
          <p:cNvSpPr>
            <a:spLocks/>
          </p:cNvSpPr>
          <p:nvPr/>
        </p:nvSpPr>
        <p:spPr bwMode="auto">
          <a:xfrm>
            <a:off x="6846889" y="2497138"/>
            <a:ext cx="312737" cy="2717800"/>
          </a:xfrm>
          <a:custGeom>
            <a:avLst/>
            <a:gdLst>
              <a:gd name="T0" fmla="*/ 2147483646 w 192"/>
              <a:gd name="T1" fmla="*/ 0 h 1612"/>
              <a:gd name="T2" fmla="*/ 0 w 192"/>
              <a:gd name="T3" fmla="*/ 0 h 1612"/>
              <a:gd name="T4" fmla="*/ 0 w 192"/>
              <a:gd name="T5" fmla="*/ 2147483646 h 1612"/>
              <a:gd name="T6" fmla="*/ 0 60000 65536"/>
              <a:gd name="T7" fmla="*/ 0 60000 65536"/>
              <a:gd name="T8" fmla="*/ 0 60000 65536"/>
              <a:gd name="T9" fmla="*/ 0 w 192"/>
              <a:gd name="T10" fmla="*/ 0 h 1612"/>
              <a:gd name="T11" fmla="*/ 192 w 192"/>
              <a:gd name="T12" fmla="*/ 1612 h 1612"/>
            </a:gdLst>
            <a:ahLst/>
            <a:cxnLst>
              <a:cxn ang="T6">
                <a:pos x="T0" y="T1"/>
              </a:cxn>
              <a:cxn ang="T7">
                <a:pos x="T2" y="T3"/>
              </a:cxn>
              <a:cxn ang="T8">
                <a:pos x="T4" y="T5"/>
              </a:cxn>
            </a:cxnLst>
            <a:rect l="T9" t="T10" r="T11" b="T12"/>
            <a:pathLst>
              <a:path w="192" h="1612">
                <a:moveTo>
                  <a:pt x="192" y="0"/>
                </a:moveTo>
                <a:lnTo>
                  <a:pt x="0" y="0"/>
                </a:lnTo>
                <a:lnTo>
                  <a:pt x="0" y="1612"/>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45" name="Freeform 88"/>
          <p:cNvSpPr>
            <a:spLocks/>
          </p:cNvSpPr>
          <p:nvPr/>
        </p:nvSpPr>
        <p:spPr bwMode="auto">
          <a:xfrm>
            <a:off x="6964364" y="3376614"/>
            <a:ext cx="242887" cy="1920875"/>
          </a:xfrm>
          <a:custGeom>
            <a:avLst/>
            <a:gdLst>
              <a:gd name="T0" fmla="*/ 2147483646 w 150"/>
              <a:gd name="T1" fmla="*/ 0 h 1139"/>
              <a:gd name="T2" fmla="*/ 0 w 150"/>
              <a:gd name="T3" fmla="*/ 2147483646 h 1139"/>
              <a:gd name="T4" fmla="*/ 0 w 150"/>
              <a:gd name="T5" fmla="*/ 2147483646 h 1139"/>
              <a:gd name="T6" fmla="*/ 0 60000 65536"/>
              <a:gd name="T7" fmla="*/ 0 60000 65536"/>
              <a:gd name="T8" fmla="*/ 0 60000 65536"/>
              <a:gd name="T9" fmla="*/ 0 w 150"/>
              <a:gd name="T10" fmla="*/ 0 h 1139"/>
              <a:gd name="T11" fmla="*/ 150 w 150"/>
              <a:gd name="T12" fmla="*/ 1139 h 1139"/>
            </a:gdLst>
            <a:ahLst/>
            <a:cxnLst>
              <a:cxn ang="T6">
                <a:pos x="T0" y="T1"/>
              </a:cxn>
              <a:cxn ang="T7">
                <a:pos x="T2" y="T3"/>
              </a:cxn>
              <a:cxn ang="T8">
                <a:pos x="T4" y="T5"/>
              </a:cxn>
            </a:cxnLst>
            <a:rect l="T9" t="T10" r="T11" b="T12"/>
            <a:pathLst>
              <a:path w="150" h="1139">
                <a:moveTo>
                  <a:pt x="150" y="0"/>
                </a:moveTo>
                <a:lnTo>
                  <a:pt x="0" y="6"/>
                </a:lnTo>
                <a:lnTo>
                  <a:pt x="0" y="1139"/>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46" name="Freeform 89"/>
          <p:cNvSpPr>
            <a:spLocks/>
          </p:cNvSpPr>
          <p:nvPr/>
        </p:nvSpPr>
        <p:spPr bwMode="auto">
          <a:xfrm>
            <a:off x="7080250" y="4327526"/>
            <a:ext cx="127000" cy="1050925"/>
          </a:xfrm>
          <a:custGeom>
            <a:avLst/>
            <a:gdLst>
              <a:gd name="T0" fmla="*/ 2147483646 w 78"/>
              <a:gd name="T1" fmla="*/ 0 h 623"/>
              <a:gd name="T2" fmla="*/ 0 w 78"/>
              <a:gd name="T3" fmla="*/ 2147483646 h 623"/>
              <a:gd name="T4" fmla="*/ 2147483646 w 78"/>
              <a:gd name="T5" fmla="*/ 2147483646 h 623"/>
              <a:gd name="T6" fmla="*/ 0 60000 65536"/>
              <a:gd name="T7" fmla="*/ 0 60000 65536"/>
              <a:gd name="T8" fmla="*/ 0 60000 65536"/>
              <a:gd name="T9" fmla="*/ 0 w 78"/>
              <a:gd name="T10" fmla="*/ 0 h 623"/>
              <a:gd name="T11" fmla="*/ 78 w 78"/>
              <a:gd name="T12" fmla="*/ 623 h 623"/>
            </a:gdLst>
            <a:ahLst/>
            <a:cxnLst>
              <a:cxn ang="T6">
                <a:pos x="T0" y="T1"/>
              </a:cxn>
              <a:cxn ang="T7">
                <a:pos x="T2" y="T3"/>
              </a:cxn>
              <a:cxn ang="T8">
                <a:pos x="T4" y="T5"/>
              </a:cxn>
            </a:cxnLst>
            <a:rect l="T9" t="T10" r="T11" b="T12"/>
            <a:pathLst>
              <a:path w="78" h="623">
                <a:moveTo>
                  <a:pt x="78" y="0"/>
                </a:moveTo>
                <a:lnTo>
                  <a:pt x="0" y="6"/>
                </a:lnTo>
                <a:lnTo>
                  <a:pt x="1" y="623"/>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47" name="AutoShape 90"/>
          <p:cNvSpPr>
            <a:spLocks noChangeArrowheads="1"/>
          </p:cNvSpPr>
          <p:nvPr/>
        </p:nvSpPr>
        <p:spPr bwMode="auto">
          <a:xfrm flipH="1">
            <a:off x="6607176" y="5049838"/>
            <a:ext cx="785813" cy="531812"/>
          </a:xfrm>
          <a:prstGeom prst="cube">
            <a:avLst>
              <a:gd name="adj" fmla="val 28329"/>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kumimoji="1" lang="zh-CN" altLang="zh-CN" sz="1800">
              <a:solidFill>
                <a:srgbClr val="333399"/>
              </a:solidFill>
              <a:latin typeface="Arial" panose="020B0604020202020204" pitchFamily="34" charset="0"/>
              <a:ea typeface="黑体" panose="02010609060101010101" pitchFamily="49" charset="-122"/>
            </a:endParaRPr>
          </a:p>
        </p:txBody>
      </p:sp>
      <p:sp>
        <p:nvSpPr>
          <p:cNvPr id="13348" name="Freeform 91"/>
          <p:cNvSpPr>
            <a:spLocks/>
          </p:cNvSpPr>
          <p:nvPr/>
        </p:nvSpPr>
        <p:spPr bwMode="auto">
          <a:xfrm>
            <a:off x="5126039" y="4867275"/>
            <a:ext cx="1489075" cy="433388"/>
          </a:xfrm>
          <a:custGeom>
            <a:avLst/>
            <a:gdLst>
              <a:gd name="T0" fmla="*/ 0 w 914"/>
              <a:gd name="T1" fmla="*/ 0 h 257"/>
              <a:gd name="T2" fmla="*/ 0 w 914"/>
              <a:gd name="T3" fmla="*/ 2147483646 h 257"/>
              <a:gd name="T4" fmla="*/ 2147483646 w 914"/>
              <a:gd name="T5" fmla="*/ 2147483646 h 257"/>
              <a:gd name="T6" fmla="*/ 0 60000 65536"/>
              <a:gd name="T7" fmla="*/ 0 60000 65536"/>
              <a:gd name="T8" fmla="*/ 0 60000 65536"/>
              <a:gd name="T9" fmla="*/ 0 w 914"/>
              <a:gd name="T10" fmla="*/ 0 h 257"/>
              <a:gd name="T11" fmla="*/ 914 w 914"/>
              <a:gd name="T12" fmla="*/ 257 h 257"/>
            </a:gdLst>
            <a:ahLst/>
            <a:cxnLst>
              <a:cxn ang="T6">
                <a:pos x="T0" y="T1"/>
              </a:cxn>
              <a:cxn ang="T7">
                <a:pos x="T2" y="T3"/>
              </a:cxn>
              <a:cxn ang="T8">
                <a:pos x="T4" y="T5"/>
              </a:cxn>
            </a:cxnLst>
            <a:rect l="T9" t="T10" r="T11" b="T12"/>
            <a:pathLst>
              <a:path w="914" h="257">
                <a:moveTo>
                  <a:pt x="0" y="0"/>
                </a:moveTo>
                <a:lnTo>
                  <a:pt x="0" y="256"/>
                </a:lnTo>
                <a:lnTo>
                  <a:pt x="914" y="257"/>
                </a:lnTo>
              </a:path>
            </a:pathLst>
          </a:custGeom>
          <a:noFill/>
          <a:ln w="5715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49" name="Text Box 92"/>
          <p:cNvSpPr txBox="1">
            <a:spLocks noChangeArrowheads="1"/>
          </p:cNvSpPr>
          <p:nvPr/>
        </p:nvSpPr>
        <p:spPr bwMode="auto">
          <a:xfrm>
            <a:off x="6534150" y="5651501"/>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zh-CN" sz="2800">
              <a:solidFill>
                <a:srgbClr val="333399"/>
              </a:solidFill>
              <a:latin typeface="Arial" panose="020B0604020202020204" pitchFamily="34" charset="0"/>
              <a:ea typeface="黑体" panose="02010609060101010101" pitchFamily="49" charset="-122"/>
            </a:endParaRPr>
          </a:p>
        </p:txBody>
      </p:sp>
      <p:sp>
        <p:nvSpPr>
          <p:cNvPr id="13350" name="Text Box 93"/>
          <p:cNvSpPr txBox="1">
            <a:spLocks noChangeArrowheads="1"/>
          </p:cNvSpPr>
          <p:nvPr/>
        </p:nvSpPr>
        <p:spPr bwMode="auto">
          <a:xfrm>
            <a:off x="6654800" y="5222875"/>
            <a:ext cx="8191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85000"/>
              </a:lnSpc>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100 M</a:t>
            </a:r>
          </a:p>
        </p:txBody>
      </p:sp>
      <p:pic>
        <p:nvPicPr>
          <p:cNvPr id="13351" name="Picture 9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0614" y="3963989"/>
            <a:ext cx="306387"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52" name="Freeform 95"/>
          <p:cNvSpPr>
            <a:spLocks/>
          </p:cNvSpPr>
          <p:nvPr/>
        </p:nvSpPr>
        <p:spPr bwMode="auto">
          <a:xfrm>
            <a:off x="4970464" y="4852988"/>
            <a:ext cx="1587" cy="715962"/>
          </a:xfrm>
          <a:custGeom>
            <a:avLst/>
            <a:gdLst>
              <a:gd name="T0" fmla="*/ 0 w 1"/>
              <a:gd name="T1" fmla="*/ 0 h 424"/>
              <a:gd name="T2" fmla="*/ 0 w 1"/>
              <a:gd name="T3" fmla="*/ 2147483646 h 424"/>
              <a:gd name="T4" fmla="*/ 0 60000 65536"/>
              <a:gd name="T5" fmla="*/ 0 60000 65536"/>
              <a:gd name="T6" fmla="*/ 0 w 1"/>
              <a:gd name="T7" fmla="*/ 0 h 424"/>
              <a:gd name="T8" fmla="*/ 1 w 1"/>
              <a:gd name="T9" fmla="*/ 424 h 424"/>
            </a:gdLst>
            <a:ahLst/>
            <a:cxnLst>
              <a:cxn ang="T4">
                <a:pos x="T0" y="T1"/>
              </a:cxn>
              <a:cxn ang="T5">
                <a:pos x="T2" y="T3"/>
              </a:cxn>
            </a:cxnLst>
            <a:rect l="T6" t="T7" r="T8" b="T9"/>
            <a:pathLst>
              <a:path w="1" h="424">
                <a:moveTo>
                  <a:pt x="0" y="0"/>
                </a:moveTo>
                <a:lnTo>
                  <a:pt x="0" y="424"/>
                </a:lnTo>
              </a:path>
            </a:pathLst>
          </a:custGeom>
          <a:noFill/>
          <a:ln w="762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53" name="Freeform 96"/>
          <p:cNvSpPr>
            <a:spLocks/>
          </p:cNvSpPr>
          <p:nvPr/>
        </p:nvSpPr>
        <p:spPr bwMode="auto">
          <a:xfrm flipH="1">
            <a:off x="4735514" y="4894263"/>
            <a:ext cx="77787" cy="889000"/>
          </a:xfrm>
          <a:custGeom>
            <a:avLst/>
            <a:gdLst>
              <a:gd name="T0" fmla="*/ 0 w 1"/>
              <a:gd name="T1" fmla="*/ 0 h 408"/>
              <a:gd name="T2" fmla="*/ 0 w 1"/>
              <a:gd name="T3" fmla="*/ 2147483646 h 408"/>
              <a:gd name="T4" fmla="*/ 0 60000 65536"/>
              <a:gd name="T5" fmla="*/ 0 60000 65536"/>
              <a:gd name="T6" fmla="*/ 0 w 1"/>
              <a:gd name="T7" fmla="*/ 0 h 408"/>
              <a:gd name="T8" fmla="*/ 1 w 1"/>
              <a:gd name="T9" fmla="*/ 408 h 408"/>
            </a:gdLst>
            <a:ahLst/>
            <a:cxnLst>
              <a:cxn ang="T4">
                <a:pos x="T0" y="T1"/>
              </a:cxn>
              <a:cxn ang="T5">
                <a:pos x="T2" y="T3"/>
              </a:cxn>
            </a:cxnLst>
            <a:rect l="T6" t="T7" r="T8" b="T9"/>
            <a:pathLst>
              <a:path w="1" h="408">
                <a:moveTo>
                  <a:pt x="0" y="0"/>
                </a:moveTo>
                <a:lnTo>
                  <a:pt x="0" y="408"/>
                </a:lnTo>
              </a:path>
            </a:pathLst>
          </a:custGeom>
          <a:noFill/>
          <a:ln w="762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54" name="Rectangle 97"/>
          <p:cNvSpPr>
            <a:spLocks noChangeArrowheads="1"/>
          </p:cNvSpPr>
          <p:nvPr/>
        </p:nvSpPr>
        <p:spPr bwMode="auto">
          <a:xfrm>
            <a:off x="1843088" y="2062164"/>
            <a:ext cx="2266950" cy="917575"/>
          </a:xfrm>
          <a:prstGeom prst="rect">
            <a:avLst/>
          </a:prstGeom>
          <a:solidFill>
            <a:srgbClr val="FFFF99"/>
          </a:solidFill>
          <a:ln w="9525">
            <a:solidFill>
              <a:srgbClr val="333399"/>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solidFill>
                <a:srgbClr val="000000"/>
              </a:solidFill>
              <a:latin typeface="Tahoma" panose="020B0604030504040204" pitchFamily="34" charset="0"/>
            </a:endParaRPr>
          </a:p>
        </p:txBody>
      </p:sp>
      <p:sp>
        <p:nvSpPr>
          <p:cNvPr id="13355" name="AutoShape 98"/>
          <p:cNvSpPr>
            <a:spLocks noChangeArrowheads="1"/>
          </p:cNvSpPr>
          <p:nvPr/>
        </p:nvSpPr>
        <p:spPr bwMode="auto">
          <a:xfrm flipH="1">
            <a:off x="4183064" y="4441825"/>
            <a:ext cx="1177925" cy="533400"/>
          </a:xfrm>
          <a:prstGeom prst="cube">
            <a:avLst>
              <a:gd name="adj" fmla="val 2832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kumimoji="1" lang="zh-CN" altLang="zh-CN" sz="1800">
              <a:solidFill>
                <a:srgbClr val="333399"/>
              </a:solidFill>
              <a:latin typeface="Arial" panose="020B0604020202020204" pitchFamily="34" charset="0"/>
              <a:ea typeface="黑体" panose="02010609060101010101" pitchFamily="49" charset="-122"/>
            </a:endParaRPr>
          </a:p>
        </p:txBody>
      </p:sp>
      <p:sp>
        <p:nvSpPr>
          <p:cNvPr id="13356" name="Freeform 99"/>
          <p:cNvSpPr>
            <a:spLocks/>
          </p:cNvSpPr>
          <p:nvPr/>
        </p:nvSpPr>
        <p:spPr bwMode="auto">
          <a:xfrm>
            <a:off x="3419475" y="2709864"/>
            <a:ext cx="846138" cy="1995487"/>
          </a:xfrm>
          <a:custGeom>
            <a:avLst/>
            <a:gdLst>
              <a:gd name="T0" fmla="*/ 0 w 520"/>
              <a:gd name="T1" fmla="*/ 0 h 1016"/>
              <a:gd name="T2" fmla="*/ 0 w 520"/>
              <a:gd name="T3" fmla="*/ 2147483646 h 1016"/>
              <a:gd name="T4" fmla="*/ 2147483646 w 520"/>
              <a:gd name="T5" fmla="*/ 2147483646 h 1016"/>
              <a:gd name="T6" fmla="*/ 0 60000 65536"/>
              <a:gd name="T7" fmla="*/ 0 60000 65536"/>
              <a:gd name="T8" fmla="*/ 0 60000 65536"/>
              <a:gd name="T9" fmla="*/ 0 w 520"/>
              <a:gd name="T10" fmla="*/ 0 h 1016"/>
              <a:gd name="T11" fmla="*/ 520 w 520"/>
              <a:gd name="T12" fmla="*/ 1016 h 1016"/>
            </a:gdLst>
            <a:ahLst/>
            <a:cxnLst>
              <a:cxn ang="T6">
                <a:pos x="T0" y="T1"/>
              </a:cxn>
              <a:cxn ang="T7">
                <a:pos x="T2" y="T3"/>
              </a:cxn>
              <a:cxn ang="T8">
                <a:pos x="T4" y="T5"/>
              </a:cxn>
            </a:cxnLst>
            <a:rect l="T9" t="T10" r="T11" b="T12"/>
            <a:pathLst>
              <a:path w="520" h="1016">
                <a:moveTo>
                  <a:pt x="0" y="0"/>
                </a:moveTo>
                <a:lnTo>
                  <a:pt x="0" y="1016"/>
                </a:lnTo>
                <a:lnTo>
                  <a:pt x="520" y="1016"/>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57" name="Text Box 100"/>
          <p:cNvSpPr txBox="1">
            <a:spLocks noChangeArrowheads="1"/>
          </p:cNvSpPr>
          <p:nvPr/>
        </p:nvSpPr>
        <p:spPr bwMode="auto">
          <a:xfrm>
            <a:off x="3406775" y="319881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400">
                <a:solidFill>
                  <a:srgbClr val="333399"/>
                </a:solidFill>
                <a:latin typeface="Arial" panose="020B0604020202020204" pitchFamily="34" charset="0"/>
                <a:ea typeface="黑体" panose="02010609060101010101" pitchFamily="49" charset="-122"/>
              </a:rPr>
              <a:t>吉比特以太网</a:t>
            </a:r>
          </a:p>
        </p:txBody>
      </p:sp>
      <p:sp>
        <p:nvSpPr>
          <p:cNvPr id="13358" name="Text Box 101"/>
          <p:cNvSpPr txBox="1">
            <a:spLocks noChangeArrowheads="1"/>
          </p:cNvSpPr>
          <p:nvPr/>
        </p:nvSpPr>
        <p:spPr bwMode="auto">
          <a:xfrm>
            <a:off x="3873500" y="384651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400">
                <a:solidFill>
                  <a:srgbClr val="333399"/>
                </a:solidFill>
                <a:latin typeface="Arial" panose="020B0604020202020204" pitchFamily="34" charset="0"/>
                <a:ea typeface="黑体" panose="02010609060101010101" pitchFamily="49" charset="-122"/>
              </a:rPr>
              <a:t>光结点汇接点</a:t>
            </a:r>
          </a:p>
        </p:txBody>
      </p:sp>
      <p:pic>
        <p:nvPicPr>
          <p:cNvPr id="13359" name="Picture 10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0575" y="5461000"/>
            <a:ext cx="7556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0" name="Picture 10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3838" y="5783264"/>
            <a:ext cx="75565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61" name="Freeform 104"/>
          <p:cNvSpPr>
            <a:spLocks/>
          </p:cNvSpPr>
          <p:nvPr/>
        </p:nvSpPr>
        <p:spPr bwMode="auto">
          <a:xfrm flipH="1">
            <a:off x="3171825" y="2628900"/>
            <a:ext cx="77788" cy="890588"/>
          </a:xfrm>
          <a:custGeom>
            <a:avLst/>
            <a:gdLst>
              <a:gd name="T0" fmla="*/ 0 w 1"/>
              <a:gd name="T1" fmla="*/ 0 h 408"/>
              <a:gd name="T2" fmla="*/ 0 w 1"/>
              <a:gd name="T3" fmla="*/ 2147483646 h 408"/>
              <a:gd name="T4" fmla="*/ 0 60000 65536"/>
              <a:gd name="T5" fmla="*/ 0 60000 65536"/>
              <a:gd name="T6" fmla="*/ 0 w 1"/>
              <a:gd name="T7" fmla="*/ 0 h 408"/>
              <a:gd name="T8" fmla="*/ 1 w 1"/>
              <a:gd name="T9" fmla="*/ 408 h 408"/>
            </a:gdLst>
            <a:ahLst/>
            <a:cxnLst>
              <a:cxn ang="T4">
                <a:pos x="T0" y="T1"/>
              </a:cxn>
              <a:cxn ang="T5">
                <a:pos x="T2" y="T3"/>
              </a:cxn>
            </a:cxnLst>
            <a:rect l="T6" t="T7" r="T8" b="T9"/>
            <a:pathLst>
              <a:path w="1" h="408">
                <a:moveTo>
                  <a:pt x="0" y="0"/>
                </a:moveTo>
                <a:lnTo>
                  <a:pt x="0" y="408"/>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62" name="Freeform 105"/>
          <p:cNvSpPr>
            <a:spLocks/>
          </p:cNvSpPr>
          <p:nvPr/>
        </p:nvSpPr>
        <p:spPr bwMode="auto">
          <a:xfrm flipH="1">
            <a:off x="3014664" y="2628900"/>
            <a:ext cx="79375" cy="890588"/>
          </a:xfrm>
          <a:custGeom>
            <a:avLst/>
            <a:gdLst>
              <a:gd name="T0" fmla="*/ 0 w 1"/>
              <a:gd name="T1" fmla="*/ 0 h 408"/>
              <a:gd name="T2" fmla="*/ 0 w 1"/>
              <a:gd name="T3" fmla="*/ 2147483646 h 408"/>
              <a:gd name="T4" fmla="*/ 0 60000 65536"/>
              <a:gd name="T5" fmla="*/ 0 60000 65536"/>
              <a:gd name="T6" fmla="*/ 0 w 1"/>
              <a:gd name="T7" fmla="*/ 0 h 408"/>
              <a:gd name="T8" fmla="*/ 1 w 1"/>
              <a:gd name="T9" fmla="*/ 408 h 408"/>
            </a:gdLst>
            <a:ahLst/>
            <a:cxnLst>
              <a:cxn ang="T4">
                <a:pos x="T0" y="T1"/>
              </a:cxn>
              <a:cxn ang="T5">
                <a:pos x="T2" y="T3"/>
              </a:cxn>
            </a:cxnLst>
            <a:rect l="T6" t="T7" r="T8" b="T9"/>
            <a:pathLst>
              <a:path w="1" h="408">
                <a:moveTo>
                  <a:pt x="0" y="0"/>
                </a:moveTo>
                <a:lnTo>
                  <a:pt x="0" y="408"/>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63" name="Freeform 106"/>
          <p:cNvSpPr>
            <a:spLocks/>
          </p:cNvSpPr>
          <p:nvPr/>
        </p:nvSpPr>
        <p:spPr bwMode="auto">
          <a:xfrm flipH="1">
            <a:off x="2859089" y="2628900"/>
            <a:ext cx="77787" cy="890588"/>
          </a:xfrm>
          <a:custGeom>
            <a:avLst/>
            <a:gdLst>
              <a:gd name="T0" fmla="*/ 0 w 1"/>
              <a:gd name="T1" fmla="*/ 0 h 408"/>
              <a:gd name="T2" fmla="*/ 0 w 1"/>
              <a:gd name="T3" fmla="*/ 2147483646 h 408"/>
              <a:gd name="T4" fmla="*/ 0 60000 65536"/>
              <a:gd name="T5" fmla="*/ 0 60000 65536"/>
              <a:gd name="T6" fmla="*/ 0 w 1"/>
              <a:gd name="T7" fmla="*/ 0 h 408"/>
              <a:gd name="T8" fmla="*/ 1 w 1"/>
              <a:gd name="T9" fmla="*/ 408 h 408"/>
            </a:gdLst>
            <a:ahLst/>
            <a:cxnLst>
              <a:cxn ang="T4">
                <a:pos x="T0" y="T1"/>
              </a:cxn>
              <a:cxn ang="T5">
                <a:pos x="T2" y="T3"/>
              </a:cxn>
            </a:cxnLst>
            <a:rect l="T6" t="T7" r="T8" b="T9"/>
            <a:pathLst>
              <a:path w="1" h="408">
                <a:moveTo>
                  <a:pt x="0" y="0"/>
                </a:moveTo>
                <a:lnTo>
                  <a:pt x="0" y="408"/>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64" name="Freeform 107"/>
          <p:cNvSpPr>
            <a:spLocks/>
          </p:cNvSpPr>
          <p:nvPr/>
        </p:nvSpPr>
        <p:spPr bwMode="auto">
          <a:xfrm flipH="1">
            <a:off x="2701926" y="2628900"/>
            <a:ext cx="79375" cy="890588"/>
          </a:xfrm>
          <a:custGeom>
            <a:avLst/>
            <a:gdLst>
              <a:gd name="T0" fmla="*/ 0 w 1"/>
              <a:gd name="T1" fmla="*/ 0 h 408"/>
              <a:gd name="T2" fmla="*/ 0 w 1"/>
              <a:gd name="T3" fmla="*/ 2147483646 h 408"/>
              <a:gd name="T4" fmla="*/ 0 60000 65536"/>
              <a:gd name="T5" fmla="*/ 0 60000 65536"/>
              <a:gd name="T6" fmla="*/ 0 w 1"/>
              <a:gd name="T7" fmla="*/ 0 h 408"/>
              <a:gd name="T8" fmla="*/ 1 w 1"/>
              <a:gd name="T9" fmla="*/ 408 h 408"/>
            </a:gdLst>
            <a:ahLst/>
            <a:cxnLst>
              <a:cxn ang="T4">
                <a:pos x="T0" y="T1"/>
              </a:cxn>
              <a:cxn ang="T5">
                <a:pos x="T2" y="T3"/>
              </a:cxn>
            </a:cxnLst>
            <a:rect l="T6" t="T7" r="T8" b="T9"/>
            <a:pathLst>
              <a:path w="1" h="408">
                <a:moveTo>
                  <a:pt x="0" y="0"/>
                </a:moveTo>
                <a:lnTo>
                  <a:pt x="0" y="408"/>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65" name="AutoShape 108"/>
          <p:cNvSpPr>
            <a:spLocks noChangeArrowheads="1"/>
          </p:cNvSpPr>
          <p:nvPr/>
        </p:nvSpPr>
        <p:spPr bwMode="auto">
          <a:xfrm flipH="1">
            <a:off x="2505075" y="2235200"/>
            <a:ext cx="1176338" cy="533400"/>
          </a:xfrm>
          <a:prstGeom prst="cube">
            <a:avLst>
              <a:gd name="adj" fmla="val 2832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kumimoji="1" lang="zh-CN" altLang="zh-CN" sz="1800">
              <a:solidFill>
                <a:srgbClr val="333399"/>
              </a:solidFill>
              <a:latin typeface="Arial" panose="020B0604020202020204" pitchFamily="34" charset="0"/>
              <a:ea typeface="黑体" panose="02010609060101010101" pitchFamily="49" charset="-122"/>
            </a:endParaRPr>
          </a:p>
        </p:txBody>
      </p:sp>
      <p:sp>
        <p:nvSpPr>
          <p:cNvPr id="13366" name="Text Box 109"/>
          <p:cNvSpPr txBox="1">
            <a:spLocks noChangeArrowheads="1"/>
          </p:cNvSpPr>
          <p:nvPr/>
        </p:nvSpPr>
        <p:spPr bwMode="auto">
          <a:xfrm>
            <a:off x="2741613" y="2349501"/>
            <a:ext cx="85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 Gb/s</a:t>
            </a:r>
          </a:p>
        </p:txBody>
      </p:sp>
      <p:sp>
        <p:nvSpPr>
          <p:cNvPr id="13367" name="Text Box 110"/>
          <p:cNvSpPr txBox="1">
            <a:spLocks noChangeArrowheads="1"/>
          </p:cNvSpPr>
          <p:nvPr/>
        </p:nvSpPr>
        <p:spPr bwMode="auto">
          <a:xfrm>
            <a:off x="4384675" y="4605338"/>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 Gb/s</a:t>
            </a:r>
          </a:p>
        </p:txBody>
      </p:sp>
      <p:sp>
        <p:nvSpPr>
          <p:cNvPr id="13368" name="Text Box 111"/>
          <p:cNvSpPr txBox="1">
            <a:spLocks noChangeArrowheads="1"/>
          </p:cNvSpPr>
          <p:nvPr/>
        </p:nvSpPr>
        <p:spPr bwMode="auto">
          <a:xfrm>
            <a:off x="1685925" y="1649414"/>
            <a:ext cx="2541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高速汇接点 </a:t>
            </a:r>
            <a:r>
              <a:rPr kumimoji="1" lang="en-US" altLang="zh-CN" sz="2000">
                <a:solidFill>
                  <a:srgbClr val="333399"/>
                </a:solidFill>
                <a:latin typeface="Arial" panose="020B0604020202020204" pitchFamily="34" charset="0"/>
                <a:ea typeface="黑体" panose="02010609060101010101" pitchFamily="49" charset="-122"/>
              </a:rPr>
              <a:t>GigaPoP</a:t>
            </a:r>
          </a:p>
        </p:txBody>
      </p:sp>
      <p:sp>
        <p:nvSpPr>
          <p:cNvPr id="13369" name="AutoShape 83"/>
          <p:cNvSpPr>
            <a:spLocks noChangeArrowheads="1"/>
          </p:cNvSpPr>
          <p:nvPr/>
        </p:nvSpPr>
        <p:spPr bwMode="auto">
          <a:xfrm flipH="1">
            <a:off x="8242300" y="1865314"/>
            <a:ext cx="711200" cy="492125"/>
          </a:xfrm>
          <a:prstGeom prst="cube">
            <a:avLst>
              <a:gd name="adj" fmla="val 28329"/>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1800">
                <a:solidFill>
                  <a:srgbClr val="333399"/>
                </a:solidFill>
                <a:latin typeface="Arial" panose="020B0604020202020204" pitchFamily="34" charset="0"/>
                <a:ea typeface="黑体" panose="02010609060101010101" pitchFamily="49" charset="-122"/>
              </a:rPr>
              <a:t>10 M</a:t>
            </a:r>
          </a:p>
        </p:txBody>
      </p:sp>
      <p:pic>
        <p:nvPicPr>
          <p:cNvPr id="13370" name="Picture 8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88375" y="1565276"/>
            <a:ext cx="3048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71" name="矩形 1"/>
          <p:cNvSpPr>
            <a:spLocks noChangeArrowheads="1"/>
          </p:cNvSpPr>
          <p:nvPr/>
        </p:nvSpPr>
        <p:spPr bwMode="auto">
          <a:xfrm>
            <a:off x="7205664" y="266700"/>
            <a:ext cx="3444875" cy="522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a:latin typeface="黑体" panose="02010609060101010101" pitchFamily="49" charset="-122"/>
                <a:ea typeface="黑体" panose="02010609060101010101" pitchFamily="49" charset="-122"/>
              </a:rPr>
              <a:t>采用交换机逐级汇聚</a:t>
            </a:r>
          </a:p>
        </p:txBody>
      </p:sp>
    </p:spTree>
    <p:extLst>
      <p:ext uri="{BB962C8B-B14F-4D97-AF65-F5344CB8AC3E}">
        <p14:creationId xmlns:p14="http://schemas.microsoft.com/office/powerpoint/2010/main" val="228452353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57338"/>
            <a:ext cx="9144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矩形 6"/>
          <p:cNvSpPr>
            <a:spLocks noChangeArrowheads="1"/>
          </p:cNvSpPr>
          <p:nvPr/>
        </p:nvSpPr>
        <p:spPr bwMode="auto">
          <a:xfrm>
            <a:off x="767408" y="1033463"/>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dirty="0">
                <a:solidFill>
                  <a:srgbClr val="0070C0"/>
                </a:solidFill>
                <a:latin typeface="微软雅黑" panose="020B0503020204020204" pitchFamily="34" charset="-122"/>
                <a:ea typeface="微软雅黑" panose="020B0503020204020204" pitchFamily="34" charset="-122"/>
              </a:rPr>
              <a:t>某单位三级组网</a:t>
            </a:r>
          </a:p>
        </p:txBody>
      </p:sp>
    </p:spTree>
    <p:extLst>
      <p:ext uri="{BB962C8B-B14F-4D97-AF65-F5344CB8AC3E}">
        <p14:creationId xmlns:p14="http://schemas.microsoft.com/office/powerpoint/2010/main" val="270580373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a:xfrm>
            <a:off x="623392" y="1772817"/>
            <a:ext cx="11233248" cy="4789487"/>
          </a:xfrm>
          <a:solidFill>
            <a:schemeClr val="bg1"/>
          </a:solidFill>
        </p:spPr>
        <p:txBody>
          <a:bodyPr/>
          <a:lstStyle/>
          <a:p>
            <a:pPr algn="just" eaLnBrk="1" hangingPunct="1">
              <a:lnSpc>
                <a:spcPct val="12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、工作层：</a:t>
            </a:r>
            <a:r>
              <a:rPr lang="zh-CN" altLang="en-US" sz="2400" dirty="0">
                <a:solidFill>
                  <a:srgbClr val="2A10E8"/>
                </a:solidFill>
                <a:latin typeface="微软雅黑" panose="020B0503020204020204" pitchFamily="34" charset="-122"/>
                <a:ea typeface="微软雅黑" panose="020B0503020204020204" pitchFamily="34" charset="-122"/>
              </a:rPr>
              <a:t>集线器属于物理层设备，以比特为单位转发，交换机属于数据链路层设备，以帧为单位转发</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、工作方式：</a:t>
            </a:r>
            <a:r>
              <a:rPr lang="zh-CN" altLang="en-US" sz="2400" dirty="0">
                <a:solidFill>
                  <a:srgbClr val="2A10E8"/>
                </a:solidFill>
                <a:latin typeface="微软雅黑" panose="020B0503020204020204" pitchFamily="34" charset="-122"/>
                <a:ea typeface="微软雅黑" panose="020B0503020204020204" pitchFamily="34" charset="-122"/>
              </a:rPr>
              <a:t>集线器是一种广播模式</a:t>
            </a:r>
            <a:r>
              <a:rPr lang="zh-CN" altLang="en-US" sz="2400" dirty="0">
                <a:latin typeface="微软雅黑" panose="020B0503020204020204" pitchFamily="34" charset="-122"/>
                <a:ea typeface="微软雅黑" panose="020B0503020204020204" pitchFamily="34" charset="-122"/>
              </a:rPr>
              <a:t>，集线器的某个端口工作时，其他所有端口都能够收听到信息。当交换机工作的时候，一般只有发出请求的端口和目的端口之间相互响应而不影响其他端口。</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、带宽：</a:t>
            </a:r>
            <a:r>
              <a:rPr lang="zh-CN" altLang="en-US" sz="2400" dirty="0">
                <a:solidFill>
                  <a:srgbClr val="2A10E8"/>
                </a:solidFill>
                <a:latin typeface="微软雅黑" panose="020B0503020204020204" pitchFamily="34" charset="-122"/>
                <a:ea typeface="微软雅黑" panose="020B0503020204020204" pitchFamily="34" charset="-122"/>
              </a:rPr>
              <a:t>集线器</a:t>
            </a:r>
            <a:r>
              <a:rPr lang="zh-CN" altLang="en-US" sz="2400" dirty="0">
                <a:latin typeface="微软雅黑" panose="020B0503020204020204" pitchFamily="34" charset="-122"/>
                <a:ea typeface="微软雅黑" panose="020B0503020204020204" pitchFamily="34" charset="-122"/>
              </a:rPr>
              <a:t>所有端口</a:t>
            </a:r>
            <a:r>
              <a:rPr lang="zh-CN" altLang="en-US" sz="2400" dirty="0">
                <a:solidFill>
                  <a:srgbClr val="2A10E8"/>
                </a:solidFill>
                <a:latin typeface="微软雅黑" panose="020B0503020204020204" pitchFamily="34" charset="-122"/>
                <a:ea typeface="微软雅黑" panose="020B0503020204020204" pitchFamily="34" charset="-122"/>
              </a:rPr>
              <a:t>共享一条带宽</a:t>
            </a:r>
            <a:r>
              <a:rPr lang="zh-CN" altLang="en-US" sz="2400" dirty="0">
                <a:latin typeface="微软雅黑" panose="020B0503020204020204" pitchFamily="34" charset="-122"/>
                <a:ea typeface="微软雅黑" panose="020B0503020204020204" pitchFamily="34" charset="-122"/>
              </a:rPr>
              <a:t>，同一时刻只能有一个端口传送数据，其他端口等待，只工作在半双工模式下；</a:t>
            </a:r>
            <a:r>
              <a:rPr lang="zh-CN" altLang="en-US" sz="2400" dirty="0">
                <a:solidFill>
                  <a:srgbClr val="2A10E8"/>
                </a:solidFill>
                <a:latin typeface="微软雅黑" panose="020B0503020204020204" pitchFamily="34" charset="-122"/>
                <a:ea typeface="微软雅黑" panose="020B0503020204020204" pitchFamily="34" charset="-122"/>
              </a:rPr>
              <a:t>交换机每个端口都有一条独占的带宽</a:t>
            </a:r>
            <a:r>
              <a:rPr lang="zh-CN" altLang="en-US" sz="2400" dirty="0">
                <a:latin typeface="微软雅黑" panose="020B0503020204020204" pitchFamily="34" charset="-122"/>
                <a:ea typeface="微软雅黑" panose="020B0503020204020204" pitchFamily="34" charset="-122"/>
              </a:rPr>
              <a:t>，当两个端口工作时并不影响其他端口的工作，可以工作在半双工或全双工模式下。</a:t>
            </a:r>
          </a:p>
        </p:txBody>
      </p:sp>
      <p:sp>
        <p:nvSpPr>
          <p:cNvPr id="72707" name="Rectangle 2"/>
          <p:cNvSpPr>
            <a:spLocks noGrp="1" noChangeArrowheads="1"/>
          </p:cNvSpPr>
          <p:nvPr>
            <p:ph type="title"/>
          </p:nvPr>
        </p:nvSpPr>
        <p:spPr>
          <a:xfrm>
            <a:off x="2063750" y="836613"/>
            <a:ext cx="4876800" cy="762000"/>
          </a:xfrm>
        </p:spPr>
        <p:txBody>
          <a:bodyPr/>
          <a:lstStyle/>
          <a:p>
            <a:pPr eaLnBrk="1" hangingPunct="1"/>
            <a:r>
              <a:rPr lang="zh-CN" altLang="en-US" sz="3200" b="1">
                <a:solidFill>
                  <a:srgbClr val="000099"/>
                </a:solidFill>
                <a:latin typeface="黑体" panose="02010609060101010101" pitchFamily="49" charset="-122"/>
                <a:ea typeface="黑体" panose="02010609060101010101" pitchFamily="49" charset="-122"/>
              </a:rPr>
              <a:t>交换机与集线器的区别</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863752" y="2924944"/>
            <a:ext cx="4876800" cy="762000"/>
          </a:xfrm>
        </p:spPr>
        <p:txBody>
          <a:bodyPr/>
          <a:lstStyle/>
          <a:p>
            <a:pPr eaLnBrk="1" hangingPunct="1"/>
            <a:r>
              <a:rPr lang="zh-CN" altLang="en-US" sz="3200" b="1" dirty="0">
                <a:solidFill>
                  <a:srgbClr val="000099"/>
                </a:solidFill>
                <a:latin typeface="黑体" panose="02010609060101010101" pitchFamily="49" charset="-122"/>
                <a:ea typeface="黑体" panose="02010609060101010101" pitchFamily="49" charset="-122"/>
              </a:rPr>
              <a:t>交换机与集线器的区别</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4295800" y="2924944"/>
            <a:ext cx="3312368" cy="762000"/>
          </a:xfrm>
        </p:spPr>
        <p:txBody>
          <a:bodyPr/>
          <a:lstStyle/>
          <a:p>
            <a:pPr eaLnBrk="1" hangingPunct="1"/>
            <a:r>
              <a:rPr lang="zh-CN" altLang="en-US" sz="3200" b="1" dirty="0">
                <a:solidFill>
                  <a:srgbClr val="000099"/>
                </a:solidFill>
                <a:latin typeface="黑体" panose="02010609060101010101" pitchFamily="49" charset="-122"/>
                <a:ea typeface="黑体" panose="02010609060101010101" pitchFamily="49" charset="-122"/>
              </a:rPr>
              <a:t>冲突域和广播域</a:t>
            </a:r>
          </a:p>
        </p:txBody>
      </p:sp>
    </p:spTree>
    <p:extLst>
      <p:ext uri="{BB962C8B-B14F-4D97-AF65-F5344CB8AC3E}">
        <p14:creationId xmlns:p14="http://schemas.microsoft.com/office/powerpoint/2010/main" val="1592189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695400" y="836712"/>
            <a:ext cx="4876800" cy="762000"/>
          </a:xfrm>
        </p:spPr>
        <p:txBody>
          <a:bodyPr/>
          <a:lstStyle/>
          <a:p>
            <a:pPr eaLnBrk="1" hangingPunct="1"/>
            <a:r>
              <a:rPr lang="zh-CN" altLang="en-US" sz="3200" b="1" dirty="0">
                <a:solidFill>
                  <a:srgbClr val="000099"/>
                </a:solidFill>
                <a:latin typeface="黑体" panose="02010609060101010101" pitchFamily="49" charset="-122"/>
                <a:ea typeface="黑体" panose="02010609060101010101" pitchFamily="49" charset="-122"/>
              </a:rPr>
              <a:t>冲突域和广播域</a:t>
            </a:r>
          </a:p>
        </p:txBody>
      </p:sp>
      <p:sp>
        <p:nvSpPr>
          <p:cNvPr id="5" name="文本框 4">
            <a:extLst>
              <a:ext uri="{FF2B5EF4-FFF2-40B4-BE49-F238E27FC236}">
                <a16:creationId xmlns:a16="http://schemas.microsoft.com/office/drawing/2014/main" id="{D6EF0DD4-5D87-46BA-BEA4-A6E2F2C2AB5E}"/>
              </a:ext>
            </a:extLst>
          </p:cNvPr>
          <p:cNvSpPr txBox="1"/>
          <p:nvPr/>
        </p:nvSpPr>
        <p:spPr>
          <a:xfrm>
            <a:off x="695400" y="1844824"/>
            <a:ext cx="11233248" cy="4041747"/>
          </a:xfrm>
          <a:prstGeom prst="rect">
            <a:avLst/>
          </a:prstGeom>
          <a:noFill/>
        </p:spPr>
        <p:txBody>
          <a:bodyPr wrap="square">
            <a:spAutoFit/>
          </a:bodyPr>
          <a:lstStyle/>
          <a:p>
            <a:pPr>
              <a:lnSpc>
                <a:spcPct val="120000"/>
              </a:lnSpc>
            </a:pPr>
            <a:r>
              <a:rPr lang="zh-CN" altLang="en-US" sz="2400" b="1" dirty="0">
                <a:solidFill>
                  <a:srgbClr val="0070C0"/>
                </a:solidFill>
                <a:latin typeface="微软雅黑" panose="020B0503020204020204" pitchFamily="34" charset="-122"/>
                <a:ea typeface="微软雅黑" panose="020B0503020204020204" pitchFamily="34" charset="-122"/>
              </a:rPr>
              <a:t>冲突域</a:t>
            </a:r>
            <a:r>
              <a:rPr lang="zh-CN" altLang="en-US" sz="2400" b="1" dirty="0">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连接到同一物理介质上的所有节点的集合，</a:t>
            </a:r>
            <a:r>
              <a:rPr lang="zh-CN" altLang="en-US" sz="2400" dirty="0">
                <a:solidFill>
                  <a:srgbClr val="FF0000"/>
                </a:solidFill>
                <a:latin typeface="微软雅黑" panose="020B0503020204020204" pitchFamily="34" charset="-122"/>
                <a:ea typeface="微软雅黑" panose="020B0503020204020204" pitchFamily="34" charset="-122"/>
              </a:rPr>
              <a:t>这些结点之间存在介质争用的现象</a:t>
            </a:r>
            <a:r>
              <a:rPr lang="zh-CN" altLang="en-US" sz="2400" dirty="0">
                <a:solidFill>
                  <a:srgbClr val="0070C0"/>
                </a:solidFill>
                <a:latin typeface="微软雅黑" panose="020B0503020204020204" pitchFamily="34" charset="-122"/>
                <a:ea typeface="微软雅黑" panose="020B0503020204020204" pitchFamily="34" charset="-122"/>
              </a:rPr>
              <a:t>。</a:t>
            </a:r>
            <a:endParaRPr lang="en-US" altLang="zh-CN" sz="2400" dirty="0">
              <a:solidFill>
                <a:srgbClr val="0070C0"/>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l"/>
            </a:pPr>
            <a:r>
              <a:rPr lang="zh-CN" altLang="en-US" sz="2400" dirty="0">
                <a:solidFill>
                  <a:srgbClr val="7030A0"/>
                </a:solidFill>
                <a:latin typeface="微软雅黑" panose="020B0503020204020204" pitchFamily="34" charset="-122"/>
                <a:ea typeface="微软雅黑" panose="020B0503020204020204" pitchFamily="34" charset="-122"/>
              </a:rPr>
              <a:t>冲突域视为第</a:t>
            </a:r>
            <a:r>
              <a:rPr lang="en-US" altLang="zh-CN" sz="2400" dirty="0">
                <a:solidFill>
                  <a:srgbClr val="7030A0"/>
                </a:solidFill>
                <a:latin typeface="微软雅黑" panose="020B0503020204020204" pitchFamily="34" charset="-122"/>
                <a:ea typeface="微软雅黑" panose="020B0503020204020204" pitchFamily="34" charset="-122"/>
              </a:rPr>
              <a:t>1</a:t>
            </a:r>
            <a:r>
              <a:rPr lang="zh-CN" altLang="en-US" sz="2400" dirty="0">
                <a:solidFill>
                  <a:srgbClr val="7030A0"/>
                </a:solidFill>
                <a:latin typeface="微软雅黑" panose="020B0503020204020204" pitchFamily="34" charset="-122"/>
                <a:ea typeface="微软雅黑" panose="020B0503020204020204" pitchFamily="34" charset="-122"/>
              </a:rPr>
              <a:t>层概念（因为是在访问介质时产生的冲突；</a:t>
            </a:r>
            <a:endParaRPr lang="en-US" altLang="zh-CN" sz="2400" dirty="0">
              <a:solidFill>
                <a:srgbClr val="7030A0"/>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像集线器、中继器等无脑复制转发信号的设备所连接的结点都属于同一个冲突域，也就是说这些设备不能划分冲突域，因为他们不具有存储转发能力，而是在物理层进行信号再生，延长通信距离。而第</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层设备（网桥、交换机）、第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层设备（路由器）都可以划分冲突域，因为它们具有存储转发能力。</a:t>
            </a:r>
            <a:endParaRPr lang="en-US" altLang="zh-CN" sz="2400"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l"/>
            </a:pPr>
            <a:r>
              <a:rPr lang="zh-CN" altLang="en-US" sz="2400" dirty="0">
                <a:solidFill>
                  <a:srgbClr val="7030A0"/>
                </a:solidFill>
                <a:latin typeface="微软雅黑" panose="020B0503020204020204" pitchFamily="34" charset="-122"/>
                <a:ea typeface="微软雅黑" panose="020B0503020204020204" pitchFamily="34" charset="-122"/>
              </a:rPr>
              <a:t>具有存储转发能力的设备，在存储转发时，往往是进行了路由，从而尽可能避免了冲突的产生。</a:t>
            </a:r>
            <a:endParaRPr lang="zh-CN" altLang="en-US" sz="2400" dirty="0">
              <a:solidFill>
                <a:srgbClr val="7030A0"/>
              </a:solidFill>
            </a:endParaRPr>
          </a:p>
        </p:txBody>
      </p:sp>
    </p:spTree>
    <p:extLst>
      <p:ext uri="{BB962C8B-B14F-4D97-AF65-F5344CB8AC3E}">
        <p14:creationId xmlns:p14="http://schemas.microsoft.com/office/powerpoint/2010/main" val="375126363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695400" y="836712"/>
            <a:ext cx="4876800" cy="762000"/>
          </a:xfrm>
        </p:spPr>
        <p:txBody>
          <a:bodyPr/>
          <a:lstStyle/>
          <a:p>
            <a:pPr eaLnBrk="1" hangingPunct="1"/>
            <a:r>
              <a:rPr lang="zh-CN" altLang="en-US" sz="3200" b="1" dirty="0">
                <a:solidFill>
                  <a:srgbClr val="000099"/>
                </a:solidFill>
                <a:latin typeface="黑体" panose="02010609060101010101" pitchFamily="49" charset="-122"/>
                <a:ea typeface="黑体" panose="02010609060101010101" pitchFamily="49" charset="-122"/>
              </a:rPr>
              <a:t>冲突域和广播域</a:t>
            </a:r>
          </a:p>
        </p:txBody>
      </p:sp>
      <p:sp>
        <p:nvSpPr>
          <p:cNvPr id="5" name="文本框 4">
            <a:extLst>
              <a:ext uri="{FF2B5EF4-FFF2-40B4-BE49-F238E27FC236}">
                <a16:creationId xmlns:a16="http://schemas.microsoft.com/office/drawing/2014/main" id="{D6EF0DD4-5D87-46BA-BEA4-A6E2F2C2AB5E}"/>
              </a:ext>
            </a:extLst>
          </p:cNvPr>
          <p:cNvSpPr txBox="1"/>
          <p:nvPr/>
        </p:nvSpPr>
        <p:spPr>
          <a:xfrm>
            <a:off x="623392" y="1772817"/>
            <a:ext cx="11377264" cy="3600345"/>
          </a:xfrm>
          <a:prstGeom prst="rect">
            <a:avLst/>
          </a:prstGeom>
          <a:noFill/>
        </p:spPr>
        <p:txBody>
          <a:bodyPr wrap="square">
            <a:spAutoFit/>
          </a:bodyPr>
          <a:lstStyle/>
          <a:p>
            <a:pPr>
              <a:lnSpc>
                <a:spcPct val="120000"/>
              </a:lnSpc>
            </a:pPr>
            <a:r>
              <a:rPr lang="zh-CN" altLang="en-US" sz="2400" b="1" dirty="0">
                <a:solidFill>
                  <a:srgbClr val="0070C0"/>
                </a:solidFill>
                <a:latin typeface="微软雅黑" panose="020B0503020204020204" pitchFamily="34" charset="-122"/>
                <a:ea typeface="微软雅黑" panose="020B0503020204020204" pitchFamily="34" charset="-122"/>
              </a:rPr>
              <a:t>广播域</a:t>
            </a:r>
            <a:r>
              <a:rPr lang="zh-CN" altLang="en-US" sz="2400" b="1"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能够接收到某个广播帧的所有计算机和设备所构成的集合</a:t>
            </a:r>
            <a:r>
              <a:rPr lang="zh-CN" altLang="en-US" sz="2400" dirty="0">
                <a:solidFill>
                  <a:srgbClr val="0070C0"/>
                </a:solidFill>
                <a:latin typeface="微软雅黑" panose="020B0503020204020204" pitchFamily="34" charset="-122"/>
                <a:ea typeface="微软雅黑" panose="020B0503020204020204" pitchFamily="34" charset="-122"/>
              </a:rPr>
              <a:t>。在这个集合中，任何一个结点发送一个广播帧，其他能收到这个帧的结点都被认为是该广播域的一部分。</a:t>
            </a:r>
            <a:endParaRPr lang="en-US" altLang="zh-CN" sz="2400" dirty="0">
              <a:solidFill>
                <a:srgbClr val="0070C0"/>
              </a:solidFill>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广播域视为第</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层概念，像第</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层（集线器、中继器等）、第</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层（交换机、网桥等）设备所连接的结点都属于同一个广播域。也就是说这些设备接收到广播帧时，会像所有连接到它上面的设备发送。第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层设备（路由器）则可以划分广播域，即可以连接不同广播域，即路由器从一个接口接收到广播帧不会向其他接口的结点转发。</a:t>
            </a:r>
            <a:endParaRPr lang="en-US" altLang="zh-CN" sz="2400" dirty="0">
              <a:latin typeface="微软雅黑" panose="020B0503020204020204" pitchFamily="34" charset="-122"/>
              <a:ea typeface="微软雅黑" panose="020B0503020204020204" pitchFamily="34" charset="-122"/>
            </a:endParaRPr>
          </a:p>
          <a:p>
            <a:pPr>
              <a:lnSpc>
                <a:spcPct val="120000"/>
              </a:lnSpc>
            </a:pP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906336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3" name="Rectangle 48"/>
          <p:cNvSpPr>
            <a:spLocks noGrp="1" noChangeArrowheads="1"/>
          </p:cNvSpPr>
          <p:nvPr>
            <p:ph type="title"/>
          </p:nvPr>
        </p:nvSpPr>
        <p:spPr>
          <a:xfrm>
            <a:off x="3791744" y="3073015"/>
            <a:ext cx="4464496" cy="711969"/>
          </a:xfrm>
        </p:spPr>
        <p:txBody>
          <a:bodyPr/>
          <a:lstStyle/>
          <a:p>
            <a:pPr eaLnBrk="1" hangingPunct="1"/>
            <a:r>
              <a:rPr lang="zh-CN" altLang="en-US" sz="2800" b="1" dirty="0">
                <a:solidFill>
                  <a:srgbClr val="0070C0"/>
                </a:solidFill>
                <a:latin typeface="微软雅黑" panose="020B0503020204020204" pitchFamily="34" charset="-122"/>
                <a:ea typeface="微软雅黑" panose="020B0503020204020204" pitchFamily="34" charset="-122"/>
              </a:rPr>
              <a:t>二层交换机的广播风暴问题</a:t>
            </a:r>
          </a:p>
        </p:txBody>
      </p:sp>
    </p:spTree>
    <p:extLst>
      <p:ext uri="{BB962C8B-B14F-4D97-AF65-F5344CB8AC3E}">
        <p14:creationId xmlns:p14="http://schemas.microsoft.com/office/powerpoint/2010/main" val="245385125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1992314" y="1700213"/>
            <a:ext cx="8135937" cy="576262"/>
          </a:xfrm>
        </p:spPr>
        <p:txBody>
          <a:bodyPr/>
          <a:lstStyle/>
          <a:p>
            <a:pPr marL="533400" indent="-533400" eaLnBrk="1" hangingPunct="1"/>
            <a:r>
              <a:rPr lang="zh-CN" altLang="en-US">
                <a:latin typeface="黑体" panose="02010609060101010101" pitchFamily="49" charset="-122"/>
                <a:ea typeface="黑体" panose="02010609060101010101" pitchFamily="49" charset="-122"/>
              </a:rPr>
              <a:t>产生转发的帧在网络中不断地兜圈子。 </a:t>
            </a:r>
          </a:p>
        </p:txBody>
      </p:sp>
      <p:sp>
        <p:nvSpPr>
          <p:cNvPr id="16387" name="Line 4"/>
          <p:cNvSpPr>
            <a:spLocks noChangeShapeType="1"/>
          </p:cNvSpPr>
          <p:nvPr/>
        </p:nvSpPr>
        <p:spPr bwMode="auto">
          <a:xfrm>
            <a:off x="3898901" y="3248025"/>
            <a:ext cx="49450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8" name="Line 5"/>
          <p:cNvSpPr>
            <a:spLocks noChangeShapeType="1"/>
          </p:cNvSpPr>
          <p:nvPr/>
        </p:nvSpPr>
        <p:spPr bwMode="auto">
          <a:xfrm flipV="1">
            <a:off x="3538539" y="4986338"/>
            <a:ext cx="5280025" cy="12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9" name="Rectangle 6"/>
          <p:cNvSpPr>
            <a:spLocks noChangeArrowheads="1"/>
          </p:cNvSpPr>
          <p:nvPr/>
        </p:nvSpPr>
        <p:spPr bwMode="auto">
          <a:xfrm>
            <a:off x="8796338" y="3024189"/>
            <a:ext cx="11557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局域网 </a:t>
            </a:r>
            <a:r>
              <a:rPr kumimoji="1" lang="en-US" altLang="zh-CN">
                <a:solidFill>
                  <a:srgbClr val="333399"/>
                </a:solidFill>
                <a:latin typeface="Arial" panose="020B0604020202020204" pitchFamily="34" charset="0"/>
                <a:ea typeface="黑体" panose="02010609060101010101" pitchFamily="49" charset="-122"/>
              </a:rPr>
              <a:t>2</a:t>
            </a:r>
          </a:p>
        </p:txBody>
      </p:sp>
      <p:sp>
        <p:nvSpPr>
          <p:cNvPr id="16390" name="Rectangle 7"/>
          <p:cNvSpPr>
            <a:spLocks noChangeArrowheads="1"/>
          </p:cNvSpPr>
          <p:nvPr/>
        </p:nvSpPr>
        <p:spPr bwMode="auto">
          <a:xfrm>
            <a:off x="8763001" y="4716464"/>
            <a:ext cx="11653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局域网 </a:t>
            </a:r>
            <a:r>
              <a:rPr kumimoji="1" lang="en-US" altLang="zh-CN">
                <a:solidFill>
                  <a:srgbClr val="333399"/>
                </a:solidFill>
                <a:latin typeface="Arial" panose="020B0604020202020204" pitchFamily="34" charset="0"/>
                <a:ea typeface="黑体" panose="02010609060101010101" pitchFamily="49" charset="-122"/>
              </a:rPr>
              <a:t>1</a:t>
            </a:r>
          </a:p>
        </p:txBody>
      </p:sp>
      <p:sp>
        <p:nvSpPr>
          <p:cNvPr id="16391" name="Line 8"/>
          <p:cNvSpPr>
            <a:spLocks noChangeShapeType="1"/>
          </p:cNvSpPr>
          <p:nvPr/>
        </p:nvSpPr>
        <p:spPr bwMode="auto">
          <a:xfrm flipH="1">
            <a:off x="4308475" y="3230564"/>
            <a:ext cx="0" cy="7572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2" name="Line 9"/>
          <p:cNvSpPr>
            <a:spLocks noChangeShapeType="1"/>
          </p:cNvSpPr>
          <p:nvPr/>
        </p:nvSpPr>
        <p:spPr bwMode="auto">
          <a:xfrm>
            <a:off x="4297363" y="4322764"/>
            <a:ext cx="0" cy="6556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3" name="Line 10"/>
          <p:cNvSpPr>
            <a:spLocks noChangeShapeType="1"/>
          </p:cNvSpPr>
          <p:nvPr/>
        </p:nvSpPr>
        <p:spPr bwMode="auto">
          <a:xfrm flipH="1">
            <a:off x="7929564" y="3254375"/>
            <a:ext cx="1587" cy="725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4" name="Line 11"/>
          <p:cNvSpPr>
            <a:spLocks noChangeShapeType="1"/>
          </p:cNvSpPr>
          <p:nvPr/>
        </p:nvSpPr>
        <p:spPr bwMode="auto">
          <a:xfrm>
            <a:off x="7929563" y="4333875"/>
            <a:ext cx="0" cy="6556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2188" name="Arc 12"/>
          <p:cNvSpPr>
            <a:spLocks/>
          </p:cNvSpPr>
          <p:nvPr/>
        </p:nvSpPr>
        <p:spPr bwMode="auto">
          <a:xfrm rot="5255629" flipH="1">
            <a:off x="5771357" y="2283620"/>
            <a:ext cx="685800" cy="2205037"/>
          </a:xfrm>
          <a:custGeom>
            <a:avLst/>
            <a:gdLst>
              <a:gd name="T0" fmla="*/ 0 w 21653"/>
              <a:gd name="T1" fmla="*/ 0 h 42096"/>
              <a:gd name="T2" fmla="*/ 2147483646 w 21653"/>
              <a:gd name="T3" fmla="*/ 2147483646 h 42096"/>
              <a:gd name="T4" fmla="*/ 2147483646 w 21653"/>
              <a:gd name="T5" fmla="*/ 2147483646 h 42096"/>
              <a:gd name="T6" fmla="*/ 0 60000 65536"/>
              <a:gd name="T7" fmla="*/ 0 60000 65536"/>
              <a:gd name="T8" fmla="*/ 0 60000 65536"/>
              <a:gd name="T9" fmla="*/ 0 w 21653"/>
              <a:gd name="T10" fmla="*/ 0 h 42096"/>
              <a:gd name="T11" fmla="*/ 21653 w 21653"/>
              <a:gd name="T12" fmla="*/ 42096 h 42096"/>
            </a:gdLst>
            <a:ahLst/>
            <a:cxnLst>
              <a:cxn ang="T6">
                <a:pos x="T0" y="T1"/>
              </a:cxn>
              <a:cxn ang="T7">
                <a:pos x="T2" y="T3"/>
              </a:cxn>
              <a:cxn ang="T8">
                <a:pos x="T4" y="T5"/>
              </a:cxn>
            </a:cxnLst>
            <a:rect l="T9" t="T10" r="T11" b="T12"/>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6" name="Rectangle 13"/>
          <p:cNvSpPr>
            <a:spLocks noChangeArrowheads="1"/>
          </p:cNvSpPr>
          <p:nvPr/>
        </p:nvSpPr>
        <p:spPr bwMode="auto">
          <a:xfrm>
            <a:off x="8399464" y="3833814"/>
            <a:ext cx="109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交换机</a:t>
            </a:r>
            <a:r>
              <a:rPr kumimoji="1" lang="en-US" altLang="zh-CN">
                <a:solidFill>
                  <a:srgbClr val="333399"/>
                </a:solidFill>
                <a:latin typeface="Arial" panose="020B0604020202020204" pitchFamily="34" charset="0"/>
                <a:ea typeface="黑体" panose="02010609060101010101" pitchFamily="49" charset="-122"/>
              </a:rPr>
              <a:t>2</a:t>
            </a:r>
          </a:p>
        </p:txBody>
      </p:sp>
      <p:sp>
        <p:nvSpPr>
          <p:cNvPr id="16397" name="Rectangle 14"/>
          <p:cNvSpPr>
            <a:spLocks noChangeArrowheads="1"/>
          </p:cNvSpPr>
          <p:nvPr/>
        </p:nvSpPr>
        <p:spPr bwMode="auto">
          <a:xfrm>
            <a:off x="2624139" y="3863976"/>
            <a:ext cx="109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交换机</a:t>
            </a:r>
            <a:r>
              <a:rPr kumimoji="1" lang="en-US" altLang="zh-CN">
                <a:solidFill>
                  <a:srgbClr val="333399"/>
                </a:solidFill>
                <a:latin typeface="Arial" panose="020B0604020202020204" pitchFamily="34" charset="0"/>
                <a:ea typeface="黑体" panose="02010609060101010101" pitchFamily="49" charset="-122"/>
              </a:rPr>
              <a:t>1</a:t>
            </a:r>
          </a:p>
        </p:txBody>
      </p:sp>
      <p:pic>
        <p:nvPicPr>
          <p:cNvPr id="16398"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9589" y="4540250"/>
            <a:ext cx="763587"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9" name="Rectangle 16"/>
          <p:cNvSpPr>
            <a:spLocks noChangeArrowheads="1"/>
          </p:cNvSpPr>
          <p:nvPr/>
        </p:nvSpPr>
        <p:spPr bwMode="auto">
          <a:xfrm>
            <a:off x="2727325" y="4568826"/>
            <a:ext cx="41062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zh-CN">
                <a:solidFill>
                  <a:srgbClr val="333399"/>
                </a:solidFill>
                <a:latin typeface="Arial" panose="020B0604020202020204" pitchFamily="34" charset="0"/>
                <a:ea typeface="黑体" panose="02010609060101010101" pitchFamily="49" charset="-122"/>
              </a:rPr>
              <a:t> </a:t>
            </a:r>
            <a:r>
              <a:rPr kumimoji="1" lang="en-US" altLang="zh-CN">
                <a:solidFill>
                  <a:srgbClr val="333399"/>
                </a:solidFill>
                <a:latin typeface="Arial" panose="020B0604020202020204" pitchFamily="34" charset="0"/>
                <a:ea typeface="黑体" panose="02010609060101010101" pitchFamily="49" charset="-122"/>
              </a:rPr>
              <a:t>A</a:t>
            </a:r>
          </a:p>
        </p:txBody>
      </p:sp>
      <p:sp>
        <p:nvSpPr>
          <p:cNvPr id="16400" name="Rectangle 17"/>
          <p:cNvSpPr>
            <a:spLocks noChangeArrowheads="1"/>
          </p:cNvSpPr>
          <p:nvPr/>
        </p:nvSpPr>
        <p:spPr bwMode="auto">
          <a:xfrm>
            <a:off x="3821113" y="5178425"/>
            <a:ext cx="735012" cy="357188"/>
          </a:xfrm>
          <a:prstGeom prst="rect">
            <a:avLst/>
          </a:prstGeom>
          <a:solidFill>
            <a:srgbClr val="FFFF99"/>
          </a:solidFill>
          <a:ln w="12700">
            <a:solidFill>
              <a:schemeClr val="tx1"/>
            </a:solidFill>
            <a:miter lim="800000"/>
            <a:headEnd/>
            <a:tailEnd/>
          </a:ln>
        </p:spPr>
        <p:txBody>
          <a:bodyPr wrap="none" anchor="ct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en-US" altLang="zh-CN">
                <a:solidFill>
                  <a:srgbClr val="333399"/>
                </a:solidFill>
                <a:latin typeface="Arial" panose="020B0604020202020204" pitchFamily="34" charset="0"/>
                <a:ea typeface="黑体" panose="02010609060101010101" pitchFamily="49" charset="-122"/>
              </a:rPr>
              <a:t>F</a:t>
            </a:r>
          </a:p>
        </p:txBody>
      </p:sp>
      <p:grpSp>
        <p:nvGrpSpPr>
          <p:cNvPr id="2" name="Group 18"/>
          <p:cNvGrpSpPr>
            <a:grpSpLocks/>
          </p:cNvGrpSpPr>
          <p:nvPr/>
        </p:nvGrpSpPr>
        <p:grpSpPr bwMode="auto">
          <a:xfrm>
            <a:off x="7540625" y="2571751"/>
            <a:ext cx="979488" cy="1236663"/>
            <a:chOff x="3793" y="1938"/>
            <a:chExt cx="617" cy="779"/>
          </a:xfrm>
        </p:grpSpPr>
        <p:sp>
          <p:nvSpPr>
            <p:cNvPr id="16429" name="Rectangle 19"/>
            <p:cNvSpPr>
              <a:spLocks noChangeArrowheads="1"/>
            </p:cNvSpPr>
            <p:nvPr/>
          </p:nvSpPr>
          <p:spPr bwMode="auto">
            <a:xfrm>
              <a:off x="3793" y="1938"/>
              <a:ext cx="464" cy="256"/>
            </a:xfrm>
            <a:prstGeom prst="rect">
              <a:avLst/>
            </a:prstGeom>
            <a:solidFill>
              <a:srgbClr val="FFFF99"/>
            </a:solidFill>
            <a:ln w="12700">
              <a:solidFill>
                <a:schemeClr val="tx1"/>
              </a:solidFill>
              <a:miter lim="800000"/>
              <a:headEnd/>
              <a:tailEnd/>
            </a:ln>
          </p:spPr>
          <p:txBody>
            <a:bodyPr wrap="none" anchor="ct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en-US" altLang="zh-CN">
                  <a:solidFill>
                    <a:srgbClr val="333399"/>
                  </a:solidFill>
                  <a:latin typeface="Arial" panose="020B0604020202020204" pitchFamily="34" charset="0"/>
                  <a:ea typeface="黑体" panose="02010609060101010101" pitchFamily="49" charset="-122"/>
                </a:rPr>
                <a:t>F</a:t>
              </a:r>
              <a:r>
                <a:rPr kumimoji="1" lang="en-US" altLang="zh-CN" baseline="-25000">
                  <a:solidFill>
                    <a:srgbClr val="333399"/>
                  </a:solidFill>
                  <a:latin typeface="Arial" panose="020B0604020202020204" pitchFamily="34" charset="0"/>
                  <a:ea typeface="黑体" panose="02010609060101010101" pitchFamily="49" charset="-122"/>
                </a:rPr>
                <a:t>2</a:t>
              </a:r>
            </a:p>
          </p:txBody>
        </p:sp>
        <p:grpSp>
          <p:nvGrpSpPr>
            <p:cNvPr id="16430" name="Group 20"/>
            <p:cNvGrpSpPr>
              <a:grpSpLocks/>
            </p:cNvGrpSpPr>
            <p:nvPr/>
          </p:nvGrpSpPr>
          <p:grpSpPr bwMode="auto">
            <a:xfrm>
              <a:off x="4131" y="2162"/>
              <a:ext cx="279" cy="555"/>
              <a:chOff x="4131" y="2162"/>
              <a:chExt cx="279" cy="555"/>
            </a:xfrm>
          </p:grpSpPr>
          <p:sp>
            <p:nvSpPr>
              <p:cNvPr id="16431" name="Line 21"/>
              <p:cNvSpPr>
                <a:spLocks noChangeShapeType="1"/>
              </p:cNvSpPr>
              <p:nvPr/>
            </p:nvSpPr>
            <p:spPr bwMode="auto">
              <a:xfrm flipV="1">
                <a:off x="4131" y="2162"/>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32" name="Text Box 22"/>
              <p:cNvSpPr txBox="1">
                <a:spLocks noChangeArrowheads="1"/>
              </p:cNvSpPr>
              <p:nvPr/>
            </p:nvSpPr>
            <p:spPr bwMode="auto">
              <a:xfrm>
                <a:off x="4132" y="2359"/>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④</a:t>
                </a:r>
              </a:p>
            </p:txBody>
          </p:sp>
        </p:grpSp>
      </p:grpSp>
      <p:grpSp>
        <p:nvGrpSpPr>
          <p:cNvPr id="4" name="Group 23"/>
          <p:cNvGrpSpPr>
            <a:grpSpLocks/>
          </p:cNvGrpSpPr>
          <p:nvPr/>
        </p:nvGrpSpPr>
        <p:grpSpPr bwMode="auto">
          <a:xfrm>
            <a:off x="3706814" y="2559051"/>
            <a:ext cx="979487" cy="1235075"/>
            <a:chOff x="1378" y="1930"/>
            <a:chExt cx="617" cy="778"/>
          </a:xfrm>
        </p:grpSpPr>
        <p:sp>
          <p:nvSpPr>
            <p:cNvPr id="16425" name="Rectangle 24"/>
            <p:cNvSpPr>
              <a:spLocks noChangeArrowheads="1"/>
            </p:cNvSpPr>
            <p:nvPr/>
          </p:nvSpPr>
          <p:spPr bwMode="auto">
            <a:xfrm>
              <a:off x="1532" y="1930"/>
              <a:ext cx="463" cy="280"/>
            </a:xfrm>
            <a:prstGeom prst="rect">
              <a:avLst/>
            </a:prstGeom>
            <a:solidFill>
              <a:srgbClr val="FFFF99"/>
            </a:solidFill>
            <a:ln w="12700">
              <a:solidFill>
                <a:schemeClr val="tx1"/>
              </a:solidFill>
              <a:miter lim="800000"/>
              <a:headEnd/>
              <a:tailEnd/>
            </a:ln>
          </p:spPr>
          <p:txBody>
            <a:bodyPr wrap="none" anchor="ct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en-US" altLang="zh-CN">
                  <a:solidFill>
                    <a:srgbClr val="333399"/>
                  </a:solidFill>
                  <a:latin typeface="Arial" panose="020B0604020202020204" pitchFamily="34" charset="0"/>
                  <a:ea typeface="黑体" panose="02010609060101010101" pitchFamily="49" charset="-122"/>
                </a:rPr>
                <a:t>F</a:t>
              </a:r>
              <a:r>
                <a:rPr kumimoji="1" lang="en-US" altLang="zh-CN" baseline="-25000">
                  <a:solidFill>
                    <a:srgbClr val="333399"/>
                  </a:solidFill>
                  <a:latin typeface="Arial" panose="020B0604020202020204" pitchFamily="34" charset="0"/>
                  <a:ea typeface="黑体" panose="02010609060101010101" pitchFamily="49" charset="-122"/>
                </a:rPr>
                <a:t>1</a:t>
              </a:r>
            </a:p>
          </p:txBody>
        </p:sp>
        <p:grpSp>
          <p:nvGrpSpPr>
            <p:cNvPr id="16426" name="Group 25"/>
            <p:cNvGrpSpPr>
              <a:grpSpLocks/>
            </p:cNvGrpSpPr>
            <p:nvPr/>
          </p:nvGrpSpPr>
          <p:grpSpPr bwMode="auto">
            <a:xfrm>
              <a:off x="1378" y="2153"/>
              <a:ext cx="288" cy="555"/>
              <a:chOff x="1378" y="2153"/>
              <a:chExt cx="288" cy="555"/>
            </a:xfrm>
          </p:grpSpPr>
          <p:sp>
            <p:nvSpPr>
              <p:cNvPr id="16427" name="Line 26"/>
              <p:cNvSpPr>
                <a:spLocks noChangeShapeType="1"/>
              </p:cNvSpPr>
              <p:nvPr/>
            </p:nvSpPr>
            <p:spPr bwMode="auto">
              <a:xfrm flipV="1">
                <a:off x="1666" y="2153"/>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8" name="Text Box 27"/>
              <p:cNvSpPr txBox="1">
                <a:spLocks noChangeArrowheads="1"/>
              </p:cNvSpPr>
              <p:nvPr/>
            </p:nvSpPr>
            <p:spPr bwMode="auto">
              <a:xfrm>
                <a:off x="1378" y="235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③</a:t>
                </a:r>
              </a:p>
            </p:txBody>
          </p:sp>
        </p:grpSp>
      </p:grpSp>
      <p:sp>
        <p:nvSpPr>
          <p:cNvPr id="562204" name="Text Box 28"/>
          <p:cNvSpPr txBox="1">
            <a:spLocks noChangeArrowheads="1"/>
          </p:cNvSpPr>
          <p:nvPr/>
        </p:nvSpPr>
        <p:spPr bwMode="auto">
          <a:xfrm>
            <a:off x="5640388" y="3644901"/>
            <a:ext cx="11079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2400">
                <a:solidFill>
                  <a:srgbClr val="333399"/>
                </a:solidFill>
                <a:latin typeface="Arial" panose="020B0604020202020204" pitchFamily="34" charset="0"/>
                <a:ea typeface="黑体" panose="02010609060101010101" pitchFamily="49" charset="-122"/>
              </a:rPr>
              <a:t>不停地</a:t>
            </a:r>
          </a:p>
          <a:p>
            <a:r>
              <a:rPr kumimoji="1" lang="zh-CN" altLang="en-US" sz="2400">
                <a:solidFill>
                  <a:srgbClr val="333399"/>
                </a:solidFill>
                <a:latin typeface="Arial" panose="020B0604020202020204" pitchFamily="34" charset="0"/>
                <a:ea typeface="黑体" panose="02010609060101010101" pitchFamily="49" charset="-122"/>
              </a:rPr>
              <a:t>兜圈子</a:t>
            </a:r>
          </a:p>
        </p:txBody>
      </p:sp>
      <p:pic>
        <p:nvPicPr>
          <p:cNvPr id="16404"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7775" y="3568701"/>
            <a:ext cx="104775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640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2988" y="3568701"/>
            <a:ext cx="1046162"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6" name="Group 31"/>
          <p:cNvGrpSpPr>
            <a:grpSpLocks/>
          </p:cNvGrpSpPr>
          <p:nvPr/>
        </p:nvGrpSpPr>
        <p:grpSpPr bwMode="auto">
          <a:xfrm>
            <a:off x="3708401" y="4246564"/>
            <a:ext cx="455613" cy="1004887"/>
            <a:chOff x="1379" y="2993"/>
            <a:chExt cx="287" cy="633"/>
          </a:xfrm>
        </p:grpSpPr>
        <p:sp>
          <p:nvSpPr>
            <p:cNvPr id="16423" name="Line 32"/>
            <p:cNvSpPr>
              <a:spLocks noChangeShapeType="1"/>
            </p:cNvSpPr>
            <p:nvPr/>
          </p:nvSpPr>
          <p:spPr bwMode="auto">
            <a:xfrm flipH="1" flipV="1">
              <a:off x="1655" y="2993"/>
              <a:ext cx="11" cy="633"/>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4" name="Text Box 33"/>
            <p:cNvSpPr txBox="1">
              <a:spLocks noChangeArrowheads="1"/>
            </p:cNvSpPr>
            <p:nvPr/>
          </p:nvSpPr>
          <p:spPr bwMode="auto">
            <a:xfrm>
              <a:off x="1379" y="3131"/>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①</a:t>
              </a:r>
            </a:p>
          </p:txBody>
        </p:sp>
      </p:grpSp>
      <p:grpSp>
        <p:nvGrpSpPr>
          <p:cNvPr id="7" name="Group 34"/>
          <p:cNvGrpSpPr>
            <a:grpSpLocks/>
          </p:cNvGrpSpPr>
          <p:nvPr/>
        </p:nvGrpSpPr>
        <p:grpSpPr bwMode="auto">
          <a:xfrm>
            <a:off x="4613276" y="4364038"/>
            <a:ext cx="3173413" cy="990600"/>
            <a:chOff x="1949" y="3067"/>
            <a:chExt cx="1999" cy="624"/>
          </a:xfrm>
        </p:grpSpPr>
        <p:sp>
          <p:nvSpPr>
            <p:cNvPr id="16421" name="Freeform 35"/>
            <p:cNvSpPr>
              <a:spLocks/>
            </p:cNvSpPr>
            <p:nvPr/>
          </p:nvSpPr>
          <p:spPr bwMode="auto">
            <a:xfrm>
              <a:off x="1949" y="3067"/>
              <a:ext cx="1999" cy="624"/>
            </a:xfrm>
            <a:custGeom>
              <a:avLst/>
              <a:gdLst>
                <a:gd name="T0" fmla="*/ 0 w 1866"/>
                <a:gd name="T1" fmla="*/ 5182 h 523"/>
                <a:gd name="T2" fmla="*/ 2590 w 1866"/>
                <a:gd name="T3" fmla="*/ 5058 h 523"/>
                <a:gd name="T4" fmla="*/ 3203 w 1866"/>
                <a:gd name="T5" fmla="*/ 4996 h 523"/>
                <a:gd name="T6" fmla="*/ 3655 w 1866"/>
                <a:gd name="T7" fmla="*/ 4849 h 523"/>
                <a:gd name="T8" fmla="*/ 4044 w 1866"/>
                <a:gd name="T9" fmla="*/ 4523 h 523"/>
                <a:gd name="T10" fmla="*/ 4219 w 1866"/>
                <a:gd name="T11" fmla="*/ 4290 h 523"/>
                <a:gd name="T12" fmla="*/ 4376 w 1866"/>
                <a:gd name="T13" fmla="*/ 3545 h 523"/>
                <a:gd name="T14" fmla="*/ 4508 w 1866"/>
                <a:gd name="T15" fmla="*/ 2026 h 523"/>
                <a:gd name="T16" fmla="*/ 4545 w 1866"/>
                <a:gd name="T17" fmla="*/ 0 h 5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6"/>
                <a:gd name="T28" fmla="*/ 0 h 523"/>
                <a:gd name="T29" fmla="*/ 1866 w 1866"/>
                <a:gd name="T30" fmla="*/ 523 h 5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22" name="Text Box 36"/>
            <p:cNvSpPr txBox="1">
              <a:spLocks noChangeArrowheads="1"/>
            </p:cNvSpPr>
            <p:nvPr/>
          </p:nvSpPr>
          <p:spPr bwMode="auto">
            <a:xfrm>
              <a:off x="2014" y="342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②</a:t>
              </a:r>
            </a:p>
          </p:txBody>
        </p:sp>
      </p:grpSp>
      <p:sp>
        <p:nvSpPr>
          <p:cNvPr id="16408" name="Rectangle 37"/>
          <p:cNvSpPr>
            <a:spLocks noChangeArrowheads="1"/>
          </p:cNvSpPr>
          <p:nvPr/>
        </p:nvSpPr>
        <p:spPr bwMode="auto">
          <a:xfrm>
            <a:off x="3503614" y="5661025"/>
            <a:ext cx="14366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a:solidFill>
                  <a:srgbClr val="333399"/>
                </a:solidFill>
                <a:latin typeface="Arial" panose="020B0604020202020204" pitchFamily="34" charset="0"/>
                <a:ea typeface="黑体" panose="02010609060101010101" pitchFamily="49" charset="-122"/>
              </a:rPr>
              <a:t>A </a:t>
            </a:r>
            <a:r>
              <a:rPr kumimoji="1" lang="zh-CN" altLang="en-US">
                <a:solidFill>
                  <a:srgbClr val="333399"/>
                </a:solidFill>
                <a:latin typeface="Arial" panose="020B0604020202020204" pitchFamily="34" charset="0"/>
                <a:ea typeface="黑体" panose="02010609060101010101" pitchFamily="49" charset="-122"/>
              </a:rPr>
              <a:t>发出的帧</a:t>
            </a:r>
          </a:p>
        </p:txBody>
      </p:sp>
      <p:grpSp>
        <p:nvGrpSpPr>
          <p:cNvPr id="8" name="Group 38"/>
          <p:cNvGrpSpPr>
            <a:grpSpLocks/>
          </p:cNvGrpSpPr>
          <p:nvPr/>
        </p:nvGrpSpPr>
        <p:grpSpPr bwMode="auto">
          <a:xfrm>
            <a:off x="1795464" y="2295526"/>
            <a:ext cx="5991225" cy="1420813"/>
            <a:chOff x="174" y="1764"/>
            <a:chExt cx="3774" cy="895"/>
          </a:xfrm>
        </p:grpSpPr>
        <p:sp>
          <p:nvSpPr>
            <p:cNvPr id="16418" name="Arc 39"/>
            <p:cNvSpPr>
              <a:spLocks/>
            </p:cNvSpPr>
            <p:nvPr/>
          </p:nvSpPr>
          <p:spPr bwMode="auto">
            <a:xfrm>
              <a:off x="1995" y="2052"/>
              <a:ext cx="1953" cy="607"/>
            </a:xfrm>
            <a:custGeom>
              <a:avLst/>
              <a:gdLst>
                <a:gd name="T0" fmla="*/ 0 w 21600"/>
                <a:gd name="T1" fmla="*/ 0 h 26015"/>
                <a:gd name="T2" fmla="*/ 0 w 21600"/>
                <a:gd name="T3" fmla="*/ 0 h 26015"/>
                <a:gd name="T4" fmla="*/ 0 w 21600"/>
                <a:gd name="T5" fmla="*/ 0 h 26015"/>
                <a:gd name="T6" fmla="*/ 0 60000 65536"/>
                <a:gd name="T7" fmla="*/ 0 60000 65536"/>
                <a:gd name="T8" fmla="*/ 0 60000 65536"/>
                <a:gd name="T9" fmla="*/ 0 w 21600"/>
                <a:gd name="T10" fmla="*/ 0 h 26015"/>
                <a:gd name="T11" fmla="*/ 21600 w 21600"/>
                <a:gd name="T12" fmla="*/ 26015 h 26015"/>
              </a:gdLst>
              <a:ahLst/>
              <a:cxnLst>
                <a:cxn ang="T6">
                  <a:pos x="T0" y="T1"/>
                </a:cxn>
                <a:cxn ang="T7">
                  <a:pos x="T2" y="T3"/>
                </a:cxn>
                <a:cxn ang="T8">
                  <a:pos x="T4" y="T5"/>
                </a:cxn>
              </a:cxnLst>
              <a:rect l="T9" t="T10" r="T11" b="T12"/>
              <a:pathLst>
                <a:path w="21600" h="26015" fill="none" extrusionOk="0">
                  <a:moveTo>
                    <a:pt x="-1" y="0"/>
                  </a:moveTo>
                  <a:cubicBezTo>
                    <a:pt x="11929" y="0"/>
                    <a:pt x="21600" y="9670"/>
                    <a:pt x="21600" y="21600"/>
                  </a:cubicBezTo>
                  <a:cubicBezTo>
                    <a:pt x="21600" y="23083"/>
                    <a:pt x="21447" y="24562"/>
                    <a:pt x="21143" y="26014"/>
                  </a:cubicBezTo>
                </a:path>
                <a:path w="21600" h="26015" stroke="0" extrusionOk="0">
                  <a:moveTo>
                    <a:pt x="-1" y="0"/>
                  </a:moveTo>
                  <a:cubicBezTo>
                    <a:pt x="11929" y="0"/>
                    <a:pt x="21600" y="9670"/>
                    <a:pt x="21600" y="21600"/>
                  </a:cubicBezTo>
                  <a:cubicBezTo>
                    <a:pt x="21600" y="23083"/>
                    <a:pt x="21447" y="24562"/>
                    <a:pt x="21143" y="26014"/>
                  </a:cubicBezTo>
                  <a:lnTo>
                    <a:pt x="0" y="21600"/>
                  </a:lnTo>
                  <a:lnTo>
                    <a:pt x="-1" y="0"/>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19" name="Text Box 40"/>
            <p:cNvSpPr txBox="1">
              <a:spLocks noChangeArrowheads="1"/>
            </p:cNvSpPr>
            <p:nvPr/>
          </p:nvSpPr>
          <p:spPr bwMode="auto">
            <a:xfrm>
              <a:off x="2041" y="1764"/>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⑤</a:t>
              </a:r>
            </a:p>
          </p:txBody>
        </p:sp>
        <p:sp>
          <p:nvSpPr>
            <p:cNvPr id="16420" name="Rectangle 41"/>
            <p:cNvSpPr>
              <a:spLocks noChangeArrowheads="1"/>
            </p:cNvSpPr>
            <p:nvPr/>
          </p:nvSpPr>
          <p:spPr bwMode="auto">
            <a:xfrm>
              <a:off x="174" y="1944"/>
              <a:ext cx="13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交换机</a:t>
              </a:r>
              <a:r>
                <a:rPr kumimoji="1" lang="en-US" altLang="zh-CN">
                  <a:solidFill>
                    <a:srgbClr val="333399"/>
                  </a:solidFill>
                  <a:latin typeface="Arial" panose="020B0604020202020204" pitchFamily="34" charset="0"/>
                  <a:ea typeface="黑体" panose="02010609060101010101" pitchFamily="49" charset="-122"/>
                </a:rPr>
                <a:t>1 </a:t>
              </a:r>
              <a:r>
                <a:rPr kumimoji="1" lang="zh-CN" altLang="en-US">
                  <a:solidFill>
                    <a:srgbClr val="333399"/>
                  </a:solidFill>
                  <a:latin typeface="Arial" panose="020B0604020202020204" pitchFamily="34" charset="0"/>
                  <a:ea typeface="黑体" panose="02010609060101010101" pitchFamily="49" charset="-122"/>
                </a:rPr>
                <a:t>转发的帧</a:t>
              </a:r>
            </a:p>
          </p:txBody>
        </p:sp>
      </p:grpSp>
      <p:grpSp>
        <p:nvGrpSpPr>
          <p:cNvPr id="9" name="Group 42"/>
          <p:cNvGrpSpPr>
            <a:grpSpLocks/>
          </p:cNvGrpSpPr>
          <p:nvPr/>
        </p:nvGrpSpPr>
        <p:grpSpPr bwMode="auto">
          <a:xfrm>
            <a:off x="4440238" y="2276475"/>
            <a:ext cx="6000750" cy="1360488"/>
            <a:chOff x="1840" y="1752"/>
            <a:chExt cx="3780" cy="857"/>
          </a:xfrm>
        </p:grpSpPr>
        <p:sp>
          <p:nvSpPr>
            <p:cNvPr id="16415" name="Arc 43"/>
            <p:cNvSpPr>
              <a:spLocks/>
            </p:cNvSpPr>
            <p:nvPr/>
          </p:nvSpPr>
          <p:spPr bwMode="auto">
            <a:xfrm flipH="1">
              <a:off x="1840" y="2024"/>
              <a:ext cx="1953" cy="585"/>
            </a:xfrm>
            <a:custGeom>
              <a:avLst/>
              <a:gdLst>
                <a:gd name="T0" fmla="*/ 0 w 21600"/>
                <a:gd name="T1" fmla="*/ 0 h 25085"/>
                <a:gd name="T2" fmla="*/ 0 w 21600"/>
                <a:gd name="T3" fmla="*/ 0 h 25085"/>
                <a:gd name="T4" fmla="*/ 0 w 21600"/>
                <a:gd name="T5" fmla="*/ 0 h 25085"/>
                <a:gd name="T6" fmla="*/ 0 60000 65536"/>
                <a:gd name="T7" fmla="*/ 0 60000 65536"/>
                <a:gd name="T8" fmla="*/ 0 60000 65536"/>
                <a:gd name="T9" fmla="*/ 0 w 21600"/>
                <a:gd name="T10" fmla="*/ 0 h 25085"/>
                <a:gd name="T11" fmla="*/ 21600 w 21600"/>
                <a:gd name="T12" fmla="*/ 25085 h 25085"/>
              </a:gdLst>
              <a:ahLst/>
              <a:cxnLst>
                <a:cxn ang="T6">
                  <a:pos x="T0" y="T1"/>
                </a:cxn>
                <a:cxn ang="T7">
                  <a:pos x="T2" y="T3"/>
                </a:cxn>
                <a:cxn ang="T8">
                  <a:pos x="T4" y="T5"/>
                </a:cxn>
              </a:cxnLst>
              <a:rect l="T9" t="T10" r="T11" b="T12"/>
              <a:pathLst>
                <a:path w="21600" h="25085" fill="none" extrusionOk="0">
                  <a:moveTo>
                    <a:pt x="-1" y="0"/>
                  </a:moveTo>
                  <a:cubicBezTo>
                    <a:pt x="11929" y="0"/>
                    <a:pt x="21600" y="9670"/>
                    <a:pt x="21600" y="21600"/>
                  </a:cubicBezTo>
                  <a:cubicBezTo>
                    <a:pt x="21600" y="22767"/>
                    <a:pt x="21505" y="23932"/>
                    <a:pt x="21317" y="25085"/>
                  </a:cubicBezTo>
                </a:path>
                <a:path w="21600" h="25085" stroke="0" extrusionOk="0">
                  <a:moveTo>
                    <a:pt x="-1" y="0"/>
                  </a:moveTo>
                  <a:cubicBezTo>
                    <a:pt x="11929" y="0"/>
                    <a:pt x="21600" y="9670"/>
                    <a:pt x="21600" y="21600"/>
                  </a:cubicBezTo>
                  <a:cubicBezTo>
                    <a:pt x="21600" y="22767"/>
                    <a:pt x="21505" y="23932"/>
                    <a:pt x="21317" y="25085"/>
                  </a:cubicBezTo>
                  <a:lnTo>
                    <a:pt x="0" y="21600"/>
                  </a:lnTo>
                  <a:lnTo>
                    <a:pt x="-1" y="0"/>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16" name="Text Box 44"/>
            <p:cNvSpPr txBox="1">
              <a:spLocks noChangeArrowheads="1"/>
            </p:cNvSpPr>
            <p:nvPr/>
          </p:nvSpPr>
          <p:spPr bwMode="auto">
            <a:xfrm>
              <a:off x="3269" y="1752"/>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⑥</a:t>
              </a:r>
            </a:p>
          </p:txBody>
        </p:sp>
        <p:sp>
          <p:nvSpPr>
            <p:cNvPr id="16417" name="Rectangle 45"/>
            <p:cNvSpPr>
              <a:spLocks noChangeArrowheads="1"/>
            </p:cNvSpPr>
            <p:nvPr/>
          </p:nvSpPr>
          <p:spPr bwMode="auto">
            <a:xfrm>
              <a:off x="4240" y="1907"/>
              <a:ext cx="13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交换机</a:t>
              </a:r>
              <a:r>
                <a:rPr kumimoji="1" lang="en-US" altLang="zh-CN">
                  <a:solidFill>
                    <a:srgbClr val="333399"/>
                  </a:solidFill>
                  <a:latin typeface="Arial" panose="020B0604020202020204" pitchFamily="34" charset="0"/>
                  <a:ea typeface="黑体" panose="02010609060101010101" pitchFamily="49" charset="-122"/>
                </a:rPr>
                <a:t>2 </a:t>
              </a:r>
              <a:r>
                <a:rPr kumimoji="1" lang="zh-CN" altLang="en-US">
                  <a:solidFill>
                    <a:srgbClr val="333399"/>
                  </a:solidFill>
                  <a:latin typeface="Arial" panose="020B0604020202020204" pitchFamily="34" charset="0"/>
                  <a:ea typeface="黑体" panose="02010609060101010101" pitchFamily="49" charset="-122"/>
                </a:rPr>
                <a:t>转发的帧</a:t>
              </a:r>
            </a:p>
          </p:txBody>
        </p:sp>
      </p:grpSp>
      <p:sp>
        <p:nvSpPr>
          <p:cNvPr id="562222" name="Arc 46"/>
          <p:cNvSpPr>
            <a:spLocks/>
          </p:cNvSpPr>
          <p:nvPr/>
        </p:nvSpPr>
        <p:spPr bwMode="auto">
          <a:xfrm rot="-5199144">
            <a:off x="5771357" y="2309020"/>
            <a:ext cx="685800" cy="2205037"/>
          </a:xfrm>
          <a:custGeom>
            <a:avLst/>
            <a:gdLst>
              <a:gd name="T0" fmla="*/ 0 w 21653"/>
              <a:gd name="T1" fmla="*/ 0 h 42096"/>
              <a:gd name="T2" fmla="*/ 2147483646 w 21653"/>
              <a:gd name="T3" fmla="*/ 2147483646 h 42096"/>
              <a:gd name="T4" fmla="*/ 2147483646 w 21653"/>
              <a:gd name="T5" fmla="*/ 2147483646 h 42096"/>
              <a:gd name="T6" fmla="*/ 0 60000 65536"/>
              <a:gd name="T7" fmla="*/ 0 60000 65536"/>
              <a:gd name="T8" fmla="*/ 0 60000 65536"/>
              <a:gd name="T9" fmla="*/ 0 w 21653"/>
              <a:gd name="T10" fmla="*/ 0 h 42096"/>
              <a:gd name="T11" fmla="*/ 21653 w 21653"/>
              <a:gd name="T12" fmla="*/ 42096 h 42096"/>
            </a:gdLst>
            <a:ahLst/>
            <a:cxnLst>
              <a:cxn ang="T6">
                <a:pos x="T0" y="T1"/>
              </a:cxn>
              <a:cxn ang="T7">
                <a:pos x="T2" y="T3"/>
              </a:cxn>
              <a:cxn ang="T8">
                <a:pos x="T4" y="T5"/>
              </a:cxn>
            </a:cxnLst>
            <a:rect l="T9" t="T10" r="T11" b="T12"/>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2223" name="Text Box 47"/>
          <p:cNvSpPr txBox="1">
            <a:spLocks noChangeArrowheads="1"/>
          </p:cNvSpPr>
          <p:nvPr/>
        </p:nvSpPr>
        <p:spPr bwMode="auto">
          <a:xfrm>
            <a:off x="4722814" y="4437064"/>
            <a:ext cx="2936875" cy="466725"/>
          </a:xfrm>
          <a:prstGeom prst="rect">
            <a:avLst/>
          </a:prstGeom>
          <a:solidFill>
            <a:srgbClr val="FFFF99"/>
          </a:solidFill>
          <a:ln w="9525">
            <a:solidFill>
              <a:schemeClr val="tx2"/>
            </a:solidFill>
            <a:miter lim="800000"/>
            <a:headEnd/>
            <a:tailEnd/>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lang="zh-CN" altLang="en-US" sz="2400">
                <a:solidFill>
                  <a:srgbClr val="333399"/>
                </a:solidFill>
                <a:latin typeface="黑体" panose="02010609060101010101" pitchFamily="49" charset="-122"/>
                <a:ea typeface="黑体" panose="02010609060101010101" pitchFamily="49" charset="-122"/>
              </a:rPr>
              <a:t>网络资源白白消耗了</a:t>
            </a:r>
          </a:p>
        </p:txBody>
      </p:sp>
      <p:sp>
        <p:nvSpPr>
          <p:cNvPr id="16413" name="Rectangle 48"/>
          <p:cNvSpPr>
            <a:spLocks noGrp="1" noChangeArrowheads="1"/>
          </p:cNvSpPr>
          <p:nvPr>
            <p:ph type="title"/>
          </p:nvPr>
        </p:nvSpPr>
        <p:spPr/>
        <p:txBody>
          <a:bodyPr/>
          <a:lstStyle/>
          <a:p>
            <a:pPr eaLnBrk="1" hangingPunct="1"/>
            <a:r>
              <a:rPr lang="zh-CN" altLang="en-US" sz="2800" b="1" dirty="0">
                <a:solidFill>
                  <a:srgbClr val="0070C0"/>
                </a:solidFill>
                <a:latin typeface="微软雅黑" panose="020B0503020204020204" pitchFamily="34" charset="-122"/>
                <a:ea typeface="微软雅黑" panose="020B0503020204020204" pitchFamily="34" charset="-122"/>
              </a:rPr>
              <a:t>二层交换的广播风暴问题</a:t>
            </a:r>
          </a:p>
        </p:txBody>
      </p:sp>
      <p:sp>
        <p:nvSpPr>
          <p:cNvPr id="16414" name="Rectangle 37"/>
          <p:cNvSpPr>
            <a:spLocks noChangeArrowheads="1"/>
          </p:cNvSpPr>
          <p:nvPr/>
        </p:nvSpPr>
        <p:spPr bwMode="auto">
          <a:xfrm>
            <a:off x="6556375" y="5524501"/>
            <a:ext cx="3932238"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a:solidFill>
                  <a:srgbClr val="FF0000"/>
                </a:solidFill>
                <a:latin typeface="Arial" panose="020B0604020202020204" pitchFamily="34" charset="0"/>
                <a:ea typeface="黑体" panose="02010609060101010101" pitchFamily="49" charset="-122"/>
              </a:rPr>
              <a:t>A </a:t>
            </a:r>
            <a:r>
              <a:rPr kumimoji="1" lang="zh-CN" altLang="en-US">
                <a:solidFill>
                  <a:srgbClr val="FF0000"/>
                </a:solidFill>
                <a:latin typeface="Arial" panose="020B0604020202020204" pitchFamily="34" charset="0"/>
                <a:ea typeface="黑体" panose="02010609060101010101" pitchFamily="49" charset="-122"/>
              </a:rPr>
              <a:t>发出广播帧或者发出的帧</a:t>
            </a:r>
            <a:r>
              <a:rPr kumimoji="1" lang="en-US" altLang="zh-CN">
                <a:solidFill>
                  <a:srgbClr val="FF0000"/>
                </a:solidFill>
                <a:latin typeface="Arial" panose="020B0604020202020204" pitchFamily="34" charset="0"/>
                <a:ea typeface="黑体" panose="02010609060101010101" pitchFamily="49" charset="-122"/>
              </a:rPr>
              <a:t>B1</a:t>
            </a:r>
            <a:r>
              <a:rPr kumimoji="1" lang="zh-CN" altLang="en-US">
                <a:solidFill>
                  <a:srgbClr val="FF0000"/>
                </a:solidFill>
                <a:latin typeface="Arial" panose="020B0604020202020204" pitchFamily="34" charset="0"/>
                <a:ea typeface="黑体" panose="02010609060101010101" pitchFamily="49" charset="-122"/>
              </a:rPr>
              <a:t>，</a:t>
            </a:r>
            <a:r>
              <a:rPr kumimoji="1" lang="en-US" altLang="zh-CN">
                <a:solidFill>
                  <a:srgbClr val="FF0000"/>
                </a:solidFill>
                <a:latin typeface="Arial" panose="020B0604020202020204" pitchFamily="34" charset="0"/>
                <a:ea typeface="黑体" panose="02010609060101010101" pitchFamily="49" charset="-122"/>
              </a:rPr>
              <a:t>B2</a:t>
            </a:r>
            <a:r>
              <a:rPr kumimoji="1" lang="zh-CN" altLang="en-US">
                <a:solidFill>
                  <a:srgbClr val="FF0000"/>
                </a:solidFill>
                <a:latin typeface="Arial" panose="020B0604020202020204" pitchFamily="34" charset="0"/>
                <a:ea typeface="黑体" panose="02010609060101010101" pitchFamily="49" charset="-122"/>
              </a:rPr>
              <a:t>都不知道目的端口时，会进行广播。</a:t>
            </a:r>
          </a:p>
        </p:txBody>
      </p:sp>
    </p:spTree>
    <p:extLst>
      <p:ext uri="{BB962C8B-B14F-4D97-AF65-F5344CB8AC3E}">
        <p14:creationId xmlns:p14="http://schemas.microsoft.com/office/powerpoint/2010/main" val="276698652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0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1000"/>
                                        <p:tgtEl>
                                          <p:spTgt spid="4"/>
                                        </p:tgtEl>
                                      </p:cBhvr>
                                    </p:animEffect>
                                  </p:childTnLst>
                                </p:cTn>
                              </p:par>
                              <p:par>
                                <p:cTn id="16" presetID="22" presetClass="entr" presetSubtype="4"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down)">
                                      <p:cBhvr>
                                        <p:cTn id="18" dur="1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1000"/>
                                        <p:tgtEl>
                                          <p:spTgt spid="8"/>
                                        </p:tgtEl>
                                      </p:cBhvr>
                                    </p:animEffect>
                                  </p:childTnLst>
                                </p:cTn>
                              </p:par>
                              <p:par>
                                <p:cTn id="24" presetID="22" presetClass="entr" presetSubtype="2"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right)">
                                      <p:cBhvr>
                                        <p:cTn id="26" dur="10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2204"/>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grpId="0" nodeType="afterEffect">
                                  <p:stCondLst>
                                    <p:cond delay="0"/>
                                  </p:stCondLst>
                                  <p:childTnLst>
                                    <p:set>
                                      <p:cBhvr>
                                        <p:cTn id="33" dur="1" fill="hold">
                                          <p:stCondLst>
                                            <p:cond delay="0"/>
                                          </p:stCondLst>
                                        </p:cTn>
                                        <p:tgtEl>
                                          <p:spTgt spid="562188"/>
                                        </p:tgtEl>
                                        <p:attrNameLst>
                                          <p:attrName>style.visibility</p:attrName>
                                        </p:attrNameLst>
                                      </p:cBhvr>
                                      <p:to>
                                        <p:strVal val="visible"/>
                                      </p:to>
                                    </p:set>
                                    <p:animEffect transition="in" filter="wipe(left)">
                                      <p:cBhvr>
                                        <p:cTn id="34" dur="500"/>
                                        <p:tgtEl>
                                          <p:spTgt spid="562188"/>
                                        </p:tgtEl>
                                      </p:cBhvr>
                                    </p:animEffect>
                                  </p:childTnLst>
                                </p:cTn>
                              </p:par>
                            </p:childTnLst>
                          </p:cTn>
                        </p:par>
                        <p:par>
                          <p:cTn id="35" fill="hold" nodeType="afterGroup">
                            <p:stCondLst>
                              <p:cond delay="500"/>
                            </p:stCondLst>
                            <p:childTnLst>
                              <p:par>
                                <p:cTn id="36" presetID="1" presetClass="exit" presetSubtype="0" fill="hold" grpId="1" nodeType="afterEffect">
                                  <p:stCondLst>
                                    <p:cond delay="500"/>
                                  </p:stCondLst>
                                  <p:childTnLst>
                                    <p:set>
                                      <p:cBhvr>
                                        <p:cTn id="37" dur="1" fill="hold">
                                          <p:stCondLst>
                                            <p:cond delay="0"/>
                                          </p:stCondLst>
                                        </p:cTn>
                                        <p:tgtEl>
                                          <p:spTgt spid="562188"/>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grpId="0" nodeType="afterEffect">
                                  <p:stCondLst>
                                    <p:cond delay="0"/>
                                  </p:stCondLst>
                                  <p:childTnLst>
                                    <p:set>
                                      <p:cBhvr>
                                        <p:cTn id="40" dur="1" fill="hold">
                                          <p:stCondLst>
                                            <p:cond delay="0"/>
                                          </p:stCondLst>
                                        </p:cTn>
                                        <p:tgtEl>
                                          <p:spTgt spid="562222"/>
                                        </p:tgtEl>
                                        <p:attrNameLst>
                                          <p:attrName>style.visibility</p:attrName>
                                        </p:attrNameLst>
                                      </p:cBhvr>
                                      <p:to>
                                        <p:strVal val="visible"/>
                                      </p:to>
                                    </p:set>
                                    <p:animEffect transition="in" filter="wipe(right)">
                                      <p:cBhvr>
                                        <p:cTn id="41" dur="500"/>
                                        <p:tgtEl>
                                          <p:spTgt spid="562222"/>
                                        </p:tgtEl>
                                      </p:cBhvr>
                                    </p:animEffect>
                                  </p:childTnLst>
                                </p:cTn>
                              </p:par>
                            </p:childTnLst>
                          </p:cTn>
                        </p:par>
                        <p:par>
                          <p:cTn id="42" fill="hold" nodeType="afterGroup">
                            <p:stCondLst>
                              <p:cond delay="1500"/>
                            </p:stCondLst>
                            <p:childTnLst>
                              <p:par>
                                <p:cTn id="43" presetID="1" presetClass="exit" presetSubtype="0" fill="hold" grpId="1" nodeType="afterEffect">
                                  <p:stCondLst>
                                    <p:cond delay="500"/>
                                  </p:stCondLst>
                                  <p:childTnLst>
                                    <p:set>
                                      <p:cBhvr>
                                        <p:cTn id="44" dur="1" fill="hold">
                                          <p:stCondLst>
                                            <p:cond delay="0"/>
                                          </p:stCondLst>
                                        </p:cTn>
                                        <p:tgtEl>
                                          <p:spTgt spid="562222"/>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grpId="2" nodeType="afterEffect">
                                  <p:stCondLst>
                                    <p:cond delay="0"/>
                                  </p:stCondLst>
                                  <p:childTnLst>
                                    <p:set>
                                      <p:cBhvr>
                                        <p:cTn id="47" dur="1" fill="hold">
                                          <p:stCondLst>
                                            <p:cond delay="0"/>
                                          </p:stCondLst>
                                        </p:cTn>
                                        <p:tgtEl>
                                          <p:spTgt spid="562188"/>
                                        </p:tgtEl>
                                        <p:attrNameLst>
                                          <p:attrName>style.visibility</p:attrName>
                                        </p:attrNameLst>
                                      </p:cBhvr>
                                      <p:to>
                                        <p:strVal val="visible"/>
                                      </p:to>
                                    </p:set>
                                    <p:animEffect transition="in" filter="wipe(left)">
                                      <p:cBhvr>
                                        <p:cTn id="48" dur="500"/>
                                        <p:tgtEl>
                                          <p:spTgt spid="562188"/>
                                        </p:tgtEl>
                                      </p:cBhvr>
                                    </p:animEffect>
                                  </p:childTnLst>
                                </p:cTn>
                              </p:par>
                            </p:childTnLst>
                          </p:cTn>
                        </p:par>
                        <p:par>
                          <p:cTn id="49" fill="hold" nodeType="afterGroup">
                            <p:stCondLst>
                              <p:cond delay="2500"/>
                            </p:stCondLst>
                            <p:childTnLst>
                              <p:par>
                                <p:cTn id="50" presetID="1" presetClass="exit" presetSubtype="0" fill="hold" grpId="3" nodeType="afterEffect">
                                  <p:stCondLst>
                                    <p:cond delay="500"/>
                                  </p:stCondLst>
                                  <p:childTnLst>
                                    <p:set>
                                      <p:cBhvr>
                                        <p:cTn id="51" dur="1" fill="hold">
                                          <p:stCondLst>
                                            <p:cond delay="0"/>
                                          </p:stCondLst>
                                        </p:cTn>
                                        <p:tgtEl>
                                          <p:spTgt spid="562188"/>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grpId="2" nodeType="afterEffect">
                                  <p:stCondLst>
                                    <p:cond delay="0"/>
                                  </p:stCondLst>
                                  <p:childTnLst>
                                    <p:set>
                                      <p:cBhvr>
                                        <p:cTn id="54" dur="1" fill="hold">
                                          <p:stCondLst>
                                            <p:cond delay="0"/>
                                          </p:stCondLst>
                                        </p:cTn>
                                        <p:tgtEl>
                                          <p:spTgt spid="562222"/>
                                        </p:tgtEl>
                                        <p:attrNameLst>
                                          <p:attrName>style.visibility</p:attrName>
                                        </p:attrNameLst>
                                      </p:cBhvr>
                                      <p:to>
                                        <p:strVal val="visible"/>
                                      </p:to>
                                    </p:set>
                                    <p:animEffect transition="in" filter="wipe(right)">
                                      <p:cBhvr>
                                        <p:cTn id="55" dur="500"/>
                                        <p:tgtEl>
                                          <p:spTgt spid="562222"/>
                                        </p:tgtEl>
                                      </p:cBhvr>
                                    </p:animEffect>
                                  </p:childTnLst>
                                </p:cTn>
                              </p:par>
                            </p:childTnLst>
                          </p:cTn>
                        </p:par>
                        <p:par>
                          <p:cTn id="56" fill="hold" nodeType="afterGroup">
                            <p:stCondLst>
                              <p:cond delay="3500"/>
                            </p:stCondLst>
                            <p:childTnLst>
                              <p:par>
                                <p:cTn id="57" presetID="1" presetClass="exit" presetSubtype="0" fill="hold" grpId="3" nodeType="afterEffect">
                                  <p:stCondLst>
                                    <p:cond delay="500"/>
                                  </p:stCondLst>
                                  <p:childTnLst>
                                    <p:set>
                                      <p:cBhvr>
                                        <p:cTn id="58" dur="1" fill="hold">
                                          <p:stCondLst>
                                            <p:cond delay="0"/>
                                          </p:stCondLst>
                                        </p:cTn>
                                        <p:tgtEl>
                                          <p:spTgt spid="562222"/>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grpId="4" nodeType="afterEffect">
                                  <p:stCondLst>
                                    <p:cond delay="0"/>
                                  </p:stCondLst>
                                  <p:childTnLst>
                                    <p:set>
                                      <p:cBhvr>
                                        <p:cTn id="61" dur="1" fill="hold">
                                          <p:stCondLst>
                                            <p:cond delay="0"/>
                                          </p:stCondLst>
                                        </p:cTn>
                                        <p:tgtEl>
                                          <p:spTgt spid="562188"/>
                                        </p:tgtEl>
                                        <p:attrNameLst>
                                          <p:attrName>style.visibility</p:attrName>
                                        </p:attrNameLst>
                                      </p:cBhvr>
                                      <p:to>
                                        <p:strVal val="visible"/>
                                      </p:to>
                                    </p:set>
                                    <p:animEffect transition="in" filter="wipe(left)">
                                      <p:cBhvr>
                                        <p:cTn id="62" dur="500"/>
                                        <p:tgtEl>
                                          <p:spTgt spid="562188"/>
                                        </p:tgtEl>
                                      </p:cBhvr>
                                    </p:animEffect>
                                  </p:childTnLst>
                                </p:cTn>
                              </p:par>
                            </p:childTnLst>
                          </p:cTn>
                        </p:par>
                        <p:par>
                          <p:cTn id="63" fill="hold" nodeType="afterGroup">
                            <p:stCondLst>
                              <p:cond delay="4500"/>
                            </p:stCondLst>
                            <p:childTnLst>
                              <p:par>
                                <p:cTn id="64" presetID="1" presetClass="exit" presetSubtype="0" fill="hold" grpId="5" nodeType="afterEffect">
                                  <p:stCondLst>
                                    <p:cond delay="500"/>
                                  </p:stCondLst>
                                  <p:childTnLst>
                                    <p:set>
                                      <p:cBhvr>
                                        <p:cTn id="65" dur="1" fill="hold">
                                          <p:stCondLst>
                                            <p:cond delay="0"/>
                                          </p:stCondLst>
                                        </p:cTn>
                                        <p:tgtEl>
                                          <p:spTgt spid="562188"/>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grpId="4" nodeType="afterEffect">
                                  <p:stCondLst>
                                    <p:cond delay="0"/>
                                  </p:stCondLst>
                                  <p:childTnLst>
                                    <p:set>
                                      <p:cBhvr>
                                        <p:cTn id="68" dur="1" fill="hold">
                                          <p:stCondLst>
                                            <p:cond delay="0"/>
                                          </p:stCondLst>
                                        </p:cTn>
                                        <p:tgtEl>
                                          <p:spTgt spid="562222"/>
                                        </p:tgtEl>
                                        <p:attrNameLst>
                                          <p:attrName>style.visibility</p:attrName>
                                        </p:attrNameLst>
                                      </p:cBhvr>
                                      <p:to>
                                        <p:strVal val="visible"/>
                                      </p:to>
                                    </p:set>
                                    <p:animEffect transition="in" filter="wipe(right)">
                                      <p:cBhvr>
                                        <p:cTn id="69" dur="500"/>
                                        <p:tgtEl>
                                          <p:spTgt spid="562222"/>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562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88" grpId="0" animBg="1"/>
      <p:bldP spid="562188" grpId="1" animBg="1"/>
      <p:bldP spid="562188" grpId="2" animBg="1"/>
      <p:bldP spid="562188" grpId="3" animBg="1"/>
      <p:bldP spid="562188" grpId="4" animBg="1"/>
      <p:bldP spid="562188" grpId="5" animBg="1"/>
      <p:bldP spid="562204" grpId="0"/>
      <p:bldP spid="562222" grpId="0" animBg="1"/>
      <p:bldP spid="562222" grpId="1" animBg="1"/>
      <p:bldP spid="562222" grpId="2" animBg="1"/>
      <p:bldP spid="562222" grpId="3" animBg="1"/>
      <p:bldP spid="562222" grpId="4" animBg="1"/>
      <p:bldP spid="5622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4"/>
          <p:cNvGraphicFramePr>
            <a:graphicFrameLocks noGrp="1" noChangeAspect="1"/>
          </p:cNvGraphicFramePr>
          <p:nvPr>
            <p:ph/>
          </p:nvPr>
        </p:nvGraphicFramePr>
        <p:xfrm>
          <a:off x="1524001" y="2708276"/>
          <a:ext cx="8964613" cy="3889375"/>
        </p:xfrm>
        <a:graphic>
          <a:graphicData uri="http://schemas.openxmlformats.org/presentationml/2006/ole">
            <mc:AlternateContent xmlns:mc="http://schemas.openxmlformats.org/markup-compatibility/2006">
              <mc:Choice xmlns:v="urn:schemas-microsoft-com:vml" Requires="v">
                <p:oleObj spid="_x0000_s28676" r:id="rId3" imgW="3704844" imgH="2209800" progId="Visio.Drawing.6">
                  <p:embed/>
                </p:oleObj>
              </mc:Choice>
              <mc:Fallback>
                <p:oleObj r:id="rId3" imgW="3704844" imgH="2209800" progId="Visio.Drawing.6">
                  <p:embed/>
                  <p:pic>
                    <p:nvPicPr>
                      <p:cNvPr id="1741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2708276"/>
                        <a:ext cx="8964613" cy="3889375"/>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1" name="Rectangle 8"/>
          <p:cNvSpPr>
            <a:spLocks noChangeArrowheads="1"/>
          </p:cNvSpPr>
          <p:nvPr/>
        </p:nvSpPr>
        <p:spPr bwMode="auto">
          <a:xfrm>
            <a:off x="5905500" y="1125538"/>
            <a:ext cx="47625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Char char="o"/>
            </a:pPr>
            <a:r>
              <a:rPr lang="zh-CN" altLang="en-US" sz="2600"/>
              <a:t>每个交换机广播其序号</a:t>
            </a:r>
          </a:p>
          <a:p>
            <a:pPr eaLnBrk="1" hangingPunct="1">
              <a:spcBef>
                <a:spcPct val="20000"/>
              </a:spcBef>
              <a:buClr>
                <a:schemeClr val="accent2"/>
              </a:buClr>
              <a:buFont typeface="Wingdings" panose="05000000000000000000" pitchFamily="2" charset="2"/>
              <a:buChar char="o"/>
            </a:pPr>
            <a:r>
              <a:rPr lang="zh-CN" altLang="en-US" sz="2600"/>
              <a:t>序号最小的作为根</a:t>
            </a:r>
          </a:p>
          <a:p>
            <a:pPr eaLnBrk="1" hangingPunct="1">
              <a:spcBef>
                <a:spcPct val="20000"/>
              </a:spcBef>
              <a:buClr>
                <a:schemeClr val="accent2"/>
              </a:buClr>
              <a:buFont typeface="Wingdings" panose="05000000000000000000" pitchFamily="2" charset="2"/>
              <a:buChar char="o"/>
            </a:pPr>
            <a:r>
              <a:rPr lang="zh-CN" altLang="en-US" sz="2600"/>
              <a:t>从根按最短路径构造生成树</a:t>
            </a:r>
            <a:endParaRPr lang="en-US" altLang="zh-CN" sz="2600"/>
          </a:p>
        </p:txBody>
      </p:sp>
      <p:sp>
        <p:nvSpPr>
          <p:cNvPr id="17412" name="Rectangle 7"/>
          <p:cNvSpPr>
            <a:spLocks noChangeArrowheads="1"/>
          </p:cNvSpPr>
          <p:nvPr/>
        </p:nvSpPr>
        <p:spPr bwMode="auto">
          <a:xfrm>
            <a:off x="695400" y="1041321"/>
            <a:ext cx="457200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solidFill>
                  <a:schemeClr val="tx2"/>
                </a:solidFill>
                <a:ea typeface="楷体_GB2312" pitchFamily="49" charset="-122"/>
              </a:rPr>
              <a:t>网络拓扑与对应的生成树</a:t>
            </a:r>
          </a:p>
        </p:txBody>
      </p:sp>
      <p:sp>
        <p:nvSpPr>
          <p:cNvPr id="2" name="云形 1"/>
          <p:cNvSpPr/>
          <p:nvPr/>
        </p:nvSpPr>
        <p:spPr bwMode="auto">
          <a:xfrm>
            <a:off x="2782889" y="306863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6" name="云形 5"/>
          <p:cNvSpPr/>
          <p:nvPr/>
        </p:nvSpPr>
        <p:spPr bwMode="auto">
          <a:xfrm>
            <a:off x="3935414" y="350043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7" name="云形 6"/>
          <p:cNvSpPr/>
          <p:nvPr/>
        </p:nvSpPr>
        <p:spPr bwMode="auto">
          <a:xfrm>
            <a:off x="4222751" y="307498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8" name="云形 7"/>
          <p:cNvSpPr/>
          <p:nvPr/>
        </p:nvSpPr>
        <p:spPr bwMode="auto">
          <a:xfrm>
            <a:off x="4800601" y="3997325"/>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9" name="云形 8"/>
          <p:cNvSpPr/>
          <p:nvPr/>
        </p:nvSpPr>
        <p:spPr bwMode="auto">
          <a:xfrm>
            <a:off x="2801939" y="3683000"/>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0" name="云形 9"/>
          <p:cNvSpPr/>
          <p:nvPr/>
        </p:nvSpPr>
        <p:spPr bwMode="auto">
          <a:xfrm>
            <a:off x="4079876" y="4406900"/>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1" name="云形 10"/>
          <p:cNvSpPr/>
          <p:nvPr/>
        </p:nvSpPr>
        <p:spPr bwMode="auto">
          <a:xfrm>
            <a:off x="2424114" y="4297363"/>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2" name="云形 11"/>
          <p:cNvSpPr/>
          <p:nvPr/>
        </p:nvSpPr>
        <p:spPr bwMode="auto">
          <a:xfrm>
            <a:off x="3140076" y="4657725"/>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3" name="云形 12"/>
          <p:cNvSpPr/>
          <p:nvPr/>
        </p:nvSpPr>
        <p:spPr bwMode="auto">
          <a:xfrm>
            <a:off x="2211389" y="501173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4" name="云形 13"/>
          <p:cNvSpPr/>
          <p:nvPr/>
        </p:nvSpPr>
        <p:spPr bwMode="auto">
          <a:xfrm>
            <a:off x="7751764" y="3051175"/>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5" name="云形 14"/>
          <p:cNvSpPr/>
          <p:nvPr/>
        </p:nvSpPr>
        <p:spPr bwMode="auto">
          <a:xfrm>
            <a:off x="9191626" y="304323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6" name="云形 15"/>
          <p:cNvSpPr/>
          <p:nvPr/>
        </p:nvSpPr>
        <p:spPr bwMode="auto">
          <a:xfrm>
            <a:off x="9190039" y="3937000"/>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7" name="云形 16"/>
          <p:cNvSpPr/>
          <p:nvPr/>
        </p:nvSpPr>
        <p:spPr bwMode="auto">
          <a:xfrm>
            <a:off x="7669214" y="3667125"/>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8" name="云形 17"/>
          <p:cNvSpPr/>
          <p:nvPr/>
        </p:nvSpPr>
        <p:spPr bwMode="auto">
          <a:xfrm>
            <a:off x="8137526" y="461168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19" name="云形 18"/>
          <p:cNvSpPr/>
          <p:nvPr/>
        </p:nvSpPr>
        <p:spPr bwMode="auto">
          <a:xfrm>
            <a:off x="7175501" y="5018088"/>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20" name="云形 19"/>
          <p:cNvSpPr/>
          <p:nvPr/>
        </p:nvSpPr>
        <p:spPr bwMode="auto">
          <a:xfrm>
            <a:off x="7308851" y="4276725"/>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sp>
        <p:nvSpPr>
          <p:cNvPr id="21" name="云形 20"/>
          <p:cNvSpPr/>
          <p:nvPr/>
        </p:nvSpPr>
        <p:spPr bwMode="auto">
          <a:xfrm>
            <a:off x="9482139" y="5319713"/>
            <a:ext cx="281205" cy="609064"/>
          </a:xfrm>
          <a:prstGeom prst="clou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endParaRPr lang="zh-CN" altLang="en-US"/>
          </a:p>
        </p:txBody>
      </p:sp>
      <p:cxnSp>
        <p:nvCxnSpPr>
          <p:cNvPr id="17430" name="直接连接符 3"/>
          <p:cNvCxnSpPr>
            <a:cxnSpLocks noChangeShapeType="1"/>
          </p:cNvCxnSpPr>
          <p:nvPr/>
        </p:nvCxnSpPr>
        <p:spPr bwMode="auto">
          <a:xfrm flipH="1">
            <a:off x="7040563" y="4437064"/>
            <a:ext cx="279400" cy="200025"/>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1" name="直接连接符 23"/>
          <p:cNvCxnSpPr>
            <a:cxnSpLocks noChangeShapeType="1"/>
          </p:cNvCxnSpPr>
          <p:nvPr/>
        </p:nvCxnSpPr>
        <p:spPr bwMode="auto">
          <a:xfrm flipH="1">
            <a:off x="9771063" y="5157789"/>
            <a:ext cx="279400" cy="200025"/>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Rectangle 3"/>
          <p:cNvSpPr txBox="1">
            <a:spLocks noChangeArrowheads="1"/>
          </p:cNvSpPr>
          <p:nvPr/>
        </p:nvSpPr>
        <p:spPr bwMode="auto">
          <a:xfrm>
            <a:off x="80617" y="127582"/>
            <a:ext cx="9144000" cy="696912"/>
          </a:xfrm>
          <a:prstGeom prst="rect">
            <a:avLst/>
          </a:prstGeom>
          <a:solidFill>
            <a:srgbClr val="FFFF00"/>
          </a:solidFill>
          <a:ln>
            <a:noFill/>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eaLnBrk="1" hangingPunct="1">
              <a:defRPr/>
            </a:pPr>
            <a:r>
              <a:rPr lang="zh-CN" altLang="en-US" sz="2800" b="1" kern="0">
                <a:solidFill>
                  <a:srgbClr val="FF0000"/>
                </a:solidFill>
                <a:latin typeface="黑体" panose="02010609060101010101" pitchFamily="49" charset="-122"/>
                <a:ea typeface="黑体" panose="02010609060101010101" pitchFamily="49" charset="-122"/>
              </a:rPr>
              <a:t>如何避免环路？  </a:t>
            </a:r>
            <a:r>
              <a:rPr lang="zh-CN" altLang="en-US" sz="2800" b="1" kern="0">
                <a:solidFill>
                  <a:srgbClr val="2A10E8"/>
                </a:solidFill>
                <a:latin typeface="黑体" panose="02010609060101010101" pitchFamily="49" charset="-122"/>
                <a:ea typeface="黑体" panose="02010609060101010101" pitchFamily="49" charset="-122"/>
              </a:rPr>
              <a:t>生成树算法（</a:t>
            </a:r>
            <a:r>
              <a:rPr lang="en-US" altLang="zh-CN" sz="2800" b="1" kern="0">
                <a:solidFill>
                  <a:srgbClr val="2A10E8"/>
                </a:solidFill>
                <a:latin typeface="黑体" panose="02010609060101010101" pitchFamily="49" charset="-122"/>
                <a:ea typeface="黑体" panose="02010609060101010101" pitchFamily="49" charset="-122"/>
              </a:rPr>
              <a:t>spanning tree</a:t>
            </a:r>
            <a:r>
              <a:rPr lang="zh-CN" altLang="en-US" sz="2800" b="1" kern="0">
                <a:solidFill>
                  <a:srgbClr val="2A10E8"/>
                </a:solidFill>
                <a:latin typeface="黑体" panose="02010609060101010101" pitchFamily="49" charset="-122"/>
                <a:ea typeface="黑体" panose="02010609060101010101" pitchFamily="49" charset="-122"/>
              </a:rPr>
              <a:t>）</a:t>
            </a:r>
            <a:endParaRPr lang="zh-CN" altLang="en-US" sz="2800" b="1" kern="0" dirty="0">
              <a:solidFill>
                <a:srgbClr val="2A10E8"/>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72204315"/>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826E7-C859-4847-9720-829F6A64AD4E}"/>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295A1391-26DA-407D-9422-457C05916606}"/>
              </a:ext>
            </a:extLst>
          </p:cNvPr>
          <p:cNvSpPr txBox="1"/>
          <p:nvPr/>
        </p:nvSpPr>
        <p:spPr>
          <a:xfrm>
            <a:off x="623392" y="1700808"/>
            <a:ext cx="9865096" cy="1938992"/>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．中继器可以用来连接</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不同类型的局域网</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不同速率的局域网</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不同介质的局域网</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不同协议的局域网</a:t>
            </a:r>
          </a:p>
        </p:txBody>
      </p:sp>
      <p:sp>
        <p:nvSpPr>
          <p:cNvPr id="8" name="文本框 7">
            <a:extLst>
              <a:ext uri="{FF2B5EF4-FFF2-40B4-BE49-F238E27FC236}">
                <a16:creationId xmlns:a16="http://schemas.microsoft.com/office/drawing/2014/main" id="{93963FA2-F4E8-412C-A126-35A80C9CEA02}"/>
              </a:ext>
            </a:extLst>
          </p:cNvPr>
          <p:cNvSpPr txBox="1"/>
          <p:nvPr/>
        </p:nvSpPr>
        <p:spPr>
          <a:xfrm>
            <a:off x="623392" y="4005064"/>
            <a:ext cx="10668000" cy="1938992"/>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．用集线器连接的工作站集合</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同属一个冲突域，也同属一个广播域</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不同属一个冲突域，但同属一个广播域</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不同属一个冲突域，也不同属一个广播域</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同属一个冲突域，但不同属一个广播域</a:t>
            </a:r>
          </a:p>
        </p:txBody>
      </p:sp>
    </p:spTree>
    <p:extLst>
      <p:ext uri="{BB962C8B-B14F-4D97-AF65-F5344CB8AC3E}">
        <p14:creationId xmlns:p14="http://schemas.microsoft.com/office/powerpoint/2010/main" val="499967208"/>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826E7-C859-4847-9720-829F6A64AD4E}"/>
              </a:ext>
            </a:extLst>
          </p:cNvPr>
          <p:cNvSpPr>
            <a:spLocks noGrp="1"/>
          </p:cNvSpPr>
          <p:nvPr>
            <p:ph type="title"/>
          </p:nvPr>
        </p:nvSpPr>
        <p:spPr/>
        <p:txBody>
          <a:bodyPr/>
          <a:lstStyle/>
          <a:p>
            <a:endParaRPr lang="zh-CN" altLang="en-US"/>
          </a:p>
        </p:txBody>
      </p:sp>
      <p:sp>
        <p:nvSpPr>
          <p:cNvPr id="9" name="文本框 8">
            <a:extLst>
              <a:ext uri="{FF2B5EF4-FFF2-40B4-BE49-F238E27FC236}">
                <a16:creationId xmlns:a16="http://schemas.microsoft.com/office/drawing/2014/main" id="{2E928CD2-0CC0-4FB6-8DAD-6D77114DB923}"/>
              </a:ext>
            </a:extLst>
          </p:cNvPr>
          <p:cNvSpPr txBox="1"/>
          <p:nvPr/>
        </p:nvSpPr>
        <p:spPr>
          <a:xfrm>
            <a:off x="766233" y="1988840"/>
            <a:ext cx="11026865" cy="4154984"/>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一个</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16</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接口的集线器的冲突域和广播域的个数分别是</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A.16,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B.16, 16</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C.1,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D.16,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一个</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16</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个接口的以太网交换机，冲突域和广播城的个数分别是</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A.1,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B.16, 16</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C.1, 16</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D.16,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6620194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72C598-7184-4F8E-8504-932C033FA817}"/>
              </a:ext>
            </a:extLst>
          </p:cNvPr>
          <p:cNvSpPr txBox="1"/>
          <p:nvPr/>
        </p:nvSpPr>
        <p:spPr>
          <a:xfrm>
            <a:off x="614264" y="1052736"/>
            <a:ext cx="10882336" cy="1938992"/>
          </a:xfrm>
          <a:prstGeom prst="rect">
            <a:avLst/>
          </a:prstGeom>
          <a:solidFill>
            <a:schemeClr val="bg1"/>
          </a:solidFill>
        </p:spPr>
        <p:txBody>
          <a:bodyPr wrap="square">
            <a:spAutoFit/>
          </a:bodyPr>
          <a:lstStyle/>
          <a:p>
            <a:pPr algn="just"/>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01.</a:t>
            </a:r>
            <a:r>
              <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下列网络连接设备都工作在数据链路层的是</a:t>
            </a:r>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中继器和集线器</a:t>
            </a:r>
          </a:p>
          <a:p>
            <a:pPr algn="just"/>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网桥和局域网交换机</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集线器和网桥</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集线器和局域网交换机</a:t>
            </a:r>
          </a:p>
        </p:txBody>
      </p:sp>
      <p:sp>
        <p:nvSpPr>
          <p:cNvPr id="5" name="文本框 4">
            <a:extLst>
              <a:ext uri="{FF2B5EF4-FFF2-40B4-BE49-F238E27FC236}">
                <a16:creationId xmlns:a16="http://schemas.microsoft.com/office/drawing/2014/main" id="{58FB4853-C7B9-49C9-98FD-1CF092E298E5}"/>
              </a:ext>
            </a:extLst>
          </p:cNvPr>
          <p:cNvSpPr txBox="1"/>
          <p:nvPr/>
        </p:nvSpPr>
        <p:spPr>
          <a:xfrm>
            <a:off x="614264" y="3433316"/>
            <a:ext cx="9370168" cy="1938992"/>
          </a:xfrm>
          <a:prstGeom prst="rect">
            <a:avLst/>
          </a:prstGeom>
          <a:solidFill>
            <a:schemeClr val="bg1"/>
          </a:solid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02.</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下列不能分割冲突域的设备是</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a:t>
            </a:r>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a:t>
            </a:r>
            <a:r>
              <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集线器</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交换机</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路由器</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网桥</a:t>
            </a:r>
          </a:p>
        </p:txBody>
      </p:sp>
    </p:spTree>
    <p:extLst>
      <p:ext uri="{BB962C8B-B14F-4D97-AF65-F5344CB8AC3E}">
        <p14:creationId xmlns:p14="http://schemas.microsoft.com/office/powerpoint/2010/main" val="2778485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E88843-6FE2-4110-9298-69F929A0F70D}"/>
              </a:ext>
            </a:extLst>
          </p:cNvPr>
          <p:cNvSpPr txBox="1"/>
          <p:nvPr/>
        </p:nvSpPr>
        <p:spPr>
          <a:xfrm>
            <a:off x="695400" y="1052736"/>
            <a:ext cx="10873208" cy="1938992"/>
          </a:xfrm>
          <a:prstGeom prst="rect">
            <a:avLst/>
          </a:prstGeom>
          <a:solidFill>
            <a:schemeClr val="bg1"/>
          </a:solid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03.</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交换机比集线器提供更好的网络性能的原因是</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交换机支持多对用户同时通信</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交换机使用差错控制减少出错率</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交换机使网络的覆盖范围更大</a:t>
            </a: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交换机无需设置，使用更方便</a:t>
            </a:r>
          </a:p>
        </p:txBody>
      </p:sp>
      <p:sp>
        <p:nvSpPr>
          <p:cNvPr id="8" name="文本框 7">
            <a:extLst>
              <a:ext uri="{FF2B5EF4-FFF2-40B4-BE49-F238E27FC236}">
                <a16:creationId xmlns:a16="http://schemas.microsoft.com/office/drawing/2014/main" id="{328C300B-201D-485F-AA1D-2A42D8A872EA}"/>
              </a:ext>
            </a:extLst>
          </p:cNvPr>
          <p:cNvSpPr txBox="1"/>
          <p:nvPr/>
        </p:nvSpPr>
        <p:spPr>
          <a:xfrm>
            <a:off x="695400" y="3717032"/>
            <a:ext cx="9577064" cy="1938992"/>
          </a:xfrm>
          <a:prstGeom prst="rect">
            <a:avLst/>
          </a:prstGeom>
          <a:no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04.</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一个</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16</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个接口的以太网交换机，冲突域和广播域的个数分别是</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A.1, 1</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B.16, 16</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C.1, 16</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D.16, 1</a:t>
            </a:r>
            <a:endPar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8831457"/>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EB65EE0-9B3A-4488-8398-AEF57E4C12A9}"/>
              </a:ext>
            </a:extLst>
          </p:cNvPr>
          <p:cNvSpPr txBox="1"/>
          <p:nvPr/>
        </p:nvSpPr>
        <p:spPr>
          <a:xfrm>
            <a:off x="407368" y="980728"/>
            <a:ext cx="11089232" cy="2308324"/>
          </a:xfrm>
          <a:prstGeom prst="rect">
            <a:avLst/>
          </a:prstGeom>
          <a:solidFill>
            <a:schemeClr val="bg1"/>
          </a:solid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5.</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对于由交换机连接的</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10Mb/s</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以太网，共有</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10</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个用户，则每个用户能够占有的带宽为</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A.1Mb/s</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B.2Mb/s</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C.10Mb/s</a:t>
            </a:r>
            <a:endParaRPr lang="zh-CN" altLang="zh-CN" sz="24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D.100Mb/s</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BDD8C9C0-25E4-4235-8A87-EC643E6F4E8F}"/>
              </a:ext>
            </a:extLst>
          </p:cNvPr>
          <p:cNvSpPr txBox="1"/>
          <p:nvPr/>
        </p:nvSpPr>
        <p:spPr>
          <a:xfrm>
            <a:off x="417736" y="3789040"/>
            <a:ext cx="11209758" cy="1938992"/>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6 </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下列关于交换机的叙述中，正确的是</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4472C4"/>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rgbClr val="4472C4"/>
                </a:solidFill>
                <a:effectLst/>
                <a:latin typeface="等线" panose="02010600030101010101" pitchFamily="2" charset="-122"/>
                <a:ea typeface="等线" panose="02010600030101010101" pitchFamily="2" charset="-122"/>
                <a:cs typeface="Times New Roman" panose="02020603050405020304" pitchFamily="18" charset="0"/>
              </a:rPr>
              <a:t>以太网交换机本质上是一种多端口网桥</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通过交换机互连的一组工作站构成一个冲突域</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交换机每个接口所连的网络构成一个独立的广播域</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以太网交换机可实现采用不同网络层协议的网络互连</a:t>
            </a:r>
          </a:p>
        </p:txBody>
      </p:sp>
    </p:spTree>
    <p:extLst>
      <p:ext uri="{BB962C8B-B14F-4D97-AF65-F5344CB8AC3E}">
        <p14:creationId xmlns:p14="http://schemas.microsoft.com/office/powerpoint/2010/main" val="3439459977"/>
      </p:ext>
    </p:extLst>
  </p:cSld>
  <p:clrMapOvr>
    <a:masterClrMapping/>
  </p:clrMapOvr>
  <p:transition spd="slow"/>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4491</TotalTime>
  <Words>1680</Words>
  <Application>Microsoft Office PowerPoint</Application>
  <PresentationFormat>宽屏</PresentationFormat>
  <Paragraphs>178</Paragraphs>
  <Slides>30</Slides>
  <Notes>0</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30</vt:i4>
      </vt:variant>
    </vt:vector>
  </HeadingPairs>
  <TitlesOfParts>
    <vt:vector size="41" baseType="lpstr">
      <vt:lpstr>等线</vt:lpstr>
      <vt:lpstr>黑体</vt:lpstr>
      <vt:lpstr>微软雅黑</vt:lpstr>
      <vt:lpstr>Arial</vt:lpstr>
      <vt:lpstr>Tahoma</vt:lpstr>
      <vt:lpstr>Times New Roman</vt:lpstr>
      <vt:lpstr>Verdana</vt:lpstr>
      <vt:lpstr>Wingdings</vt:lpstr>
      <vt:lpstr>Profile</vt:lpstr>
      <vt:lpstr>自定义设计方案</vt:lpstr>
      <vt:lpstr>Microsoft Visio 2000/2002 Drawing</vt:lpstr>
      <vt:lpstr>PowerPoint 演示文稿</vt:lpstr>
      <vt:lpstr>PowerPoint 演示文稿</vt:lpstr>
      <vt:lpstr>PowerPoint 演示文稿</vt:lpstr>
      <vt:lpstr>用集线器在物理层扩展局域网</vt:lpstr>
      <vt:lpstr>PowerPoint 演示文稿</vt:lpstr>
      <vt:lpstr>使用网桥在数据链路层扩展局域网 </vt:lpstr>
      <vt:lpstr>PowerPoint 演示文稿</vt:lpstr>
      <vt:lpstr>网桥的基本原理</vt:lpstr>
      <vt:lpstr>网桥的功能 </vt:lpstr>
      <vt:lpstr>网桥 </vt:lpstr>
      <vt:lpstr>网桥 </vt:lpstr>
      <vt:lpstr>使用网桥带来的好处 </vt:lpstr>
      <vt:lpstr>使用交换机在数据链路层扩展局域网</vt:lpstr>
      <vt:lpstr>PowerPoint 演示文稿</vt:lpstr>
      <vt:lpstr>PowerPoint 演示文稿</vt:lpstr>
      <vt:lpstr>以太网接入举例：光纤到大楼 FTTB </vt:lpstr>
      <vt:lpstr>PowerPoint 演示文稿</vt:lpstr>
      <vt:lpstr>交换机与集线器的区别</vt:lpstr>
      <vt:lpstr>交换机与集线器的区别</vt:lpstr>
      <vt:lpstr>冲突域和广播域</vt:lpstr>
      <vt:lpstr>冲突域和广播域</vt:lpstr>
      <vt:lpstr>冲突域和广播域</vt:lpstr>
      <vt:lpstr>二层交换机的广播风暴问题</vt:lpstr>
      <vt:lpstr>二层交换的广播风暴问题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583</cp:revision>
  <dcterms:created xsi:type="dcterms:W3CDTF">1601-01-01T00:00:00Z</dcterms:created>
  <dcterms:modified xsi:type="dcterms:W3CDTF">2026-02-24T13:32:32Z</dcterms:modified>
</cp:coreProperties>
</file>