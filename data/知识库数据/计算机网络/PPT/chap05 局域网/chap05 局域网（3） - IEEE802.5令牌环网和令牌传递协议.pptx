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731" r:id="rId1"/>
    <p:sldMasterId id="2147483733" r:id="rId2"/>
  </p:sldMasterIdLst>
  <p:notesMasterIdLst>
    <p:notesMasterId r:id="rId14"/>
  </p:notesMasterIdLst>
  <p:handoutMasterIdLst>
    <p:handoutMasterId r:id="rId15"/>
  </p:handoutMasterIdLst>
  <p:sldIdLst>
    <p:sldId id="258" r:id="rId3"/>
    <p:sldId id="579" r:id="rId4"/>
    <p:sldId id="644" r:id="rId5"/>
    <p:sldId id="648" r:id="rId6"/>
    <p:sldId id="650" r:id="rId7"/>
    <p:sldId id="649" r:id="rId8"/>
    <p:sldId id="645" r:id="rId9"/>
    <p:sldId id="651" r:id="rId10"/>
    <p:sldId id="652" r:id="rId11"/>
    <p:sldId id="646" r:id="rId12"/>
    <p:sldId id="647" r:id="rId1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Verdana" panose="020B060403050404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10E8"/>
    <a:srgbClr val="CC0000"/>
    <a:srgbClr val="FF9933"/>
    <a:srgbClr val="FFCC00"/>
    <a:srgbClr val="516FA7"/>
    <a:srgbClr val="F7F7F7"/>
    <a:srgbClr val="CCECFF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21" autoAdjust="0"/>
    <p:restoredTop sz="89708" autoAdjust="0"/>
  </p:normalViewPr>
  <p:slideViewPr>
    <p:cSldViewPr>
      <p:cViewPr varScale="1">
        <p:scale>
          <a:sx n="96" d="100"/>
          <a:sy n="96" d="100"/>
        </p:scale>
        <p:origin x="1011" y="3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422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3859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8A5CE94A-D3C8-42EE-B379-C7D0E4476345}" type="datetime1">
              <a:rPr lang="zh-CN" altLang="en-US"/>
              <a:pPr>
                <a:defRPr/>
              </a:pPr>
              <a:t>2026/2/24</a:t>
            </a:fld>
            <a:endParaRPr lang="en-US" altLang="zh-CN"/>
          </a:p>
        </p:txBody>
      </p:sp>
      <p:sp>
        <p:nvSpPr>
          <p:cNvPr id="23859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3859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2552274F-6FE6-40E9-BF3D-5E66C98D1074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6120221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fld id="{9CF37872-B497-4D05-9C56-49CCB20B57F3}" type="datetime1">
              <a:rPr lang="zh-CN" altLang="en-US"/>
              <a:pPr>
                <a:defRPr/>
              </a:pPr>
              <a:t>2026/2/24</a:t>
            </a:fld>
            <a:endParaRPr lang="en-US" altLang="zh-CN"/>
          </a:p>
        </p:txBody>
      </p:sp>
      <p:sp>
        <p:nvSpPr>
          <p:cNvPr id="41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6149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kumimoji="1" sz="12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51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2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15992232-FAA3-4EDF-8D86-40B3045221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30085649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B36BD0D-C7E1-4480-BED4-101519D4B36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717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BD81459F-BC21-4BF4-B872-915473B37EAA}" type="slidenum">
              <a:rPr lang="zh-CN" altLang="en-US" smtClean="0"/>
              <a:pPr>
                <a:spcBef>
                  <a:spcPct val="0"/>
                </a:spcBef>
              </a:pPr>
              <a:t>1</a:t>
            </a:fld>
            <a:endParaRPr lang="en-US" altLang="zh-CN"/>
          </a:p>
        </p:txBody>
      </p:sp>
      <p:sp>
        <p:nvSpPr>
          <p:cNvPr id="717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582689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2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15424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3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31318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4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31215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5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46951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6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15818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7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740521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8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1416529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9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07021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10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7949961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E54715D-F81B-4BE7-AC29-3BBC07E941AA}" type="datetime1">
              <a:rPr lang="zh-CN" altLang="en-US" smtClean="0"/>
              <a:pPr>
                <a:spcBef>
                  <a:spcPct val="0"/>
                </a:spcBef>
              </a:pPr>
              <a:t>2026/2/24</a:t>
            </a:fld>
            <a:endParaRPr lang="en-US" altLang="zh-CN"/>
          </a:p>
        </p:txBody>
      </p:sp>
      <p:sp>
        <p:nvSpPr>
          <p:cNvPr id="921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63DC89F-4B8E-4FDE-AD83-9C075F598DA1}" type="slidenum">
              <a:rPr lang="zh-CN" altLang="en-US" smtClean="0"/>
              <a:pPr>
                <a:spcBef>
                  <a:spcPct val="0"/>
                </a:spcBef>
              </a:pPr>
              <a:t>11</a:t>
            </a:fld>
            <a:endParaRPr lang="en-US" altLang="zh-CN"/>
          </a:p>
        </p:txBody>
      </p:sp>
      <p:sp>
        <p:nvSpPr>
          <p:cNvPr id="922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2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89638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pattFill prst="ltHorz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7"/>
          <p:cNvSpPr>
            <a:spLocks noChangeArrowheads="1"/>
          </p:cNvSpPr>
          <p:nvPr/>
        </p:nvSpPr>
        <p:spPr bwMode="auto">
          <a:xfrm>
            <a:off x="685800" y="2393950"/>
            <a:ext cx="77724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5" name="Picture 1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14"/>
          <p:cNvSpPr txBox="1">
            <a:spLocks noChangeArrowheads="1"/>
          </p:cNvSpPr>
          <p:nvPr/>
        </p:nvSpPr>
        <p:spPr bwMode="auto">
          <a:xfrm>
            <a:off x="0" y="6640513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 dirty="0">
                <a:solidFill>
                  <a:schemeClr val="bg1"/>
                </a:solidFill>
                <a:latin typeface="Times New Roman" pitchFamily="18" charset="0"/>
              </a:rPr>
              <a:t>河海大学计算机与软件学院计算机科学与技术系</a:t>
            </a:r>
            <a:endParaRPr kumimoji="1" lang="en-US" altLang="zh-CN" sz="10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sp>
        <p:nvSpPr>
          <p:cNvPr id="144386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990600"/>
            <a:ext cx="7772400" cy="1371600"/>
          </a:xfrm>
        </p:spPr>
        <p:txBody>
          <a:bodyPr/>
          <a:lstStyle>
            <a:lvl1pPr>
              <a:defRPr sz="4000"/>
            </a:lvl1pPr>
          </a:lstStyle>
          <a:p>
            <a:pPr lvl="0"/>
            <a:r>
              <a:rPr lang="zh-CN" altLang="en-US" noProof="0"/>
              <a:t>单击此处编辑母版标题样式</a:t>
            </a:r>
          </a:p>
        </p:txBody>
      </p:sp>
      <p:sp>
        <p:nvSpPr>
          <p:cNvPr id="144387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447800" y="3429000"/>
            <a:ext cx="70104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pic>
        <p:nvPicPr>
          <p:cNvPr id="12" name="Picture 13">
            <a:extLst>
              <a:ext uri="{FF2B5EF4-FFF2-40B4-BE49-F238E27FC236}">
                <a16:creationId xmlns:a16="http://schemas.microsoft.com/office/drawing/2014/main" id="{CA12CFEC-8F23-40EE-BB08-39E6106F69D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 Box 14">
            <a:extLst>
              <a:ext uri="{FF2B5EF4-FFF2-40B4-BE49-F238E27FC236}">
                <a16:creationId xmlns:a16="http://schemas.microsoft.com/office/drawing/2014/main" id="{4EE0A6DA-D0E8-4A02-9743-853085F8BE4E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14" name="Picture 15" descr="邓体字徽（白色透明）">
            <a:extLst>
              <a:ext uri="{FF2B5EF4-FFF2-40B4-BE49-F238E27FC236}">
                <a16:creationId xmlns:a16="http://schemas.microsoft.com/office/drawing/2014/main" id="{95435F50-DC97-4F1F-B09F-FCEEC4F9A4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14500181"/>
      </p:ext>
    </p:extLst>
  </p:cSld>
  <p:clrMapOvr>
    <a:masterClrMapping/>
  </p:clrMapOvr>
  <p:transition spd="slow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025669626"/>
      </p:ext>
    </p:extLst>
  </p:cSld>
  <p:clrMapOvr>
    <a:masterClrMapping/>
  </p:clrMapOvr>
  <p:transition spd="slow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995940305"/>
      </p:ext>
    </p:extLst>
  </p:cSld>
  <p:clrMapOvr>
    <a:masterClrMapping/>
  </p:clrMapOvr>
  <p:transition spd="slow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3438" y="1752600"/>
            <a:ext cx="39243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5542065"/>
      </p:ext>
    </p:extLst>
  </p:cSld>
  <p:clrMapOvr>
    <a:masterClrMapping/>
  </p:clrMapOvr>
  <p:transition spd="slow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531708751"/>
      </p:ext>
    </p:extLst>
  </p:cSld>
  <p:clrMapOvr>
    <a:masterClrMapping/>
  </p:clrMapOvr>
  <p:transition spd="slow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406310047"/>
      </p:ext>
    </p:extLst>
  </p:cSld>
  <p:clrMapOvr>
    <a:masterClrMapping/>
  </p:clrMapOvr>
  <p:transition spd="slow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18993031"/>
      </p:ext>
    </p:extLst>
  </p:cSld>
  <p:clrMapOvr>
    <a:masterClrMapping/>
  </p:clrMapOvr>
  <p:transition spd="slow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906060787"/>
      </p:ext>
    </p:extLst>
  </p:cSld>
  <p:clrMapOvr>
    <a:masterClrMapping/>
  </p:clrMapOvr>
  <p:transition spd="slow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3398635"/>
      </p:ext>
    </p:extLst>
  </p:cSld>
  <p:clrMapOvr>
    <a:masterClrMapping/>
  </p:clrMapOvr>
  <p:transition spd="slow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072362579"/>
      </p:ext>
    </p:extLst>
  </p:cSld>
  <p:clrMapOvr>
    <a:masterClrMapping/>
  </p:clrMapOvr>
  <p:transition spd="slow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838" y="304800"/>
            <a:ext cx="2001837" cy="571500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54700" cy="57150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72024903"/>
      </p:ext>
    </p:extLst>
  </p:cSld>
  <p:clrMapOvr>
    <a:masterClrMapping/>
  </p:clrMapOvr>
  <p:transition spd="slow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1216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566738" y="1752600"/>
            <a:ext cx="3924300" cy="42672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3438" y="17526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3438" y="3962400"/>
            <a:ext cx="3924300" cy="2057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571998898"/>
      </p:ext>
    </p:extLst>
  </p:cSld>
  <p:clrMapOvr>
    <a:masterClrMapping/>
  </p:clrMapOvr>
  <p:transition spd="slow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566738" y="304800"/>
            <a:ext cx="8008937" cy="57150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33719336"/>
      </p:ext>
    </p:extLst>
  </p:cSld>
  <p:clrMapOvr>
    <a:masterClrMapping/>
  </p:clrMapOvr>
  <p:transition spd="slow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151DE1-9CC6-414C-9C9E-0ED20B374263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EBE5EC-D87F-4E6A-B24D-A634D2F4E21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92420418"/>
      </p:ext>
    </p:extLst>
  </p:cSld>
  <p:clrMapOvr>
    <a:masterClrMapping/>
  </p:clrMapOvr>
  <p:transition spd="slow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31029C-BAB1-4165-8F4A-81F1094EEF82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24FCCD-DE05-47B4-82E2-59B6EAA0B8C3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2353197"/>
      </p:ext>
    </p:extLst>
  </p:cSld>
  <p:clrMapOvr>
    <a:masterClrMapping/>
  </p:clrMapOvr>
  <p:transition spd="slow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294BAF-75B6-45BF-8D96-A2B791AF5220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F188FEE-4F88-4327-AEDD-D86CF7A0350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03367686"/>
      </p:ext>
    </p:extLst>
  </p:cSld>
  <p:clrMapOvr>
    <a:masterClrMapping/>
  </p:clrMapOvr>
  <p:transition spd="slow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11D35A-B8BD-42D7-8D2B-E9C336BC1531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F1F47C-3F9B-42A9-B0FD-91A999740A3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453447358"/>
      </p:ext>
    </p:extLst>
  </p:cSld>
  <p:clrMapOvr>
    <a:masterClrMapping/>
  </p:clrMapOvr>
  <p:transition spd="slow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A9D71-5EC2-4C23-9FFE-57BE85536556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4D8601B-A26F-4C4B-B07C-9ED001C7CE27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97313731"/>
      </p:ext>
    </p:extLst>
  </p:cSld>
  <p:clrMapOvr>
    <a:masterClrMapping/>
  </p:clrMapOvr>
  <p:transition spd="slow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D43CFF-A368-47DD-ABD9-B3B318F2C38C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BB4E8-0E61-4155-8076-C5C1E7EFFB4B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44266529"/>
      </p:ext>
    </p:extLst>
  </p:cSld>
  <p:clrMapOvr>
    <a:masterClrMapping/>
  </p:clrMapOvr>
  <p:transition spd="slow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758D1C-75C2-415E-A30E-C633EB8DACFF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46D8B1-5536-4BA0-87FD-071E96D34EA5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317401895"/>
      </p:ext>
    </p:extLst>
  </p:cSld>
  <p:clrMapOvr>
    <a:masterClrMapping/>
  </p:clrMapOvr>
  <p:transition spd="slow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A84E80-374A-4EC7-992E-605220B414B0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440E6F3-F0DF-4FCA-A6CE-684B6FD38042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221455"/>
      </p:ext>
    </p:extLst>
  </p:cSld>
  <p:clrMapOvr>
    <a:masterClrMapping/>
  </p:clrMapOvr>
  <p:transition spd="slow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7FD242-75C5-40AC-BA09-230E72FD108A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4199E1-A5A8-4D20-8803-E97ABB02818F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25472042"/>
      </p:ext>
    </p:extLst>
  </p:cSld>
  <p:clrMapOvr>
    <a:masterClrMapping/>
  </p:clrMapOvr>
  <p:transition spd="slow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3FAB70-0999-4746-8A8F-45E386135005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B6CF27C-B5C2-4D6E-889D-E9F6CC4CC968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24755901"/>
      </p:ext>
    </p:extLst>
  </p:cSld>
  <p:clrMapOvr>
    <a:masterClrMapping/>
  </p:clrMapOvr>
  <p:transition spd="slow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16B26F-B6D1-4488-B46E-AF104EF4B37F}" type="datetime11">
              <a:rPr lang="zh-CN" altLang="en-US"/>
              <a:pPr>
                <a:defRPr/>
              </a:pPr>
              <a:t>21:23:35</a:t>
            </a:fld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273DBF-862F-45C7-8117-6121B57BC44D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11473536"/>
      </p:ext>
    </p:extLst>
  </p:cSld>
  <p:clrMapOvr>
    <a:masterClrMapping/>
  </p:clrMapOvr>
  <p:transition spd="slow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74675" y="304800"/>
            <a:ext cx="8001000" cy="1216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66738" y="1752600"/>
            <a:ext cx="8001000" cy="426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028" name="AutoShape 4"/>
          <p:cNvSpPr>
            <a:spLocks noChangeArrowheads="1"/>
          </p:cNvSpPr>
          <p:nvPr/>
        </p:nvSpPr>
        <p:spPr bwMode="auto">
          <a:xfrm>
            <a:off x="609600" y="1566863"/>
            <a:ext cx="7958138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29" name="Text Box 11"/>
          <p:cNvSpPr txBox="1">
            <a:spLocks noChangeArrowheads="1"/>
          </p:cNvSpPr>
          <p:nvPr/>
        </p:nvSpPr>
        <p:spPr bwMode="auto">
          <a:xfrm>
            <a:off x="0" y="6613525"/>
            <a:ext cx="9144000" cy="244475"/>
          </a:xfrm>
          <a:prstGeom prst="rect">
            <a:avLst/>
          </a:prstGeom>
          <a:solidFill>
            <a:srgbClr val="A5002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algn="ctr" eaLnBrk="1" hangingPunct="1">
              <a:defRPr/>
            </a:pPr>
            <a:r>
              <a:rPr kumimoji="1" lang="zh-CN" altLang="en-US" sz="1000" dirty="0">
                <a:solidFill>
                  <a:schemeClr val="bg1"/>
                </a:solidFill>
                <a:latin typeface="Times New Roman" pitchFamily="18" charset="0"/>
              </a:rPr>
              <a:t>河海大学计算机与软件学院计算机科学与技术系 </a:t>
            </a:r>
            <a:endParaRPr kumimoji="1" lang="en-US" altLang="zh-CN" sz="1000" dirty="0">
              <a:solidFill>
                <a:schemeClr val="bg1"/>
              </a:solidFill>
              <a:latin typeface="Times New Roman" pitchFamily="18" charset="0"/>
            </a:endParaRPr>
          </a:p>
        </p:txBody>
      </p:sp>
      <p:pic>
        <p:nvPicPr>
          <p:cNvPr id="1030" name="Picture 13"/>
          <p:cNvPicPr>
            <a:picLocks noChangeAspect="1" noChangeArrowheads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858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1" name="Text Box 14"/>
          <p:cNvSpPr txBox="1">
            <a:spLocks noChangeArrowheads="1"/>
          </p:cNvSpPr>
          <p:nvPr/>
        </p:nvSpPr>
        <p:spPr bwMode="auto">
          <a:xfrm>
            <a:off x="2484438" y="260350"/>
            <a:ext cx="280828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itchFamily="34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defRPr/>
            </a:pPr>
            <a:r>
              <a:rPr lang="zh-CN" altLang="en-US" sz="2400" b="1" dirty="0">
                <a:solidFill>
                  <a:srgbClr val="F7F7F7"/>
                </a:solidFill>
                <a:ea typeface="楷体_GB2312" pitchFamily="49" charset="-122"/>
              </a:rPr>
              <a:t>计算机与软件学院</a:t>
            </a:r>
          </a:p>
        </p:txBody>
      </p:sp>
      <p:pic>
        <p:nvPicPr>
          <p:cNvPr id="1032" name="Picture 15" descr="邓体字徽（白色透明）"/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388" y="0"/>
            <a:ext cx="2232025" cy="79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08" r:id="rId2"/>
    <p:sldLayoutId id="2147484209" r:id="rId3"/>
    <p:sldLayoutId id="2147484210" r:id="rId4"/>
    <p:sldLayoutId id="2147484211" r:id="rId5"/>
    <p:sldLayoutId id="2147484212" r:id="rId6"/>
    <p:sldLayoutId id="2147484213" r:id="rId7"/>
    <p:sldLayoutId id="2147484214" r:id="rId8"/>
    <p:sldLayoutId id="2147484215" r:id="rId9"/>
    <p:sldLayoutId id="2147484216" r:id="rId10"/>
    <p:sldLayoutId id="2147484217" r:id="rId11"/>
    <p:sldLayoutId id="2147484218" r:id="rId12"/>
    <p:sldLayoutId id="2147484219" r:id="rId13"/>
  </p:sldLayoutIdLst>
  <p:transition spd="slow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  <a:ea typeface="宋体" pitchFamily="2" charset="-122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  <a:ea typeface="+mn-ea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fld id="{74BE2251-F7D0-41B1-8EB3-CD52806284E0}" type="datetime11">
              <a:rPr lang="zh-CN" altLang="en-US"/>
              <a:pPr>
                <a:defRPr/>
              </a:pPr>
              <a:t>21:23:33</a:t>
            </a:fld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kumimoji="1" sz="14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9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kumimoji="1" sz="1400">
                <a:latin typeface="Times New Roman" panose="02020603050405020304" pitchFamily="18" charset="0"/>
              </a:defRPr>
            </a:lvl1pPr>
          </a:lstStyle>
          <a:p>
            <a:pPr>
              <a:defRPr/>
            </a:pPr>
            <a:fld id="{F70B5D3D-571F-4314-B5E1-1A095578045E}" type="slidenum">
              <a:rPr lang="zh-CN" altLang="en-US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20" r:id="rId1"/>
    <p:sldLayoutId id="2147484221" r:id="rId2"/>
    <p:sldLayoutId id="2147484222" r:id="rId3"/>
    <p:sldLayoutId id="2147484223" r:id="rId4"/>
    <p:sldLayoutId id="2147484224" r:id="rId5"/>
    <p:sldLayoutId id="2147484225" r:id="rId6"/>
    <p:sldLayoutId id="2147484226" r:id="rId7"/>
    <p:sldLayoutId id="2147484227" r:id="rId8"/>
    <p:sldLayoutId id="2147484228" r:id="rId9"/>
    <p:sldLayoutId id="2147484229" r:id="rId10"/>
    <p:sldLayoutId id="2147484230" r:id="rId11"/>
  </p:sldLayoutIdLst>
  <p:transition spd="slow"/>
  <p:hf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itchFamily="34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8" name="Text Box 15"/>
          <p:cNvSpPr txBox="1">
            <a:spLocks noChangeArrowheads="1"/>
          </p:cNvSpPr>
          <p:nvPr/>
        </p:nvSpPr>
        <p:spPr bwMode="auto">
          <a:xfrm>
            <a:off x="611188" y="3500438"/>
            <a:ext cx="8208962" cy="628650"/>
          </a:xfrm>
          <a:prstGeom prst="rect">
            <a:avLst/>
          </a:prstGeom>
          <a:noFill/>
          <a:ln>
            <a:noFill/>
          </a:ln>
          <a:effectLst>
            <a:outerShdw dist="35921" dir="2700000" algn="ctr" rotWithShape="0">
              <a:srgbClr val="FFFF0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ct val="80000"/>
              </a:lnSpc>
              <a:spcBef>
                <a:spcPct val="50000"/>
              </a:spcBef>
              <a:buClrTx/>
              <a:buFontTx/>
              <a:buNone/>
            </a:pPr>
            <a:r>
              <a:rPr kumimoji="1" lang="zh-CN" altLang="en-US" sz="4400" b="1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计算机网络</a:t>
            </a: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矩形 1"/>
          <p:cNvSpPr>
            <a:spLocks noChangeArrowheads="1"/>
          </p:cNvSpPr>
          <p:nvPr/>
        </p:nvSpPr>
        <p:spPr bwMode="auto">
          <a:xfrm>
            <a:off x="2627784" y="3068960"/>
            <a:ext cx="3600400" cy="635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Verdan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indent="0">
              <a:lnSpc>
                <a:spcPct val="120000"/>
              </a:lnSpc>
            </a:pPr>
            <a:r>
              <a:rPr lang="en-US" altLang="zh-CN" sz="3200" dirty="0">
                <a:solidFill>
                  <a:srgbClr val="333333"/>
                </a:solidFill>
                <a:latin typeface="PingFang SC"/>
              </a:rPr>
              <a:t>IEEE802.5 </a:t>
            </a:r>
            <a:r>
              <a:rPr lang="zh-CN" altLang="en-US" sz="3200" dirty="0">
                <a:solidFill>
                  <a:srgbClr val="333333"/>
                </a:solidFill>
                <a:latin typeface="PingFang SC"/>
              </a:rPr>
              <a:t>令牌环网</a:t>
            </a:r>
            <a:endParaRPr lang="zh-CN" altLang="en-US" sz="3200" dirty="0"/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A1382-20AB-4C1F-967E-D5051A9291FF}"/>
              </a:ext>
            </a:extLst>
          </p:cNvPr>
          <p:cNvSpPr txBox="1"/>
          <p:nvPr/>
        </p:nvSpPr>
        <p:spPr>
          <a:xfrm>
            <a:off x="467544" y="1916832"/>
            <a:ext cx="7776864" cy="9432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400" b="0" i="0" dirty="0">
                <a:solidFill>
                  <a:srgbClr val="19232E"/>
                </a:solidFill>
                <a:effectLst/>
                <a:latin typeface="PingFang SC"/>
              </a:rPr>
              <a:t>令牌环网是一种基于</a:t>
            </a:r>
            <a:r>
              <a:rPr lang="zh-CN" altLang="en-US" sz="2400" dirty="0">
                <a:solidFill>
                  <a:srgbClr val="426FC4"/>
                </a:solidFill>
                <a:latin typeface="PingFang SC"/>
              </a:rPr>
              <a:t>环形拓扑</a:t>
            </a:r>
            <a:r>
              <a:rPr lang="zh-CN" altLang="en-US" sz="2400" b="0" i="0" dirty="0">
                <a:solidFill>
                  <a:srgbClr val="19232E"/>
                </a:solidFill>
                <a:effectLst/>
                <a:latin typeface="PingFang SC"/>
              </a:rPr>
              <a:t>的局域网结构，其工作原理主要依赖于令牌的传递。</a:t>
            </a:r>
            <a:endParaRPr lang="en-US" altLang="zh-CN" sz="2400" b="0" i="0" dirty="0">
              <a:solidFill>
                <a:srgbClr val="19232E"/>
              </a:solidFill>
              <a:effectLst/>
              <a:latin typeface="PingFang SC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D7408-2189-48FE-BB57-55994617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9872" y="2852936"/>
            <a:ext cx="5125461" cy="288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9378813"/>
      </p:ext>
    </p:extLst>
  </p:cSld>
  <p:clrMapOvr>
    <a:masterClrMapping/>
  </p:clrMapOvr>
  <p:transition spd="slow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A1382-20AB-4C1F-967E-D5051A9291FF}"/>
              </a:ext>
            </a:extLst>
          </p:cNvPr>
          <p:cNvSpPr txBox="1"/>
          <p:nvPr/>
        </p:nvSpPr>
        <p:spPr>
          <a:xfrm>
            <a:off x="611560" y="980728"/>
            <a:ext cx="2232248" cy="5749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站点的接入</a:t>
            </a:r>
            <a:endParaRPr lang="en-US" altLang="zh-CN" sz="2800" b="0" i="0" dirty="0">
              <a:solidFill>
                <a:srgbClr val="19232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D7408-2189-48FE-BB57-55994617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9912" y="2861202"/>
            <a:ext cx="5125461" cy="28803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17E6C6-1C7C-42DB-AEF3-B79C2F6B1FFC}"/>
              </a:ext>
            </a:extLst>
          </p:cNvPr>
          <p:cNvSpPr txBox="1"/>
          <p:nvPr/>
        </p:nvSpPr>
        <p:spPr>
          <a:xfrm>
            <a:off x="611560" y="1783550"/>
            <a:ext cx="8136904" cy="18296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b="0" i="0" dirty="0">
                <a:solidFill>
                  <a:srgbClr val="19232E"/>
                </a:solidFill>
                <a:effectLst/>
                <a:latin typeface="PingFang SC"/>
              </a:rPr>
              <a:t>每个站点从过绿色的网络适配器接入网络，该网络适配器从一端接收数据帧，从另一端转发，从而让数据帧在环中流动。数据帧不会直接在环中流动，而是经过环中的所有站点的接力才在环中流动。</a:t>
            </a:r>
            <a:endParaRPr lang="en-US" altLang="zh-CN" sz="2400" b="0" i="0" dirty="0">
              <a:solidFill>
                <a:srgbClr val="19232E"/>
              </a:solidFill>
              <a:effectLst/>
              <a:latin typeface="PingFang SC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30C300BE-93B6-4D49-9022-01C9A0BFD728}"/>
              </a:ext>
            </a:extLst>
          </p:cNvPr>
          <p:cNvCxnSpPr/>
          <p:nvPr/>
        </p:nvCxnSpPr>
        <p:spPr bwMode="auto">
          <a:xfrm flipH="1">
            <a:off x="4843264" y="4365104"/>
            <a:ext cx="167134" cy="432048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F0E3F424-02F3-4E81-8C23-E8674D9E2112}"/>
              </a:ext>
            </a:extLst>
          </p:cNvPr>
          <p:cNvCxnSpPr/>
          <p:nvPr/>
        </p:nvCxnSpPr>
        <p:spPr bwMode="auto">
          <a:xfrm>
            <a:off x="4972546" y="5157192"/>
            <a:ext cx="319534" cy="36004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8EF952CA-456B-4276-8CE3-4B454E817A45}"/>
              </a:ext>
            </a:extLst>
          </p:cNvPr>
          <p:cNvCxnSpPr/>
          <p:nvPr/>
        </p:nvCxnSpPr>
        <p:spPr bwMode="auto">
          <a:xfrm flipV="1">
            <a:off x="7380312" y="5337212"/>
            <a:ext cx="360040" cy="296298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18461929-B2A0-475B-A027-C8181F35F9B5}"/>
              </a:ext>
            </a:extLst>
          </p:cNvPr>
          <p:cNvCxnSpPr/>
          <p:nvPr/>
        </p:nvCxnSpPr>
        <p:spPr bwMode="auto">
          <a:xfrm flipV="1">
            <a:off x="7884368" y="4653136"/>
            <a:ext cx="144016" cy="411466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2398730355"/>
      </p:ext>
    </p:extLst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A1382-20AB-4C1F-967E-D5051A9291FF}"/>
              </a:ext>
            </a:extLst>
          </p:cNvPr>
          <p:cNvSpPr txBox="1"/>
          <p:nvPr/>
        </p:nvSpPr>
        <p:spPr>
          <a:xfrm>
            <a:off x="611560" y="1009021"/>
            <a:ext cx="2232248" cy="567912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80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令牌</a:t>
            </a:r>
            <a:endParaRPr lang="en-US" altLang="zh-CN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D7408-2189-48FE-BB57-55994617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8946" y="0"/>
            <a:ext cx="5165054" cy="290257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17E6C6-1C7C-42DB-AEF3-B79C2F6B1FFC}"/>
              </a:ext>
            </a:extLst>
          </p:cNvPr>
          <p:cNvSpPr txBox="1"/>
          <p:nvPr/>
        </p:nvSpPr>
        <p:spPr>
          <a:xfrm>
            <a:off x="143508" y="2996952"/>
            <a:ext cx="8856984" cy="36023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solidFill>
                  <a:srgbClr val="19232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令牌是一种特殊的数据帧，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一个令牌环网中只有一个令牌帧</a:t>
            </a: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在环中传递。</a:t>
            </a:r>
            <a:endParaRPr lang="en-US" altLang="zh-CN" sz="24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solidFill>
                  <a:srgbClr val="0070C0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占有令牌的站点可以发数据，没有令牌的站点不可以发数据</a:t>
            </a:r>
            <a:r>
              <a:rPr lang="zh-CN" altLang="en-US" sz="2400" b="0" i="0" dirty="0">
                <a:solidFill>
                  <a:srgbClr val="19232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lang="en-US" altLang="zh-CN" sz="2400" b="0" i="0" dirty="0">
              <a:solidFill>
                <a:srgbClr val="19232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站点想要发送数据，只有等到令牌帧到达该站点时，该站点不转发令牌帧，从而占有令牌帧，然后发送数据帧。当数据发送完或者占用令牌的时间到，将令牌转发给下一个站点。如果数据没有发送完，那么下次当令牌再次转到该站点时，该站点再占有令牌，发送数据。</a:t>
            </a:r>
            <a:endParaRPr lang="en-US" altLang="zh-CN" sz="2400" b="0" i="0" dirty="0">
              <a:solidFill>
                <a:srgbClr val="19232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D396D78E-01E5-4668-964C-9AFB8D4AA50B}"/>
              </a:ext>
            </a:extLst>
          </p:cNvPr>
          <p:cNvCxnSpPr/>
          <p:nvPr/>
        </p:nvCxnSpPr>
        <p:spPr bwMode="auto">
          <a:xfrm flipH="1">
            <a:off x="5076056" y="1494855"/>
            <a:ext cx="167134" cy="432048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9D108FAA-CDF6-400D-A8DE-FB395154893C}"/>
              </a:ext>
            </a:extLst>
          </p:cNvPr>
          <p:cNvCxnSpPr/>
          <p:nvPr/>
        </p:nvCxnSpPr>
        <p:spPr bwMode="auto">
          <a:xfrm>
            <a:off x="5205338" y="2286943"/>
            <a:ext cx="319534" cy="36004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1885022744"/>
      </p:ext>
    </p:extLst>
  </p:cSld>
  <p:clrMapOvr>
    <a:masterClrMapping/>
  </p:clrMapOvr>
  <p:transition spd="slow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3CA1382-20AB-4C1F-967E-D5051A9291FF}"/>
              </a:ext>
            </a:extLst>
          </p:cNvPr>
          <p:cNvSpPr txBox="1"/>
          <p:nvPr/>
        </p:nvSpPr>
        <p:spPr>
          <a:xfrm>
            <a:off x="539552" y="980728"/>
            <a:ext cx="3672408" cy="567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数据帧的发送和接收</a:t>
            </a:r>
            <a:endParaRPr lang="en-US" altLang="zh-CN" sz="28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074D7408-2189-48FE-BB57-5599461769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35753" y="44624"/>
            <a:ext cx="5125461" cy="2880320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B17E6C6-1C7C-42DB-AEF3-B79C2F6B1FFC}"/>
              </a:ext>
            </a:extLst>
          </p:cNvPr>
          <p:cNvSpPr txBox="1"/>
          <p:nvPr/>
        </p:nvSpPr>
        <p:spPr>
          <a:xfrm>
            <a:off x="395536" y="3212976"/>
            <a:ext cx="8538914" cy="27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当一个站点占有令牌时，其可以发送数据。</a:t>
            </a:r>
            <a:endParaRPr lang="en-US" altLang="zh-CN" sz="24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b="0" i="0" dirty="0">
                <a:solidFill>
                  <a:srgbClr val="19232E"/>
                </a:solidFill>
                <a:effectLst/>
                <a:latin typeface="微软雅黑" panose="020B0503020204020204" pitchFamily="34" charset="-122"/>
                <a:ea typeface="微软雅黑" panose="020B0503020204020204" pitchFamily="34" charset="-122"/>
              </a:rPr>
              <a:t>数据帧是逐帧发送的，当一个数据帧从源站点开始，绕环一周，回到源站点时，源站点回收，然后发送下一个数据帧。</a:t>
            </a:r>
            <a:endParaRPr lang="en-US" altLang="zh-CN" sz="2400" b="0" i="0" dirty="0">
              <a:solidFill>
                <a:srgbClr val="19232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20000"/>
              </a:lnSpc>
              <a:buFont typeface="Wingdings" panose="05000000000000000000" pitchFamily="2" charset="2"/>
              <a:buChar char="l"/>
            </a:pP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每个站点从网络适配器的一端接收数据帧，同时从另一端转发数据帧；然后检查帧中的目的地址，判断自己是否需要接收，如果需要接收，则继续对帧处理，否则抛弃。</a:t>
            </a:r>
            <a:endParaRPr lang="en-US" altLang="zh-CN" sz="2400" b="0" i="0" dirty="0">
              <a:solidFill>
                <a:srgbClr val="19232E"/>
              </a:solidFill>
              <a:effectLst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20B359E8-1E05-47CA-A6C5-85C48896383F}"/>
              </a:ext>
            </a:extLst>
          </p:cNvPr>
          <p:cNvCxnSpPr/>
          <p:nvPr/>
        </p:nvCxnSpPr>
        <p:spPr bwMode="auto">
          <a:xfrm flipH="1">
            <a:off x="5148064" y="1484784"/>
            <a:ext cx="167134" cy="432048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DB4914D4-54D5-4CEA-A7AC-B3EEB64ED1C3}"/>
              </a:ext>
            </a:extLst>
          </p:cNvPr>
          <p:cNvCxnSpPr/>
          <p:nvPr/>
        </p:nvCxnSpPr>
        <p:spPr bwMode="auto">
          <a:xfrm>
            <a:off x="5277346" y="2276872"/>
            <a:ext cx="319534" cy="360040"/>
          </a:xfrm>
          <a:prstGeom prst="straightConnector1">
            <a:avLst/>
          </a:prstGeom>
          <a:solidFill>
            <a:schemeClr val="accent1"/>
          </a:solidFill>
          <a:ln w="6350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  <p:extLst>
      <p:ext uri="{BB962C8B-B14F-4D97-AF65-F5344CB8AC3E}">
        <p14:creationId xmlns:p14="http://schemas.microsoft.com/office/powerpoint/2010/main" val="3565073272"/>
      </p:ext>
    </p:extLst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39157F-A772-47C3-8980-61778E59086A}"/>
              </a:ext>
            </a:extLst>
          </p:cNvPr>
          <p:cNvSpPr txBox="1"/>
          <p:nvPr/>
        </p:nvSpPr>
        <p:spPr>
          <a:xfrm>
            <a:off x="539552" y="980728"/>
            <a:ext cx="280831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令牌的占有时限</a:t>
            </a:r>
            <a:endParaRPr lang="en-US" altLang="zh-CN" sz="28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AA5C68-EF2A-4705-AE19-B11941D40B98}"/>
              </a:ext>
            </a:extLst>
          </p:cNvPr>
          <p:cNvSpPr txBox="1"/>
          <p:nvPr/>
        </p:nvSpPr>
        <p:spPr>
          <a:xfrm>
            <a:off x="467544" y="1916832"/>
            <a:ext cx="8424936" cy="3150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每个站点占有令牌的时间有限制为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t, </a:t>
            </a: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如果一个站点占有令牌的时间超过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了，但是数据没有发送完，那么该站点必须将令牌转发给下一个站点，让后面的站点有机会发送数据。当令牌再次流转到本站点，可以继续占有令牌发送数据，如果数据还是没有发送完，必须再次转发令牌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964143769"/>
      </p:ext>
    </p:extLst>
  </p:cSld>
  <p:clrMapOvr>
    <a:masterClrMapping/>
  </p:clrMapOvr>
  <p:transition spd="slow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39157F-A772-47C3-8980-61778E59086A}"/>
              </a:ext>
            </a:extLst>
          </p:cNvPr>
          <p:cNvSpPr txBox="1"/>
          <p:nvPr/>
        </p:nvSpPr>
        <p:spPr>
          <a:xfrm>
            <a:off x="539552" y="980728"/>
            <a:ext cx="280831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令牌的占有时限</a:t>
            </a:r>
            <a:endParaRPr lang="en-US" altLang="zh-CN" sz="28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AA5C68-EF2A-4705-AE19-B11941D40B98}"/>
              </a:ext>
            </a:extLst>
          </p:cNvPr>
          <p:cNvSpPr txBox="1"/>
          <p:nvPr/>
        </p:nvSpPr>
        <p:spPr>
          <a:xfrm>
            <a:off x="467544" y="1916832"/>
            <a:ext cx="8424936" cy="31509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每个站点占有令牌的时间有限制为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t, </a:t>
            </a: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如果一个站点占有令牌的时间超过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</a:t>
            </a: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了，但是数据没有发送完，那么该站点必须将令牌转发给下一个站点，让后面的站点有机会发送数据。当令牌再次流转到本站点，可以继续占有令牌发送数据，如果数据还是没有发送完，必须再次转发令牌</a:t>
            </a:r>
            <a:r>
              <a:rPr lang="en-US" altLang="zh-CN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215D8A6-C42B-47A9-96CE-48FC45287A06}"/>
              </a:ext>
            </a:extLst>
          </p:cNvPr>
          <p:cNvSpPr txBox="1"/>
          <p:nvPr/>
        </p:nvSpPr>
        <p:spPr>
          <a:xfrm>
            <a:off x="445046" y="5229200"/>
            <a:ext cx="842493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令牌环网能够实现一定的实时数据发送，假设每个站点占有令牌的时限为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t,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网络中最多有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个站点，那么每个站点在释放令牌后，最后（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N-1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lang="en-US" altLang="zh-CN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*t </a:t>
            </a:r>
            <a:r>
              <a:rPr lang="zh-CN" altLang="en-US" sz="2400" dirty="0">
                <a:solidFill>
                  <a:srgbClr val="0070C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时间后会再次得到令牌。</a:t>
            </a:r>
            <a:endParaRPr lang="zh-CN" altLang="en-US" sz="2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47475521"/>
      </p:ext>
    </p:extLst>
  </p:cSld>
  <p:clrMapOvr>
    <a:masterClrMapping/>
  </p:clrMapOvr>
  <p:transition spd="slow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D139157F-A772-47C3-8980-61778E59086A}"/>
              </a:ext>
            </a:extLst>
          </p:cNvPr>
          <p:cNvSpPr txBox="1"/>
          <p:nvPr/>
        </p:nvSpPr>
        <p:spPr>
          <a:xfrm>
            <a:off x="539552" y="980728"/>
            <a:ext cx="2808312" cy="5656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令牌的产生</a:t>
            </a:r>
            <a:endParaRPr lang="en-US" altLang="zh-CN" sz="28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0AA5C68-EF2A-4705-AE19-B11941D40B98}"/>
              </a:ext>
            </a:extLst>
          </p:cNvPr>
          <p:cNvSpPr txBox="1"/>
          <p:nvPr/>
        </p:nvSpPr>
        <p:spPr>
          <a:xfrm>
            <a:off x="467544" y="1916832"/>
            <a:ext cx="8424936" cy="13843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20000"/>
              </a:lnSpc>
            </a:pP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网络中有一台令牌服务器专门负责产生令牌，如果该服务器经过</a:t>
            </a:r>
            <a:r>
              <a:rPr lang="en-US" altLang="zh-CN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(N-1)*t</a:t>
            </a:r>
            <a:r>
              <a:rPr lang="zh-CN" altLang="en-US" sz="2400" dirty="0">
                <a:solidFill>
                  <a:srgbClr val="19232E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时间没有接收到令牌，就自动产生一个令牌放到网络中。</a:t>
            </a:r>
            <a:endParaRPr lang="en-US" altLang="zh-CN" sz="2400" dirty="0">
              <a:solidFill>
                <a:srgbClr val="19232E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649743016"/>
      </p:ext>
    </p:extLst>
  </p:cSld>
  <p:clrMapOvr>
    <a:masterClrMapping/>
  </p:clrMapOvr>
  <p:transition spd="slow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6BDCD833-37D8-4BCF-A7CA-C2BF2844869B}"/>
              </a:ext>
            </a:extLst>
          </p:cNvPr>
          <p:cNvSpPr txBox="1"/>
          <p:nvPr/>
        </p:nvSpPr>
        <p:spPr>
          <a:xfrm>
            <a:off x="395536" y="1052736"/>
            <a:ext cx="8280920" cy="1938992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下列关于令牌环网络的描述中，错误的是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solidFill>
                  <a:srgbClr val="0070C0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令牌环网络存在冲突的可能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同一时刻，环上只有一个结点的数据在传输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，网上所有结点共享网络带宽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数据从一个结点到另一结点的时间可以计算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F21B884-C692-44B7-A5CB-0B9A7D18ABE3}"/>
              </a:ext>
            </a:extLst>
          </p:cNvPr>
          <p:cNvSpPr txBox="1"/>
          <p:nvPr/>
        </p:nvSpPr>
        <p:spPr>
          <a:xfrm>
            <a:off x="323528" y="3356992"/>
            <a:ext cx="784887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2.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与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CSMA/CD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网络相比，令牌环网络更适合的环境是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负载轻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负载重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距离远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距离近</a:t>
            </a:r>
          </a:p>
        </p:txBody>
      </p:sp>
    </p:spTree>
    <p:extLst>
      <p:ext uri="{BB962C8B-B14F-4D97-AF65-F5344CB8AC3E}">
        <p14:creationId xmlns:p14="http://schemas.microsoft.com/office/powerpoint/2010/main" val="1690096954"/>
      </p:ext>
    </p:extLst>
  </p:cSld>
  <p:clrMapOvr>
    <a:masterClrMapping/>
  </p:clrMapOvr>
  <p:transition spd="slow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76A8750-9539-4B62-9354-05EB3E6A52C5}"/>
              </a:ext>
            </a:extLst>
          </p:cNvPr>
          <p:cNvSpPr txBox="1"/>
          <p:nvPr/>
        </p:nvSpPr>
        <p:spPr>
          <a:xfrm>
            <a:off x="344662" y="980728"/>
            <a:ext cx="8784976" cy="2677656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3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下列关于令牌环网络的说法中，不正确的是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信道的利用率比较公平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重负载下信道利用率高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III.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结点可以一直持有令牌，直至所要发送的数据传输完毕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IV.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结点只能持有令牌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-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段固定的时间，对于没有数据要发送的结点也是如此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A.1    B.II    </a:t>
            </a:r>
            <a:r>
              <a:rPr lang="en-US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C.III</a:t>
            </a:r>
            <a:r>
              <a:rPr lang="zh-CN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和</a:t>
            </a:r>
            <a:r>
              <a:rPr lang="en-US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IV 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    D. IV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70128F4-C1CD-4AED-AD9D-1F8C26DA86B7}"/>
              </a:ext>
            </a:extLst>
          </p:cNvPr>
          <p:cNvSpPr txBox="1"/>
          <p:nvPr/>
        </p:nvSpPr>
        <p:spPr>
          <a:xfrm>
            <a:off x="251520" y="4149080"/>
            <a:ext cx="8568952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4 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在令牌环网络中，当所有站点都有数据帧要发送时，一个站点在最坏情况下等待获得令牌和发送数据帧的时间等于</a:t>
            </a: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(   )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A.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所有站点传送令牌的时间总和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B.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400" kern="100" dirty="0">
                <a:solidFill>
                  <a:srgbClr val="4472C4"/>
                </a:solidFill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所有站点传送令牌和发送帧的时间总和</a:t>
            </a:r>
            <a:endParaRPr lang="zh-CN" altLang="zh-CN" sz="2400" kern="100" dirty="0">
              <a:effectLst/>
              <a:latin typeface="等线" panose="02010600030101010101" pitchFamily="2" charset="-122"/>
              <a:ea typeface="等线" panose="02010600030101010101" pitchFamily="2" charset="-122"/>
              <a:cs typeface="Times New Roman" panose="02020603050405020304" pitchFamily="18" charset="0"/>
            </a:endParaRP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C.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所有站点传送令牌的时间总和的一半</a:t>
            </a:r>
          </a:p>
          <a:p>
            <a:pPr algn="just">
              <a:tabLst>
                <a:tab pos="457200" algn="l"/>
              </a:tabLst>
            </a:pPr>
            <a:r>
              <a:rPr lang="en-US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D.</a:t>
            </a:r>
            <a:r>
              <a:rPr lang="zh-CN" altLang="en-US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其他</a:t>
            </a:r>
            <a:r>
              <a:rPr lang="zh-CN" altLang="zh-CN" sz="2400" kern="100" dirty="0">
                <a:effectLst/>
                <a:latin typeface="等线" panose="02010600030101010101" pitchFamily="2" charset="-122"/>
                <a:ea typeface="等线" panose="02010600030101010101" pitchFamily="2" charset="-122"/>
                <a:cs typeface="Times New Roman" panose="02020603050405020304" pitchFamily="18" charset="0"/>
              </a:rPr>
              <a:t>所有站点传送令牌和发送顿的时间总和的一半</a:t>
            </a:r>
          </a:p>
        </p:txBody>
      </p:sp>
    </p:spTree>
    <p:extLst>
      <p:ext uri="{BB962C8B-B14F-4D97-AF65-F5344CB8AC3E}">
        <p14:creationId xmlns:p14="http://schemas.microsoft.com/office/powerpoint/2010/main" val="591299644"/>
      </p:ext>
    </p:extLst>
  </p:cSld>
  <p:clrMapOvr>
    <a:masterClrMapping/>
  </p:clrMapOvr>
  <p:transition spd="slow"/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自定义设计方案">
  <a:themeElements>
    <a:clrScheme name="自定义设计方案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自定义设计方案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  <a:ea typeface="宋体" pitchFamily="2" charset="-122"/>
          </a:defRPr>
        </a:defPPr>
      </a:lstStyle>
    </a:lnDef>
  </a:objectDefaults>
  <a:extraClrSchemeLst>
    <a:extraClrScheme>
      <a:clrScheme name="自定义设计方案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自定义设计方案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自定义设计方案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Profile</Template>
  <TotalTime>5163</TotalTime>
  <Words>830</Words>
  <Application>Microsoft Office PowerPoint</Application>
  <PresentationFormat>全屏显示(4:3)</PresentationFormat>
  <Paragraphs>63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PingFang SC</vt:lpstr>
      <vt:lpstr>等线</vt:lpstr>
      <vt:lpstr>黑体</vt:lpstr>
      <vt:lpstr>微软雅黑</vt:lpstr>
      <vt:lpstr>Arial</vt:lpstr>
      <vt:lpstr>Times New Roman</vt:lpstr>
      <vt:lpstr>Verdana</vt:lpstr>
      <vt:lpstr>Wingdings</vt:lpstr>
      <vt:lpstr>Profile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Administrator</dc:creator>
  <cp:lastModifiedBy>wangjimin</cp:lastModifiedBy>
  <cp:revision>838</cp:revision>
  <dcterms:created xsi:type="dcterms:W3CDTF">1601-01-01T00:00:00Z</dcterms:created>
  <dcterms:modified xsi:type="dcterms:W3CDTF">2026-02-24T13:25:04Z</dcterms:modified>
</cp:coreProperties>
</file>