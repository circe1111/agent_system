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1" r:id="rId1"/>
    <p:sldMasterId id="2147483733" r:id="rId2"/>
  </p:sldMasterIdLst>
  <p:notesMasterIdLst>
    <p:notesMasterId r:id="rId21"/>
  </p:notesMasterIdLst>
  <p:handoutMasterIdLst>
    <p:handoutMasterId r:id="rId22"/>
  </p:handoutMasterIdLst>
  <p:sldIdLst>
    <p:sldId id="258" r:id="rId3"/>
    <p:sldId id="397" r:id="rId4"/>
    <p:sldId id="513" r:id="rId5"/>
    <p:sldId id="499" r:id="rId6"/>
    <p:sldId id="514" r:id="rId7"/>
    <p:sldId id="500" r:id="rId8"/>
    <p:sldId id="501" r:id="rId9"/>
    <p:sldId id="402" r:id="rId10"/>
    <p:sldId id="502" r:id="rId11"/>
    <p:sldId id="403" r:id="rId12"/>
    <p:sldId id="503" r:id="rId13"/>
    <p:sldId id="512" r:id="rId14"/>
    <p:sldId id="504" r:id="rId15"/>
    <p:sldId id="509" r:id="rId16"/>
    <p:sldId id="511" r:id="rId17"/>
    <p:sldId id="508" r:id="rId18"/>
    <p:sldId id="507" r:id="rId19"/>
    <p:sldId id="633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0E8"/>
    <a:srgbClr val="CC0000"/>
    <a:srgbClr val="FF9933"/>
    <a:srgbClr val="FFCC00"/>
    <a:srgbClr val="516FA7"/>
    <a:srgbClr val="F7F7F7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21" autoAdjust="0"/>
    <p:restoredTop sz="89708" autoAdjust="0"/>
  </p:normalViewPr>
  <p:slideViewPr>
    <p:cSldViewPr>
      <p:cViewPr varScale="1">
        <p:scale>
          <a:sx n="96" d="100"/>
          <a:sy n="96" d="100"/>
        </p:scale>
        <p:origin x="101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0"/>
    </p:cViewPr>
  </p:sorterViewPr>
  <p:notesViewPr>
    <p:cSldViewPr>
      <p:cViewPr varScale="1">
        <p:scale>
          <a:sx n="72" d="100"/>
          <a:sy n="72" d="100"/>
        </p:scale>
        <p:origin x="2940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46FB328B-197A-4B5E-8E0A-6BBA7FBB9D29}" type="datetime1">
              <a:rPr lang="zh-CN" altLang="en-US"/>
              <a:pPr>
                <a:defRPr/>
              </a:pPr>
              <a:t>2026/2/24</a:t>
            </a:fld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9A42138-C994-49EF-A283-6184D68247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8110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A1B271D-B777-44D7-8CB0-1A593015FA8F}" type="datetime1">
              <a:rPr lang="zh-CN" altLang="en-US"/>
              <a:pPr>
                <a:defRPr/>
              </a:pPr>
              <a:t>2026/2/24</a:t>
            </a:fld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1D1DC59-A4A7-4662-BC1C-7CD6D9FF67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45730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897E6D-2AF2-44B4-98D3-09E6BC5BC8B3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D73E4E-D11D-4344-AEEA-3472FF32EC0D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7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7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150EA2-D50B-4E59-B84B-13774C1ABCC7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642A50-92AE-42BE-80B9-F73E923EAD33}" type="slidenum">
              <a:rPr lang="zh-CN" altLang="en-US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656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E3B4F2-4775-4C89-90D3-05AB2BC0E8A0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B2AE3EC-CF84-4D42-9ED2-8C4CBFE124DD}" type="slidenum">
              <a:rPr lang="zh-CN" altLang="en-US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567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73A7C4-D264-4BD8-A8BC-544783F672E9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D35591-6CA7-4BC4-A440-198257D1B4DD}" type="slidenum">
              <a:rPr lang="zh-CN" altLang="en-US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276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55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C9F7D74-1194-419A-A319-043903E3D26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296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93276E-B029-4831-A4B4-C7A194B55261}" type="slidenum">
              <a:rPr lang="zh-CN" altLang="en-US" smtClean="0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29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2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6" y="3413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7" name="Picture 15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A6CAA91B-900F-49C7-8ECE-948BFD3F9C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3">
            <a:extLst>
              <a:ext uri="{FF2B5EF4-FFF2-40B4-BE49-F238E27FC236}">
                <a16:creationId xmlns:a16="http://schemas.microsoft.com/office/drawing/2014/main" id="{73462BD5-C2EE-410F-83E9-903F18AE65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10" name="Picture 15" descr="邓体字徽（白色透明）">
            <a:extLst>
              <a:ext uri="{FF2B5EF4-FFF2-40B4-BE49-F238E27FC236}">
                <a16:creationId xmlns:a16="http://schemas.microsoft.com/office/drawing/2014/main" id="{51ABCF3A-D9DE-45B0-811E-86F2F646C7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319476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2924944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BA119C60-536C-4FD6-B875-BDB559E133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06FCB92D-88F0-4D3E-8B07-8D257B89E6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6" name="Picture 15" descr="邓体字徽（白色透明）">
            <a:extLst>
              <a:ext uri="{FF2B5EF4-FFF2-40B4-BE49-F238E27FC236}">
                <a16:creationId xmlns:a16="http://schemas.microsoft.com/office/drawing/2014/main" id="{32E07E1E-3AE7-4AF1-BDC2-2A6754C90A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-24847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481192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FD0D26A3-18CF-4DFF-9B9E-ACD7C42216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774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34AE6532-6C03-4BA2-81FC-7B6405FFBE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6" name="Picture 15" descr="邓体字徽（白色透明）">
            <a:extLst>
              <a:ext uri="{FF2B5EF4-FFF2-40B4-BE49-F238E27FC236}">
                <a16:creationId xmlns:a16="http://schemas.microsoft.com/office/drawing/2014/main" id="{B0B85D5F-7BD7-4A0A-8C6D-4457ADF9CE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0051929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2E7EEB2F-24B2-47B4-85EB-A16A267FEE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3">
            <a:extLst>
              <a:ext uri="{FF2B5EF4-FFF2-40B4-BE49-F238E27FC236}">
                <a16:creationId xmlns:a16="http://schemas.microsoft.com/office/drawing/2014/main" id="{B63B7874-6B6F-4322-9A6D-A36F05BC13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839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7" name="Picture 15" descr="邓体字徽（白色透明）">
            <a:extLst>
              <a:ext uri="{FF2B5EF4-FFF2-40B4-BE49-F238E27FC236}">
                <a16:creationId xmlns:a16="http://schemas.microsoft.com/office/drawing/2014/main" id="{7178FD6F-F239-4CDA-821D-30C8EFFF9A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14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19465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A5B2CE4C-FEA4-483E-987A-1C749E044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3">
            <a:extLst>
              <a:ext uri="{FF2B5EF4-FFF2-40B4-BE49-F238E27FC236}">
                <a16:creationId xmlns:a16="http://schemas.microsoft.com/office/drawing/2014/main" id="{A32A7520-F13D-4E83-8987-6B96DD5E35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9" name="Picture 15" descr="邓体字徽（白色透明）">
            <a:extLst>
              <a:ext uri="{FF2B5EF4-FFF2-40B4-BE49-F238E27FC236}">
                <a16:creationId xmlns:a16="http://schemas.microsoft.com/office/drawing/2014/main" id="{115637BD-B11A-44EA-BF9F-AE8EE7529D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259252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916832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8ECA5F74-A219-4E10-BF45-A40827FBE5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3">
            <a:extLst>
              <a:ext uri="{FF2B5EF4-FFF2-40B4-BE49-F238E27FC236}">
                <a16:creationId xmlns:a16="http://schemas.microsoft.com/office/drawing/2014/main" id="{9A89C752-D994-4DF1-9606-F79938FD02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5" name="Picture 15" descr="邓体字徽（白色透明）">
            <a:extLst>
              <a:ext uri="{FF2B5EF4-FFF2-40B4-BE49-F238E27FC236}">
                <a16:creationId xmlns:a16="http://schemas.microsoft.com/office/drawing/2014/main" id="{B47A1ABC-BE8D-4210-B7DB-7BFED39C0B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42765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5A1CF4F-E3FE-4C4E-9D6B-51234D695A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3">
            <a:extLst>
              <a:ext uri="{FF2B5EF4-FFF2-40B4-BE49-F238E27FC236}">
                <a16:creationId xmlns:a16="http://schemas.microsoft.com/office/drawing/2014/main" id="{2194F328-780C-4A7E-9E1F-407B1665B9A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4" name="Picture 15" descr="邓体字徽（白色透明）">
            <a:extLst>
              <a:ext uri="{FF2B5EF4-FFF2-40B4-BE49-F238E27FC236}">
                <a16:creationId xmlns:a16="http://schemas.microsoft.com/office/drawing/2014/main" id="{4432A089-9794-47F7-9361-2834E7329D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82877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FFE725D7-F006-46E0-8E84-BD75FCBA10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3">
            <a:extLst>
              <a:ext uri="{FF2B5EF4-FFF2-40B4-BE49-F238E27FC236}">
                <a16:creationId xmlns:a16="http://schemas.microsoft.com/office/drawing/2014/main" id="{14C20F2F-E4B9-42B7-8064-51C6C83713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246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7" name="Picture 15" descr="邓体字徽（白色透明）">
            <a:extLst>
              <a:ext uri="{FF2B5EF4-FFF2-40B4-BE49-F238E27FC236}">
                <a16:creationId xmlns:a16="http://schemas.microsoft.com/office/drawing/2014/main" id="{896C86D6-965C-4F05-8A2A-B583770159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3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008420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DD966464-2F44-4CE0-95C7-FE98CDBB90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3">
            <a:extLst>
              <a:ext uri="{FF2B5EF4-FFF2-40B4-BE49-F238E27FC236}">
                <a16:creationId xmlns:a16="http://schemas.microsoft.com/office/drawing/2014/main" id="{DB006484-3ACC-463C-8011-8287E14B6B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7" name="Picture 15" descr="邓体字徽（白色透明）">
            <a:extLst>
              <a:ext uri="{FF2B5EF4-FFF2-40B4-BE49-F238E27FC236}">
                <a16:creationId xmlns:a16="http://schemas.microsoft.com/office/drawing/2014/main" id="{9EE6D84B-5F6D-4E00-A86B-77024D0F43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88451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8D814472-A98A-44A0-BB54-8CEB3156E5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431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DFA783C4-964A-4745-9FC1-A0C249B1E7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053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6" name="Picture 15" descr="邓体字徽（白色透明）">
            <a:extLst>
              <a:ext uri="{FF2B5EF4-FFF2-40B4-BE49-F238E27FC236}">
                <a16:creationId xmlns:a16="http://schemas.microsoft.com/office/drawing/2014/main" id="{B1138CE3-3919-4C14-BE4D-7977F36C08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982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296404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200C27D4-5900-4A31-BDDD-1BD71F483A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78F718A0-438E-4F89-A6CB-A1A0B3893A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6" name="Picture 15" descr="邓体字徽（白色透明）">
            <a:extLst>
              <a:ext uri="{FF2B5EF4-FFF2-40B4-BE49-F238E27FC236}">
                <a16:creationId xmlns:a16="http://schemas.microsoft.com/office/drawing/2014/main" id="{8A4DDAF2-8BC6-42D4-907C-E2C8D4FAE6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44235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A20E568B-CB6A-4F95-B18E-5FE435AC63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3">
            <a:extLst>
              <a:ext uri="{FF2B5EF4-FFF2-40B4-BE49-F238E27FC236}">
                <a16:creationId xmlns:a16="http://schemas.microsoft.com/office/drawing/2014/main" id="{F259E7F8-BFE1-4D2E-B88C-CCE476D59E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8" name="Picture 15" descr="邓体字徽（白色透明）">
            <a:extLst>
              <a:ext uri="{FF2B5EF4-FFF2-40B4-BE49-F238E27FC236}">
                <a16:creationId xmlns:a16="http://schemas.microsoft.com/office/drawing/2014/main" id="{B3BAB8F7-C38A-4618-A943-063D6FAEA3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68329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F5C4C550-7E0D-4BAD-AF65-4ECA70A2F2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3">
            <a:extLst>
              <a:ext uri="{FF2B5EF4-FFF2-40B4-BE49-F238E27FC236}">
                <a16:creationId xmlns:a16="http://schemas.microsoft.com/office/drawing/2014/main" id="{99578926-00B9-4E4A-B82D-DACDFBF277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5" name="Picture 15" descr="邓体字徽（白色透明）">
            <a:extLst>
              <a:ext uri="{FF2B5EF4-FFF2-40B4-BE49-F238E27FC236}">
                <a16:creationId xmlns:a16="http://schemas.microsoft.com/office/drawing/2014/main" id="{2BD3BDE4-6C4C-4F50-8F1E-DF3EB2A3F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218305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FDB1B-C572-4A20-AB39-E69EB00ACCB5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133E9-82D1-4515-AAE1-B3A9B5567A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736380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B590-4B79-41D9-B611-68F7086C9864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8C105-67D7-4C8B-A0E8-C2DF85B0BC9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656185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1C593-96F5-424B-8016-BF7975E3917E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3AB8E-5E37-49D1-83B0-8C8DF47068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880373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F02A6-B1DD-4470-8AFA-DDBB287E2E43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5E2AA-B319-4FD6-A764-3179A27CD1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132997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3D9AC-C011-4F34-B963-41A173CF34E1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1C17A-6E4C-4B89-A6C5-998CF6FF52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740645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DAAE9-45B0-4A57-9EFD-490645E04284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0C15F-F2E8-4061-9E9E-6121ACF09A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8887570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E3683-A0A0-4C42-8177-5E3702782C87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3DEFA-65BE-4468-9033-70A78F91BD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04318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109B6-B05B-41D5-AE81-09D316B0776F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DD615-468F-41C7-98F8-2B003F7008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8293719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2564C-413C-4AC9-B511-8E6262D26322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37979-3DF7-4400-8577-50172CC78E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60149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652AA-7CF9-48C0-848D-4C421F97EFB3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7048D-BAE6-4287-BD31-3C80BC1475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2110488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D3A90-EDCB-4A68-88D2-9C860DC3C8E1}" type="datetime11">
              <a:rPr lang="zh-CN" altLang="en-US"/>
              <a:pPr>
                <a:defRPr/>
              </a:pPr>
              <a:t>20:36:59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24C23-3136-4FEF-B5B9-161E81631E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504477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29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4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F7F7F7"/>
                </a:solidFill>
                <a:ea typeface="楷体_GB2312" pitchFamily="49" charset="-122"/>
              </a:rPr>
              <a:t>计算机与信息学院</a:t>
            </a:r>
          </a:p>
        </p:txBody>
      </p:sp>
      <p:pic>
        <p:nvPicPr>
          <p:cNvPr id="2" name="Picture 15" descr="邓体字徽（白色透明）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D0247408-968A-4E13-8D41-9A60713F4F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" y="9281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3">
            <a:extLst>
              <a:ext uri="{FF2B5EF4-FFF2-40B4-BE49-F238E27FC236}">
                <a16:creationId xmlns:a16="http://schemas.microsoft.com/office/drawing/2014/main" id="{73B9E648-D2B0-422B-905D-037AD114CE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07433" y="23550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10" name="Picture 15" descr="邓体字徽（白色透明）">
            <a:extLst>
              <a:ext uri="{FF2B5EF4-FFF2-40B4-BE49-F238E27FC236}">
                <a16:creationId xmlns:a16="http://schemas.microsoft.com/office/drawing/2014/main" id="{6BEF5519-4497-4245-956D-377CEA3CFE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8" y="-2485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  <p:sldLayoutId id="2147484068" r:id="rId12"/>
    <p:sldLayoutId id="2147484069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fld id="{86E1E66F-5B83-41ED-8064-AB82C1D22A40}" type="datetime11">
              <a:rPr lang="zh-CN" altLang="en-US"/>
              <a:pPr>
                <a:defRPr/>
              </a:pPr>
              <a:t>20:36:58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67F0266-A060-4C82-ACEC-66EA1C88E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images.google.com.hk/imgres?imgurl=http://www.ieee802.org/11/IEEE%20802%20Logo.png&amp;imgrefurl=http://www.ieee802.org/11/publicity.html&amp;usg=__gu9L9T-G7XbgEmi7wK7qMUioxWs=&amp;h=359&amp;w=346&amp;sz=47&amp;hl=zh-CN&amp;start=2&amp;zoom=1&amp;itbs=1&amp;tbnid=5afj9UkNpJrqxM:&amp;tbnh=121&amp;tbnw=117&amp;prev=/images?q%3D802%26hl%3Dzh-CN%26inlang%3Dzh-CN%26newwindow%3D1%26safe%3Dstrict%26client%3Daff-360daohang%26hs%3DXOv%26affdom%3D360.cn%26sa%3DN%26ndsp%3D20%26tbs%3Disch:1&amp;ei=hJaETd7GGoS6vwP3msHaCA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2"/>
          <p:cNvSpPr txBox="1">
            <a:spLocks noChangeArrowheads="1"/>
          </p:cNvSpPr>
          <p:nvPr/>
        </p:nvSpPr>
        <p:spPr bwMode="auto">
          <a:xfrm>
            <a:off x="2627313" y="5157788"/>
            <a:ext cx="453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ea typeface="黑体" panose="02010609060101010101" pitchFamily="49" charset="-122"/>
              </a:rPr>
              <a:t>河海大学计算机与信息学院</a:t>
            </a:r>
          </a:p>
        </p:txBody>
      </p:sp>
      <p:sp>
        <p:nvSpPr>
          <p:cNvPr id="6147" name="Text Box 14"/>
          <p:cNvSpPr txBox="1">
            <a:spLocks noChangeArrowheads="1"/>
          </p:cNvSpPr>
          <p:nvPr/>
        </p:nvSpPr>
        <p:spPr bwMode="auto">
          <a:xfrm>
            <a:off x="3492500" y="5734050"/>
            <a:ext cx="2881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fld id="{AC183568-1024-4C25-BD3C-51CB1D0596CA}" type="datetime3"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t>2026年2月24日星期二</a:t>
            </a:fld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8" name="Text Box 15"/>
          <p:cNvSpPr txBox="1">
            <a:spLocks noChangeArrowheads="1"/>
          </p:cNvSpPr>
          <p:nvPr/>
        </p:nvSpPr>
        <p:spPr bwMode="auto">
          <a:xfrm>
            <a:off x="611188" y="3500438"/>
            <a:ext cx="8208962" cy="6286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</a:t>
            </a:r>
          </a:p>
        </p:txBody>
      </p:sp>
      <p:sp>
        <p:nvSpPr>
          <p:cNvPr id="6149" name="Text Box 16"/>
          <p:cNvSpPr txBox="1">
            <a:spLocks noChangeArrowheads="1"/>
          </p:cNvSpPr>
          <p:nvPr/>
        </p:nvSpPr>
        <p:spPr bwMode="auto">
          <a:xfrm>
            <a:off x="971550" y="1773238"/>
            <a:ext cx="4033838" cy="482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计算机专业课程</a:t>
            </a:r>
            <a:endParaRPr kumimoji="1" lang="en-US" altLang="zh-CN" sz="3200" b="1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1547664" y="2564904"/>
            <a:ext cx="5686425" cy="585788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668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240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9812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4384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局域网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539552" y="980728"/>
            <a:ext cx="1944216" cy="52322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anchor="ctr"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668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240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9812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4384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主要内容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2A27FF1F-664F-4340-A218-7838B8297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352655"/>
            <a:ext cx="7848872" cy="2646878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anchor="ctr"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668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240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9812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4384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（一）、局域网的基本概念与体系结构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（二）、常见局域网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195263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IEEE802.3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、以太网与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CSMA/CD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，快速以太网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195263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IEEE802.5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令牌环网与令牌传递协议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（三）、局域网互联设备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70246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3212976"/>
            <a:ext cx="6552207" cy="48101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一、局域网的基本概念与体系结构</a:t>
            </a:r>
            <a:endParaRPr lang="zh-CN" altLang="en-US" sz="2800" b="1" dirty="0">
              <a:solidFill>
                <a:srgbClr val="2A10E8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052736"/>
            <a:ext cx="6552207" cy="48101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局域网的基本概念与体系结构</a:t>
            </a:r>
            <a:endParaRPr lang="zh-CN" altLang="en-US" sz="2800" b="1" dirty="0">
              <a:solidFill>
                <a:srgbClr val="2A10E8"/>
              </a:solidFill>
              <a:ea typeface="黑体" panose="02010609060101010101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424862" cy="3529012"/>
          </a:xfrm>
        </p:spPr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局域网最主要的特点是：网络为一个单位所拥有，且地理范围和站点数目均有限。 </a:t>
            </a:r>
          </a:p>
          <a:p>
            <a:pPr eaLnBrk="1" hangingPunct="1"/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局域网具有如下的一些主要优点：</a:t>
            </a:r>
          </a:p>
          <a:p>
            <a:pPr lvl="1" eaLnBrk="1" hangingPunct="1"/>
            <a:r>
              <a:rPr lang="zh-CN" altLang="en-US" sz="22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能方便地共享昂贵的外部设备、主机以及软件、数据。从一个站点可访问全网。</a:t>
            </a:r>
          </a:p>
          <a:p>
            <a:pPr lvl="1" eaLnBrk="1" hangingPunct="1"/>
            <a:r>
              <a:rPr lang="zh-CN" altLang="en-US" sz="22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便于系统的扩展和逐渐地演变，各设备的位置可灵活调整和改变。</a:t>
            </a:r>
          </a:p>
          <a:p>
            <a:pPr lvl="1" eaLnBrk="1" hangingPunct="1"/>
            <a:r>
              <a:rPr lang="zh-CN" altLang="en-US" sz="22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提高了系统的可靠性、可用性。</a:t>
            </a:r>
          </a:p>
        </p:txBody>
      </p:sp>
    </p:spTree>
    <p:extLst>
      <p:ext uri="{BB962C8B-B14F-4D97-AF65-F5344CB8AC3E}">
        <p14:creationId xmlns:p14="http://schemas.microsoft.com/office/powerpoint/2010/main" val="344966548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60599" y="765175"/>
            <a:ext cx="3651039" cy="76835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2A10E8"/>
                </a:solidFill>
                <a:ea typeface="黑体" panose="02010609060101010101" pitchFamily="49" charset="-122"/>
              </a:rPr>
              <a:t>局域网的拓扑</a:t>
            </a:r>
            <a:r>
              <a:rPr lang="zh-CN" altLang="en-US" sz="2800" dirty="0"/>
              <a:t> </a:t>
            </a:r>
          </a:p>
        </p:txBody>
      </p:sp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252413" y="3068638"/>
            <a:ext cx="6624637" cy="3455987"/>
            <a:chOff x="884" y="654"/>
            <a:chExt cx="4901" cy="3477"/>
          </a:xfrm>
        </p:grpSpPr>
        <p:sp>
          <p:nvSpPr>
            <p:cNvPr id="10245" name="Line 4"/>
            <p:cNvSpPr>
              <a:spLocks noChangeShapeType="1"/>
            </p:cNvSpPr>
            <p:nvPr/>
          </p:nvSpPr>
          <p:spPr bwMode="auto">
            <a:xfrm flipH="1" flipV="1">
              <a:off x="1067" y="910"/>
              <a:ext cx="336" cy="28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6" name="Line 5"/>
            <p:cNvSpPr>
              <a:spLocks noChangeShapeType="1"/>
            </p:cNvSpPr>
            <p:nvPr/>
          </p:nvSpPr>
          <p:spPr bwMode="auto">
            <a:xfrm flipV="1">
              <a:off x="1499" y="862"/>
              <a:ext cx="0" cy="33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7" name="Line 6"/>
            <p:cNvSpPr>
              <a:spLocks noChangeShapeType="1"/>
            </p:cNvSpPr>
            <p:nvPr/>
          </p:nvSpPr>
          <p:spPr bwMode="auto">
            <a:xfrm flipH="1">
              <a:off x="1115" y="1342"/>
              <a:ext cx="268" cy="23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8" name="Line 7"/>
            <p:cNvSpPr>
              <a:spLocks noChangeShapeType="1"/>
            </p:cNvSpPr>
            <p:nvPr/>
          </p:nvSpPr>
          <p:spPr bwMode="auto">
            <a:xfrm>
              <a:off x="1499" y="1342"/>
              <a:ext cx="424" cy="319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9" name="Line 8"/>
            <p:cNvSpPr>
              <a:spLocks noChangeShapeType="1"/>
            </p:cNvSpPr>
            <p:nvPr/>
          </p:nvSpPr>
          <p:spPr bwMode="auto">
            <a:xfrm flipV="1">
              <a:off x="1547" y="1006"/>
              <a:ext cx="336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1355" y="1150"/>
              <a:ext cx="232" cy="2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1" name="Rectangle 10"/>
            <p:cNvSpPr>
              <a:spLocks noChangeArrowheads="1"/>
            </p:cNvSpPr>
            <p:nvPr/>
          </p:nvSpPr>
          <p:spPr bwMode="auto">
            <a:xfrm>
              <a:off x="4443" y="3457"/>
              <a:ext cx="64" cy="64"/>
            </a:xfrm>
            <a:prstGeom prst="rect">
              <a:avLst/>
            </a:prstGeom>
            <a:solidFill>
              <a:srgbClr val="3333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2" name="Rectangle 11"/>
            <p:cNvSpPr>
              <a:spLocks noChangeArrowheads="1"/>
            </p:cNvSpPr>
            <p:nvPr/>
          </p:nvSpPr>
          <p:spPr bwMode="auto">
            <a:xfrm>
              <a:off x="4431" y="2715"/>
              <a:ext cx="64" cy="64"/>
            </a:xfrm>
            <a:prstGeom prst="rect">
              <a:avLst/>
            </a:prstGeom>
            <a:solidFill>
              <a:srgbClr val="3333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3" name="Rectangle 12"/>
            <p:cNvSpPr>
              <a:spLocks noChangeArrowheads="1"/>
            </p:cNvSpPr>
            <p:nvPr/>
          </p:nvSpPr>
          <p:spPr bwMode="auto">
            <a:xfrm>
              <a:off x="4449" y="3039"/>
              <a:ext cx="64" cy="64"/>
            </a:xfrm>
            <a:prstGeom prst="rect">
              <a:avLst/>
            </a:prstGeom>
            <a:solidFill>
              <a:srgbClr val="3333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4" name="Rectangle 13"/>
            <p:cNvSpPr>
              <a:spLocks noChangeArrowheads="1"/>
            </p:cNvSpPr>
            <p:nvPr/>
          </p:nvSpPr>
          <p:spPr bwMode="auto">
            <a:xfrm>
              <a:off x="3235" y="2715"/>
              <a:ext cx="64" cy="64"/>
            </a:xfrm>
            <a:prstGeom prst="rect">
              <a:avLst/>
            </a:prstGeom>
            <a:solidFill>
              <a:srgbClr val="3333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5" name="Line 14"/>
            <p:cNvSpPr>
              <a:spLocks noChangeShapeType="1"/>
            </p:cNvSpPr>
            <p:nvPr/>
          </p:nvSpPr>
          <p:spPr bwMode="auto">
            <a:xfrm>
              <a:off x="3348" y="1332"/>
              <a:ext cx="135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Rectangle 15"/>
            <p:cNvSpPr>
              <a:spLocks noChangeArrowheads="1"/>
            </p:cNvSpPr>
            <p:nvPr/>
          </p:nvSpPr>
          <p:spPr bwMode="auto">
            <a:xfrm>
              <a:off x="4676" y="1300"/>
              <a:ext cx="64" cy="6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7" name="Rectangle 16"/>
            <p:cNvSpPr>
              <a:spLocks noChangeArrowheads="1"/>
            </p:cNvSpPr>
            <p:nvPr/>
          </p:nvSpPr>
          <p:spPr bwMode="auto">
            <a:xfrm>
              <a:off x="3278" y="1300"/>
              <a:ext cx="64" cy="6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8" name="Line 17"/>
            <p:cNvSpPr>
              <a:spLocks noChangeShapeType="1"/>
            </p:cNvSpPr>
            <p:nvPr/>
          </p:nvSpPr>
          <p:spPr bwMode="auto">
            <a:xfrm flipV="1">
              <a:off x="3616" y="1132"/>
              <a:ext cx="0" cy="20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18"/>
            <p:cNvSpPr>
              <a:spLocks noChangeShapeType="1"/>
            </p:cNvSpPr>
            <p:nvPr/>
          </p:nvSpPr>
          <p:spPr bwMode="auto">
            <a:xfrm>
              <a:off x="3856" y="1340"/>
              <a:ext cx="0" cy="21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Line 19"/>
            <p:cNvSpPr>
              <a:spLocks noChangeShapeType="1"/>
            </p:cNvSpPr>
            <p:nvPr/>
          </p:nvSpPr>
          <p:spPr bwMode="auto">
            <a:xfrm flipV="1">
              <a:off x="4156" y="1114"/>
              <a:ext cx="0" cy="22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Line 20"/>
            <p:cNvSpPr>
              <a:spLocks noChangeShapeType="1"/>
            </p:cNvSpPr>
            <p:nvPr/>
          </p:nvSpPr>
          <p:spPr bwMode="auto">
            <a:xfrm>
              <a:off x="4462" y="1340"/>
              <a:ext cx="0" cy="21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Line 21"/>
            <p:cNvSpPr>
              <a:spLocks noChangeShapeType="1"/>
            </p:cNvSpPr>
            <p:nvPr/>
          </p:nvSpPr>
          <p:spPr bwMode="auto">
            <a:xfrm>
              <a:off x="3373" y="3077"/>
              <a:ext cx="111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Line 22"/>
            <p:cNvSpPr>
              <a:spLocks noChangeShapeType="1"/>
            </p:cNvSpPr>
            <p:nvPr/>
          </p:nvSpPr>
          <p:spPr bwMode="auto">
            <a:xfrm flipV="1">
              <a:off x="3588" y="2983"/>
              <a:ext cx="0" cy="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Line 23"/>
            <p:cNvSpPr>
              <a:spLocks noChangeShapeType="1"/>
            </p:cNvSpPr>
            <p:nvPr/>
          </p:nvSpPr>
          <p:spPr bwMode="auto">
            <a:xfrm flipV="1">
              <a:off x="4019" y="2993"/>
              <a:ext cx="0" cy="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24"/>
            <p:cNvSpPr>
              <a:spLocks noChangeShapeType="1"/>
            </p:cNvSpPr>
            <p:nvPr/>
          </p:nvSpPr>
          <p:spPr bwMode="auto">
            <a:xfrm>
              <a:off x="3671" y="2653"/>
              <a:ext cx="0" cy="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5"/>
            <p:cNvSpPr>
              <a:spLocks noChangeShapeType="1"/>
            </p:cNvSpPr>
            <p:nvPr/>
          </p:nvSpPr>
          <p:spPr bwMode="auto">
            <a:xfrm>
              <a:off x="4211" y="2659"/>
              <a:ext cx="0" cy="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7" name="Line 26"/>
            <p:cNvSpPr>
              <a:spLocks noChangeShapeType="1"/>
            </p:cNvSpPr>
            <p:nvPr/>
          </p:nvSpPr>
          <p:spPr bwMode="auto">
            <a:xfrm flipV="1">
              <a:off x="4229" y="3369"/>
              <a:ext cx="0" cy="1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Line 27"/>
            <p:cNvSpPr>
              <a:spLocks noChangeShapeType="1"/>
            </p:cNvSpPr>
            <p:nvPr/>
          </p:nvSpPr>
          <p:spPr bwMode="auto">
            <a:xfrm>
              <a:off x="3299" y="2741"/>
              <a:ext cx="114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9" name="Freeform 28"/>
            <p:cNvSpPr>
              <a:spLocks/>
            </p:cNvSpPr>
            <p:nvPr/>
          </p:nvSpPr>
          <p:spPr bwMode="auto">
            <a:xfrm>
              <a:off x="3365" y="2747"/>
              <a:ext cx="1093" cy="745"/>
            </a:xfrm>
            <a:custGeom>
              <a:avLst/>
              <a:gdLst>
                <a:gd name="T0" fmla="*/ 0 w 1093"/>
                <a:gd name="T1" fmla="*/ 0 h 745"/>
                <a:gd name="T2" fmla="*/ 0 w 1093"/>
                <a:gd name="T3" fmla="*/ 744 h 745"/>
                <a:gd name="T4" fmla="*/ 1092 w 1093"/>
                <a:gd name="T5" fmla="*/ 744 h 7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3" h="745">
                  <a:moveTo>
                    <a:pt x="0" y="0"/>
                  </a:moveTo>
                  <a:lnTo>
                    <a:pt x="0" y="744"/>
                  </a:lnTo>
                  <a:lnTo>
                    <a:pt x="1092" y="744"/>
                  </a:lnTo>
                </a:path>
              </a:pathLst>
            </a:custGeom>
            <a:noFill/>
            <a:ln w="28575" cap="rnd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Rectangle 29"/>
            <p:cNvSpPr>
              <a:spLocks noChangeArrowheads="1"/>
            </p:cNvSpPr>
            <p:nvPr/>
          </p:nvSpPr>
          <p:spPr bwMode="auto">
            <a:xfrm>
              <a:off x="4830" y="1979"/>
              <a:ext cx="95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1600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匹配电阻</a:t>
              </a:r>
            </a:p>
          </p:txBody>
        </p:sp>
        <p:sp>
          <p:nvSpPr>
            <p:cNvPr id="10271" name="Line 30"/>
            <p:cNvSpPr>
              <a:spLocks noChangeShapeType="1"/>
            </p:cNvSpPr>
            <p:nvPr/>
          </p:nvSpPr>
          <p:spPr bwMode="auto">
            <a:xfrm>
              <a:off x="4740" y="1389"/>
              <a:ext cx="227" cy="59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2" name="Line 31"/>
            <p:cNvSpPr>
              <a:spLocks noChangeShapeType="1"/>
            </p:cNvSpPr>
            <p:nvPr/>
          </p:nvSpPr>
          <p:spPr bwMode="auto">
            <a:xfrm flipH="1">
              <a:off x="4477" y="2251"/>
              <a:ext cx="444" cy="44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3" name="Rectangle 32"/>
            <p:cNvSpPr>
              <a:spLocks noChangeArrowheads="1"/>
            </p:cNvSpPr>
            <p:nvPr/>
          </p:nvSpPr>
          <p:spPr bwMode="auto">
            <a:xfrm>
              <a:off x="2150" y="980"/>
              <a:ext cx="95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1600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中心节点</a:t>
              </a:r>
            </a:p>
          </p:txBody>
        </p:sp>
        <p:sp>
          <p:nvSpPr>
            <p:cNvPr id="10274" name="Line 33"/>
            <p:cNvSpPr>
              <a:spLocks noChangeShapeType="1"/>
            </p:cNvSpPr>
            <p:nvPr/>
          </p:nvSpPr>
          <p:spPr bwMode="auto">
            <a:xfrm flipV="1">
              <a:off x="3785" y="3359"/>
              <a:ext cx="0" cy="1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5" name="Line 34"/>
            <p:cNvSpPr>
              <a:spLocks noChangeShapeType="1"/>
            </p:cNvSpPr>
            <p:nvPr/>
          </p:nvSpPr>
          <p:spPr bwMode="auto">
            <a:xfrm flipH="1" flipV="1">
              <a:off x="1095" y="2725"/>
              <a:ext cx="75" cy="7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6" name="Rectangle 35"/>
            <p:cNvSpPr>
              <a:spLocks noChangeArrowheads="1"/>
            </p:cNvSpPr>
            <p:nvPr/>
          </p:nvSpPr>
          <p:spPr bwMode="auto">
            <a:xfrm>
              <a:off x="2018" y="2932"/>
              <a:ext cx="115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1600">
                  <a:solidFill>
                    <a:srgbClr val="3333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干线耦合器</a:t>
              </a:r>
            </a:p>
          </p:txBody>
        </p:sp>
        <p:sp>
          <p:nvSpPr>
            <p:cNvPr id="10277" name="Line 36"/>
            <p:cNvSpPr>
              <a:spLocks noChangeShapeType="1"/>
            </p:cNvSpPr>
            <p:nvPr/>
          </p:nvSpPr>
          <p:spPr bwMode="auto">
            <a:xfrm flipH="1">
              <a:off x="1724" y="2726"/>
              <a:ext cx="70" cy="66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8" name="Line 37"/>
            <p:cNvSpPr>
              <a:spLocks noChangeShapeType="1"/>
            </p:cNvSpPr>
            <p:nvPr/>
          </p:nvSpPr>
          <p:spPr bwMode="auto">
            <a:xfrm flipH="1" flipV="1">
              <a:off x="1736" y="3321"/>
              <a:ext cx="83" cy="8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9" name="Line 38"/>
            <p:cNvSpPr>
              <a:spLocks noChangeShapeType="1"/>
            </p:cNvSpPr>
            <p:nvPr/>
          </p:nvSpPr>
          <p:spPr bwMode="auto">
            <a:xfrm flipH="1">
              <a:off x="1114" y="3347"/>
              <a:ext cx="62" cy="7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0" name="Oval 39"/>
            <p:cNvSpPr>
              <a:spLocks noChangeArrowheads="1"/>
            </p:cNvSpPr>
            <p:nvPr/>
          </p:nvSpPr>
          <p:spPr bwMode="auto">
            <a:xfrm rot="-2760000">
              <a:off x="1074" y="2680"/>
              <a:ext cx="758" cy="7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81" name="Rectangle 40"/>
            <p:cNvSpPr>
              <a:spLocks noChangeArrowheads="1"/>
            </p:cNvSpPr>
            <p:nvPr/>
          </p:nvSpPr>
          <p:spPr bwMode="auto">
            <a:xfrm rot="-2760000">
              <a:off x="1131" y="2770"/>
              <a:ext cx="86" cy="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82" name="Rectangle 41"/>
            <p:cNvSpPr>
              <a:spLocks noChangeArrowheads="1"/>
            </p:cNvSpPr>
            <p:nvPr/>
          </p:nvSpPr>
          <p:spPr bwMode="auto">
            <a:xfrm rot="-2760000">
              <a:off x="1688" y="3291"/>
              <a:ext cx="86" cy="5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83" name="Rectangle 42"/>
            <p:cNvSpPr>
              <a:spLocks noChangeArrowheads="1"/>
            </p:cNvSpPr>
            <p:nvPr/>
          </p:nvSpPr>
          <p:spPr bwMode="auto">
            <a:xfrm rot="-2760000">
              <a:off x="1698" y="2746"/>
              <a:ext cx="56" cy="8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84" name="Line 43"/>
            <p:cNvSpPr>
              <a:spLocks noChangeShapeType="1"/>
            </p:cNvSpPr>
            <p:nvPr/>
          </p:nvSpPr>
          <p:spPr bwMode="auto">
            <a:xfrm>
              <a:off x="1764" y="2826"/>
              <a:ext cx="300" cy="24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5" name="Rectangle 44"/>
            <p:cNvSpPr>
              <a:spLocks noChangeArrowheads="1"/>
            </p:cNvSpPr>
            <p:nvPr/>
          </p:nvSpPr>
          <p:spPr bwMode="auto">
            <a:xfrm rot="-2760000">
              <a:off x="1171" y="3276"/>
              <a:ext cx="56" cy="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86" name="Arc 45"/>
            <p:cNvSpPr>
              <a:spLocks/>
            </p:cNvSpPr>
            <p:nvPr/>
          </p:nvSpPr>
          <p:spPr bwMode="auto">
            <a:xfrm flipV="1">
              <a:off x="1337" y="2945"/>
              <a:ext cx="395" cy="401"/>
            </a:xfrm>
            <a:custGeom>
              <a:avLst/>
              <a:gdLst>
                <a:gd name="T0" fmla="*/ 0 w 25403"/>
                <a:gd name="T1" fmla="*/ 0 h 30101"/>
                <a:gd name="T2" fmla="*/ 0 w 25403"/>
                <a:gd name="T3" fmla="*/ 0 h 30101"/>
                <a:gd name="T4" fmla="*/ 0 w 25403"/>
                <a:gd name="T5" fmla="*/ 0 h 30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403" h="30101" fill="none" extrusionOk="0">
                  <a:moveTo>
                    <a:pt x="0" y="337"/>
                  </a:moveTo>
                  <a:cubicBezTo>
                    <a:pt x="1255" y="112"/>
                    <a:pt x="2527" y="-1"/>
                    <a:pt x="3803" y="0"/>
                  </a:cubicBezTo>
                  <a:cubicBezTo>
                    <a:pt x="15732" y="0"/>
                    <a:pt x="25403" y="9670"/>
                    <a:pt x="25403" y="21600"/>
                  </a:cubicBezTo>
                  <a:cubicBezTo>
                    <a:pt x="25403" y="24522"/>
                    <a:pt x="24809" y="27414"/>
                    <a:pt x="23659" y="30100"/>
                  </a:cubicBezTo>
                </a:path>
                <a:path w="25403" h="30101" stroke="0" extrusionOk="0">
                  <a:moveTo>
                    <a:pt x="0" y="337"/>
                  </a:moveTo>
                  <a:cubicBezTo>
                    <a:pt x="1255" y="112"/>
                    <a:pt x="2527" y="-1"/>
                    <a:pt x="3803" y="0"/>
                  </a:cubicBezTo>
                  <a:cubicBezTo>
                    <a:pt x="15732" y="0"/>
                    <a:pt x="25403" y="9670"/>
                    <a:pt x="25403" y="21600"/>
                  </a:cubicBezTo>
                  <a:cubicBezTo>
                    <a:pt x="25403" y="24522"/>
                    <a:pt x="24809" y="27414"/>
                    <a:pt x="23659" y="30100"/>
                  </a:cubicBezTo>
                  <a:lnTo>
                    <a:pt x="3803" y="21600"/>
                  </a:lnTo>
                  <a:lnTo>
                    <a:pt x="0" y="337"/>
                  </a:lnTo>
                  <a:close/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287" name="Picture 4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" y="2489"/>
              <a:ext cx="20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8" name="Picture 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" y="2499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9" name="Picture 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" y="2523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0" name="Picture 49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" y="3339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1" name="Picture 5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" y="3387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2" name="Picture 5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1" y="1434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3" name="Picture 5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9" y="1438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4" name="Picture 5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" y="814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5" name="Picture 54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" y="862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6" name="Picture 5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" y="654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7" name="Picture 5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0" y="1438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8" name="Picture 5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8" y="1446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9" name="Picture 5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6" y="966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0" name="Picture 59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2" y="958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1" name="Picture 6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1" y="3217"/>
              <a:ext cx="20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2" name="Picture 6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5" y="3225"/>
              <a:ext cx="20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3" name="Picture 6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3" y="2825"/>
              <a:ext cx="20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4" name="Picture 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5" y="2833"/>
              <a:ext cx="20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5" name="Picture 64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9" y="2489"/>
              <a:ext cx="20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306" name="Line 65"/>
            <p:cNvSpPr>
              <a:spLocks noChangeShapeType="1"/>
            </p:cNvSpPr>
            <p:nvPr/>
          </p:nvSpPr>
          <p:spPr bwMode="auto">
            <a:xfrm flipV="1">
              <a:off x="1547" y="1162"/>
              <a:ext cx="649" cy="13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7" name="Text Box 66"/>
            <p:cNvSpPr txBox="1">
              <a:spLocks noChangeArrowheads="1"/>
            </p:cNvSpPr>
            <p:nvPr/>
          </p:nvSpPr>
          <p:spPr bwMode="auto">
            <a:xfrm>
              <a:off x="3651" y="1752"/>
              <a:ext cx="761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总线网</a:t>
              </a:r>
            </a:p>
          </p:txBody>
        </p:sp>
        <p:sp>
          <p:nvSpPr>
            <p:cNvPr id="10308" name="Text Box 67"/>
            <p:cNvSpPr txBox="1">
              <a:spLocks noChangeArrowheads="1"/>
            </p:cNvSpPr>
            <p:nvPr/>
          </p:nvSpPr>
          <p:spPr bwMode="auto">
            <a:xfrm>
              <a:off x="1054" y="1752"/>
              <a:ext cx="761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星形网</a:t>
              </a:r>
            </a:p>
          </p:txBody>
        </p:sp>
        <p:sp>
          <p:nvSpPr>
            <p:cNvPr id="10309" name="Text Box 68"/>
            <p:cNvSpPr txBox="1">
              <a:spLocks noChangeArrowheads="1"/>
            </p:cNvSpPr>
            <p:nvPr/>
          </p:nvSpPr>
          <p:spPr bwMode="auto">
            <a:xfrm>
              <a:off x="3560" y="3685"/>
              <a:ext cx="859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树形网 </a:t>
              </a:r>
            </a:p>
          </p:txBody>
        </p:sp>
        <p:sp>
          <p:nvSpPr>
            <p:cNvPr id="10310" name="Text Box 69"/>
            <p:cNvSpPr txBox="1">
              <a:spLocks noChangeArrowheads="1"/>
            </p:cNvSpPr>
            <p:nvPr/>
          </p:nvSpPr>
          <p:spPr bwMode="auto">
            <a:xfrm>
              <a:off x="1112" y="3685"/>
              <a:ext cx="761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环形网</a:t>
              </a:r>
            </a:p>
          </p:txBody>
        </p:sp>
      </p:grpSp>
      <p:sp>
        <p:nvSpPr>
          <p:cNvPr id="72" name="Rectangle 2"/>
          <p:cNvSpPr txBox="1">
            <a:spLocks noChangeArrowheads="1"/>
          </p:cNvSpPr>
          <p:nvPr/>
        </p:nvSpPr>
        <p:spPr bwMode="auto">
          <a:xfrm>
            <a:off x="4613275" y="1747838"/>
            <a:ext cx="4414838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</a:t>
            </a:r>
            <a:r>
              <a:rPr lang="en-US" altLang="zh-CN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LAN</a:t>
            </a: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的结构主要有三种类型：</a:t>
            </a:r>
            <a:b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以太网（</a:t>
            </a:r>
            <a:r>
              <a:rPr lang="en-US" altLang="zh-CN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Ethernet</a:t>
            </a: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b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令牌环（</a:t>
            </a:r>
            <a:r>
              <a:rPr lang="en-US" altLang="zh-CN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Token Ring</a:t>
            </a: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b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令牌总线</a:t>
            </a:r>
            <a:r>
              <a:rPr lang="en-US" altLang="zh-CN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(Token Bus</a:t>
            </a:r>
            <a:r>
              <a:rPr lang="zh-CN" altLang="en-US" sz="2400" b="1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"/>
          <p:cNvSpPr txBox="1">
            <a:spLocks noChangeArrowheads="1"/>
          </p:cNvSpPr>
          <p:nvPr/>
        </p:nvSpPr>
        <p:spPr bwMode="auto">
          <a:xfrm>
            <a:off x="403225" y="1052513"/>
            <a:ext cx="2468563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介质访问控制</a:t>
            </a:r>
          </a:p>
        </p:txBody>
      </p:sp>
      <p:sp>
        <p:nvSpPr>
          <p:cNvPr id="71" name="Rectangle 3"/>
          <p:cNvSpPr txBox="1">
            <a:spLocks noChangeArrowheads="1"/>
          </p:cNvSpPr>
          <p:nvPr/>
        </p:nvSpPr>
        <p:spPr bwMode="auto">
          <a:xfrm>
            <a:off x="395288" y="1989138"/>
            <a:ext cx="8280400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kern="0" dirty="0"/>
              <a:t>静态划分信道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333399"/>
                </a:solidFill>
                <a:ea typeface="黑体" panose="02010609060101010101" pitchFamily="49" charset="-122"/>
              </a:rPr>
              <a:t>频分复用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333399"/>
                </a:solidFill>
                <a:ea typeface="黑体" panose="02010609060101010101" pitchFamily="49" charset="-122"/>
              </a:rPr>
              <a:t>时分复用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333399"/>
                </a:solidFill>
                <a:ea typeface="黑体" panose="02010609060101010101" pitchFamily="49" charset="-122"/>
              </a:rPr>
              <a:t>波分复用</a:t>
            </a:r>
            <a:endParaRPr lang="en-US" altLang="zh-CN" kern="0" dirty="0">
              <a:solidFill>
                <a:srgbClr val="333399"/>
              </a:solidFill>
              <a:ea typeface="黑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333399"/>
                </a:solidFill>
                <a:ea typeface="黑体" panose="02010609060101010101" pitchFamily="49" charset="-122"/>
              </a:rPr>
              <a:t>码分复用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kern="0" dirty="0"/>
              <a:t>动态媒体接入控制（多点接入）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随机访问</a:t>
            </a:r>
            <a:endParaRPr lang="en-US" altLang="zh-CN" kern="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轮询访问</a:t>
            </a:r>
            <a:r>
              <a:rPr lang="zh-CN" altLang="en-US" kern="0" dirty="0"/>
              <a:t>  	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84438" y="2492375"/>
            <a:ext cx="4535487" cy="820738"/>
          </a:xfrm>
        </p:spPr>
        <p:txBody>
          <a:bodyPr/>
          <a:lstStyle/>
          <a:p>
            <a:pPr eaLnBrk="1" hangingPunct="1"/>
            <a:r>
              <a:rPr kumimoji="1" lang="zh-CN" altLang="en-US" sz="40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计算机局域网标准</a:t>
            </a:r>
          </a:p>
        </p:txBody>
      </p:sp>
      <p:pic>
        <p:nvPicPr>
          <p:cNvPr id="12291" name="Picture 4" descr="ANd9GcTOS1JH2xIkauFePG8laaGwkr4-byPRCavDQ4AxRV0qU2qDCETBysaO5Q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3429000"/>
            <a:ext cx="1881188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11188" y="1844675"/>
            <a:ext cx="7772400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Char char="•"/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IEEE 802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委员会为局域网制定了一系列标准，它们统称为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IEEE 802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标准；</a:t>
            </a:r>
          </a:p>
          <a:p>
            <a:pPr eaLnBrk="1" hangingPunct="1">
              <a:buClrTx/>
              <a:buFontTx/>
              <a:buChar char="•"/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IEEE 802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标准之间的关系：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611188" y="3500438"/>
          <a:ext cx="7593012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r:id="rId3" imgW="5036470" imgH="1757450" progId="Visio.Drawing.6">
                  <p:embed/>
                </p:oleObj>
              </mc:Choice>
              <mc:Fallback>
                <p:oleObj r:id="rId3" imgW="5036470" imgH="175745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00438"/>
                        <a:ext cx="7593012" cy="2641600"/>
                      </a:xfrm>
                      <a:prstGeom prst="rect">
                        <a:avLst/>
                      </a:prstGeom>
                      <a:solidFill>
                        <a:srgbClr val="6699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84213" y="1100138"/>
            <a:ext cx="4535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400" b="1">
                <a:solidFill>
                  <a:srgbClr val="2A10E8"/>
                </a:solidFill>
                <a:ea typeface="黑体" panose="02010609060101010101" pitchFamily="49" charset="-122"/>
              </a:rPr>
              <a:t>IEEE802</a:t>
            </a:r>
            <a:r>
              <a:rPr lang="zh-CN" altLang="en-US" sz="3400" b="1">
                <a:solidFill>
                  <a:srgbClr val="2A10E8"/>
                </a:solidFill>
                <a:ea typeface="黑体" panose="02010609060101010101" pitchFamily="49" charset="-122"/>
              </a:rPr>
              <a:t>参考模型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052513"/>
            <a:ext cx="4535487" cy="457200"/>
          </a:xfrm>
        </p:spPr>
        <p:txBody>
          <a:bodyPr/>
          <a:lstStyle/>
          <a:p>
            <a:pPr eaLnBrk="1" hangingPunct="1"/>
            <a:r>
              <a:rPr lang="en-US" altLang="zh-CN" sz="3400" b="1">
                <a:solidFill>
                  <a:srgbClr val="2A10E8"/>
                </a:solidFill>
                <a:ea typeface="黑体" panose="02010609060101010101" pitchFamily="49" charset="-122"/>
              </a:rPr>
              <a:t>IEEE802</a:t>
            </a:r>
            <a:r>
              <a:rPr lang="zh-CN" altLang="en-US" sz="3400" b="1">
                <a:solidFill>
                  <a:srgbClr val="2A10E8"/>
                </a:solidFill>
                <a:ea typeface="黑体" panose="02010609060101010101" pitchFamily="49" charset="-122"/>
              </a:rPr>
              <a:t>参考模型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684213" y="1772816"/>
            <a:ext cx="7991475" cy="27139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l"/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400" b="0" dirty="0"/>
              <a:t>局域网不存在路由选择问题，它的体系中不包括网络层，而只有最低的两个层次。</a:t>
            </a:r>
            <a:endParaRPr lang="en-US" altLang="zh-CN" sz="2400" b="0" dirty="0"/>
          </a:p>
          <a:p>
            <a:pPr>
              <a:lnSpc>
                <a:spcPct val="120000"/>
              </a:lnSpc>
            </a:pPr>
            <a:r>
              <a:rPr lang="zh-CN" altLang="en-US" sz="2400" b="0" dirty="0"/>
              <a:t>然而局域网的种类繁多，其媒体接入控制的方法也各不相同。为了使局域网中的数据链路层不致过于复杂，就应当将局域网的数据链路层划分为两个子层：</a:t>
            </a:r>
            <a:r>
              <a:rPr lang="en-US" altLang="zh-CN" sz="2400" b="0" dirty="0"/>
              <a:t>MAC</a:t>
            </a:r>
            <a:r>
              <a:rPr lang="zh-CN" altLang="zh-CN" sz="2400" b="0" dirty="0"/>
              <a:t>和</a:t>
            </a:r>
            <a:r>
              <a:rPr lang="en-US" altLang="zh-CN" sz="2400" b="0" dirty="0"/>
              <a:t>LLC</a:t>
            </a:r>
            <a:r>
              <a:rPr lang="zh-CN" altLang="en-US" sz="2400" b="0" dirty="0"/>
              <a:t>。</a:t>
            </a:r>
            <a:endParaRPr lang="en-US" altLang="zh-CN" sz="24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032A06-A846-4446-9B6A-2F6AED330A29}"/>
              </a:ext>
            </a:extLst>
          </p:cNvPr>
          <p:cNvSpPr txBox="1"/>
          <p:nvPr/>
        </p:nvSpPr>
        <p:spPr>
          <a:xfrm>
            <a:off x="712103" y="4725144"/>
            <a:ext cx="7991475" cy="182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与接入各种传输媒体有关的问题都放在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子层，负责在物理层的基础上进行无差错的通信。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数据链路层中与媒体接入无关的部分都集中在逻辑链路控制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子层。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052736"/>
            <a:ext cx="4824412" cy="48101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不考虑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LLC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子层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8313" y="1844675"/>
            <a:ext cx="8496300" cy="2448421"/>
          </a:xfrm>
          <a:prstGeom prst="rect">
            <a:avLst/>
          </a:prstGeom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体系经常使用的局域网是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DIX Ethernet V2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而不是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标准中的几种局域网，因此现在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委员会制定的逻辑链路控制子层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LLC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802.2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标准）的作用已经不大了。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很多厂商生产的适配器上就仅装有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协议而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 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LLC 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411760" y="3136106"/>
            <a:ext cx="3960813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 b="1" dirty="0">
                <a:solidFill>
                  <a:srgbClr val="2A10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网卡（网络接口卡）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4508500"/>
            <a:ext cx="5221288" cy="479425"/>
          </a:xfrm>
          <a:solidFill>
            <a:srgbClr val="FFFF00"/>
          </a:solidFill>
        </p:spPr>
        <p:txBody>
          <a:bodyPr/>
          <a:lstStyle/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计算机通过网卡和局域网进行通信 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 descr="网卡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67551" flipH="1">
            <a:off x="946753" y="4828400"/>
            <a:ext cx="2071687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539750" y="1030288"/>
            <a:ext cx="84248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网卡（网络接口卡）</a:t>
            </a:r>
            <a:r>
              <a:rPr kumimoji="1" lang="en-US" altLang="zh-CN" sz="2400" b="1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(NIC </a:t>
            </a:r>
            <a:r>
              <a:rPr kumimoji="1" lang="zh-CN" altLang="en-US" sz="2400" b="1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400" b="1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Interface Card)</a:t>
            </a:r>
            <a:endParaRPr kumimoji="1" lang="zh-CN" altLang="en-US" sz="2400" b="1" dirty="0">
              <a:solidFill>
                <a:srgbClr val="2A10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323850" y="1700213"/>
            <a:ext cx="8437563" cy="328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网络接口卡又称为通信适配器</a:t>
            </a:r>
            <a:r>
              <a:rPr kumimoji="1" lang="en-US" altLang="zh-CN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(adapter)</a:t>
            </a:r>
            <a:r>
              <a:rPr kumimoji="1"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计算机通过适配器和局域网进行通信 </a:t>
            </a:r>
            <a:r>
              <a:rPr kumimoji="1"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每个适配器都会固化一个</a:t>
            </a:r>
            <a:r>
              <a:rPr kumimoji="1"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地址，用来标识该适配器代表的接口</a:t>
            </a:r>
            <a:r>
              <a:rPr kumimoji="1"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适配器的重要功能：</a:t>
            </a:r>
          </a:p>
          <a:p>
            <a:pPr lvl="1"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对数据进行缓存。</a:t>
            </a:r>
          </a:p>
          <a:p>
            <a:pPr lvl="1">
              <a:spcBef>
                <a:spcPts val="600"/>
              </a:spcBef>
            </a:pPr>
            <a:r>
              <a:rPr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层协议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 </a:t>
            </a:r>
          </a:p>
          <a:p>
            <a:pPr lvl="1"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进行串行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并行转换。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4049109"/>
            <a:ext cx="4644579" cy="280889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533400" y="982663"/>
            <a:ext cx="5116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MAC</a:t>
            </a:r>
            <a:r>
              <a:rPr kumimoji="1" lang="zh-CN" altLang="en-US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地址：链路层标识</a:t>
            </a: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533400" y="1701800"/>
            <a:ext cx="85026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标准为局域网上的每一个站规定了一种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48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比特的全局地址。当一个站接入到另一个局域网时，其全局地址并不改变。这就表明，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标准所说的“地址”严格地讲应当是每一个站的“名字”或标识符，该地址会固化在“网卡”中。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250825" y="4437112"/>
            <a:ext cx="8785225" cy="23590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 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kern="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注册管理机构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 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负责向适配器（网卡）厂家分配地址字段的前三个字节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即高位 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后三个字节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即低位 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由厂家自行指派，称为</a:t>
            </a:r>
            <a:r>
              <a:rPr lang="zh-CN" altLang="en-US" sz="2200" kern="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扩展标识符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，必须保证生产出的适配器没有重复地址。</a:t>
            </a:r>
            <a:endParaRPr lang="en-US" altLang="zh-CN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一个地址块可以生成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个不同的地址。这种 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48 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位地址称为 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MAC-48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，它的通用名称是</a:t>
            </a:r>
            <a:r>
              <a:rPr lang="en-US" altLang="zh-CN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EUI-48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3567" name="Picture 15" descr="https://gimg2.baidu.com/image_search/src=http%3A%2F%2Fimage78.360doc.com%2FDownloadImg%2F2014%2F09%2F2215%2F45502677_1.jpg&amp;refer=http%3A%2F%2Fimage78.360doc.com&amp;app=2002&amp;size=f9999,10000&amp;q=a80&amp;n=0&amp;g=0n&amp;fmt=jpeg?sec=1647422384&amp;t=2b469d06b0e1d52ecc5ac9af01ad352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613" y="4763"/>
            <a:ext cx="500380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">
            <a:extLst>
              <a:ext uri="{FF2B5EF4-FFF2-40B4-BE49-F238E27FC236}">
                <a16:creationId xmlns:a16="http://schemas.microsoft.com/office/drawing/2014/main" id="{5B961281-3DFA-4181-9DEE-37E71E40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92960"/>
            <a:ext cx="835342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kumimoji="1"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 </a:t>
            </a:r>
            <a:r>
              <a:rPr kumimoji="1"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Manufacture ID + NIC ID </a:t>
            </a:r>
            <a:r>
              <a:rPr kumimoji="1"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24bit + 24bit</a:t>
            </a:r>
            <a:r>
              <a:rPr kumimoji="1"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</a:t>
            </a:r>
            <a:endParaRPr kumimoji="1"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794764-2138-4AD3-BBBE-761FA2BB03D8}"/>
              </a:ext>
            </a:extLst>
          </p:cNvPr>
          <p:cNvSpPr txBox="1"/>
          <p:nvPr/>
        </p:nvSpPr>
        <p:spPr>
          <a:xfrm>
            <a:off x="5436096" y="3862808"/>
            <a:ext cx="3168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00-60-8C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 dirty="0">
                <a:solidFill>
                  <a:srgbClr val="2A10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01-28-12</a:t>
            </a:r>
            <a:endParaRPr lang="zh-CN" altLang="en-US" sz="240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"/>
          <p:cNvSpPr>
            <a:spLocks noChangeArrowheads="1"/>
          </p:cNvSpPr>
          <p:nvPr/>
        </p:nvSpPr>
        <p:spPr bwMode="auto">
          <a:xfrm>
            <a:off x="539750" y="1052513"/>
            <a:ext cx="309614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3" name="矩形 1"/>
          <p:cNvSpPr>
            <a:spLocks noChangeArrowheads="1"/>
          </p:cNvSpPr>
          <p:nvPr/>
        </p:nvSpPr>
        <p:spPr bwMode="auto">
          <a:xfrm>
            <a:off x="539750" y="1869874"/>
            <a:ext cx="8352928" cy="1821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8288" lvl="1" indent="-268288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单播地址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（唯一标识一个节点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第一个字节最后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位为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</a:t>
            </a:r>
          </a:p>
          <a:p>
            <a:pPr marL="268288" lvl="1" indent="-268288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广播地址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（标识本网络所有节点，所有位为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</a:t>
            </a:r>
          </a:p>
          <a:p>
            <a:pPr marL="268288" lvl="1" indent="-268288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多播地址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（组地址）（标识本网络内多个节点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第一个字节最后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位为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25604" name="Picture 2" descr="https://gimg2.baidu.com/image_search/src=http%3A%2F%2Fimage.mamicode.com%2Finfo%2F201806%2F20180606230526176492.png&amp;refer=http%3A%2F%2Fimage.mamicode.com&amp;app=2002&amp;size=f9999,10000&amp;q=a80&amp;n=0&amp;g=0n&amp;fmt=jpeg?sec=1647419473&amp;t=296e07173ecd0446553c26a5e6d575c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36" y="3843921"/>
            <a:ext cx="7841878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052513"/>
            <a:ext cx="5040313" cy="525462"/>
          </a:xfrm>
        </p:spPr>
        <p:txBody>
          <a:bodyPr/>
          <a:lstStyle/>
          <a:p>
            <a:pPr algn="ctr" eaLnBrk="1" hangingPunct="1"/>
            <a:r>
              <a:rPr lang="en-US" altLang="zh-CN" sz="2800" dirty="0"/>
              <a:t>MAC </a:t>
            </a:r>
            <a:r>
              <a:rPr lang="zh-CN" altLang="en-US" sz="2800" dirty="0"/>
              <a:t>地址在收发数据中的作用 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283871" y="1700808"/>
            <a:ext cx="8856984" cy="5040560"/>
          </a:xfrm>
          <a:prstGeom prst="rect">
            <a:avLst/>
          </a:prstGeom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适配器从网络上每收到一帧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在数据校验正确后，就检查帧中的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地址：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如果目标地址与本站</a:t>
            </a:r>
            <a:r>
              <a:rPr lang="en-US" altLang="zh-CN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地址相同，则收下；</a:t>
            </a:r>
            <a:endParaRPr lang="en-US" altLang="zh-CN" sz="2200" kern="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如果目标地址是广播地址，则收下；</a:t>
            </a:r>
            <a:endParaRPr lang="en-US" altLang="zh-CN" sz="2200" kern="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如果目标地址是多播地址，且本站在该多播组中，则收下；</a:t>
            </a: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其他情况，则抛弃。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根据帧中目的地址类型，帧可以是： </a:t>
            </a: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单播</a:t>
            </a:r>
            <a:r>
              <a:rPr lang="en-US" altLang="zh-CN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(unicast)</a:t>
            </a: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帧（一对一）</a:t>
            </a: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(broadcast)</a:t>
            </a: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帧（一对全体）</a:t>
            </a:r>
          </a:p>
          <a:p>
            <a:pPr lvl="1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多播</a:t>
            </a:r>
            <a:r>
              <a:rPr lang="en-US" altLang="zh-CN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(multicast)</a:t>
            </a:r>
            <a:r>
              <a:rPr lang="zh-CN" altLang="en-US" sz="2200" kern="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帧（一对多）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539750" y="1030288"/>
            <a:ext cx="3600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2A10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MAC</a:t>
            </a:r>
            <a:r>
              <a:rPr kumimoji="1" lang="zh-CN" altLang="en-US" sz="2800" b="1">
                <a:solidFill>
                  <a:srgbClr val="2A10E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子层基本工作过程</a:t>
            </a:r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422275" y="1773238"/>
            <a:ext cx="17287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发送数据</a:t>
            </a:r>
          </a:p>
        </p:txBody>
      </p:sp>
      <p:sp>
        <p:nvSpPr>
          <p:cNvPr id="28676" name="Text Box 5"/>
          <p:cNvSpPr txBox="1">
            <a:spLocks noChangeArrowheads="1"/>
          </p:cNvSpPr>
          <p:nvPr/>
        </p:nvSpPr>
        <p:spPr bwMode="auto">
          <a:xfrm>
            <a:off x="454025" y="4292600"/>
            <a:ext cx="1485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接收数据</a:t>
            </a:r>
          </a:p>
        </p:txBody>
      </p:sp>
      <p:sp>
        <p:nvSpPr>
          <p:cNvPr id="28677" name="Text Box 6"/>
          <p:cNvSpPr txBox="1">
            <a:spLocks noChangeArrowheads="1"/>
          </p:cNvSpPr>
          <p:nvPr/>
        </p:nvSpPr>
        <p:spPr bwMode="auto">
          <a:xfrm>
            <a:off x="2041525" y="1773238"/>
            <a:ext cx="2520950" cy="212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接收上层</a:t>
            </a:r>
            <a:r>
              <a:rPr lang="en-US" altLang="zh-CN" sz="2400" dirty="0"/>
              <a:t>PDU</a:t>
            </a:r>
          </a:p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组装成数据帧</a:t>
            </a:r>
          </a:p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竞争总线</a:t>
            </a:r>
          </a:p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发送数据帧</a:t>
            </a:r>
          </a:p>
        </p:txBody>
      </p:sp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1939925" y="4292600"/>
            <a:ext cx="6953250" cy="249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从物理层的比特流中识别数据帧到缓冲区</a:t>
            </a:r>
          </a:p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数据帧检错</a:t>
            </a:r>
          </a:p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是否为本机接收</a:t>
            </a:r>
            <a:r>
              <a:rPr lang="en-US" altLang="zh-CN" sz="2400" dirty="0"/>
              <a:t>(</a:t>
            </a:r>
            <a:r>
              <a:rPr lang="zh-CN" altLang="en-US" sz="2400" dirty="0"/>
              <a:t>通过</a:t>
            </a:r>
            <a:r>
              <a:rPr lang="en-US" altLang="zh-CN" sz="2400" dirty="0"/>
              <a:t>MAC</a:t>
            </a:r>
            <a:r>
              <a:rPr lang="zh-CN" altLang="en-US" sz="2400" dirty="0"/>
              <a:t>地址判断）</a:t>
            </a:r>
          </a:p>
          <a:p>
            <a:pPr eaLnBrk="1" hangingPunct="1">
              <a:spcBef>
                <a:spcPct val="50000"/>
              </a:spcBef>
              <a:buClr>
                <a:srgbClr val="2A10E8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发送给本机的帧的数据部分递交给上层协议模块（如</a:t>
            </a:r>
            <a:r>
              <a:rPr lang="en-US" altLang="zh-CN" sz="2400" dirty="0"/>
              <a:t>IP</a:t>
            </a:r>
            <a:r>
              <a:rPr lang="zh-CN" altLang="en-US" sz="2400" dirty="0"/>
              <a:t>）</a:t>
            </a:r>
          </a:p>
        </p:txBody>
      </p:sp>
      <p:graphicFrame>
        <p:nvGraphicFramePr>
          <p:cNvPr id="286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467776"/>
              </p:ext>
            </p:extLst>
          </p:nvPr>
        </p:nvGraphicFramePr>
        <p:xfrm>
          <a:off x="5616575" y="0"/>
          <a:ext cx="3527425" cy="375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Visio" r:id="rId4" imgW="3038475" imgH="3867150" progId="Visio.Drawing.11">
                  <p:embed/>
                </p:oleObj>
              </mc:Choice>
              <mc:Fallback>
                <p:oleObj name="Visio" r:id="rId4" imgW="3038475" imgH="386715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0"/>
                        <a:ext cx="3527425" cy="3759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14746A8-E86E-4582-9E79-E068484ECE8E}"/>
              </a:ext>
            </a:extLst>
          </p:cNvPr>
          <p:cNvSpPr txBox="1"/>
          <p:nvPr/>
        </p:nvSpPr>
        <p:spPr>
          <a:xfrm>
            <a:off x="395536" y="1124744"/>
            <a:ext cx="8424936" cy="17851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以下关</a:t>
            </a:r>
            <a:r>
              <a:rPr lang="zh-CN" altLang="en-US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以太网的说法中，正确的是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以太网的物理拓扑是总线形结构</a:t>
            </a: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以太网提供有确认的无连接服务</a:t>
            </a:r>
          </a:p>
          <a:p>
            <a:pPr algn="just"/>
            <a:r>
              <a:rPr lang="en-US" altLang="zh-CN" sz="22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2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以太网参考模型一般只包括物理层和数据链路层</a:t>
            </a: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以太网必须使用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CSMA/CD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2A5527-8832-4E11-A571-BE7DAE6D2894}"/>
              </a:ext>
            </a:extLst>
          </p:cNvPr>
          <p:cNvSpPr txBox="1"/>
          <p:nvPr/>
        </p:nvSpPr>
        <p:spPr>
          <a:xfrm>
            <a:off x="467544" y="3132545"/>
            <a:ext cx="763284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02.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网卡实现的主要功能在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2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物理层和数据链路层</a:t>
            </a: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数据链路层和网络层</a:t>
            </a: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物理层和网络层</a:t>
            </a: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数据链路层和应用层</a:t>
            </a:r>
          </a:p>
        </p:txBody>
      </p:sp>
    </p:spTree>
    <p:extLst>
      <p:ext uri="{BB962C8B-B14F-4D97-AF65-F5344CB8AC3E}">
        <p14:creationId xmlns:p14="http://schemas.microsoft.com/office/powerpoint/2010/main" val="273123529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4182</TotalTime>
  <Words>992</Words>
  <Application>Microsoft Office PowerPoint</Application>
  <PresentationFormat>全屏显示(4:3)</PresentationFormat>
  <Paragraphs>108</Paragraphs>
  <Slides>18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黑体</vt:lpstr>
      <vt:lpstr>微软雅黑</vt:lpstr>
      <vt:lpstr>Arial</vt:lpstr>
      <vt:lpstr>Times New Roman</vt:lpstr>
      <vt:lpstr>Verdana</vt:lpstr>
      <vt:lpstr>Wingdings</vt:lpstr>
      <vt:lpstr>Profile</vt:lpstr>
      <vt:lpstr>自定义设计方案</vt:lpstr>
      <vt:lpstr>Microsoft Visio 2000/2002 Drawing</vt:lpstr>
      <vt:lpstr>Visio</vt:lpstr>
      <vt:lpstr>PowerPoint 演示文稿</vt:lpstr>
      <vt:lpstr>PowerPoint 演示文稿</vt:lpstr>
      <vt:lpstr>PowerPoint 演示文稿</vt:lpstr>
      <vt:lpstr>一、局域网的基本概念与体系结构</vt:lpstr>
      <vt:lpstr>局域网的基本概念与体系结构</vt:lpstr>
      <vt:lpstr>局域网的拓扑 </vt:lpstr>
      <vt:lpstr>PowerPoint 演示文稿</vt:lpstr>
      <vt:lpstr>计算机局域网标准</vt:lpstr>
      <vt:lpstr>PowerPoint 演示文稿</vt:lpstr>
      <vt:lpstr>IEEE802参考模型</vt:lpstr>
      <vt:lpstr>一般不考虑 LLC 子层 </vt:lpstr>
      <vt:lpstr>计算机通过网卡和局域网进行通信 </vt:lpstr>
      <vt:lpstr>PowerPoint 演示文稿</vt:lpstr>
      <vt:lpstr>PowerPoint 演示文稿</vt:lpstr>
      <vt:lpstr>PowerPoint 演示文稿</vt:lpstr>
      <vt:lpstr>MAC 地址在收发数据中的作用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wangjimin</cp:lastModifiedBy>
  <cp:revision>554</cp:revision>
  <dcterms:created xsi:type="dcterms:W3CDTF">1601-01-01T00:00:00Z</dcterms:created>
  <dcterms:modified xsi:type="dcterms:W3CDTF">2026-02-24T13:14:22Z</dcterms:modified>
</cp:coreProperties>
</file>