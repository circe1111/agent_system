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  <p:sldMasterId id="2147483661" r:id="rId2"/>
    <p:sldMasterId id="2147483662" r:id="rId3"/>
    <p:sldMasterId id="2147483949" r:id="rId4"/>
    <p:sldMasterId id="2147483965" r:id="rId5"/>
  </p:sldMasterIdLst>
  <p:notesMasterIdLst>
    <p:notesMasterId r:id="rId19"/>
  </p:notesMasterIdLst>
  <p:handoutMasterIdLst>
    <p:handoutMasterId r:id="rId20"/>
  </p:handoutMasterIdLst>
  <p:sldIdLst>
    <p:sldId id="321" r:id="rId6"/>
    <p:sldId id="418" r:id="rId7"/>
    <p:sldId id="419" r:id="rId8"/>
    <p:sldId id="330" r:id="rId9"/>
    <p:sldId id="404" r:id="rId10"/>
    <p:sldId id="421" r:id="rId11"/>
    <p:sldId id="408" r:id="rId12"/>
    <p:sldId id="269" r:id="rId13"/>
    <p:sldId id="332" r:id="rId14"/>
    <p:sldId id="270" r:id="rId15"/>
    <p:sldId id="422" r:id="rId16"/>
    <p:sldId id="423" r:id="rId17"/>
    <p:sldId id="425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Verdana" panose="020B0604030504040204" pitchFamily="34" charset="0"/>
        <a:ea typeface="仿宋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9900FF"/>
    <a:srgbClr val="DDDDDD"/>
    <a:srgbClr val="663300"/>
    <a:srgbClr val="000066"/>
    <a:srgbClr val="CC0000"/>
    <a:srgbClr val="80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46" autoAdjust="0"/>
  </p:normalViewPr>
  <p:slideViewPr>
    <p:cSldViewPr>
      <p:cViewPr varScale="1">
        <p:scale>
          <a:sx n="90" d="100"/>
          <a:sy n="90" d="100"/>
        </p:scale>
        <p:origin x="1185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85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0B416F1-3CCE-43EB-9624-C52F7AA1B9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86277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8754F69-A5A8-4FB6-846C-7C9962F81C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75150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755650" y="1547813"/>
            <a:ext cx="7772400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627313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F7F7F7"/>
                </a:solidFill>
                <a:ea typeface="楷体_GB2312" pitchFamily="49" charset="-122"/>
              </a:rPr>
              <a:t>计算机与信息学院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0" y="6640513"/>
            <a:ext cx="9144000" cy="2444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1" lang="zh-CN" altLang="en-US" sz="1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河海大学计算机与信息学院计算机科学与技术系</a:t>
            </a:r>
            <a:endParaRPr kumimoji="1" lang="en-US" altLang="zh-CN" sz="1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8" name="Picture 8" descr="邓体字徽（白色透明）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19610302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19013380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73187360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71824070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36163344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68616101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195832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198276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32905191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89291358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70054635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96372649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999554396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DEA678-A30E-4FEC-8CF5-13734B1E018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3256076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91FFF9-BD75-47F1-9786-3440E7E5D1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1722338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9EA7E-1D8F-4AD2-B02A-BFD6EA2865F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5679600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E553E-D720-4B67-9E96-985C728BE4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635455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AA912-EB46-4ACE-BD73-9C738AEDF75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8569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C4B3C-333A-44EB-B304-D90BA97148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74529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8394B-E077-43F5-AA77-855F34372AB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1618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022D0-B3AD-4FF3-9646-22A218A86F8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932656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4DFD97-EBC8-452E-B2C9-E16A80B6C4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599461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D78D2-365C-4C0A-842F-70595287B2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8004449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10087-6797-4512-867D-7A3F8797161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8332953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D56696-D369-4C7A-866A-111BA11800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7480295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55667-4621-40AB-B982-9D9B92E2F4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5027128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50FFB-5446-42D7-ACD7-BC6BA3489F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0084462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1CAF3C-20C6-48B0-9D0C-15BEAE4ED48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7757136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14F9B-D445-4C7F-8B41-D82232A1BA4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8141160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E040C1-2CDC-4A65-A233-B52CE69821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8564199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E71C1-1964-451D-A589-0ABA494C83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5490534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00BE4-B065-4574-83AC-2A614066499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08362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B4BEE-562B-403E-AB66-9AC5217369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5786998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D603B9-8C2D-41F3-A25E-1DDE548A07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209458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F3D625-BFBB-4DAF-98ED-ED30A3C1E5F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3331430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2627313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8" name="Picture 15" descr="邓体字徽（白色透明）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574923249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500" y="332656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2590800"/>
            <a:ext cx="80010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495869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0542333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12530541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58978410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2983609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11886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80335460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39293742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58784468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7084435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17843956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4086206414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33836200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3F952D-07EC-4774-A61C-50F07040D618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39158-DD14-40B5-8E0A-AEBA7F6F2B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993451"/>
      </p:ext>
    </p:extLst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2F0073-A5BE-48A5-BA7B-BB9E59340B53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B2138-DA11-45A2-9EE8-E5CAF33829B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2279691"/>
      </p:ext>
    </p:extLst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A6E07-6D36-4B19-8664-18B8F62A7029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03B70-90CF-4DF7-89D5-8061F3C618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50321"/>
      </p:ext>
    </p:extLst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ED6187-054A-4004-ADD1-E040CC28748B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B61EA-997B-4954-97E6-37FAF1C392B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7950160"/>
      </p:ext>
    </p:extLst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F0498F-3ECC-43D2-B846-ADA40669082C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A1F268-6458-425E-ADBA-8FE8E6EF7CE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201925"/>
      </p:ext>
    </p:extLst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33E87-A74D-4603-8C1F-519599B42CD2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99692-A2E2-4A94-B0C1-40A44B9A4E8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0823923"/>
      </p:ext>
    </p:extLst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182CC-647A-4C08-8D3A-34CD7CE0FEB9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3D777-3760-4C6E-84A8-3867343B53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0961987"/>
      </p:ext>
    </p:extLst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68639-0113-4140-A951-ED7DA612A13E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FCF03B-48C2-4FD8-9DAF-9F37E4602B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9329343"/>
      </p:ext>
    </p:extLst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B3C0D-D470-4294-B8CC-74080C83A027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9B563-BCFC-4541-8B9F-9A3627517F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132746"/>
      </p:ext>
    </p:extLst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248FA-79BA-4E30-B705-06A9E9D0ABA6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020637-66D5-4547-BC0D-AB1A762706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6978592"/>
      </p:ext>
    </p:extLst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EFCEE-2D40-45AC-BDE8-8F72B55F8DFA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E9F49F-14B1-4819-AB33-A363ADE004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6767443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47"/>
            </a:gs>
            <a:gs pos="100000">
              <a:srgbClr val="0000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9pPr>
          </a:lstStyle>
          <a:p>
            <a:pPr algn="ctr" eaLnBrk="1" hangingPunct="1">
              <a:defRPr/>
            </a:pPr>
            <a:r>
              <a:rPr kumimoji="1" lang="zh-CN" altLang="en-US" sz="1000">
                <a:solidFill>
                  <a:schemeClr val="bg1"/>
                </a:solidFill>
                <a:latin typeface="Times New Roman" pitchFamily="18" charset="0"/>
                <a:ea typeface="宋体" pitchFamily="2" charset="-122"/>
              </a:rPr>
              <a:t>河海大学计算机与信息学院计算机科学与技术系 </a:t>
            </a:r>
            <a:endParaRPr kumimoji="1" lang="en-US" altLang="zh-CN" sz="1000">
              <a:solidFill>
                <a:schemeClr val="bg1"/>
              </a:solidFill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2484438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itchFamily="34" charset="0"/>
                <a:ea typeface="仿宋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F7F7F7"/>
                </a:solidFill>
                <a:ea typeface="楷体_GB2312" pitchFamily="49" charset="-122"/>
              </a:rPr>
              <a:t>计算机与信息学院</a:t>
            </a:r>
          </a:p>
        </p:txBody>
      </p:sp>
      <p:pic>
        <p:nvPicPr>
          <p:cNvPr id="1032" name="Picture 8" descr="邓体字徽（白色透明）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89" r:id="rId1"/>
    <p:sldLayoutId id="2147484231" r:id="rId2"/>
    <p:sldLayoutId id="2147484232" r:id="rId3"/>
    <p:sldLayoutId id="2147484233" r:id="rId4"/>
    <p:sldLayoutId id="2147484234" r:id="rId5"/>
    <p:sldLayoutId id="2147484235" r:id="rId6"/>
    <p:sldLayoutId id="2147484236" r:id="rId7"/>
    <p:sldLayoutId id="2147484237" r:id="rId8"/>
    <p:sldLayoutId id="2147484238" r:id="rId9"/>
    <p:sldLayoutId id="2147484239" r:id="rId10"/>
    <p:sldLayoutId id="2147484240" r:id="rId11"/>
    <p:sldLayoutId id="2147484241" r:id="rId12"/>
    <p:sldLayoutId id="2147484242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47"/>
            </a:gs>
            <a:gs pos="100000">
              <a:srgbClr val="0000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730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30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30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2DD00B8-4671-426B-BF63-188EB5FA820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3" r:id="rId1"/>
    <p:sldLayoutId id="2147484244" r:id="rId2"/>
    <p:sldLayoutId id="2147484245" r:id="rId3"/>
    <p:sldLayoutId id="2147484246" r:id="rId4"/>
    <p:sldLayoutId id="2147484247" r:id="rId5"/>
    <p:sldLayoutId id="2147484248" r:id="rId6"/>
    <p:sldLayoutId id="2147484249" r:id="rId7"/>
    <p:sldLayoutId id="2147484250" r:id="rId8"/>
    <p:sldLayoutId id="2147484251" r:id="rId9"/>
    <p:sldLayoutId id="2147484252" r:id="rId10"/>
    <p:sldLayoutId id="2147484253" r:id="rId11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0047"/>
            </a:gs>
            <a:gs pos="100000">
              <a:srgbClr val="0000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741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41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41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03456B5-F3C9-4537-9334-605B166B3EB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4" r:id="rId1"/>
    <p:sldLayoutId id="2147484255" r:id="rId2"/>
    <p:sldLayoutId id="2147484256" r:id="rId3"/>
    <p:sldLayoutId id="2147484257" r:id="rId4"/>
    <p:sldLayoutId id="2147484258" r:id="rId5"/>
    <p:sldLayoutId id="2147484259" r:id="rId6"/>
    <p:sldLayoutId id="2147484260" r:id="rId7"/>
    <p:sldLayoutId id="2147484261" r:id="rId8"/>
    <p:sldLayoutId id="2147484262" r:id="rId9"/>
    <p:sldLayoutId id="2147484263" r:id="rId10"/>
    <p:sldLayoutId id="2147484264" r:id="rId11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102" name="Picture 13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14"/>
          <p:cNvSpPr txBox="1">
            <a:spLocks noChangeArrowheads="1"/>
          </p:cNvSpPr>
          <p:nvPr/>
        </p:nvSpPr>
        <p:spPr bwMode="auto">
          <a:xfrm>
            <a:off x="2484438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4104" name="Picture 15" descr="邓体字徽（白色透明）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90" r:id="rId1"/>
    <p:sldLayoutId id="2147484265" r:id="rId2"/>
    <p:sldLayoutId id="2147484266" r:id="rId3"/>
    <p:sldLayoutId id="2147484267" r:id="rId4"/>
    <p:sldLayoutId id="2147484268" r:id="rId5"/>
    <p:sldLayoutId id="2147484269" r:id="rId6"/>
    <p:sldLayoutId id="2147484270" r:id="rId7"/>
    <p:sldLayoutId id="2147484271" r:id="rId8"/>
    <p:sldLayoutId id="2147484272" r:id="rId9"/>
    <p:sldLayoutId id="2147484273" r:id="rId10"/>
    <p:sldLayoutId id="2147484274" r:id="rId11"/>
    <p:sldLayoutId id="2147484275" r:id="rId12"/>
    <p:sldLayoutId id="2147484276" r:id="rId13"/>
    <p:sldLayoutId id="2147484277" r:id="rId14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E51F617A-9CAE-4390-8582-E7BDE07550A7}" type="datetime11">
              <a:rPr lang="zh-CN" altLang="en-US"/>
              <a:pPr>
                <a:defRPr/>
              </a:pPr>
              <a:t>11:58:53</a:t>
            </a:fld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16582BE-DBAD-4000-A6D1-0244ABBE3E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8" r:id="rId1"/>
    <p:sldLayoutId id="2147484279" r:id="rId2"/>
    <p:sldLayoutId id="2147484280" r:id="rId3"/>
    <p:sldLayoutId id="2147484281" r:id="rId4"/>
    <p:sldLayoutId id="2147484282" r:id="rId5"/>
    <p:sldLayoutId id="2147484283" r:id="rId6"/>
    <p:sldLayoutId id="2147484284" r:id="rId7"/>
    <p:sldLayoutId id="2147484285" r:id="rId8"/>
    <p:sldLayoutId id="2147484286" r:id="rId9"/>
    <p:sldLayoutId id="2147484287" r:id="rId10"/>
    <p:sldLayoutId id="2147484288" r:id="rId11"/>
  </p:sldLayoutIdLst>
  <p:transition spd="slow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987675" y="2852738"/>
            <a:ext cx="3008313" cy="73025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传输层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836712"/>
            <a:ext cx="3008313" cy="73025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49" charset="-122"/>
                <a:ea typeface="黑体" pitchFamily="49" charset="-122"/>
              </a:rPr>
              <a:t>主要内容</a:t>
            </a:r>
          </a:p>
        </p:txBody>
      </p:sp>
      <p:sp>
        <p:nvSpPr>
          <p:cNvPr id="3" name="Text Box 242">
            <a:extLst>
              <a:ext uri="{FF2B5EF4-FFF2-40B4-BE49-F238E27FC236}">
                <a16:creationId xmlns:a16="http://schemas.microsoft.com/office/drawing/2014/main" id="{28E4B2DA-FA98-447F-80D6-742418D4B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2205152"/>
            <a:ext cx="453687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（一）传输层的任务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（二）传输层寻址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（三）传输层提供的服务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（四）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（五）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323043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42">
            <a:extLst>
              <a:ext uri="{FF2B5EF4-FFF2-40B4-BE49-F238E27FC236}">
                <a16:creationId xmlns:a16="http://schemas.microsoft.com/office/drawing/2014/main" id="{28E4B2DA-FA98-447F-80D6-742418D4B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284984"/>
            <a:ext cx="45368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（一）传输层的任务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05982D0-AF45-4794-B050-A02E23FD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262501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908050"/>
            <a:ext cx="7843838" cy="703263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传输层的任务是实现进程之间的数据传递</a:t>
            </a:r>
            <a:endParaRPr lang="en-US" altLang="zh-CN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1924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1268" name="Text Box 242"/>
          <p:cNvSpPr txBox="1">
            <a:spLocks noChangeArrowheads="1"/>
          </p:cNvSpPr>
          <p:nvPr/>
        </p:nvSpPr>
        <p:spPr bwMode="auto">
          <a:xfrm>
            <a:off x="611188" y="1946275"/>
            <a:ext cx="81375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将数据从进程传递到进程，实现进程之间的数据传递。</a:t>
            </a:r>
            <a:endParaRPr lang="en-US" altLang="zh-CN" sz="2400" b="1" dirty="0">
              <a:latin typeface="宋体" panose="02010600030101010101" pitchFamily="2" charset="-122"/>
            </a:endParaRPr>
          </a:p>
        </p:txBody>
      </p:sp>
      <p:pic>
        <p:nvPicPr>
          <p:cNvPr id="11269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781300"/>
            <a:ext cx="6335712" cy="370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395536" y="1988840"/>
            <a:ext cx="1824037" cy="4254500"/>
          </a:xfrm>
          <a:prstGeom prst="rect">
            <a:avLst/>
          </a:prstGeom>
          <a:solidFill>
            <a:srgbClr val="B0DEF5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387598" y="4447877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382836" y="5081290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4" name="Line 6"/>
          <p:cNvSpPr>
            <a:spLocks noChangeShapeType="1"/>
          </p:cNvSpPr>
          <p:nvPr/>
        </p:nvSpPr>
        <p:spPr bwMode="auto">
          <a:xfrm>
            <a:off x="401886" y="5702002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5" name="Line 7"/>
          <p:cNvSpPr>
            <a:spLocks noChangeShapeType="1"/>
          </p:cNvSpPr>
          <p:nvPr/>
        </p:nvSpPr>
        <p:spPr bwMode="auto">
          <a:xfrm>
            <a:off x="382836" y="3816052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392361" y="3831927"/>
            <a:ext cx="1817687" cy="606425"/>
          </a:xfrm>
          <a:prstGeom prst="rect">
            <a:avLst/>
          </a:prstGeom>
          <a:solidFill>
            <a:srgbClr val="CC0000"/>
          </a:solidFill>
          <a:ln w="28575">
            <a:solidFill>
              <a:srgbClr val="CC000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789236" y="3903365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FF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FF00"/>
                </a:solidFill>
                <a:latin typeface="Helvetica" panose="020B0604020202020204" pitchFamily="34" charset="0"/>
                <a:ea typeface="黑体" panose="02010609060101010101" pitchFamily="49" charset="-122"/>
              </a:rPr>
              <a:t>传输层</a:t>
            </a:r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392361" y="5073352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2299" name="Text Box 11"/>
          <p:cNvSpPr txBox="1">
            <a:spLocks noChangeArrowheads="1"/>
          </p:cNvSpPr>
          <p:nvPr/>
        </p:nvSpPr>
        <p:spPr bwMode="auto">
          <a:xfrm>
            <a:off x="617786" y="5179715"/>
            <a:ext cx="132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数据链路层</a:t>
            </a:r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392361" y="4466927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846386" y="455900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网络层</a:t>
            </a:r>
          </a:p>
        </p:txBody>
      </p:sp>
      <p:sp>
        <p:nvSpPr>
          <p:cNvPr id="12303" name="Line 15"/>
          <p:cNvSpPr>
            <a:spLocks noChangeShapeType="1"/>
          </p:cNvSpPr>
          <p:nvPr/>
        </p:nvSpPr>
        <p:spPr bwMode="auto">
          <a:xfrm>
            <a:off x="401886" y="5633740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408236" y="5673427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2306" name="Text Box 18"/>
          <p:cNvSpPr txBox="1">
            <a:spLocks noChangeArrowheads="1"/>
          </p:cNvSpPr>
          <p:nvPr/>
        </p:nvSpPr>
        <p:spPr bwMode="auto">
          <a:xfrm>
            <a:off x="846386" y="5789315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物理层</a:t>
            </a:r>
          </a:p>
        </p:txBody>
      </p:sp>
      <p:sp>
        <p:nvSpPr>
          <p:cNvPr id="12308" name="Line 20"/>
          <p:cNvSpPr>
            <a:spLocks noChangeShapeType="1"/>
          </p:cNvSpPr>
          <p:nvPr/>
        </p:nvSpPr>
        <p:spPr bwMode="auto">
          <a:xfrm>
            <a:off x="401886" y="3127077"/>
            <a:ext cx="1825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09" name="Line 21"/>
          <p:cNvSpPr>
            <a:spLocks noChangeShapeType="1"/>
          </p:cNvSpPr>
          <p:nvPr/>
        </p:nvSpPr>
        <p:spPr bwMode="auto">
          <a:xfrm>
            <a:off x="397123" y="2552402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10" name="Line 22"/>
          <p:cNvSpPr>
            <a:spLocks noChangeShapeType="1"/>
          </p:cNvSpPr>
          <p:nvPr/>
        </p:nvSpPr>
        <p:spPr bwMode="auto">
          <a:xfrm>
            <a:off x="393948" y="2587327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11" name="Line 23"/>
          <p:cNvSpPr>
            <a:spLocks noChangeShapeType="1"/>
          </p:cNvSpPr>
          <p:nvPr/>
        </p:nvSpPr>
        <p:spPr bwMode="auto">
          <a:xfrm>
            <a:off x="374898" y="3215977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12" name="Line 24"/>
          <p:cNvSpPr>
            <a:spLocks noChangeShapeType="1"/>
          </p:cNvSpPr>
          <p:nvPr/>
        </p:nvSpPr>
        <p:spPr bwMode="auto">
          <a:xfrm>
            <a:off x="370136" y="2584152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13" name="Line 25"/>
          <p:cNvSpPr>
            <a:spLocks noChangeShapeType="1"/>
          </p:cNvSpPr>
          <p:nvPr/>
        </p:nvSpPr>
        <p:spPr bwMode="auto">
          <a:xfrm>
            <a:off x="351086" y="3193752"/>
            <a:ext cx="1824037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314" name="Rectangle 26"/>
          <p:cNvSpPr>
            <a:spLocks noChangeArrowheads="1"/>
          </p:cNvSpPr>
          <p:nvPr/>
        </p:nvSpPr>
        <p:spPr bwMode="auto">
          <a:xfrm>
            <a:off x="370136" y="1966615"/>
            <a:ext cx="1862137" cy="619125"/>
          </a:xfrm>
          <a:prstGeom prst="rect">
            <a:avLst/>
          </a:prstGeom>
          <a:solidFill>
            <a:srgbClr val="99CC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2315" name="Rectangle 27"/>
          <p:cNvSpPr>
            <a:spLocks noChangeArrowheads="1"/>
          </p:cNvSpPr>
          <p:nvPr/>
        </p:nvSpPr>
        <p:spPr bwMode="auto">
          <a:xfrm>
            <a:off x="379661" y="2587327"/>
            <a:ext cx="1865312" cy="606425"/>
          </a:xfrm>
          <a:prstGeom prst="rect">
            <a:avLst/>
          </a:prstGeom>
          <a:solidFill>
            <a:srgbClr val="99CC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2316" name="Rectangle 28"/>
          <p:cNvSpPr>
            <a:spLocks noChangeArrowheads="1"/>
          </p:cNvSpPr>
          <p:nvPr/>
        </p:nvSpPr>
        <p:spPr bwMode="auto">
          <a:xfrm>
            <a:off x="379661" y="3200102"/>
            <a:ext cx="1865312" cy="549275"/>
          </a:xfrm>
          <a:prstGeom prst="rect">
            <a:avLst/>
          </a:prstGeom>
          <a:solidFill>
            <a:srgbClr val="99CC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871786" y="3262015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会话层</a:t>
            </a:r>
          </a:p>
        </p:txBody>
      </p:sp>
      <p:sp>
        <p:nvSpPr>
          <p:cNvPr id="12319" name="Text Box 31"/>
          <p:cNvSpPr txBox="1">
            <a:spLocks noChangeArrowheads="1"/>
          </p:cNvSpPr>
          <p:nvPr/>
        </p:nvSpPr>
        <p:spPr bwMode="auto">
          <a:xfrm>
            <a:off x="871786" y="2660352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表示层</a:t>
            </a:r>
          </a:p>
        </p:txBody>
      </p:sp>
      <p:sp>
        <p:nvSpPr>
          <p:cNvPr id="12320" name="Text Box 32"/>
          <p:cNvSpPr txBox="1">
            <a:spLocks noChangeArrowheads="1"/>
          </p:cNvSpPr>
          <p:nvPr/>
        </p:nvSpPr>
        <p:spPr bwMode="auto">
          <a:xfrm>
            <a:off x="871786" y="2058690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应用层</a:t>
            </a:r>
          </a:p>
        </p:txBody>
      </p:sp>
      <p:sp>
        <p:nvSpPr>
          <p:cNvPr id="9250" name="Rectangle 34"/>
          <p:cNvSpPr>
            <a:spLocks noGrp="1" noChangeArrowheads="1"/>
          </p:cNvSpPr>
          <p:nvPr>
            <p:ph type="title"/>
          </p:nvPr>
        </p:nvSpPr>
        <p:spPr>
          <a:xfrm>
            <a:off x="500063" y="1052736"/>
            <a:ext cx="6088161" cy="514127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传输层在</a:t>
            </a:r>
            <a:r>
              <a:rPr lang="en-US" altLang="zh-CN" sz="2800" b="1" dirty="0">
                <a:solidFill>
                  <a:schemeClr val="tx1"/>
                </a:solidFill>
                <a:latin typeface="+mn-ea"/>
                <a:ea typeface="+mn-ea"/>
              </a:rPr>
              <a:t>OSI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协议层次结构中的位置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22E5A98A-D9EB-4379-B950-0901B5BC6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027" y="2004715"/>
            <a:ext cx="1824037" cy="4254500"/>
          </a:xfrm>
          <a:prstGeom prst="rect">
            <a:avLst/>
          </a:prstGeom>
          <a:solidFill>
            <a:srgbClr val="B0DEF5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36" name="Line 4">
            <a:extLst>
              <a:ext uri="{FF2B5EF4-FFF2-40B4-BE49-F238E27FC236}">
                <a16:creationId xmlns:a16="http://schemas.microsoft.com/office/drawing/2014/main" id="{B3C0E732-3B05-4368-AC3C-725C1E1E9C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1089" y="4463752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7" name="Line 5">
            <a:extLst>
              <a:ext uri="{FF2B5EF4-FFF2-40B4-BE49-F238E27FC236}">
                <a16:creationId xmlns:a16="http://schemas.microsoft.com/office/drawing/2014/main" id="{361A1405-0794-4924-A0A8-8F7FDE4AE8B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6327" y="5097165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" name="Line 6">
            <a:extLst>
              <a:ext uri="{FF2B5EF4-FFF2-40B4-BE49-F238E27FC236}">
                <a16:creationId xmlns:a16="http://schemas.microsoft.com/office/drawing/2014/main" id="{DD5364FE-5C1A-4DBB-BC50-D111D5CEFC3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377" y="5717877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74D12A21-F403-4D33-B07C-DF3592D4F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6327" y="3831927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1EE1AA2B-895E-4444-9814-2A8132B61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5852" y="3847802"/>
            <a:ext cx="1817687" cy="606425"/>
          </a:xfrm>
          <a:prstGeom prst="rect">
            <a:avLst/>
          </a:prstGeom>
          <a:solidFill>
            <a:srgbClr val="CC0000"/>
          </a:solidFill>
          <a:ln w="28575">
            <a:solidFill>
              <a:srgbClr val="CC000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41" name="Text Box 9">
            <a:extLst>
              <a:ext uri="{FF2B5EF4-FFF2-40B4-BE49-F238E27FC236}">
                <a16:creationId xmlns:a16="http://schemas.microsoft.com/office/drawing/2014/main" id="{A098DED3-8D21-4B76-BA12-B420D8761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2727" y="3919240"/>
            <a:ext cx="1103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FF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FF00"/>
                </a:solidFill>
                <a:latin typeface="Helvetica" panose="020B0604020202020204" pitchFamily="34" charset="0"/>
                <a:ea typeface="黑体" panose="02010609060101010101" pitchFamily="49" charset="-122"/>
              </a:rPr>
              <a:t>传输层</a:t>
            </a: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21E136DE-8DEE-4836-8C29-780AEC492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5852" y="5089227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43" name="Text Box 11">
            <a:extLst>
              <a:ext uri="{FF2B5EF4-FFF2-40B4-BE49-F238E27FC236}">
                <a16:creationId xmlns:a16="http://schemas.microsoft.com/office/drawing/2014/main" id="{7F2506CD-050B-4F7F-B432-B9AD506D1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1277" y="5195590"/>
            <a:ext cx="132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数据链路层</a:t>
            </a: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39B0A0B6-839A-41D9-A22F-2BD77B6D1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5852" y="4482802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45" name="Text Box 13">
            <a:extLst>
              <a:ext uri="{FF2B5EF4-FFF2-40B4-BE49-F238E27FC236}">
                <a16:creationId xmlns:a16="http://schemas.microsoft.com/office/drawing/2014/main" id="{DAC45F31-946A-499C-8F59-E1D36B1BE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877" y="4574877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网络层</a:t>
            </a:r>
          </a:p>
        </p:txBody>
      </p:sp>
      <p:sp>
        <p:nvSpPr>
          <p:cNvPr id="46" name="Line 15">
            <a:extLst>
              <a:ext uri="{FF2B5EF4-FFF2-40B4-BE49-F238E27FC236}">
                <a16:creationId xmlns:a16="http://schemas.microsoft.com/office/drawing/2014/main" id="{8C1EEEFD-771B-4279-90A4-5B761E7ED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377" y="5649615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8" name="Rectangle 17">
            <a:extLst>
              <a:ext uri="{FF2B5EF4-FFF2-40B4-BE49-F238E27FC236}">
                <a16:creationId xmlns:a16="http://schemas.microsoft.com/office/drawing/2014/main" id="{E7843761-E193-481F-8FB1-E118BAAD5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727" y="5689302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49" name="Text Box 18">
            <a:extLst>
              <a:ext uri="{FF2B5EF4-FFF2-40B4-BE49-F238E27FC236}">
                <a16:creationId xmlns:a16="http://schemas.microsoft.com/office/drawing/2014/main" id="{CAD99F23-1F93-4081-A54D-E552F799D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9877" y="5805190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物理层</a:t>
            </a:r>
          </a:p>
        </p:txBody>
      </p:sp>
      <p:sp>
        <p:nvSpPr>
          <p:cNvPr id="50" name="Line 20">
            <a:extLst>
              <a:ext uri="{FF2B5EF4-FFF2-40B4-BE49-F238E27FC236}">
                <a16:creationId xmlns:a16="http://schemas.microsoft.com/office/drawing/2014/main" id="{EEA209FB-AC58-49A0-AE56-5192072B7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5377" y="3142952"/>
            <a:ext cx="1825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" name="Line 21">
            <a:extLst>
              <a:ext uri="{FF2B5EF4-FFF2-40B4-BE49-F238E27FC236}">
                <a16:creationId xmlns:a16="http://schemas.microsoft.com/office/drawing/2014/main" id="{F247D632-AE84-4FFC-A063-2FBA9F675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00614" y="2568277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" name="Line 22">
            <a:extLst>
              <a:ext uri="{FF2B5EF4-FFF2-40B4-BE49-F238E27FC236}">
                <a16:creationId xmlns:a16="http://schemas.microsoft.com/office/drawing/2014/main" id="{93F24359-A388-41A8-882D-924E200FE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7439" y="2603202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" name="Line 23">
            <a:extLst>
              <a:ext uri="{FF2B5EF4-FFF2-40B4-BE49-F238E27FC236}">
                <a16:creationId xmlns:a16="http://schemas.microsoft.com/office/drawing/2014/main" id="{E7016237-657D-4398-A548-C8C3987BF7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8389" y="3231852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" name="Line 24">
            <a:extLst>
              <a:ext uri="{FF2B5EF4-FFF2-40B4-BE49-F238E27FC236}">
                <a16:creationId xmlns:a16="http://schemas.microsoft.com/office/drawing/2014/main" id="{2F8D8A99-1C5B-44CB-A97F-D56F1C51B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3627" y="2600027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" name="Line 25">
            <a:extLst>
              <a:ext uri="{FF2B5EF4-FFF2-40B4-BE49-F238E27FC236}">
                <a16:creationId xmlns:a16="http://schemas.microsoft.com/office/drawing/2014/main" id="{821E58A0-E2F4-417D-82F4-B2AAACCD3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4577" y="3209627"/>
            <a:ext cx="1824037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" name="Rectangle 26">
            <a:extLst>
              <a:ext uri="{FF2B5EF4-FFF2-40B4-BE49-F238E27FC236}">
                <a16:creationId xmlns:a16="http://schemas.microsoft.com/office/drawing/2014/main" id="{FE9C2E5C-7352-47F5-BDF6-544F413F6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627" y="1982490"/>
            <a:ext cx="1862137" cy="619125"/>
          </a:xfrm>
          <a:prstGeom prst="rect">
            <a:avLst/>
          </a:prstGeom>
          <a:solidFill>
            <a:srgbClr val="99CC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AF243788-C445-421B-855A-5BAAA81E8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152" y="2603202"/>
            <a:ext cx="1865312" cy="606425"/>
          </a:xfrm>
          <a:prstGeom prst="rect">
            <a:avLst/>
          </a:prstGeom>
          <a:solidFill>
            <a:srgbClr val="99CC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58" name="Rectangle 28">
            <a:extLst>
              <a:ext uri="{FF2B5EF4-FFF2-40B4-BE49-F238E27FC236}">
                <a16:creationId xmlns:a16="http://schemas.microsoft.com/office/drawing/2014/main" id="{74CCAA40-C071-4104-BFF0-D48108A19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3152" y="3215977"/>
            <a:ext cx="1865312" cy="549275"/>
          </a:xfrm>
          <a:prstGeom prst="rect">
            <a:avLst/>
          </a:prstGeom>
          <a:solidFill>
            <a:srgbClr val="99CC00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59" name="Text Box 30">
            <a:extLst>
              <a:ext uri="{FF2B5EF4-FFF2-40B4-BE49-F238E27FC236}">
                <a16:creationId xmlns:a16="http://schemas.microsoft.com/office/drawing/2014/main" id="{8C47AF85-E9A2-4DF1-B28C-A313E6AF5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277" y="3277890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会话层</a:t>
            </a:r>
          </a:p>
        </p:txBody>
      </p:sp>
      <p:sp>
        <p:nvSpPr>
          <p:cNvPr id="60" name="Text Box 31">
            <a:extLst>
              <a:ext uri="{FF2B5EF4-FFF2-40B4-BE49-F238E27FC236}">
                <a16:creationId xmlns:a16="http://schemas.microsoft.com/office/drawing/2014/main" id="{F939AD9B-D440-416D-A130-8333EB5D2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277" y="2676227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表示层</a:t>
            </a:r>
          </a:p>
        </p:txBody>
      </p:sp>
      <p:sp>
        <p:nvSpPr>
          <p:cNvPr id="61" name="Text Box 32">
            <a:extLst>
              <a:ext uri="{FF2B5EF4-FFF2-40B4-BE49-F238E27FC236}">
                <a16:creationId xmlns:a16="http://schemas.microsoft.com/office/drawing/2014/main" id="{F61C5E9C-AA38-4E57-81A8-413FDF150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277" y="2074565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应用层</a:t>
            </a:r>
          </a:p>
        </p:txBody>
      </p:sp>
      <p:sp>
        <p:nvSpPr>
          <p:cNvPr id="73" name="Line 4">
            <a:extLst>
              <a:ext uri="{FF2B5EF4-FFF2-40B4-BE49-F238E27FC236}">
                <a16:creationId xmlns:a16="http://schemas.microsoft.com/office/drawing/2014/main" id="{6C507A88-9C06-4147-BF5D-3F9A04C34D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2790" y="4434658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4" name="Line 5">
            <a:extLst>
              <a:ext uri="{FF2B5EF4-FFF2-40B4-BE49-F238E27FC236}">
                <a16:creationId xmlns:a16="http://schemas.microsoft.com/office/drawing/2014/main" id="{85E9AC5E-B772-49A8-848C-8421E46CF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8028" y="5068071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5" name="Line 6">
            <a:extLst>
              <a:ext uri="{FF2B5EF4-FFF2-40B4-BE49-F238E27FC236}">
                <a16:creationId xmlns:a16="http://schemas.microsoft.com/office/drawing/2014/main" id="{97F9241B-DB67-4DCF-8202-22ADA848F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7078" y="5688783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6" name="Rectangle 10">
            <a:extLst>
              <a:ext uri="{FF2B5EF4-FFF2-40B4-BE49-F238E27FC236}">
                <a16:creationId xmlns:a16="http://schemas.microsoft.com/office/drawing/2014/main" id="{67E1F213-76D8-4E6D-9B41-103EBB42A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553" y="5060133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77" name="Text Box 11">
            <a:extLst>
              <a:ext uri="{FF2B5EF4-FFF2-40B4-BE49-F238E27FC236}">
                <a16:creationId xmlns:a16="http://schemas.microsoft.com/office/drawing/2014/main" id="{75B57D9B-994D-4E46-9C97-346C0CE64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2978" y="5166496"/>
            <a:ext cx="132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数据链路层</a:t>
            </a:r>
          </a:p>
        </p:txBody>
      </p:sp>
      <p:sp>
        <p:nvSpPr>
          <p:cNvPr id="78" name="Rectangle 12">
            <a:extLst>
              <a:ext uri="{FF2B5EF4-FFF2-40B4-BE49-F238E27FC236}">
                <a16:creationId xmlns:a16="http://schemas.microsoft.com/office/drawing/2014/main" id="{2AD81372-7697-4E9B-8B52-C2534C110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7552" y="4432674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79" name="Text Box 13">
            <a:extLst>
              <a:ext uri="{FF2B5EF4-FFF2-40B4-BE49-F238E27FC236}">
                <a16:creationId xmlns:a16="http://schemas.microsoft.com/office/drawing/2014/main" id="{3A8FBA2E-BB64-43FD-A130-BE69D0E7C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1578" y="4545783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网络层</a:t>
            </a:r>
          </a:p>
        </p:txBody>
      </p:sp>
      <p:sp>
        <p:nvSpPr>
          <p:cNvPr id="80" name="Line 15">
            <a:extLst>
              <a:ext uri="{FF2B5EF4-FFF2-40B4-BE49-F238E27FC236}">
                <a16:creationId xmlns:a16="http://schemas.microsoft.com/office/drawing/2014/main" id="{EC154D7D-9D0B-46DC-93A2-03FBFBCB1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7078" y="5620521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" name="Rectangle 17">
            <a:extLst>
              <a:ext uri="{FF2B5EF4-FFF2-40B4-BE49-F238E27FC236}">
                <a16:creationId xmlns:a16="http://schemas.microsoft.com/office/drawing/2014/main" id="{A8D4A59F-AB5B-410B-8C5A-8D593C304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8347" y="5662589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83" name="Text Box 18">
            <a:extLst>
              <a:ext uri="{FF2B5EF4-FFF2-40B4-BE49-F238E27FC236}">
                <a16:creationId xmlns:a16="http://schemas.microsoft.com/office/drawing/2014/main" id="{FECADC5B-0B97-43B5-A0C8-70A2DEBE2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1578" y="5776096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物理层</a:t>
            </a:r>
          </a:p>
        </p:txBody>
      </p:sp>
      <p:sp>
        <p:nvSpPr>
          <p:cNvPr id="84" name="Line 4">
            <a:extLst>
              <a:ext uri="{FF2B5EF4-FFF2-40B4-BE49-F238E27FC236}">
                <a16:creationId xmlns:a16="http://schemas.microsoft.com/office/drawing/2014/main" id="{48B52316-31A7-48AB-AAB8-FB055AF27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5897" y="4462935"/>
            <a:ext cx="18240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5" name="Line 5">
            <a:extLst>
              <a:ext uri="{FF2B5EF4-FFF2-40B4-BE49-F238E27FC236}">
                <a16:creationId xmlns:a16="http://schemas.microsoft.com/office/drawing/2014/main" id="{8F483C64-088F-47F8-A86A-908AB4196C7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1135" y="5096348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6" name="Line 6">
            <a:extLst>
              <a:ext uri="{FF2B5EF4-FFF2-40B4-BE49-F238E27FC236}">
                <a16:creationId xmlns:a16="http://schemas.microsoft.com/office/drawing/2014/main" id="{4E290862-BC5F-440A-A6F9-22721424B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0185" y="5717060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" name="Rectangle 10">
            <a:extLst>
              <a:ext uri="{FF2B5EF4-FFF2-40B4-BE49-F238E27FC236}">
                <a16:creationId xmlns:a16="http://schemas.microsoft.com/office/drawing/2014/main" id="{9F0590E2-0BF2-4B17-8249-F4FA22F77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660" y="5088410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88" name="Text Box 11">
            <a:extLst>
              <a:ext uri="{FF2B5EF4-FFF2-40B4-BE49-F238E27FC236}">
                <a16:creationId xmlns:a16="http://schemas.microsoft.com/office/drawing/2014/main" id="{822D8756-1C4C-430B-B714-7FE3E72C3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085" y="5194773"/>
            <a:ext cx="1327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数据链路层</a:t>
            </a:r>
          </a:p>
        </p:txBody>
      </p:sp>
      <p:sp>
        <p:nvSpPr>
          <p:cNvPr id="89" name="Rectangle 12">
            <a:extLst>
              <a:ext uri="{FF2B5EF4-FFF2-40B4-BE49-F238E27FC236}">
                <a16:creationId xmlns:a16="http://schemas.microsoft.com/office/drawing/2014/main" id="{B4D1E7E5-A49F-4EC6-AA69-7CAC3C06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660" y="4481985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90" name="Text Box 13">
            <a:extLst>
              <a:ext uri="{FF2B5EF4-FFF2-40B4-BE49-F238E27FC236}">
                <a16:creationId xmlns:a16="http://schemas.microsoft.com/office/drawing/2014/main" id="{1BF53EB2-C197-4828-85D4-1D2FD67DD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685" y="4574060"/>
            <a:ext cx="869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网络层</a:t>
            </a:r>
          </a:p>
        </p:txBody>
      </p:sp>
      <p:sp>
        <p:nvSpPr>
          <p:cNvPr id="91" name="Line 15">
            <a:extLst>
              <a:ext uri="{FF2B5EF4-FFF2-40B4-BE49-F238E27FC236}">
                <a16:creationId xmlns:a16="http://schemas.microsoft.com/office/drawing/2014/main" id="{8882D14B-957D-4BD9-ADB6-657080CFB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0185" y="5648798"/>
            <a:ext cx="18240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" name="Rectangle 17">
            <a:extLst>
              <a:ext uri="{FF2B5EF4-FFF2-40B4-BE49-F238E27FC236}">
                <a16:creationId xmlns:a16="http://schemas.microsoft.com/office/drawing/2014/main" id="{9F94C901-A2C5-452C-A28D-63BCFFC71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1454" y="5690866"/>
            <a:ext cx="1817687" cy="606425"/>
          </a:xfrm>
          <a:prstGeom prst="rect">
            <a:avLst/>
          </a:prstGeom>
          <a:solidFill>
            <a:srgbClr val="FFCC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93" name="Text Box 18">
            <a:extLst>
              <a:ext uri="{FF2B5EF4-FFF2-40B4-BE49-F238E27FC236}">
                <a16:creationId xmlns:a16="http://schemas.microsoft.com/office/drawing/2014/main" id="{ABDD7599-CD6E-443F-85BC-2EC060881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685" y="5804373"/>
            <a:ext cx="869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latin typeface="Helvetica" panose="020B0604020202020204" pitchFamily="34" charset="0"/>
              </a:rPr>
              <a:t>物理层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547C928A-E8A9-47A7-8C2F-2B4E5CAEC83A}"/>
              </a:ext>
            </a:extLst>
          </p:cNvPr>
          <p:cNvSpPr/>
          <p:nvPr/>
        </p:nvSpPr>
        <p:spPr bwMode="auto">
          <a:xfrm>
            <a:off x="1919288" y="6305550"/>
            <a:ext cx="947737" cy="185738"/>
          </a:xfrm>
          <a:custGeom>
            <a:avLst/>
            <a:gdLst>
              <a:gd name="connsiteX0" fmla="*/ 0 w 947737"/>
              <a:gd name="connsiteY0" fmla="*/ 0 h 185738"/>
              <a:gd name="connsiteX1" fmla="*/ 23812 w 947737"/>
              <a:gd name="connsiteY1" fmla="*/ 80963 h 185738"/>
              <a:gd name="connsiteX2" fmla="*/ 38100 w 947737"/>
              <a:gd name="connsiteY2" fmla="*/ 114300 h 185738"/>
              <a:gd name="connsiteX3" fmla="*/ 104775 w 947737"/>
              <a:gd name="connsiteY3" fmla="*/ 147638 h 185738"/>
              <a:gd name="connsiteX4" fmla="*/ 133350 w 947737"/>
              <a:gd name="connsiteY4" fmla="*/ 152400 h 185738"/>
              <a:gd name="connsiteX5" fmla="*/ 176212 w 947737"/>
              <a:gd name="connsiteY5" fmla="*/ 161925 h 185738"/>
              <a:gd name="connsiteX6" fmla="*/ 214312 w 947737"/>
              <a:gd name="connsiteY6" fmla="*/ 166688 h 185738"/>
              <a:gd name="connsiteX7" fmla="*/ 280987 w 947737"/>
              <a:gd name="connsiteY7" fmla="*/ 176213 h 185738"/>
              <a:gd name="connsiteX8" fmla="*/ 304800 w 947737"/>
              <a:gd name="connsiteY8" fmla="*/ 180975 h 185738"/>
              <a:gd name="connsiteX9" fmla="*/ 447675 w 947737"/>
              <a:gd name="connsiteY9" fmla="*/ 185738 h 185738"/>
              <a:gd name="connsiteX10" fmla="*/ 728662 w 947737"/>
              <a:gd name="connsiteY10" fmla="*/ 176213 h 185738"/>
              <a:gd name="connsiteX11" fmla="*/ 819150 w 947737"/>
              <a:gd name="connsiteY11" fmla="*/ 166688 h 185738"/>
              <a:gd name="connsiteX12" fmla="*/ 842962 w 947737"/>
              <a:gd name="connsiteY12" fmla="*/ 152400 h 185738"/>
              <a:gd name="connsiteX13" fmla="*/ 900112 w 947737"/>
              <a:gd name="connsiteY13" fmla="*/ 90488 h 185738"/>
              <a:gd name="connsiteX14" fmla="*/ 933450 w 947737"/>
              <a:gd name="connsiteY14" fmla="*/ 47625 h 185738"/>
              <a:gd name="connsiteX15" fmla="*/ 938212 w 947737"/>
              <a:gd name="connsiteY15" fmla="*/ 23813 h 185738"/>
              <a:gd name="connsiteX16" fmla="*/ 947737 w 947737"/>
              <a:gd name="connsiteY16" fmla="*/ 4763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47737" h="185738">
                <a:moveTo>
                  <a:pt x="0" y="0"/>
                </a:moveTo>
                <a:cubicBezTo>
                  <a:pt x="7520" y="82725"/>
                  <a:pt x="-6088" y="25435"/>
                  <a:pt x="23812" y="80963"/>
                </a:cubicBezTo>
                <a:cubicBezTo>
                  <a:pt x="29544" y="91608"/>
                  <a:pt x="30360" y="105012"/>
                  <a:pt x="38100" y="114300"/>
                </a:cubicBezTo>
                <a:cubicBezTo>
                  <a:pt x="56311" y="136153"/>
                  <a:pt x="79067" y="141706"/>
                  <a:pt x="104775" y="147638"/>
                </a:cubicBezTo>
                <a:cubicBezTo>
                  <a:pt x="114184" y="149809"/>
                  <a:pt x="123881" y="150506"/>
                  <a:pt x="133350" y="152400"/>
                </a:cubicBezTo>
                <a:cubicBezTo>
                  <a:pt x="147702" y="155270"/>
                  <a:pt x="161799" y="159381"/>
                  <a:pt x="176212" y="161925"/>
                </a:cubicBezTo>
                <a:cubicBezTo>
                  <a:pt x="188816" y="164149"/>
                  <a:pt x="201631" y="164959"/>
                  <a:pt x="214312" y="166688"/>
                </a:cubicBezTo>
                <a:lnTo>
                  <a:pt x="280987" y="176213"/>
                </a:lnTo>
                <a:cubicBezTo>
                  <a:pt x="288983" y="177475"/>
                  <a:pt x="296718" y="180513"/>
                  <a:pt x="304800" y="180975"/>
                </a:cubicBezTo>
                <a:cubicBezTo>
                  <a:pt x="352374" y="183693"/>
                  <a:pt x="400050" y="184150"/>
                  <a:pt x="447675" y="185738"/>
                </a:cubicBezTo>
                <a:lnTo>
                  <a:pt x="728662" y="176213"/>
                </a:lnTo>
                <a:cubicBezTo>
                  <a:pt x="780018" y="174073"/>
                  <a:pt x="779575" y="173283"/>
                  <a:pt x="819150" y="166688"/>
                </a:cubicBezTo>
                <a:cubicBezTo>
                  <a:pt x="827087" y="161925"/>
                  <a:pt x="835379" y="157708"/>
                  <a:pt x="842962" y="152400"/>
                </a:cubicBezTo>
                <a:cubicBezTo>
                  <a:pt x="865778" y="136429"/>
                  <a:pt x="887477" y="115759"/>
                  <a:pt x="900112" y="90488"/>
                </a:cubicBezTo>
                <a:cubicBezTo>
                  <a:pt x="921407" y="47898"/>
                  <a:pt x="905692" y="56878"/>
                  <a:pt x="933450" y="47625"/>
                </a:cubicBezTo>
                <a:cubicBezTo>
                  <a:pt x="935037" y="39688"/>
                  <a:pt x="935652" y="31492"/>
                  <a:pt x="938212" y="23813"/>
                </a:cubicBezTo>
                <a:cubicBezTo>
                  <a:pt x="940457" y="17078"/>
                  <a:pt x="947737" y="4763"/>
                  <a:pt x="947737" y="4763"/>
                </a:cubicBezTo>
              </a:path>
            </a:pathLst>
          </a:custGeom>
          <a:noFill/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黑体" pitchFamily="49" charset="-122"/>
            </a:endParaRPr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8DD99CB8-FC25-4637-AD4F-73D320711750}"/>
              </a:ext>
            </a:extLst>
          </p:cNvPr>
          <p:cNvSpPr/>
          <p:nvPr/>
        </p:nvSpPr>
        <p:spPr bwMode="auto">
          <a:xfrm>
            <a:off x="4143235" y="6305550"/>
            <a:ext cx="947737" cy="185738"/>
          </a:xfrm>
          <a:custGeom>
            <a:avLst/>
            <a:gdLst>
              <a:gd name="connsiteX0" fmla="*/ 0 w 947737"/>
              <a:gd name="connsiteY0" fmla="*/ 0 h 185738"/>
              <a:gd name="connsiteX1" fmla="*/ 23812 w 947737"/>
              <a:gd name="connsiteY1" fmla="*/ 80963 h 185738"/>
              <a:gd name="connsiteX2" fmla="*/ 38100 w 947737"/>
              <a:gd name="connsiteY2" fmla="*/ 114300 h 185738"/>
              <a:gd name="connsiteX3" fmla="*/ 104775 w 947737"/>
              <a:gd name="connsiteY3" fmla="*/ 147638 h 185738"/>
              <a:gd name="connsiteX4" fmla="*/ 133350 w 947737"/>
              <a:gd name="connsiteY4" fmla="*/ 152400 h 185738"/>
              <a:gd name="connsiteX5" fmla="*/ 176212 w 947737"/>
              <a:gd name="connsiteY5" fmla="*/ 161925 h 185738"/>
              <a:gd name="connsiteX6" fmla="*/ 214312 w 947737"/>
              <a:gd name="connsiteY6" fmla="*/ 166688 h 185738"/>
              <a:gd name="connsiteX7" fmla="*/ 280987 w 947737"/>
              <a:gd name="connsiteY7" fmla="*/ 176213 h 185738"/>
              <a:gd name="connsiteX8" fmla="*/ 304800 w 947737"/>
              <a:gd name="connsiteY8" fmla="*/ 180975 h 185738"/>
              <a:gd name="connsiteX9" fmla="*/ 447675 w 947737"/>
              <a:gd name="connsiteY9" fmla="*/ 185738 h 185738"/>
              <a:gd name="connsiteX10" fmla="*/ 728662 w 947737"/>
              <a:gd name="connsiteY10" fmla="*/ 176213 h 185738"/>
              <a:gd name="connsiteX11" fmla="*/ 819150 w 947737"/>
              <a:gd name="connsiteY11" fmla="*/ 166688 h 185738"/>
              <a:gd name="connsiteX12" fmla="*/ 842962 w 947737"/>
              <a:gd name="connsiteY12" fmla="*/ 152400 h 185738"/>
              <a:gd name="connsiteX13" fmla="*/ 900112 w 947737"/>
              <a:gd name="connsiteY13" fmla="*/ 90488 h 185738"/>
              <a:gd name="connsiteX14" fmla="*/ 933450 w 947737"/>
              <a:gd name="connsiteY14" fmla="*/ 47625 h 185738"/>
              <a:gd name="connsiteX15" fmla="*/ 938212 w 947737"/>
              <a:gd name="connsiteY15" fmla="*/ 23813 h 185738"/>
              <a:gd name="connsiteX16" fmla="*/ 947737 w 947737"/>
              <a:gd name="connsiteY16" fmla="*/ 4763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47737" h="185738">
                <a:moveTo>
                  <a:pt x="0" y="0"/>
                </a:moveTo>
                <a:cubicBezTo>
                  <a:pt x="7520" y="82725"/>
                  <a:pt x="-6088" y="25435"/>
                  <a:pt x="23812" y="80963"/>
                </a:cubicBezTo>
                <a:cubicBezTo>
                  <a:pt x="29544" y="91608"/>
                  <a:pt x="30360" y="105012"/>
                  <a:pt x="38100" y="114300"/>
                </a:cubicBezTo>
                <a:cubicBezTo>
                  <a:pt x="56311" y="136153"/>
                  <a:pt x="79067" y="141706"/>
                  <a:pt x="104775" y="147638"/>
                </a:cubicBezTo>
                <a:cubicBezTo>
                  <a:pt x="114184" y="149809"/>
                  <a:pt x="123881" y="150506"/>
                  <a:pt x="133350" y="152400"/>
                </a:cubicBezTo>
                <a:cubicBezTo>
                  <a:pt x="147702" y="155270"/>
                  <a:pt x="161799" y="159381"/>
                  <a:pt x="176212" y="161925"/>
                </a:cubicBezTo>
                <a:cubicBezTo>
                  <a:pt x="188816" y="164149"/>
                  <a:pt x="201631" y="164959"/>
                  <a:pt x="214312" y="166688"/>
                </a:cubicBezTo>
                <a:lnTo>
                  <a:pt x="280987" y="176213"/>
                </a:lnTo>
                <a:cubicBezTo>
                  <a:pt x="288983" y="177475"/>
                  <a:pt x="296718" y="180513"/>
                  <a:pt x="304800" y="180975"/>
                </a:cubicBezTo>
                <a:cubicBezTo>
                  <a:pt x="352374" y="183693"/>
                  <a:pt x="400050" y="184150"/>
                  <a:pt x="447675" y="185738"/>
                </a:cubicBezTo>
                <a:lnTo>
                  <a:pt x="728662" y="176213"/>
                </a:lnTo>
                <a:cubicBezTo>
                  <a:pt x="780018" y="174073"/>
                  <a:pt x="779575" y="173283"/>
                  <a:pt x="819150" y="166688"/>
                </a:cubicBezTo>
                <a:cubicBezTo>
                  <a:pt x="827087" y="161925"/>
                  <a:pt x="835379" y="157708"/>
                  <a:pt x="842962" y="152400"/>
                </a:cubicBezTo>
                <a:cubicBezTo>
                  <a:pt x="865778" y="136429"/>
                  <a:pt x="887477" y="115759"/>
                  <a:pt x="900112" y="90488"/>
                </a:cubicBezTo>
                <a:cubicBezTo>
                  <a:pt x="921407" y="47898"/>
                  <a:pt x="905692" y="56878"/>
                  <a:pt x="933450" y="47625"/>
                </a:cubicBezTo>
                <a:cubicBezTo>
                  <a:pt x="935037" y="39688"/>
                  <a:pt x="935652" y="31492"/>
                  <a:pt x="938212" y="23813"/>
                </a:cubicBezTo>
                <a:cubicBezTo>
                  <a:pt x="940457" y="17078"/>
                  <a:pt x="947737" y="4763"/>
                  <a:pt x="947737" y="4763"/>
                </a:cubicBezTo>
              </a:path>
            </a:pathLst>
          </a:custGeom>
          <a:noFill/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黑体" pitchFamily="49" charset="-122"/>
            </a:endParaRP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D093EFA8-79A4-4472-8963-03761C3F29C9}"/>
              </a:ext>
            </a:extLst>
          </p:cNvPr>
          <p:cNvSpPr/>
          <p:nvPr/>
        </p:nvSpPr>
        <p:spPr bwMode="auto">
          <a:xfrm>
            <a:off x="6245390" y="6313983"/>
            <a:ext cx="947737" cy="185738"/>
          </a:xfrm>
          <a:custGeom>
            <a:avLst/>
            <a:gdLst>
              <a:gd name="connsiteX0" fmla="*/ 0 w 947737"/>
              <a:gd name="connsiteY0" fmla="*/ 0 h 185738"/>
              <a:gd name="connsiteX1" fmla="*/ 23812 w 947737"/>
              <a:gd name="connsiteY1" fmla="*/ 80963 h 185738"/>
              <a:gd name="connsiteX2" fmla="*/ 38100 w 947737"/>
              <a:gd name="connsiteY2" fmla="*/ 114300 h 185738"/>
              <a:gd name="connsiteX3" fmla="*/ 104775 w 947737"/>
              <a:gd name="connsiteY3" fmla="*/ 147638 h 185738"/>
              <a:gd name="connsiteX4" fmla="*/ 133350 w 947737"/>
              <a:gd name="connsiteY4" fmla="*/ 152400 h 185738"/>
              <a:gd name="connsiteX5" fmla="*/ 176212 w 947737"/>
              <a:gd name="connsiteY5" fmla="*/ 161925 h 185738"/>
              <a:gd name="connsiteX6" fmla="*/ 214312 w 947737"/>
              <a:gd name="connsiteY6" fmla="*/ 166688 h 185738"/>
              <a:gd name="connsiteX7" fmla="*/ 280987 w 947737"/>
              <a:gd name="connsiteY7" fmla="*/ 176213 h 185738"/>
              <a:gd name="connsiteX8" fmla="*/ 304800 w 947737"/>
              <a:gd name="connsiteY8" fmla="*/ 180975 h 185738"/>
              <a:gd name="connsiteX9" fmla="*/ 447675 w 947737"/>
              <a:gd name="connsiteY9" fmla="*/ 185738 h 185738"/>
              <a:gd name="connsiteX10" fmla="*/ 728662 w 947737"/>
              <a:gd name="connsiteY10" fmla="*/ 176213 h 185738"/>
              <a:gd name="connsiteX11" fmla="*/ 819150 w 947737"/>
              <a:gd name="connsiteY11" fmla="*/ 166688 h 185738"/>
              <a:gd name="connsiteX12" fmla="*/ 842962 w 947737"/>
              <a:gd name="connsiteY12" fmla="*/ 152400 h 185738"/>
              <a:gd name="connsiteX13" fmla="*/ 900112 w 947737"/>
              <a:gd name="connsiteY13" fmla="*/ 90488 h 185738"/>
              <a:gd name="connsiteX14" fmla="*/ 933450 w 947737"/>
              <a:gd name="connsiteY14" fmla="*/ 47625 h 185738"/>
              <a:gd name="connsiteX15" fmla="*/ 938212 w 947737"/>
              <a:gd name="connsiteY15" fmla="*/ 23813 h 185738"/>
              <a:gd name="connsiteX16" fmla="*/ 947737 w 947737"/>
              <a:gd name="connsiteY16" fmla="*/ 4763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47737" h="185738">
                <a:moveTo>
                  <a:pt x="0" y="0"/>
                </a:moveTo>
                <a:cubicBezTo>
                  <a:pt x="7520" y="82725"/>
                  <a:pt x="-6088" y="25435"/>
                  <a:pt x="23812" y="80963"/>
                </a:cubicBezTo>
                <a:cubicBezTo>
                  <a:pt x="29544" y="91608"/>
                  <a:pt x="30360" y="105012"/>
                  <a:pt x="38100" y="114300"/>
                </a:cubicBezTo>
                <a:cubicBezTo>
                  <a:pt x="56311" y="136153"/>
                  <a:pt x="79067" y="141706"/>
                  <a:pt x="104775" y="147638"/>
                </a:cubicBezTo>
                <a:cubicBezTo>
                  <a:pt x="114184" y="149809"/>
                  <a:pt x="123881" y="150506"/>
                  <a:pt x="133350" y="152400"/>
                </a:cubicBezTo>
                <a:cubicBezTo>
                  <a:pt x="147702" y="155270"/>
                  <a:pt x="161799" y="159381"/>
                  <a:pt x="176212" y="161925"/>
                </a:cubicBezTo>
                <a:cubicBezTo>
                  <a:pt x="188816" y="164149"/>
                  <a:pt x="201631" y="164959"/>
                  <a:pt x="214312" y="166688"/>
                </a:cubicBezTo>
                <a:lnTo>
                  <a:pt x="280987" y="176213"/>
                </a:lnTo>
                <a:cubicBezTo>
                  <a:pt x="288983" y="177475"/>
                  <a:pt x="296718" y="180513"/>
                  <a:pt x="304800" y="180975"/>
                </a:cubicBezTo>
                <a:cubicBezTo>
                  <a:pt x="352374" y="183693"/>
                  <a:pt x="400050" y="184150"/>
                  <a:pt x="447675" y="185738"/>
                </a:cubicBezTo>
                <a:lnTo>
                  <a:pt x="728662" y="176213"/>
                </a:lnTo>
                <a:cubicBezTo>
                  <a:pt x="780018" y="174073"/>
                  <a:pt x="779575" y="173283"/>
                  <a:pt x="819150" y="166688"/>
                </a:cubicBezTo>
                <a:cubicBezTo>
                  <a:pt x="827087" y="161925"/>
                  <a:pt x="835379" y="157708"/>
                  <a:pt x="842962" y="152400"/>
                </a:cubicBezTo>
                <a:cubicBezTo>
                  <a:pt x="865778" y="136429"/>
                  <a:pt x="887477" y="115759"/>
                  <a:pt x="900112" y="90488"/>
                </a:cubicBezTo>
                <a:cubicBezTo>
                  <a:pt x="921407" y="47898"/>
                  <a:pt x="905692" y="56878"/>
                  <a:pt x="933450" y="47625"/>
                </a:cubicBezTo>
                <a:cubicBezTo>
                  <a:pt x="935037" y="39688"/>
                  <a:pt x="935652" y="31492"/>
                  <a:pt x="938212" y="23813"/>
                </a:cubicBezTo>
                <a:cubicBezTo>
                  <a:pt x="940457" y="17078"/>
                  <a:pt x="947737" y="4763"/>
                  <a:pt x="947737" y="4763"/>
                </a:cubicBezTo>
              </a:path>
            </a:pathLst>
          </a:custGeom>
          <a:noFill/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黑体" pitchFamily="49" charset="-122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42">
            <a:extLst>
              <a:ext uri="{FF2B5EF4-FFF2-40B4-BE49-F238E27FC236}">
                <a16:creationId xmlns:a16="http://schemas.microsoft.com/office/drawing/2014/main" id="{28E4B2DA-FA98-447F-80D6-742418D4B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792" y="3140968"/>
            <a:ext cx="45368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（二）传输层寻址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72FE3D4-0B0B-493C-A3A8-B4D615BD2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68288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479425"/>
            <a:ext cx="8001000" cy="10414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网络环境中 进程标识（三元组）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692275" y="2349500"/>
            <a:ext cx="6156325" cy="158432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</a:rPr>
              <a:t>主机地址</a:t>
            </a:r>
            <a:endParaRPr lang="en-US" altLang="zh-CN" sz="24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 eaLnBrk="1" hangingPunct="1"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• 进程使用的传输层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</a:rPr>
              <a:t>协议（</a:t>
            </a:r>
            <a:r>
              <a:rPr lang="en-US" altLang="zh-CN" sz="2400" b="1" dirty="0">
                <a:solidFill>
                  <a:srgbClr val="0070C0"/>
                </a:solidFill>
                <a:latin typeface="宋体" panose="02010600030101010101" pitchFamily="2" charset="-122"/>
              </a:rPr>
              <a:t>TCP/UDP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</a:rPr>
              <a:t>） 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• 进程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</a:rPr>
              <a:t>端口</a:t>
            </a:r>
            <a:endParaRPr lang="en-US" altLang="zh-CN" sz="2400" b="1" dirty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21493" y="4762500"/>
            <a:ext cx="8497887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b="1" kern="0" dirty="0">
                <a:latin typeface="宋体" panose="02010600030101010101" pitchFamily="2" charset="-122"/>
              </a:rPr>
              <a:t>标识网络中的一个</a:t>
            </a:r>
            <a:r>
              <a:rPr lang="en-US" altLang="zh-CN" sz="2400" b="1" kern="0" dirty="0">
                <a:latin typeface="宋体" panose="02010600030101010101" pitchFamily="2" charset="-122"/>
              </a:rPr>
              <a:t>Web</a:t>
            </a:r>
            <a:r>
              <a:rPr lang="zh-CN" altLang="en-US" sz="2400" b="1" kern="0" dirty="0">
                <a:latin typeface="宋体" panose="02010600030101010101" pitchFamily="2" charset="-122"/>
              </a:rPr>
              <a:t>服务器：</a:t>
            </a:r>
            <a:r>
              <a:rPr lang="en-US" altLang="zh-CN" sz="2400" b="1" kern="0" dirty="0">
                <a:latin typeface="宋体" panose="02010600030101010101" pitchFamily="2" charset="-122"/>
              </a:rPr>
              <a:t>(IP,80,TCP)</a:t>
            </a:r>
            <a:endParaRPr lang="zh-CN" altLang="en-US" sz="2400" b="1" kern="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36613"/>
            <a:ext cx="7272338" cy="706437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进程使用的传输层协议（多重协议的识别）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787525"/>
            <a:ext cx="8713787" cy="2433638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协议族的传输层有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应用层进程会选择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进行数据传输；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传输的端口在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0-65535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之间，基于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传输的进程的端口在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0-65535.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6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005064"/>
            <a:ext cx="5332412" cy="231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981075"/>
            <a:ext cx="2447925" cy="536575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进程端口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idx="1"/>
          </p:nvPr>
        </p:nvSpPr>
        <p:spPr>
          <a:xfrm>
            <a:off x="539750" y="1752600"/>
            <a:ext cx="8424863" cy="42672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255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被规定作为公共应用服务的端口，如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和电子邮件服务等，又被称为著名端口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(Well-known ports)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。这些端口所对应的服务是固定、公开的，因此可以通过访问这些端口来访问对应的服务。</a:t>
            </a:r>
          </a:p>
          <a:p>
            <a:pPr algn="just" eaLnBrk="1" hangingPunct="1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256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的端口，被保留用作商业性的应用开发，如一些网络设备厂商专用协议的通信端口等。</a:t>
            </a:r>
          </a:p>
          <a:p>
            <a:pPr algn="just" eaLnBrk="1" hangingPunct="1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1023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以上端口未做限定，即作为自由端口，以本地方式进行分配。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250825" y="1844675"/>
            <a:ext cx="8642350" cy="1343025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网络环境中一对通信的进程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</a:rPr>
              <a:t>A,B</a:t>
            </a:r>
            <a:r>
              <a:rPr lang="zh-CN" altLang="en-US" b="1">
                <a:solidFill>
                  <a:schemeClr val="bg1"/>
                </a:solidFill>
                <a:latin typeface="宋体" panose="02010600030101010101" pitchFamily="2" charset="-122"/>
              </a:rPr>
              <a:t>需要一个五元组来表示：</a:t>
            </a:r>
          </a:p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b="1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2828925" y="26098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ea typeface="仿宋" panose="02010609060101010101" pitchFamily="49" charset="-122"/>
            </a:endParaRP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611560" y="1052512"/>
            <a:ext cx="5594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一对通信的进程的标识（五元组）</a:t>
            </a: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835150" y="1989138"/>
            <a:ext cx="5473700" cy="277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800000"/>
              </a:buClr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双方使用的传输层协议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800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所在的主机地址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800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进程端口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800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所在的主机地址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800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进程端口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42">
            <a:extLst>
              <a:ext uri="{FF2B5EF4-FFF2-40B4-BE49-F238E27FC236}">
                <a16:creationId xmlns:a16="http://schemas.microsoft.com/office/drawing/2014/main" id="{28E4B2DA-FA98-447F-80D6-742418D4B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700808"/>
            <a:ext cx="8352928" cy="2501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当采用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协议时，认为这条信道是可信的。如果采用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协议，则认为信道不可靠。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None/>
            </a:pP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因此传输层向上层提供：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12700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面向连接的可靠传输服务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12700" eaLnBrk="1" hangingPunct="1">
              <a:lnSpc>
                <a:spcPct val="12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无连接不可靠服务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50E62D-7311-4770-AA7B-5ED323112113}"/>
              </a:ext>
            </a:extLst>
          </p:cNvPr>
          <p:cNvSpPr txBox="1"/>
          <p:nvPr/>
        </p:nvSpPr>
        <p:spPr>
          <a:xfrm>
            <a:off x="467544" y="980728"/>
            <a:ext cx="4572000" cy="5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ts val="600"/>
              </a:spcBef>
              <a:buClrTx/>
              <a:buFontTx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传输层提供的服务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5737195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B654D72-4ECD-4B2A-8A40-409D1C5903A0}"/>
              </a:ext>
            </a:extLst>
          </p:cNvPr>
          <p:cNvSpPr txBox="1"/>
          <p:nvPr/>
        </p:nvSpPr>
        <p:spPr>
          <a:xfrm>
            <a:off x="395536" y="1628800"/>
            <a:ext cx="54726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01.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传输层为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之间提供逻辑通信。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主机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进程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路由器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操作系统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D6D8D6-E1BF-47EF-9CC8-BA19564AB719}"/>
              </a:ext>
            </a:extLst>
          </p:cNvPr>
          <p:cNvSpPr txBox="1"/>
          <p:nvPr/>
        </p:nvSpPr>
        <p:spPr>
          <a:xfrm>
            <a:off x="2699792" y="4509120"/>
            <a:ext cx="59229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02.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可靠传输协议中的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可靠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指的是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使用面向连接的会话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使用尽力而为的传输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使用滑动窗口来维持可靠性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使用确认机制来确保传输的数据不丢失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2226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4654106-280E-4D1D-86B7-B7EDB87C8761}"/>
              </a:ext>
            </a:extLst>
          </p:cNvPr>
          <p:cNvSpPr txBox="1"/>
          <p:nvPr/>
        </p:nvSpPr>
        <p:spPr>
          <a:xfrm>
            <a:off x="179512" y="1844824"/>
            <a:ext cx="87849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TCP 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UDP 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端口的下列说法中，正确的是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 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algn="just"/>
            <a:r>
              <a:rPr lang="en-US" altLang="zh-CN" sz="20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 TCP</a:t>
            </a:r>
            <a:r>
              <a:rPr lang="zh-CN" altLang="zh-CN" sz="20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UDP </a:t>
            </a:r>
            <a:r>
              <a:rPr lang="zh-CN" altLang="zh-CN" sz="20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分别拥有自己的端口号，它们互不干扰，可共存于同一台主机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B.TCP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UDP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分别拥有自己的端口号，但它们不能共存于同一台主机</a:t>
            </a: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C.TCP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UDP 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的端口没有本质区别，但它们不能共存于同一台主机</a:t>
            </a:r>
          </a:p>
          <a:p>
            <a:pPr algn="just"/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当一个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TCP 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连接建立时，它们互不干扰，不能共存于同一台主机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67F097-DCBB-4695-9F17-B63A992AE2DD}"/>
              </a:ext>
            </a:extLst>
          </p:cNvPr>
          <p:cNvSpPr txBox="1"/>
          <p:nvPr/>
        </p:nvSpPr>
        <p:spPr>
          <a:xfrm>
            <a:off x="215516" y="4005064"/>
            <a:ext cx="87129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TCP/IP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参考模型中，若用户程序使用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UDP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进行数据传输，则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层协议必须承担可靠性方面的全部工作。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数据链路层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网际层</a:t>
            </a:r>
          </a:p>
          <a:p>
            <a:pPr algn="just"/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传输层</a:t>
            </a:r>
          </a:p>
          <a:p>
            <a:pPr algn="just"/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应用层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84156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1_Profile">
  <a:themeElements>
    <a:clrScheme name="1_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1_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lnDef>
  </a:objectDefaults>
  <a:extraClrSchemeLst>
    <a:extraClrScheme>
      <a:clrScheme name="1_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仿宋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C++ 初步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黑体" pitchFamily="49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++ 初步" id="{6DFD752B-3019-43AF-9E16-2C17FB180799}" vid="{28EDF487-3E81-4BC9-9874-6D6B42F827F9}"/>
    </a:ext>
  </a:extLst>
</a:theme>
</file>

<file path=ppt/theme/theme5.xml><?xml version="1.0" encoding="utf-8"?>
<a:theme xmlns:a="http://schemas.openxmlformats.org/drawingml/2006/main" name="2_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黑体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计算机网络</Template>
  <TotalTime>1790</TotalTime>
  <Words>625</Words>
  <Application>Microsoft Office PowerPoint</Application>
  <PresentationFormat>全屏显示(4:3)</PresentationFormat>
  <Paragraphs>77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等线</vt:lpstr>
      <vt:lpstr>黑体</vt:lpstr>
      <vt:lpstr>楷体_GB2312</vt:lpstr>
      <vt:lpstr>宋体</vt:lpstr>
      <vt:lpstr>微软雅黑</vt:lpstr>
      <vt:lpstr>Arial</vt:lpstr>
      <vt:lpstr>Helvetica</vt:lpstr>
      <vt:lpstr>Times New Roman</vt:lpstr>
      <vt:lpstr>Verdana</vt:lpstr>
      <vt:lpstr>Wingdings</vt:lpstr>
      <vt:lpstr>1_Profile</vt:lpstr>
      <vt:lpstr>自定义设计方案</vt:lpstr>
      <vt:lpstr>1_自定义设计方案</vt:lpstr>
      <vt:lpstr>C++ 初步</vt:lpstr>
      <vt:lpstr>2_自定义设计方案</vt:lpstr>
      <vt:lpstr>传输层</vt:lpstr>
      <vt:lpstr>主要内容</vt:lpstr>
      <vt:lpstr>PowerPoint 演示文稿</vt:lpstr>
      <vt:lpstr>传输层的任务是实现进程之间的数据传递</vt:lpstr>
      <vt:lpstr>传输层在OSI协议层次结构中的位置</vt:lpstr>
      <vt:lpstr>PowerPoint 演示文稿</vt:lpstr>
      <vt:lpstr>网络环境中 进程标识（三元组）</vt:lpstr>
      <vt:lpstr>进程使用的传输层协议（多重协议的识别）</vt:lpstr>
      <vt:lpstr>进程端口</vt:lpstr>
      <vt:lpstr>PowerPoint 演示文稿</vt:lpstr>
      <vt:lpstr>PowerPoint 演示文稿</vt:lpstr>
      <vt:lpstr>PowerPoint 演示文稿</vt:lpstr>
      <vt:lpstr>PowerPoint 演示文稿</vt:lpstr>
    </vt:vector>
  </TitlesOfParts>
  <Company>tup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NEC</dc:creator>
  <cp:lastModifiedBy>wangjimin</cp:lastModifiedBy>
  <cp:revision>723</cp:revision>
  <cp:lastPrinted>1601-01-01T00:00:00Z</cp:lastPrinted>
  <dcterms:created xsi:type="dcterms:W3CDTF">2003-05-27T06:14:28Z</dcterms:created>
  <dcterms:modified xsi:type="dcterms:W3CDTF">2026-02-26T04:31:06Z</dcterms:modified>
</cp:coreProperties>
</file>